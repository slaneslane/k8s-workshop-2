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57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92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107.xml" ContentType="application/vnd.openxmlformats-officedocument.presentationml.slide+xml"/>
  <Override PartName="/ppt/slides/slide86.xml" ContentType="application/vnd.openxmlformats-officedocument.presentationml.slide+xml"/>
  <Override PartName="/ppt/slides/slide76.xml" ContentType="application/vnd.openxmlformats-officedocument.presentationml.slide+xml"/>
  <Override PartName="/ppt/slides/slide88.xml" ContentType="application/vnd.openxmlformats-officedocument.presentationml.slide+xml"/>
  <Override PartName="/ppt/slides/slide101.xml" ContentType="application/vnd.openxmlformats-officedocument.presentationml.slide+xml"/>
  <Override PartName="/ppt/slides/slide108.xml" ContentType="application/vnd.openxmlformats-officedocument.presentationml.slide+xml"/>
  <Override PartName="/ppt/slides/slide1.xml" ContentType="application/vnd.openxmlformats-officedocument.presentationml.slide+xml"/>
  <Override PartName="/ppt/slides/slide106.xml" ContentType="application/vnd.openxmlformats-officedocument.presentationml.slide+xml"/>
  <Override PartName="/ppt/slides/slide77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87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78.xml" ContentType="application/vnd.openxmlformats-officedocument.presentationml.slide+xml"/>
  <Override PartName="/ppt/slides/slide43.xml" ContentType="application/vnd.openxmlformats-officedocument.presentationml.slide+xml"/>
  <Override PartName="/ppt/slides/slide105.xml" ContentType="application/vnd.openxmlformats-officedocument.presentationml.slide+xml"/>
  <Override PartName="/ppt/slides/slide94.xml" ContentType="application/vnd.openxmlformats-officedocument.presentationml.slide+xml"/>
  <Override PartName="/ppt/slides/slide29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35.xml" ContentType="application/vnd.openxmlformats-officedocument.presentationml.slide+xml"/>
  <Override PartName="/ppt/slides/slide64.xml" ContentType="application/vnd.openxmlformats-officedocument.presentationml.slide+xml"/>
  <Override PartName="/ppt/slides/slide8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61.xml" ContentType="application/vnd.openxmlformats-officedocument.presentationml.slide+xml"/>
  <Override PartName="/ppt/slides/slide79.xml" ContentType="application/vnd.openxmlformats-officedocument.presentationml.slide+xml"/>
  <Override PartName="/ppt/slides/slide96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09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8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  <p:sldId id="348" r:id="rId97"/>
    <p:sldId id="349" r:id="rId98"/>
    <p:sldId id="350" r:id="rId99"/>
    <p:sldId id="351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82.xml"/><Relationship Id="rId87" Type="http://schemas.openxmlformats.org/officeDocument/2006/relationships/slide" Target="slides/slide83.xml"/><Relationship Id="rId88" Type="http://schemas.openxmlformats.org/officeDocument/2006/relationships/slide" Target="slides/slide84.xml"/><Relationship Id="rId89" Type="http://schemas.openxmlformats.org/officeDocument/2006/relationships/slide" Target="slides/slide85.xml"/><Relationship Id="rId90" Type="http://schemas.openxmlformats.org/officeDocument/2006/relationships/slide" Target="slides/slide86.xml"/><Relationship Id="rId91" Type="http://schemas.openxmlformats.org/officeDocument/2006/relationships/slide" Target="slides/slide87.xml"/><Relationship Id="rId92" Type="http://schemas.openxmlformats.org/officeDocument/2006/relationships/slide" Target="slides/slide88.xml"/><Relationship Id="rId93" Type="http://schemas.openxmlformats.org/officeDocument/2006/relationships/slide" Target="slides/slide89.xml"/><Relationship Id="rId94" Type="http://schemas.openxmlformats.org/officeDocument/2006/relationships/slide" Target="slides/slide90.xml"/><Relationship Id="rId95" Type="http://schemas.openxmlformats.org/officeDocument/2006/relationships/slide" Target="slides/slide91.xml"/><Relationship Id="rId96" Type="http://schemas.openxmlformats.org/officeDocument/2006/relationships/slide" Target="slides/slide92.xml"/><Relationship Id="rId97" Type="http://schemas.openxmlformats.org/officeDocument/2006/relationships/slide" Target="slides/slide93.xml"/><Relationship Id="rId98" Type="http://schemas.openxmlformats.org/officeDocument/2006/relationships/slide" Target="slides/slide94.xml"/><Relationship Id="rId99" Type="http://schemas.openxmlformats.org/officeDocument/2006/relationships/slide" Target="slides/slide95.xml"/><Relationship Id="rId100" Type="http://schemas.openxmlformats.org/officeDocument/2006/relationships/slide" Target="slides/slide96.xml"/><Relationship Id="rId101" Type="http://schemas.openxmlformats.org/officeDocument/2006/relationships/slide" Target="slides/slide97.xml"/><Relationship Id="rId102" Type="http://schemas.openxmlformats.org/officeDocument/2006/relationships/slide" Target="slides/slide98.xml"/><Relationship Id="rId103" Type="http://schemas.openxmlformats.org/officeDocument/2006/relationships/slide" Target="slides/slide99.xml"/><Relationship Id="rId104" Type="http://schemas.openxmlformats.org/officeDocument/2006/relationships/slide" Target="slides/slide100.xml"/><Relationship Id="rId105" Type="http://schemas.openxmlformats.org/officeDocument/2006/relationships/slide" Target="slides/slide101.xml"/><Relationship Id="rId106" Type="http://schemas.openxmlformats.org/officeDocument/2006/relationships/slide" Target="slides/slide102.xml"/><Relationship Id="rId107" Type="http://schemas.openxmlformats.org/officeDocument/2006/relationships/slide" Target="slides/slide103.xml"/><Relationship Id="rId108" Type="http://schemas.openxmlformats.org/officeDocument/2006/relationships/slide" Target="slides/slide104.xml"/><Relationship Id="rId109" Type="http://schemas.openxmlformats.org/officeDocument/2006/relationships/slide" Target="slides/slide105.xml"/><Relationship Id="rId110" Type="http://schemas.openxmlformats.org/officeDocument/2006/relationships/slide" Target="slides/slide106.xml"/><Relationship Id="rId111" Type="http://schemas.openxmlformats.org/officeDocument/2006/relationships/slide" Target="slides/slide107.xml"/><Relationship Id="rId112" Type="http://schemas.openxmlformats.org/officeDocument/2006/relationships/slide" Target="slides/slide108.xml"/><Relationship Id="rId113" Type="http://schemas.openxmlformats.org/officeDocument/2006/relationships/slide" Target="slides/slide109.xml"/><Relationship Id="rId1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12CD9A0-D7E0-401D-9827-D07799CC0C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6BB87F-E575-4B73-9D79-F15F1E14A8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FBAEB6-D543-4A7C-84FD-42DE947A1B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707071-EAB2-4563-AA5E-1A0C9800B9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C4C989-667B-40F2-AA1E-ABAFFE7CAB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274DEF-CA58-43DF-A979-8DAFDB4A02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120D4D-ACA6-4DB1-8851-F9E1E4C8FD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A5BCC6-DAD0-43EB-8D63-1911E83FF4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03C533-DC3D-455B-8B3E-EB4A858279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71EA97-0A08-4BAD-9410-99871E242E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1AF8F8-1D81-41CC-AAE7-13664545CF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9F0A3F-6F6B-4881-B99A-C3BB23888D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D8781A-314C-41EA-A151-D3FECADA87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29827F-A6F8-4A5C-AA5D-9A45C1176B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4C5A45-9254-4A7B-A057-6A2F87CF4D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826A5E-E5C6-45B7-AC53-38AE15AE98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0F8B5C-FFBC-465F-8BAA-112C758024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E3F717-ECD2-49E0-99C6-CB54A4872B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AC19F0-6F2A-4BC5-A156-9DE1313741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59914D-A5A0-420B-96D0-47E1E76EC6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722F54-E3AA-4F44-AD15-1C1C287B91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36593C-C6EA-4DE5-B161-20FC685040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E06311-0B86-49F3-886D-0E7C47588B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B658EB-36C0-4776-BE56-6094929FD2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7F4D83-B081-4C16-B922-8525C965BA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D472BC-8ABD-4DC2-968A-ACDC161CF0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2B2B00-076C-494B-9954-0712C962B2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D16553-F4FF-461D-B973-BC3B8AC7AE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F7B262-242A-4CA9-B283-2C54CF69B1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97FE30-C490-4103-BE0B-CDC190FCD1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B605BE-EB78-4A8A-9B33-D5EAA59AC9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014251-00F2-4565-B0D9-890618FF85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CB0ABE-5C44-4658-B329-A0773C2FC5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29CFC2-8268-4E58-B214-4DE035D26F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209AF7-8433-4D0B-AF46-7CC9B284B1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5573A17-74E0-4EA1-8B3A-AFE61A93CD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3739AA-DED7-4E35-AA08-9BF19295F3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3ECB45-B6B9-44EA-958D-DC9DF75B4A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3514A1-9174-4CDE-819C-E86C149B07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48C6A1-2743-490A-9FA0-3DF2F45CAF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C6A648-8609-44C9-A4D6-7052836607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B6DAB3-48BD-4155-BC19-1EC44F5146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442614-931E-42E3-8EB6-E1D5D61E53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E3B1BD-780F-4863-A9C5-2F7CB0974D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67FA8A-251E-4DC9-84E3-84B212C6D7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8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0D4703-C6EC-4335-BE58-B6F013C50D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E06470-E6FA-4FD2-8D3F-33A900BEC0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2989E9-8EC0-4B3C-BC6A-ABABC8EB9F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2F565B-694B-429E-8B32-33E85D15C6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0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CE3E9A-AE11-4DC6-A080-F7A1EDE0D8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3C0146-E2CD-4D5E-BDDA-65881A7170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9F4798-3F22-4A88-80D7-2B25A96667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E741B5-9B06-4B5C-96DA-7621706F4E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1058E9-11C2-4A58-81F2-AF4CD6C45D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178069-EF4B-4CE4-A659-12DAF45D7B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6D8462-1668-4398-9B8F-F50E1CEE54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EE2906-7470-42EC-B7D5-9DFF9F6BBB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59C20C-45C4-4F34-86F0-7DAAE83EFD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7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A5A6D2-3118-463E-BA59-59060E7F78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0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DD5ACE-E3F4-46BA-ADAA-F8B6E6FB22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3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4D6DA1-13B6-4EA4-9FE6-82B7206FAA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6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4E40C1-574F-4E8F-B796-9966280823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9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44FAD6-61A7-4DFD-B5E9-0AC9708234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2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0025F8-AC89-410D-8C72-C439DB745C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AB29AB-653D-4F9A-A939-46D7C65071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8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E4830A-83EE-4EDF-B993-66E21A4CCC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1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803FC6-E79E-40C2-B931-FA008FAFE1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4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B724B7-0598-4B20-8A5C-DBF5F863DD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7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E4953B-CCCC-4E15-BE4A-24159D77D3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D23FF4-AFFF-441C-88E4-46AAD0E074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3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680639-B6BE-46EC-BD7B-DB25258AE0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2DEB84-0CA8-4F6D-AF40-FA3692FF16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9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A41277-B49B-4CA4-A091-26797411DF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2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487E57-2071-4097-BEE1-D7F3E65685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5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30DA42-A9F8-455D-8176-7625BA995B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8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D87C5B-08FB-4090-9F3A-08CD3233AA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D79352-C905-4585-B1C7-A0C9FFFECB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057A27-4016-45E1-9333-2D15663EAF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807E13-A3BF-4057-A4AC-46AA9DD44C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5E8C6E-06E1-4E02-B9E4-6E57F55581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09C1E3-51B4-47B4-BC15-0BB8DE5BAD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499C29-7793-42F8-B2B0-487962CA50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9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FDCD58-F373-4E04-AA17-BA4102FDD6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A1FE5C-6512-4D64-98E3-EF06955909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F6DF6C-702B-4969-9C9C-AC72AE98E9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8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21EBAD-CC8F-4BB6-8C23-95903E0E4F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1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BEBBA2-A8D7-4512-9DC7-76E5758632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4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BEF4FE-5D2C-40D0-82C1-D59F292FE9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7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44351B-D975-472B-9A1B-4B56E99FA7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0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1556E3-712C-4CC2-882D-7816DB1BA1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3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BD3CF2-92E9-400E-928A-405CD69E0F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6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153F15-7463-4C70-BDA1-150ACC80C7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9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FFC350-EA5E-458A-8293-0894B53795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2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FCB27B-AB2F-4CE7-B70F-DED7319B82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5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FA6C7D-EA62-4929-8AD8-DD6537A07A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8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ADD8A6-BFBE-4B66-AD2F-F8604AA1E1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1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2A3B2D-71A5-4E37-9251-0744A2F6B6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265F8D-8095-4312-8A76-E7BD3578D4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7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A9ED2C-C61E-4AD8-93E7-1558D01E68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0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76311D-6952-4F55-B933-9D45A31F4E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3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BB67C7-A4D7-481D-95F6-DD7FA4DD93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6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35AC89-F7B1-4148-8F4A-7BD7002F55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9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823C95-E46B-4F82-9F18-237CFDF9F4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2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32105F-8694-499B-BD27-601005C0E7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5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99A253-7E87-48F5-9305-624572B093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AA3DE10-AF9C-459C-A0FC-99B111923F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380880" y="5297040"/>
            <a:ext cx="1777680" cy="303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2603160" y="5297040"/>
            <a:ext cx="2412720" cy="303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5460840" y="5297040"/>
            <a:ext cx="1777680" cy="303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40F41A-5333-4607-8605-7FDB83F97E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3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  <a:def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66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3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58440" y="1965960"/>
            <a:ext cx="1078668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2816280"/>
            <a:ext cx="95979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Observe, Debug, Fix and 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85800" y="331920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685800" y="3977640"/>
            <a:ext cx="2922840" cy="86544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22960" y="4096440"/>
            <a:ext cx="2648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822960" y="443484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3886200" y="3977640"/>
            <a:ext cx="2922840" cy="86544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023360" y="4096440"/>
            <a:ext cx="2648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023360" y="443484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7086600" y="3977640"/>
            <a:ext cx="3151440" cy="86544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7223760" y="4096440"/>
            <a:ext cx="28771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223760" y="4434840"/>
            <a:ext cx="28771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136240" y="5715000"/>
            <a:ext cx="74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1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9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10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11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facts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84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5"/>
          <p:cNvSpPr/>
          <p:nvPr/>
        </p:nvSpPr>
        <p:spPr>
          <a:xfrm>
            <a:off x="0" y="0"/>
            <a:ext cx="12191760" cy="16416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6"/>
          <p:cNvSpPr/>
          <p:nvPr/>
        </p:nvSpPr>
        <p:spPr>
          <a:xfrm>
            <a:off x="502920" y="393120"/>
            <a:ext cx="8641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 architecture: control plane and workers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37"/>
          <p:cNvSpPr/>
          <p:nvPr/>
        </p:nvSpPr>
        <p:spPr>
          <a:xfrm>
            <a:off x="521280" y="822960"/>
            <a:ext cx="1051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The control plane stores desired state. Worker nodes run the actual application Pods.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86"/>
          <p:cNvSpPr/>
          <p:nvPr/>
        </p:nvSpPr>
        <p:spPr>
          <a:xfrm>
            <a:off x="502920" y="1234440"/>
            <a:ext cx="4800240" cy="4983120"/>
          </a:xfrm>
          <a:prstGeom prst="roundRect">
            <a:avLst>
              <a:gd name="adj" fmla="val 1524"/>
            </a:avLst>
          </a:prstGeom>
          <a:solidFill>
            <a:srgbClr val="0C243A"/>
          </a:solidFill>
          <a:ln w="12700">
            <a:solidFill>
              <a:srgbClr val="27D3F5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87"/>
          <p:cNvSpPr/>
          <p:nvPr/>
        </p:nvSpPr>
        <p:spPr>
          <a:xfrm>
            <a:off x="5715000" y="1234440"/>
            <a:ext cx="5988960" cy="4983120"/>
          </a:xfrm>
          <a:prstGeom prst="roundRect">
            <a:avLst>
              <a:gd name="adj" fmla="val 1468"/>
            </a:avLst>
          </a:prstGeom>
          <a:solidFill>
            <a:srgbClr val="0C243A"/>
          </a:solidFill>
          <a:ln w="12700">
            <a:solidFill>
              <a:srgbClr val="3DDC97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88"/>
          <p:cNvSpPr/>
          <p:nvPr/>
        </p:nvSpPr>
        <p:spPr>
          <a:xfrm>
            <a:off x="685800" y="1444680"/>
            <a:ext cx="1325520" cy="255600"/>
          </a:xfrm>
          <a:prstGeom prst="roundRect">
            <a:avLst>
              <a:gd name="adj" fmla="val 28571"/>
            </a:avLst>
          </a:prstGeom>
          <a:solidFill>
            <a:srgbClr val="27D3F5">
              <a:alpha val="93000"/>
            </a:srgbClr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8"/>
          <p:cNvSpPr/>
          <p:nvPr/>
        </p:nvSpPr>
        <p:spPr>
          <a:xfrm>
            <a:off x="758880" y="1508760"/>
            <a:ext cx="11793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 PLANE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89"/>
          <p:cNvSpPr/>
          <p:nvPr/>
        </p:nvSpPr>
        <p:spPr>
          <a:xfrm>
            <a:off x="5925240" y="1444680"/>
            <a:ext cx="1234080" cy="255600"/>
          </a:xfrm>
          <a:prstGeom prst="roundRect">
            <a:avLst>
              <a:gd name="adj" fmla="val 28571"/>
            </a:avLst>
          </a:prstGeom>
          <a:solidFill>
            <a:srgbClr val="3DDC97">
              <a:alpha val="93000"/>
            </a:srgbClr>
          </a:solidFill>
          <a:ln w="12700">
            <a:solidFill>
              <a:srgbClr val="3DDC97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39"/>
          <p:cNvSpPr/>
          <p:nvPr/>
        </p:nvSpPr>
        <p:spPr>
          <a:xfrm>
            <a:off x="5998320" y="1508760"/>
            <a:ext cx="10879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0"/>
          <p:cNvSpPr/>
          <p:nvPr/>
        </p:nvSpPr>
        <p:spPr>
          <a:xfrm>
            <a:off x="4846320" y="3246120"/>
            <a:ext cx="9874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1"/>
          <p:cNvSpPr/>
          <p:nvPr/>
        </p:nvSpPr>
        <p:spPr>
          <a:xfrm>
            <a:off x="777240" y="1965960"/>
            <a:ext cx="191988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0"/>
          <p:cNvSpPr/>
          <p:nvPr/>
        </p:nvSpPr>
        <p:spPr>
          <a:xfrm>
            <a:off x="887040" y="2075760"/>
            <a:ext cx="17002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entry point for kubectl and controllers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92"/>
          <p:cNvSpPr/>
          <p:nvPr/>
        </p:nvSpPr>
        <p:spPr>
          <a:xfrm>
            <a:off x="2971800" y="1965960"/>
            <a:ext cx="159984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41"/>
          <p:cNvSpPr/>
          <p:nvPr/>
        </p:nvSpPr>
        <p:spPr>
          <a:xfrm>
            <a:off x="3081600" y="2075760"/>
            <a:ext cx="1380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etcd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cluster state database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93"/>
          <p:cNvSpPr/>
          <p:nvPr/>
        </p:nvSpPr>
        <p:spPr>
          <a:xfrm>
            <a:off x="777240" y="3246120"/>
            <a:ext cx="191988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2"/>
          <p:cNvSpPr/>
          <p:nvPr/>
        </p:nvSpPr>
        <p:spPr>
          <a:xfrm>
            <a:off x="887040" y="3355920"/>
            <a:ext cx="17002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selects a node for new Pods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4"/>
          <p:cNvSpPr/>
          <p:nvPr/>
        </p:nvSpPr>
        <p:spPr>
          <a:xfrm>
            <a:off x="2971800" y="3246120"/>
            <a:ext cx="159984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43"/>
          <p:cNvSpPr/>
          <p:nvPr/>
        </p:nvSpPr>
        <p:spPr>
          <a:xfrm>
            <a:off x="3081600" y="3355920"/>
            <a:ext cx="1380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Controller Manager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keeps desired state reconciled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95"/>
          <p:cNvSpPr/>
          <p:nvPr/>
        </p:nvSpPr>
        <p:spPr>
          <a:xfrm>
            <a:off x="2706480" y="2386440"/>
            <a:ext cx="255960" cy="36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6"/>
          <p:cNvSpPr/>
          <p:nvPr/>
        </p:nvSpPr>
        <p:spPr>
          <a:xfrm>
            <a:off x="17373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7"/>
          <p:cNvSpPr/>
          <p:nvPr/>
        </p:nvSpPr>
        <p:spPr>
          <a:xfrm>
            <a:off x="35841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4"/>
          <p:cNvSpPr/>
          <p:nvPr/>
        </p:nvSpPr>
        <p:spPr>
          <a:xfrm>
            <a:off x="777240" y="4645080"/>
            <a:ext cx="39772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Examples: Deployments, ReplicaSets, Jobs, Services, ConfigMaps, Secrets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8"/>
          <p:cNvSpPr/>
          <p:nvPr/>
        </p:nvSpPr>
        <p:spPr>
          <a:xfrm>
            <a:off x="6053400" y="1938600"/>
            <a:ext cx="2331360" cy="42012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5"/>
          <p:cNvSpPr/>
          <p:nvPr/>
        </p:nvSpPr>
        <p:spPr>
          <a:xfrm>
            <a:off x="6163200" y="2048400"/>
            <a:ext cx="2111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99"/>
          <p:cNvSpPr/>
          <p:nvPr/>
        </p:nvSpPr>
        <p:spPr>
          <a:xfrm>
            <a:off x="6053400" y="2615040"/>
            <a:ext cx="102384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6"/>
          <p:cNvSpPr/>
          <p:nvPr/>
        </p:nvSpPr>
        <p:spPr>
          <a:xfrm>
            <a:off x="6163200" y="2724840"/>
            <a:ext cx="80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00"/>
          <p:cNvSpPr/>
          <p:nvPr/>
        </p:nvSpPr>
        <p:spPr>
          <a:xfrm>
            <a:off x="7287840" y="2615040"/>
            <a:ext cx="109692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7"/>
          <p:cNvSpPr/>
          <p:nvPr/>
        </p:nvSpPr>
        <p:spPr>
          <a:xfrm>
            <a:off x="7397640" y="2724840"/>
            <a:ext cx="8773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01"/>
          <p:cNvSpPr/>
          <p:nvPr/>
        </p:nvSpPr>
        <p:spPr>
          <a:xfrm>
            <a:off x="6053400" y="3694320"/>
            <a:ext cx="102384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8"/>
          <p:cNvSpPr/>
          <p:nvPr/>
        </p:nvSpPr>
        <p:spPr>
          <a:xfrm>
            <a:off x="6163200" y="3803760"/>
            <a:ext cx="804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02"/>
          <p:cNvSpPr/>
          <p:nvPr/>
        </p:nvSpPr>
        <p:spPr>
          <a:xfrm>
            <a:off x="7287840" y="3694320"/>
            <a:ext cx="109692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9"/>
          <p:cNvSpPr/>
          <p:nvPr/>
        </p:nvSpPr>
        <p:spPr>
          <a:xfrm>
            <a:off x="7397640" y="3803760"/>
            <a:ext cx="877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03"/>
          <p:cNvSpPr/>
          <p:nvPr/>
        </p:nvSpPr>
        <p:spPr>
          <a:xfrm>
            <a:off x="655596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4"/>
          <p:cNvSpPr/>
          <p:nvPr/>
        </p:nvSpPr>
        <p:spPr>
          <a:xfrm>
            <a:off x="78454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5"/>
          <p:cNvSpPr/>
          <p:nvPr/>
        </p:nvSpPr>
        <p:spPr>
          <a:xfrm>
            <a:off x="8842320" y="1938600"/>
            <a:ext cx="2331360" cy="42012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50"/>
          <p:cNvSpPr/>
          <p:nvPr/>
        </p:nvSpPr>
        <p:spPr>
          <a:xfrm>
            <a:off x="8952120" y="2048400"/>
            <a:ext cx="2111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6"/>
          <p:cNvSpPr/>
          <p:nvPr/>
        </p:nvSpPr>
        <p:spPr>
          <a:xfrm>
            <a:off x="8842320" y="2615040"/>
            <a:ext cx="102384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51"/>
          <p:cNvSpPr/>
          <p:nvPr/>
        </p:nvSpPr>
        <p:spPr>
          <a:xfrm>
            <a:off x="8952120" y="2724840"/>
            <a:ext cx="80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07"/>
          <p:cNvSpPr/>
          <p:nvPr/>
        </p:nvSpPr>
        <p:spPr>
          <a:xfrm>
            <a:off x="10076760" y="2615040"/>
            <a:ext cx="109692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52"/>
          <p:cNvSpPr/>
          <p:nvPr/>
        </p:nvSpPr>
        <p:spPr>
          <a:xfrm>
            <a:off x="10186560" y="2724840"/>
            <a:ext cx="8773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8"/>
          <p:cNvSpPr/>
          <p:nvPr/>
        </p:nvSpPr>
        <p:spPr>
          <a:xfrm>
            <a:off x="8842320" y="3694320"/>
            <a:ext cx="102384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53"/>
          <p:cNvSpPr/>
          <p:nvPr/>
        </p:nvSpPr>
        <p:spPr>
          <a:xfrm>
            <a:off x="8952120" y="3803760"/>
            <a:ext cx="804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9"/>
          <p:cNvSpPr/>
          <p:nvPr/>
        </p:nvSpPr>
        <p:spPr>
          <a:xfrm>
            <a:off x="10076760" y="3694320"/>
            <a:ext cx="109692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54"/>
          <p:cNvSpPr/>
          <p:nvPr/>
        </p:nvSpPr>
        <p:spPr>
          <a:xfrm>
            <a:off x="10186560" y="3803760"/>
            <a:ext cx="877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10"/>
          <p:cNvSpPr/>
          <p:nvPr/>
        </p:nvSpPr>
        <p:spPr>
          <a:xfrm>
            <a:off x="93448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1"/>
          <p:cNvSpPr/>
          <p:nvPr/>
        </p:nvSpPr>
        <p:spPr>
          <a:xfrm>
            <a:off x="1063440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5"/>
          <p:cNvSpPr/>
          <p:nvPr/>
        </p:nvSpPr>
        <p:spPr>
          <a:xfrm>
            <a:off x="5989320" y="495612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In our lab every VM is a single-node K3s cluster: control plane and worker are on the same machine.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21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3"/>
          <p:cNvSpPr/>
          <p:nvPr/>
        </p:nvSpPr>
        <p:spPr>
          <a:xfrm>
            <a:off x="0" y="0"/>
            <a:ext cx="12191760" cy="16416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6"/>
          <p:cNvSpPr/>
          <p:nvPr/>
        </p:nvSpPr>
        <p:spPr>
          <a:xfrm>
            <a:off x="502920" y="393120"/>
            <a:ext cx="7955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What happens when you create a Pod?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7"/>
          <p:cNvSpPr/>
          <p:nvPr/>
        </p:nvSpPr>
        <p:spPr>
          <a:xfrm>
            <a:off x="521280" y="822960"/>
            <a:ext cx="1051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 Deployment request becomes running containers through a series of control-plane and node actions.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4"/>
          <p:cNvSpPr/>
          <p:nvPr/>
        </p:nvSpPr>
        <p:spPr>
          <a:xfrm>
            <a:off x="194760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15"/>
          <p:cNvSpPr/>
          <p:nvPr/>
        </p:nvSpPr>
        <p:spPr>
          <a:xfrm>
            <a:off x="374904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16"/>
          <p:cNvSpPr/>
          <p:nvPr/>
        </p:nvSpPr>
        <p:spPr>
          <a:xfrm>
            <a:off x="5550120" y="2743200"/>
            <a:ext cx="576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7"/>
          <p:cNvSpPr/>
          <p:nvPr/>
        </p:nvSpPr>
        <p:spPr>
          <a:xfrm>
            <a:off x="7470360" y="2743200"/>
            <a:ext cx="6310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8"/>
          <p:cNvSpPr/>
          <p:nvPr/>
        </p:nvSpPr>
        <p:spPr>
          <a:xfrm>
            <a:off x="9445680" y="2743200"/>
            <a:ext cx="594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19"/>
          <p:cNvSpPr/>
          <p:nvPr/>
        </p:nvSpPr>
        <p:spPr>
          <a:xfrm>
            <a:off x="71316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8"/>
          <p:cNvSpPr/>
          <p:nvPr/>
        </p:nvSpPr>
        <p:spPr>
          <a:xfrm>
            <a:off x="82296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kubectl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send YAML / command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20"/>
          <p:cNvSpPr/>
          <p:nvPr/>
        </p:nvSpPr>
        <p:spPr>
          <a:xfrm>
            <a:off x="251460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59"/>
          <p:cNvSpPr/>
          <p:nvPr/>
        </p:nvSpPr>
        <p:spPr>
          <a:xfrm>
            <a:off x="262440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validate and store desired state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1"/>
          <p:cNvSpPr/>
          <p:nvPr/>
        </p:nvSpPr>
        <p:spPr>
          <a:xfrm>
            <a:off x="431604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60"/>
          <p:cNvSpPr/>
          <p:nvPr/>
        </p:nvSpPr>
        <p:spPr>
          <a:xfrm>
            <a:off x="442584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choose a node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22"/>
          <p:cNvSpPr/>
          <p:nvPr/>
        </p:nvSpPr>
        <p:spPr>
          <a:xfrm>
            <a:off x="623628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1"/>
          <p:cNvSpPr/>
          <p:nvPr/>
        </p:nvSpPr>
        <p:spPr>
          <a:xfrm>
            <a:off x="634608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pull image and create 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23"/>
          <p:cNvSpPr/>
          <p:nvPr/>
        </p:nvSpPr>
        <p:spPr>
          <a:xfrm>
            <a:off x="821124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2"/>
          <p:cNvSpPr/>
          <p:nvPr/>
        </p:nvSpPr>
        <p:spPr>
          <a:xfrm>
            <a:off x="832104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run containers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24"/>
          <p:cNvSpPr/>
          <p:nvPr/>
        </p:nvSpPr>
        <p:spPr>
          <a:xfrm>
            <a:off x="1014984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3"/>
          <p:cNvSpPr/>
          <p:nvPr/>
        </p:nvSpPr>
        <p:spPr>
          <a:xfrm>
            <a:off x="1025964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application is running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64"/>
          <p:cNvSpPr/>
          <p:nvPr/>
        </p:nvSpPr>
        <p:spPr>
          <a:xfrm>
            <a:off x="658440" y="388620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Where common failures show up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25"/>
          <p:cNvSpPr/>
          <p:nvPr/>
        </p:nvSpPr>
        <p:spPr>
          <a:xfrm>
            <a:off x="658440" y="437076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65"/>
          <p:cNvSpPr/>
          <p:nvPr/>
        </p:nvSpPr>
        <p:spPr>
          <a:xfrm>
            <a:off x="822960" y="448056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2C94C"/>
                </a:solidFill>
                <a:effectLst/>
                <a:uFillTx/>
                <a:latin typeface="Aptos"/>
              </a:rPr>
              <a:t>ImagePullBackOff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66"/>
          <p:cNvSpPr/>
          <p:nvPr/>
        </p:nvSpPr>
        <p:spPr>
          <a:xfrm>
            <a:off x="2788920" y="448056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kubelet/containerd cannot pull image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67"/>
          <p:cNvSpPr/>
          <p:nvPr/>
        </p:nvSpPr>
        <p:spPr>
          <a:xfrm>
            <a:off x="7315200" y="448056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26"/>
          <p:cNvSpPr/>
          <p:nvPr/>
        </p:nvSpPr>
        <p:spPr>
          <a:xfrm>
            <a:off x="658440" y="486468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8"/>
          <p:cNvSpPr/>
          <p:nvPr/>
        </p:nvSpPr>
        <p:spPr>
          <a:xfrm>
            <a:off x="822960" y="497448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B5757"/>
                </a:solidFill>
                <a:effectLst/>
                <a:uFillTx/>
                <a:latin typeface="Aptos"/>
              </a:rPr>
              <a:t>CrashLoopBackOff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9"/>
          <p:cNvSpPr/>
          <p:nvPr/>
        </p:nvSpPr>
        <p:spPr>
          <a:xfrm>
            <a:off x="2788920" y="497448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image was pulled,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70"/>
          <p:cNvSpPr/>
          <p:nvPr/>
        </p:nvSpPr>
        <p:spPr>
          <a:xfrm>
            <a:off x="7315200" y="497448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logs --previous + describe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27"/>
          <p:cNvSpPr/>
          <p:nvPr/>
        </p:nvSpPr>
        <p:spPr>
          <a:xfrm>
            <a:off x="658440" y="535824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1"/>
          <p:cNvSpPr/>
          <p:nvPr/>
        </p:nvSpPr>
        <p:spPr>
          <a:xfrm>
            <a:off x="822960" y="546804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D3F5"/>
                </a:solidFill>
                <a:effectLst/>
                <a:uFillTx/>
                <a:latin typeface="Aptos"/>
              </a:rPr>
              <a:t>Running but not Ready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2"/>
          <p:cNvSpPr/>
          <p:nvPr/>
        </p:nvSpPr>
        <p:spPr>
          <a:xfrm>
            <a:off x="2788920" y="546804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process runs, readiness check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3"/>
          <p:cNvSpPr/>
          <p:nvPr/>
        </p:nvSpPr>
        <p:spPr>
          <a:xfrm>
            <a:off x="7315200" y="546804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endpoints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8"/>
          <p:cNvSpPr/>
          <p:nvPr/>
        </p:nvSpPr>
        <p:spPr>
          <a:xfrm>
            <a:off x="658440" y="585216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74"/>
          <p:cNvSpPr/>
          <p:nvPr/>
        </p:nvSpPr>
        <p:spPr>
          <a:xfrm>
            <a:off x="822960" y="596196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Pending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5"/>
          <p:cNvSpPr/>
          <p:nvPr/>
        </p:nvSpPr>
        <p:spPr>
          <a:xfrm>
            <a:off x="2788920" y="596196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or admission cannot place/create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76"/>
          <p:cNvSpPr/>
          <p:nvPr/>
        </p:nvSpPr>
        <p:spPr>
          <a:xfrm>
            <a:off x="7315200" y="596196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quota/events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77"/>
          <p:cNvSpPr/>
          <p:nvPr/>
        </p:nvSpPr>
        <p:spPr>
          <a:xfrm>
            <a:off x="658440" y="6382440"/>
            <a:ext cx="9601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Mental model: first classify the failure stage, then choose the command. Do not debug blindly.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66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67"/>
          <p:cNvSpPr/>
          <p:nvPr/>
        </p:nvSpPr>
        <p:spPr>
          <a:xfrm>
            <a:off x="0" y="0"/>
            <a:ext cx="12191760" cy="16416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12"/>
          <p:cNvSpPr/>
          <p:nvPr/>
        </p:nvSpPr>
        <p:spPr>
          <a:xfrm>
            <a:off x="502920" y="393120"/>
            <a:ext cx="7955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VM vs Docker vs Kubernetes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3"/>
          <p:cNvSpPr/>
          <p:nvPr/>
        </p:nvSpPr>
        <p:spPr>
          <a:xfrm>
            <a:off x="521280" y="822960"/>
            <a:ext cx="1051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Three different layers of abstraction, often used together.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8"/>
          <p:cNvSpPr/>
          <p:nvPr/>
        </p:nvSpPr>
        <p:spPr>
          <a:xfrm>
            <a:off x="658440" y="1207080"/>
            <a:ext cx="3154320" cy="4525920"/>
          </a:xfrm>
          <a:prstGeom prst="roundRect">
            <a:avLst>
              <a:gd name="adj" fmla="val 2899"/>
            </a:avLst>
          </a:prstGeom>
          <a:solidFill>
            <a:srgbClr val="0F2A43"/>
          </a:solidFill>
          <a:ln w="12700">
            <a:solidFill>
              <a:srgbClr val="2F80ED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14"/>
          <p:cNvSpPr/>
          <p:nvPr/>
        </p:nvSpPr>
        <p:spPr>
          <a:xfrm>
            <a:off x="859680" y="14446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Machine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5"/>
          <p:cNvSpPr/>
          <p:nvPr/>
        </p:nvSpPr>
        <p:spPr>
          <a:xfrm>
            <a:off x="859680" y="1755720"/>
            <a:ext cx="2651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Full OS boundary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69"/>
          <p:cNvSpPr/>
          <p:nvPr/>
        </p:nvSpPr>
        <p:spPr>
          <a:xfrm>
            <a:off x="4224600" y="1207080"/>
            <a:ext cx="3154320" cy="4525920"/>
          </a:xfrm>
          <a:prstGeom prst="roundRect">
            <a:avLst>
              <a:gd name="adj" fmla="val 2899"/>
            </a:avLst>
          </a:prstGeom>
          <a:solidFill>
            <a:srgbClr val="0D334A"/>
          </a:solidFill>
          <a:ln w="12700">
            <a:solidFill>
              <a:srgbClr val="27D3F5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16"/>
          <p:cNvSpPr/>
          <p:nvPr/>
        </p:nvSpPr>
        <p:spPr>
          <a:xfrm>
            <a:off x="4425840" y="14446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7"/>
          <p:cNvSpPr/>
          <p:nvPr/>
        </p:nvSpPr>
        <p:spPr>
          <a:xfrm>
            <a:off x="4425840" y="1755720"/>
            <a:ext cx="2651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Single-container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0"/>
          <p:cNvSpPr/>
          <p:nvPr/>
        </p:nvSpPr>
        <p:spPr>
          <a:xfrm>
            <a:off x="7790760" y="1207080"/>
            <a:ext cx="3154320" cy="4525920"/>
          </a:xfrm>
          <a:prstGeom prst="roundRect">
            <a:avLst>
              <a:gd name="adj" fmla="val 2899"/>
            </a:avLst>
          </a:prstGeom>
          <a:solidFill>
            <a:srgbClr val="102A44"/>
          </a:solidFill>
          <a:ln w="12700">
            <a:solidFill>
              <a:srgbClr val="3DDC97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18"/>
          <p:cNvSpPr/>
          <p:nvPr/>
        </p:nvSpPr>
        <p:spPr>
          <a:xfrm>
            <a:off x="7992000" y="14446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9"/>
          <p:cNvSpPr/>
          <p:nvPr/>
        </p:nvSpPr>
        <p:spPr>
          <a:xfrm>
            <a:off x="7992000" y="1755720"/>
            <a:ext cx="2651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Application platform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71"/>
          <p:cNvSpPr/>
          <p:nvPr/>
        </p:nvSpPr>
        <p:spPr>
          <a:xfrm>
            <a:off x="1097280" y="233172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20"/>
          <p:cNvSpPr/>
          <p:nvPr/>
        </p:nvSpPr>
        <p:spPr>
          <a:xfrm>
            <a:off x="1207080" y="244152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72"/>
          <p:cNvSpPr/>
          <p:nvPr/>
        </p:nvSpPr>
        <p:spPr>
          <a:xfrm>
            <a:off x="1097280" y="288036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1"/>
          <p:cNvSpPr/>
          <p:nvPr/>
        </p:nvSpPr>
        <p:spPr>
          <a:xfrm>
            <a:off x="1207080" y="299016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Guest OS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73"/>
          <p:cNvSpPr/>
          <p:nvPr/>
        </p:nvSpPr>
        <p:spPr>
          <a:xfrm>
            <a:off x="1097280" y="342900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22"/>
          <p:cNvSpPr/>
          <p:nvPr/>
        </p:nvSpPr>
        <p:spPr>
          <a:xfrm>
            <a:off x="1207080" y="353880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4"/>
          <p:cNvSpPr/>
          <p:nvPr/>
        </p:nvSpPr>
        <p:spPr>
          <a:xfrm>
            <a:off x="1097280" y="397764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3"/>
          <p:cNvSpPr/>
          <p:nvPr/>
        </p:nvSpPr>
        <p:spPr>
          <a:xfrm>
            <a:off x="1207080" y="408744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Hypervisor /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4"/>
          <p:cNvSpPr/>
          <p:nvPr/>
        </p:nvSpPr>
        <p:spPr>
          <a:xfrm>
            <a:off x="914400" y="486468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strong isolation, legacy workloads, and OS-level control.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5"/>
          <p:cNvSpPr/>
          <p:nvPr/>
        </p:nvSpPr>
        <p:spPr>
          <a:xfrm>
            <a:off x="4663440" y="233172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25"/>
          <p:cNvSpPr/>
          <p:nvPr/>
        </p:nvSpPr>
        <p:spPr>
          <a:xfrm>
            <a:off x="4773240" y="244152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image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76"/>
          <p:cNvSpPr/>
          <p:nvPr/>
        </p:nvSpPr>
        <p:spPr>
          <a:xfrm>
            <a:off x="4663440" y="288036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6"/>
          <p:cNvSpPr/>
          <p:nvPr/>
        </p:nvSpPr>
        <p:spPr>
          <a:xfrm>
            <a:off x="4773240" y="299016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process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77"/>
          <p:cNvSpPr/>
          <p:nvPr/>
        </p:nvSpPr>
        <p:spPr>
          <a:xfrm>
            <a:off x="4663440" y="342900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7"/>
          <p:cNvSpPr/>
          <p:nvPr/>
        </p:nvSpPr>
        <p:spPr>
          <a:xfrm>
            <a:off x="4773240" y="353880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 daemon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78"/>
          <p:cNvSpPr/>
          <p:nvPr/>
        </p:nvSpPr>
        <p:spPr>
          <a:xfrm>
            <a:off x="4663440" y="397764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28"/>
          <p:cNvSpPr/>
          <p:nvPr/>
        </p:nvSpPr>
        <p:spPr>
          <a:xfrm>
            <a:off x="4773240" y="408744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Host OS kernel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29"/>
          <p:cNvSpPr/>
          <p:nvPr/>
        </p:nvSpPr>
        <p:spPr>
          <a:xfrm>
            <a:off x="4480560" y="486468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packaging and running a single container locally.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9"/>
          <p:cNvSpPr/>
          <p:nvPr/>
        </p:nvSpPr>
        <p:spPr>
          <a:xfrm>
            <a:off x="8229600" y="224028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30"/>
          <p:cNvSpPr/>
          <p:nvPr/>
        </p:nvSpPr>
        <p:spPr>
          <a:xfrm>
            <a:off x="8339400" y="235008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Deployment / Service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0"/>
          <p:cNvSpPr/>
          <p:nvPr/>
        </p:nvSpPr>
        <p:spPr>
          <a:xfrm>
            <a:off x="8229600" y="278892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31"/>
          <p:cNvSpPr/>
          <p:nvPr/>
        </p:nvSpPr>
        <p:spPr>
          <a:xfrm>
            <a:off x="8339400" y="289872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81"/>
          <p:cNvSpPr/>
          <p:nvPr/>
        </p:nvSpPr>
        <p:spPr>
          <a:xfrm>
            <a:off x="8229600" y="333756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2"/>
          <p:cNvSpPr/>
          <p:nvPr/>
        </p:nvSpPr>
        <p:spPr>
          <a:xfrm>
            <a:off x="8339400" y="344736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+ controllers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82"/>
          <p:cNvSpPr/>
          <p:nvPr/>
        </p:nvSpPr>
        <p:spPr>
          <a:xfrm>
            <a:off x="8229600" y="388620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33"/>
          <p:cNvSpPr/>
          <p:nvPr/>
        </p:nvSpPr>
        <p:spPr>
          <a:xfrm>
            <a:off x="8339400" y="399600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Nodes + container 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34"/>
          <p:cNvSpPr/>
          <p:nvPr/>
        </p:nvSpPr>
        <p:spPr>
          <a:xfrm>
            <a:off x="8046720" y="486468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operating many containers with desired state and self-healing.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83"/>
          <p:cNvSpPr/>
          <p:nvPr/>
        </p:nvSpPr>
        <p:spPr>
          <a:xfrm>
            <a:off x="1325880" y="5989320"/>
            <a:ext cx="9555480" cy="438480"/>
          </a:xfrm>
          <a:prstGeom prst="roundRect">
            <a:avLst>
              <a:gd name="adj" fmla="val 16667"/>
            </a:avLst>
          </a:prstGeom>
          <a:solidFill>
            <a:srgbClr val="0D263D"/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35"/>
          <p:cNvSpPr/>
          <p:nvPr/>
        </p:nvSpPr>
        <p:spPr>
          <a:xfrm>
            <a:off x="1572840" y="6117480"/>
            <a:ext cx="9052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In this workshop: VM provides the lab machine → Docker builds images → Kubernetes runs and operates the application.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163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06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07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08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6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731520" y="132588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804600" y="147204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2011680" y="139896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7"/>
          <p:cNvSpPr/>
          <p:nvPr/>
        </p:nvSpPr>
        <p:spPr>
          <a:xfrm>
            <a:off x="5806440" y="141732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731520" y="193860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9"/>
          <p:cNvSpPr/>
          <p:nvPr/>
        </p:nvSpPr>
        <p:spPr>
          <a:xfrm>
            <a:off x="804600" y="208476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0"/>
          <p:cNvSpPr/>
          <p:nvPr/>
        </p:nvSpPr>
        <p:spPr>
          <a:xfrm>
            <a:off x="2011680" y="201168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5806440" y="203004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2"/>
          <p:cNvSpPr/>
          <p:nvPr/>
        </p:nvSpPr>
        <p:spPr>
          <a:xfrm>
            <a:off x="731520" y="255132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804600" y="269748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4"/>
          <p:cNvSpPr/>
          <p:nvPr/>
        </p:nvSpPr>
        <p:spPr>
          <a:xfrm>
            <a:off x="2011680" y="262440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5"/>
          <p:cNvSpPr/>
          <p:nvPr/>
        </p:nvSpPr>
        <p:spPr>
          <a:xfrm>
            <a:off x="5806440" y="264276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Shape 102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26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27"/>
          <p:cNvSpPr/>
          <p:nvPr/>
        </p:nvSpPr>
        <p:spPr>
          <a:xfrm>
            <a:off x="567000" y="960120"/>
            <a:ext cx="749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28"/>
          <p:cNvSpPr/>
          <p:nvPr/>
        </p:nvSpPr>
        <p:spPr>
          <a:xfrm>
            <a:off x="594360" y="1682640"/>
            <a:ext cx="8044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04"/>
          <p:cNvSpPr/>
          <p:nvPr/>
        </p:nvSpPr>
        <p:spPr>
          <a:xfrm>
            <a:off x="658440" y="2331720"/>
            <a:ext cx="141552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29"/>
          <p:cNvSpPr/>
          <p:nvPr/>
        </p:nvSpPr>
        <p:spPr>
          <a:xfrm>
            <a:off x="658440" y="2414160"/>
            <a:ext cx="14155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05"/>
          <p:cNvSpPr/>
          <p:nvPr/>
        </p:nvSpPr>
        <p:spPr>
          <a:xfrm>
            <a:off x="2240280" y="2331720"/>
            <a:ext cx="168984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30"/>
          <p:cNvSpPr/>
          <p:nvPr/>
        </p:nvSpPr>
        <p:spPr>
          <a:xfrm>
            <a:off x="2240280" y="2414160"/>
            <a:ext cx="16898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06"/>
          <p:cNvSpPr/>
          <p:nvPr/>
        </p:nvSpPr>
        <p:spPr>
          <a:xfrm>
            <a:off x="4096440" y="2331720"/>
            <a:ext cx="82116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31"/>
          <p:cNvSpPr/>
          <p:nvPr/>
        </p:nvSpPr>
        <p:spPr>
          <a:xfrm>
            <a:off x="4096440" y="2414160"/>
            <a:ext cx="821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07"/>
          <p:cNvSpPr/>
          <p:nvPr/>
        </p:nvSpPr>
        <p:spPr>
          <a:xfrm>
            <a:off x="5102280" y="2331720"/>
            <a:ext cx="95832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32"/>
          <p:cNvSpPr/>
          <p:nvPr/>
        </p:nvSpPr>
        <p:spPr>
          <a:xfrm>
            <a:off x="5102280" y="2414160"/>
            <a:ext cx="9583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08"/>
          <p:cNvSpPr/>
          <p:nvPr/>
        </p:nvSpPr>
        <p:spPr>
          <a:xfrm>
            <a:off x="6272640" y="2331720"/>
            <a:ext cx="150696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33"/>
          <p:cNvSpPr/>
          <p:nvPr/>
        </p:nvSpPr>
        <p:spPr>
          <a:xfrm>
            <a:off x="6272640" y="2414160"/>
            <a:ext cx="15069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109"/>
          <p:cNvSpPr/>
          <p:nvPr/>
        </p:nvSpPr>
        <p:spPr>
          <a:xfrm>
            <a:off x="731520" y="3063240"/>
            <a:ext cx="10742400" cy="173556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34"/>
          <p:cNvSpPr/>
          <p:nvPr/>
        </p:nvSpPr>
        <p:spPr>
          <a:xfrm>
            <a:off x="932760" y="3227760"/>
            <a:ext cx="10339920" cy="147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35"/>
          <p:cNvSpPr/>
          <p:nvPr/>
        </p:nvSpPr>
        <p:spPr>
          <a:xfrm>
            <a:off x="749880" y="5166360"/>
            <a:ext cx="96908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110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36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37"/>
          <p:cNvSpPr/>
          <p:nvPr/>
        </p:nvSpPr>
        <p:spPr>
          <a:xfrm>
            <a:off x="54864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38"/>
          <p:cNvSpPr/>
          <p:nvPr/>
        </p:nvSpPr>
        <p:spPr>
          <a:xfrm>
            <a:off x="567000" y="987480"/>
            <a:ext cx="106052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12"/>
          <p:cNvSpPr/>
          <p:nvPr/>
        </p:nvSpPr>
        <p:spPr>
          <a:xfrm>
            <a:off x="658440" y="1600200"/>
            <a:ext cx="6883920" cy="191844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39"/>
          <p:cNvSpPr/>
          <p:nvPr/>
        </p:nvSpPr>
        <p:spPr>
          <a:xfrm>
            <a:off x="859680" y="1764720"/>
            <a:ext cx="6225480" cy="166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13"/>
          <p:cNvSpPr/>
          <p:nvPr/>
        </p:nvSpPr>
        <p:spPr>
          <a:xfrm>
            <a:off x="7772400" y="1600200"/>
            <a:ext cx="3747240" cy="191844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40"/>
          <p:cNvSpPr/>
          <p:nvPr/>
        </p:nvSpPr>
        <p:spPr>
          <a:xfrm>
            <a:off x="8229600" y="1764720"/>
            <a:ext cx="3088800" cy="166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41"/>
          <p:cNvSpPr/>
          <p:nvPr/>
        </p:nvSpPr>
        <p:spPr>
          <a:xfrm>
            <a:off x="685800" y="3977640"/>
            <a:ext cx="274140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42"/>
          <p:cNvSpPr/>
          <p:nvPr/>
        </p:nvSpPr>
        <p:spPr>
          <a:xfrm>
            <a:off x="822960" y="4462200"/>
            <a:ext cx="566748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14"/>
          <p:cNvSpPr/>
          <p:nvPr/>
        </p:nvSpPr>
        <p:spPr>
          <a:xfrm>
            <a:off x="6995160" y="4343400"/>
            <a:ext cx="4067280" cy="95832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43"/>
          <p:cNvSpPr/>
          <p:nvPr/>
        </p:nvSpPr>
        <p:spPr>
          <a:xfrm>
            <a:off x="7269480" y="4681800"/>
            <a:ext cx="3472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115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44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45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46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17"/>
          <p:cNvSpPr/>
          <p:nvPr/>
        </p:nvSpPr>
        <p:spPr>
          <a:xfrm>
            <a:off x="685800" y="1463040"/>
            <a:ext cx="10788480" cy="71172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47"/>
          <p:cNvSpPr/>
          <p:nvPr/>
        </p:nvSpPr>
        <p:spPr>
          <a:xfrm>
            <a:off x="887040" y="1627560"/>
            <a:ext cx="10386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118"/>
          <p:cNvSpPr/>
          <p:nvPr/>
        </p:nvSpPr>
        <p:spPr>
          <a:xfrm>
            <a:off x="822960" y="27889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48"/>
          <p:cNvSpPr/>
          <p:nvPr/>
        </p:nvSpPr>
        <p:spPr>
          <a:xfrm>
            <a:off x="969120" y="28987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49"/>
          <p:cNvSpPr/>
          <p:nvPr/>
        </p:nvSpPr>
        <p:spPr>
          <a:xfrm>
            <a:off x="3977640" y="28803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119"/>
          <p:cNvSpPr/>
          <p:nvPr/>
        </p:nvSpPr>
        <p:spPr>
          <a:xfrm>
            <a:off x="822960" y="34747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50"/>
          <p:cNvSpPr/>
          <p:nvPr/>
        </p:nvSpPr>
        <p:spPr>
          <a:xfrm>
            <a:off x="969120" y="35845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51"/>
          <p:cNvSpPr/>
          <p:nvPr/>
        </p:nvSpPr>
        <p:spPr>
          <a:xfrm>
            <a:off x="3977640" y="35661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20"/>
          <p:cNvSpPr/>
          <p:nvPr/>
        </p:nvSpPr>
        <p:spPr>
          <a:xfrm>
            <a:off x="822960" y="41605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52"/>
          <p:cNvSpPr/>
          <p:nvPr/>
        </p:nvSpPr>
        <p:spPr>
          <a:xfrm>
            <a:off x="969120" y="42703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53"/>
          <p:cNvSpPr/>
          <p:nvPr/>
        </p:nvSpPr>
        <p:spPr>
          <a:xfrm>
            <a:off x="3977640" y="42519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21"/>
          <p:cNvSpPr/>
          <p:nvPr/>
        </p:nvSpPr>
        <p:spPr>
          <a:xfrm>
            <a:off x="822960" y="48463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54"/>
          <p:cNvSpPr/>
          <p:nvPr/>
        </p:nvSpPr>
        <p:spPr>
          <a:xfrm>
            <a:off x="969120" y="49561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55"/>
          <p:cNvSpPr/>
          <p:nvPr/>
        </p:nvSpPr>
        <p:spPr>
          <a:xfrm>
            <a:off x="3977640" y="49377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56"/>
          <p:cNvSpPr/>
          <p:nvPr/>
        </p:nvSpPr>
        <p:spPr>
          <a:xfrm>
            <a:off x="749880" y="5806440"/>
            <a:ext cx="9782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12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57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58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59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24"/>
          <p:cNvSpPr/>
          <p:nvPr/>
        </p:nvSpPr>
        <p:spPr>
          <a:xfrm>
            <a:off x="731520" y="1554480"/>
            <a:ext cx="10468800" cy="182736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60"/>
          <p:cNvSpPr/>
          <p:nvPr/>
        </p:nvSpPr>
        <p:spPr>
          <a:xfrm>
            <a:off x="932760" y="1719000"/>
            <a:ext cx="10038960" cy="15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61"/>
          <p:cNvSpPr/>
          <p:nvPr/>
        </p:nvSpPr>
        <p:spPr>
          <a:xfrm>
            <a:off x="6629400" y="3657600"/>
            <a:ext cx="4387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62"/>
          <p:cNvSpPr/>
          <p:nvPr/>
        </p:nvSpPr>
        <p:spPr>
          <a:xfrm>
            <a:off x="6629400" y="4298040"/>
            <a:ext cx="466200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125"/>
          <p:cNvSpPr/>
          <p:nvPr/>
        </p:nvSpPr>
        <p:spPr>
          <a:xfrm>
            <a:off x="914400" y="4251960"/>
            <a:ext cx="5210640" cy="109584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63"/>
          <p:cNvSpPr/>
          <p:nvPr/>
        </p:nvSpPr>
        <p:spPr>
          <a:xfrm>
            <a:off x="1115640" y="4416480"/>
            <a:ext cx="480816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126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64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65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66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128"/>
          <p:cNvSpPr/>
          <p:nvPr/>
        </p:nvSpPr>
        <p:spPr>
          <a:xfrm>
            <a:off x="685800" y="1536120"/>
            <a:ext cx="9828720" cy="74880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67"/>
          <p:cNvSpPr/>
          <p:nvPr/>
        </p:nvSpPr>
        <p:spPr>
          <a:xfrm>
            <a:off x="887040" y="1600200"/>
            <a:ext cx="93988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29"/>
          <p:cNvSpPr/>
          <p:nvPr/>
        </p:nvSpPr>
        <p:spPr>
          <a:xfrm flipV="1">
            <a:off x="6602040" y="2512080"/>
            <a:ext cx="4936320" cy="159912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68"/>
          <p:cNvSpPr/>
          <p:nvPr/>
        </p:nvSpPr>
        <p:spPr>
          <a:xfrm>
            <a:off x="6803280" y="2514600"/>
            <a:ext cx="453384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69"/>
          <p:cNvSpPr/>
          <p:nvPr/>
        </p:nvSpPr>
        <p:spPr>
          <a:xfrm>
            <a:off x="749880" y="3794760"/>
            <a:ext cx="2558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30"/>
          <p:cNvSpPr/>
          <p:nvPr/>
        </p:nvSpPr>
        <p:spPr>
          <a:xfrm>
            <a:off x="841320" y="4370760"/>
            <a:ext cx="382680" cy="38268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70"/>
          <p:cNvSpPr/>
          <p:nvPr/>
        </p:nvSpPr>
        <p:spPr>
          <a:xfrm>
            <a:off x="841320" y="4457880"/>
            <a:ext cx="382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71"/>
          <p:cNvSpPr/>
          <p:nvPr/>
        </p:nvSpPr>
        <p:spPr>
          <a:xfrm>
            <a:off x="1344240" y="4407480"/>
            <a:ext cx="24674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32"/>
          <p:cNvSpPr/>
          <p:nvPr/>
        </p:nvSpPr>
        <p:spPr>
          <a:xfrm>
            <a:off x="3822120" y="4370760"/>
            <a:ext cx="382680" cy="38268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72"/>
          <p:cNvSpPr/>
          <p:nvPr/>
        </p:nvSpPr>
        <p:spPr>
          <a:xfrm>
            <a:off x="3822120" y="4457880"/>
            <a:ext cx="382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73"/>
          <p:cNvSpPr/>
          <p:nvPr/>
        </p:nvSpPr>
        <p:spPr>
          <a:xfrm>
            <a:off x="4325040" y="4407480"/>
            <a:ext cx="18273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34"/>
          <p:cNvSpPr/>
          <p:nvPr/>
        </p:nvSpPr>
        <p:spPr>
          <a:xfrm>
            <a:off x="6199560" y="4370760"/>
            <a:ext cx="382680" cy="38268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174"/>
          <p:cNvSpPr/>
          <p:nvPr/>
        </p:nvSpPr>
        <p:spPr>
          <a:xfrm>
            <a:off x="6199560" y="4457880"/>
            <a:ext cx="382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75"/>
          <p:cNvSpPr/>
          <p:nvPr/>
        </p:nvSpPr>
        <p:spPr>
          <a:xfrm>
            <a:off x="6702480" y="4407480"/>
            <a:ext cx="1598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76"/>
          <p:cNvSpPr/>
          <p:nvPr/>
        </p:nvSpPr>
        <p:spPr>
          <a:xfrm>
            <a:off x="786240" y="5532120"/>
            <a:ext cx="104227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135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77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78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</a:t>
            </a: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Expose the Pod with a </a:t>
            </a: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79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137"/>
          <p:cNvSpPr/>
          <p:nvPr/>
        </p:nvSpPr>
        <p:spPr>
          <a:xfrm>
            <a:off x="713160" y="1508760"/>
            <a:ext cx="8886960" cy="54756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80"/>
          <p:cNvSpPr/>
          <p:nvPr/>
        </p:nvSpPr>
        <p:spPr>
          <a:xfrm>
            <a:off x="914400" y="1508760"/>
            <a:ext cx="9371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38"/>
          <p:cNvSpPr/>
          <p:nvPr/>
        </p:nvSpPr>
        <p:spPr>
          <a:xfrm>
            <a:off x="6537960" y="2286000"/>
            <a:ext cx="5073480" cy="137052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81"/>
          <p:cNvSpPr/>
          <p:nvPr/>
        </p:nvSpPr>
        <p:spPr>
          <a:xfrm>
            <a:off x="6739200" y="2286000"/>
            <a:ext cx="46710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39"/>
          <p:cNvSpPr/>
          <p:nvPr/>
        </p:nvSpPr>
        <p:spPr>
          <a:xfrm>
            <a:off x="960120" y="4005000"/>
            <a:ext cx="1461600" cy="82152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82"/>
          <p:cNvSpPr/>
          <p:nvPr/>
        </p:nvSpPr>
        <p:spPr>
          <a:xfrm>
            <a:off x="1234440" y="4325040"/>
            <a:ext cx="912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141"/>
          <p:cNvSpPr/>
          <p:nvPr/>
        </p:nvSpPr>
        <p:spPr>
          <a:xfrm>
            <a:off x="4251960" y="4005000"/>
            <a:ext cx="1644480" cy="82152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83"/>
          <p:cNvSpPr/>
          <p:nvPr/>
        </p:nvSpPr>
        <p:spPr>
          <a:xfrm>
            <a:off x="4462200" y="4325040"/>
            <a:ext cx="12330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143"/>
          <p:cNvSpPr/>
          <p:nvPr/>
        </p:nvSpPr>
        <p:spPr>
          <a:xfrm>
            <a:off x="7589520" y="4005000"/>
            <a:ext cx="1735920" cy="82152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84"/>
          <p:cNvSpPr/>
          <p:nvPr/>
        </p:nvSpPr>
        <p:spPr>
          <a:xfrm>
            <a:off x="7927920" y="4325040"/>
            <a:ext cx="1004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85"/>
          <p:cNvSpPr/>
          <p:nvPr/>
        </p:nvSpPr>
        <p:spPr>
          <a:xfrm>
            <a:off x="868680" y="55962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44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86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87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88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46"/>
          <p:cNvSpPr/>
          <p:nvPr/>
        </p:nvSpPr>
        <p:spPr>
          <a:xfrm>
            <a:off x="749880" y="1536120"/>
            <a:ext cx="10422720" cy="71172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9"/>
          <p:cNvSpPr/>
          <p:nvPr/>
        </p:nvSpPr>
        <p:spPr>
          <a:xfrm>
            <a:off x="951120" y="1700640"/>
            <a:ext cx="1002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47"/>
          <p:cNvSpPr/>
          <p:nvPr/>
        </p:nvSpPr>
        <p:spPr>
          <a:xfrm>
            <a:off x="804600" y="2743200"/>
            <a:ext cx="5393520" cy="141588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90"/>
          <p:cNvSpPr/>
          <p:nvPr/>
        </p:nvSpPr>
        <p:spPr>
          <a:xfrm>
            <a:off x="1005840" y="2907720"/>
            <a:ext cx="4991040" cy="11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91"/>
          <p:cNvSpPr/>
          <p:nvPr/>
        </p:nvSpPr>
        <p:spPr>
          <a:xfrm>
            <a:off x="6720840" y="2761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92"/>
          <p:cNvSpPr/>
          <p:nvPr/>
        </p:nvSpPr>
        <p:spPr>
          <a:xfrm>
            <a:off x="6729840" y="3273480"/>
            <a:ext cx="447912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8"/>
          <p:cNvSpPr/>
          <p:nvPr/>
        </p:nvSpPr>
        <p:spPr>
          <a:xfrm>
            <a:off x="822960" y="4937760"/>
            <a:ext cx="7313760" cy="59292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93"/>
          <p:cNvSpPr/>
          <p:nvPr/>
        </p:nvSpPr>
        <p:spPr>
          <a:xfrm>
            <a:off x="1024200" y="5102280"/>
            <a:ext cx="691128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hape 149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94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95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96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51"/>
          <p:cNvSpPr/>
          <p:nvPr/>
        </p:nvSpPr>
        <p:spPr>
          <a:xfrm>
            <a:off x="77724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97"/>
          <p:cNvSpPr/>
          <p:nvPr/>
        </p:nvSpPr>
        <p:spPr>
          <a:xfrm>
            <a:off x="77724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153"/>
          <p:cNvSpPr/>
          <p:nvPr/>
        </p:nvSpPr>
        <p:spPr>
          <a:xfrm>
            <a:off x="246888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98"/>
          <p:cNvSpPr/>
          <p:nvPr/>
        </p:nvSpPr>
        <p:spPr>
          <a:xfrm>
            <a:off x="246888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155"/>
          <p:cNvSpPr/>
          <p:nvPr/>
        </p:nvSpPr>
        <p:spPr>
          <a:xfrm>
            <a:off x="416052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99"/>
          <p:cNvSpPr/>
          <p:nvPr/>
        </p:nvSpPr>
        <p:spPr>
          <a:xfrm>
            <a:off x="416052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157"/>
          <p:cNvSpPr/>
          <p:nvPr/>
        </p:nvSpPr>
        <p:spPr>
          <a:xfrm>
            <a:off x="585216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0"/>
          <p:cNvSpPr/>
          <p:nvPr/>
        </p:nvSpPr>
        <p:spPr>
          <a:xfrm>
            <a:off x="585216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159"/>
          <p:cNvSpPr/>
          <p:nvPr/>
        </p:nvSpPr>
        <p:spPr>
          <a:xfrm>
            <a:off x="754380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01"/>
          <p:cNvSpPr/>
          <p:nvPr/>
        </p:nvSpPr>
        <p:spPr>
          <a:xfrm>
            <a:off x="754380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161"/>
          <p:cNvSpPr/>
          <p:nvPr/>
        </p:nvSpPr>
        <p:spPr>
          <a:xfrm>
            <a:off x="923544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02"/>
          <p:cNvSpPr/>
          <p:nvPr/>
        </p:nvSpPr>
        <p:spPr>
          <a:xfrm>
            <a:off x="923544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03"/>
          <p:cNvSpPr/>
          <p:nvPr/>
        </p:nvSpPr>
        <p:spPr>
          <a:xfrm>
            <a:off x="822960" y="3246120"/>
            <a:ext cx="2741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04"/>
          <p:cNvSpPr/>
          <p:nvPr/>
        </p:nvSpPr>
        <p:spPr>
          <a:xfrm>
            <a:off x="868680" y="3749040"/>
            <a:ext cx="81367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162"/>
          <p:cNvSpPr/>
          <p:nvPr/>
        </p:nvSpPr>
        <p:spPr>
          <a:xfrm>
            <a:off x="6446520" y="5559480"/>
            <a:ext cx="4662000" cy="52884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205"/>
          <p:cNvSpPr/>
          <p:nvPr/>
        </p:nvSpPr>
        <p:spPr>
          <a:xfrm>
            <a:off x="6647760" y="5724000"/>
            <a:ext cx="4259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2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3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24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29"/>
          <p:cNvSpPr/>
          <p:nvPr/>
        </p:nvSpPr>
        <p:spPr>
          <a:xfrm>
            <a:off x="594360" y="1051560"/>
            <a:ext cx="4569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4"/>
          <p:cNvSpPr/>
          <p:nvPr/>
        </p:nvSpPr>
        <p:spPr>
          <a:xfrm>
            <a:off x="567000" y="1508760"/>
            <a:ext cx="98730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9"/>
          <p:cNvSpPr/>
          <p:nvPr/>
        </p:nvSpPr>
        <p:spPr>
          <a:xfrm>
            <a:off x="603360" y="2331720"/>
            <a:ext cx="9690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7"/>
          <p:cNvSpPr/>
          <p:nvPr/>
        </p:nvSpPr>
        <p:spPr>
          <a:xfrm>
            <a:off x="914400" y="3794760"/>
            <a:ext cx="1917720" cy="72900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44"/>
          <p:cNvSpPr/>
          <p:nvPr/>
        </p:nvSpPr>
        <p:spPr>
          <a:xfrm>
            <a:off x="987480" y="3940920"/>
            <a:ext cx="177156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23"/>
          <p:cNvSpPr/>
          <p:nvPr/>
        </p:nvSpPr>
        <p:spPr>
          <a:xfrm>
            <a:off x="4160520" y="3794760"/>
            <a:ext cx="2100600" cy="72900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45"/>
          <p:cNvSpPr/>
          <p:nvPr/>
        </p:nvSpPr>
        <p:spPr>
          <a:xfrm>
            <a:off x="4233600" y="3940920"/>
            <a:ext cx="19544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26"/>
          <p:cNvSpPr/>
          <p:nvPr/>
        </p:nvSpPr>
        <p:spPr>
          <a:xfrm>
            <a:off x="7589520" y="3794760"/>
            <a:ext cx="2192040" cy="72900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6"/>
          <p:cNvSpPr/>
          <p:nvPr/>
        </p:nvSpPr>
        <p:spPr>
          <a:xfrm>
            <a:off x="7662600" y="3940920"/>
            <a:ext cx="20458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28"/>
          <p:cNvSpPr/>
          <p:nvPr/>
        </p:nvSpPr>
        <p:spPr>
          <a:xfrm>
            <a:off x="10744200" y="3794760"/>
            <a:ext cx="911880" cy="72900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10817280" y="3940920"/>
            <a:ext cx="765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Shape 3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3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48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49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0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38"/>
          <p:cNvSpPr/>
          <p:nvPr/>
        </p:nvSpPr>
        <p:spPr>
          <a:xfrm>
            <a:off x="50292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1"/>
          <p:cNvSpPr/>
          <p:nvPr/>
        </p:nvSpPr>
        <p:spPr>
          <a:xfrm>
            <a:off x="57600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40"/>
          <p:cNvSpPr/>
          <p:nvPr/>
        </p:nvSpPr>
        <p:spPr>
          <a:xfrm>
            <a:off x="251460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52"/>
          <p:cNvSpPr/>
          <p:nvPr/>
        </p:nvSpPr>
        <p:spPr>
          <a:xfrm>
            <a:off x="258768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41"/>
          <p:cNvSpPr/>
          <p:nvPr/>
        </p:nvSpPr>
        <p:spPr>
          <a:xfrm>
            <a:off x="449892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53"/>
          <p:cNvSpPr/>
          <p:nvPr/>
        </p:nvSpPr>
        <p:spPr>
          <a:xfrm>
            <a:off x="457200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42"/>
          <p:cNvSpPr/>
          <p:nvPr/>
        </p:nvSpPr>
        <p:spPr>
          <a:xfrm>
            <a:off x="647388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4"/>
          <p:cNvSpPr/>
          <p:nvPr/>
        </p:nvSpPr>
        <p:spPr>
          <a:xfrm>
            <a:off x="654696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43"/>
          <p:cNvSpPr/>
          <p:nvPr/>
        </p:nvSpPr>
        <p:spPr>
          <a:xfrm>
            <a:off x="845820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55"/>
          <p:cNvSpPr/>
          <p:nvPr/>
        </p:nvSpPr>
        <p:spPr>
          <a:xfrm>
            <a:off x="853128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44"/>
          <p:cNvSpPr/>
          <p:nvPr/>
        </p:nvSpPr>
        <p:spPr>
          <a:xfrm>
            <a:off x="1045152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56"/>
          <p:cNvSpPr/>
          <p:nvPr/>
        </p:nvSpPr>
        <p:spPr>
          <a:xfrm>
            <a:off x="1052460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57"/>
          <p:cNvSpPr/>
          <p:nvPr/>
        </p:nvSpPr>
        <p:spPr>
          <a:xfrm>
            <a:off x="822960" y="4617720"/>
            <a:ext cx="10604520" cy="11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Shape 4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46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58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9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60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7"/>
          <p:cNvSpPr/>
          <p:nvPr/>
        </p:nvSpPr>
        <p:spPr>
          <a:xfrm>
            <a:off x="640080" y="1508760"/>
            <a:ext cx="3152160" cy="388368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61"/>
          <p:cNvSpPr/>
          <p:nvPr/>
        </p:nvSpPr>
        <p:spPr>
          <a:xfrm>
            <a:off x="914400" y="178308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2"/>
          <p:cNvSpPr/>
          <p:nvPr/>
        </p:nvSpPr>
        <p:spPr>
          <a:xfrm>
            <a:off x="914400" y="2423160"/>
            <a:ext cx="255780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48"/>
          <p:cNvSpPr/>
          <p:nvPr/>
        </p:nvSpPr>
        <p:spPr>
          <a:xfrm>
            <a:off x="4526280" y="1508760"/>
            <a:ext cx="3152160" cy="388368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63"/>
          <p:cNvSpPr/>
          <p:nvPr/>
        </p:nvSpPr>
        <p:spPr>
          <a:xfrm>
            <a:off x="4800600" y="178308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64"/>
          <p:cNvSpPr/>
          <p:nvPr/>
        </p:nvSpPr>
        <p:spPr>
          <a:xfrm>
            <a:off x="4800600" y="2423160"/>
            <a:ext cx="255780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49"/>
          <p:cNvSpPr/>
          <p:nvPr/>
        </p:nvSpPr>
        <p:spPr>
          <a:xfrm>
            <a:off x="8412480" y="1508760"/>
            <a:ext cx="3152160" cy="388368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5"/>
          <p:cNvSpPr/>
          <p:nvPr/>
        </p:nvSpPr>
        <p:spPr>
          <a:xfrm>
            <a:off x="8686800" y="178308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66"/>
          <p:cNvSpPr/>
          <p:nvPr/>
        </p:nvSpPr>
        <p:spPr>
          <a:xfrm>
            <a:off x="8686800" y="2423160"/>
            <a:ext cx="255780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Shape 5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5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67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68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69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52"/>
          <p:cNvSpPr/>
          <p:nvPr/>
        </p:nvSpPr>
        <p:spPr>
          <a:xfrm>
            <a:off x="685800" y="1600200"/>
            <a:ext cx="5575320" cy="237492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70"/>
          <p:cNvSpPr/>
          <p:nvPr/>
        </p:nvSpPr>
        <p:spPr>
          <a:xfrm>
            <a:off x="822960" y="1719000"/>
            <a:ext cx="5301000" cy="21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53"/>
          <p:cNvSpPr/>
          <p:nvPr/>
        </p:nvSpPr>
        <p:spPr>
          <a:xfrm>
            <a:off x="6720840" y="1600200"/>
            <a:ext cx="4706640" cy="237492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71"/>
          <p:cNvSpPr/>
          <p:nvPr/>
        </p:nvSpPr>
        <p:spPr>
          <a:xfrm>
            <a:off x="7040880" y="1828800"/>
            <a:ext cx="41122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72"/>
          <p:cNvSpPr/>
          <p:nvPr/>
        </p:nvSpPr>
        <p:spPr>
          <a:xfrm>
            <a:off x="7040880" y="2423160"/>
            <a:ext cx="402084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54"/>
          <p:cNvSpPr/>
          <p:nvPr/>
        </p:nvSpPr>
        <p:spPr>
          <a:xfrm>
            <a:off x="7040880" y="4069080"/>
            <a:ext cx="1460520" cy="32652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73"/>
          <p:cNvSpPr/>
          <p:nvPr/>
        </p:nvSpPr>
        <p:spPr>
          <a:xfrm>
            <a:off x="7113960" y="4142160"/>
            <a:ext cx="13143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55"/>
          <p:cNvSpPr/>
          <p:nvPr/>
        </p:nvSpPr>
        <p:spPr>
          <a:xfrm>
            <a:off x="8641080" y="4069080"/>
            <a:ext cx="1414800" cy="32652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4"/>
          <p:cNvSpPr/>
          <p:nvPr/>
        </p:nvSpPr>
        <p:spPr>
          <a:xfrm>
            <a:off x="8714160" y="4142160"/>
            <a:ext cx="1268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56"/>
          <p:cNvSpPr/>
          <p:nvPr/>
        </p:nvSpPr>
        <p:spPr>
          <a:xfrm>
            <a:off x="10195560" y="4069080"/>
            <a:ext cx="1049040" cy="32652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75"/>
          <p:cNvSpPr/>
          <p:nvPr/>
        </p:nvSpPr>
        <p:spPr>
          <a:xfrm>
            <a:off x="10268640" y="4142160"/>
            <a:ext cx="9028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57"/>
          <p:cNvSpPr/>
          <p:nvPr/>
        </p:nvSpPr>
        <p:spPr>
          <a:xfrm>
            <a:off x="685800" y="4892040"/>
            <a:ext cx="5575320" cy="59184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76"/>
          <p:cNvSpPr/>
          <p:nvPr/>
        </p:nvSpPr>
        <p:spPr>
          <a:xfrm>
            <a:off x="822960" y="5010840"/>
            <a:ext cx="53010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77"/>
          <p:cNvSpPr/>
          <p:nvPr/>
        </p:nvSpPr>
        <p:spPr>
          <a:xfrm>
            <a:off x="6720840" y="4974480"/>
            <a:ext cx="47523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58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59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78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79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80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60"/>
          <p:cNvSpPr/>
          <p:nvPr/>
        </p:nvSpPr>
        <p:spPr>
          <a:xfrm>
            <a:off x="685800" y="1417320"/>
            <a:ext cx="6123960" cy="415800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81"/>
          <p:cNvSpPr/>
          <p:nvPr/>
        </p:nvSpPr>
        <p:spPr>
          <a:xfrm>
            <a:off x="822960" y="1536120"/>
            <a:ext cx="5849640" cy="39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61"/>
          <p:cNvSpPr/>
          <p:nvPr/>
        </p:nvSpPr>
        <p:spPr>
          <a:xfrm>
            <a:off x="7315200" y="1600200"/>
            <a:ext cx="4295160" cy="356364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82"/>
          <p:cNvSpPr/>
          <p:nvPr/>
        </p:nvSpPr>
        <p:spPr>
          <a:xfrm>
            <a:off x="7589520" y="1874520"/>
            <a:ext cx="37465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62"/>
          <p:cNvSpPr/>
          <p:nvPr/>
        </p:nvSpPr>
        <p:spPr>
          <a:xfrm>
            <a:off x="7589520" y="2514600"/>
            <a:ext cx="3472200" cy="100332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83"/>
          <p:cNvSpPr/>
          <p:nvPr/>
        </p:nvSpPr>
        <p:spPr>
          <a:xfrm>
            <a:off x="7726680" y="2633400"/>
            <a:ext cx="319788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84"/>
          <p:cNvSpPr/>
          <p:nvPr/>
        </p:nvSpPr>
        <p:spPr>
          <a:xfrm>
            <a:off x="7589520" y="3931920"/>
            <a:ext cx="3655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63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64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85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86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87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65"/>
          <p:cNvSpPr/>
          <p:nvPr/>
        </p:nvSpPr>
        <p:spPr>
          <a:xfrm>
            <a:off x="685800" y="1600200"/>
            <a:ext cx="10833120" cy="278640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88"/>
          <p:cNvSpPr/>
          <p:nvPr/>
        </p:nvSpPr>
        <p:spPr>
          <a:xfrm>
            <a:off x="822960" y="1719000"/>
            <a:ext cx="10558800" cy="26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66"/>
          <p:cNvSpPr/>
          <p:nvPr/>
        </p:nvSpPr>
        <p:spPr>
          <a:xfrm>
            <a:off x="685800" y="4892040"/>
            <a:ext cx="10833120" cy="77472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89"/>
          <p:cNvSpPr/>
          <p:nvPr/>
        </p:nvSpPr>
        <p:spPr>
          <a:xfrm>
            <a:off x="960120" y="5102280"/>
            <a:ext cx="102387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Shape 67"/>
          <p:cNvSpPr/>
          <p:nvPr/>
        </p:nvSpPr>
        <p:spPr>
          <a:xfrm>
            <a:off x="-74160" y="114480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68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90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91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92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69"/>
          <p:cNvSpPr/>
          <p:nvPr/>
        </p:nvSpPr>
        <p:spPr>
          <a:xfrm>
            <a:off x="685800" y="1508760"/>
            <a:ext cx="5483880" cy="260532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93"/>
          <p:cNvSpPr/>
          <p:nvPr/>
        </p:nvSpPr>
        <p:spPr>
          <a:xfrm>
            <a:off x="822960" y="1627560"/>
            <a:ext cx="5209560" cy="22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70"/>
          <p:cNvSpPr/>
          <p:nvPr/>
        </p:nvSpPr>
        <p:spPr>
          <a:xfrm>
            <a:off x="6583680" y="1508760"/>
            <a:ext cx="5073120" cy="182628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94"/>
          <p:cNvSpPr/>
          <p:nvPr/>
        </p:nvSpPr>
        <p:spPr>
          <a:xfrm>
            <a:off x="6720840" y="1627560"/>
            <a:ext cx="493596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71"/>
          <p:cNvSpPr/>
          <p:nvPr/>
        </p:nvSpPr>
        <p:spPr>
          <a:xfrm>
            <a:off x="109728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95"/>
          <p:cNvSpPr/>
          <p:nvPr/>
        </p:nvSpPr>
        <p:spPr>
          <a:xfrm>
            <a:off x="117036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73"/>
          <p:cNvSpPr/>
          <p:nvPr/>
        </p:nvSpPr>
        <p:spPr>
          <a:xfrm>
            <a:off x="352044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96"/>
          <p:cNvSpPr/>
          <p:nvPr/>
        </p:nvSpPr>
        <p:spPr>
          <a:xfrm>
            <a:off x="359352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75"/>
          <p:cNvSpPr/>
          <p:nvPr/>
        </p:nvSpPr>
        <p:spPr>
          <a:xfrm>
            <a:off x="592524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97"/>
          <p:cNvSpPr/>
          <p:nvPr/>
        </p:nvSpPr>
        <p:spPr>
          <a:xfrm>
            <a:off x="599832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77"/>
          <p:cNvSpPr/>
          <p:nvPr/>
        </p:nvSpPr>
        <p:spPr>
          <a:xfrm>
            <a:off x="832104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98"/>
          <p:cNvSpPr/>
          <p:nvPr/>
        </p:nvSpPr>
        <p:spPr>
          <a:xfrm>
            <a:off x="839412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79"/>
          <p:cNvSpPr/>
          <p:nvPr/>
        </p:nvSpPr>
        <p:spPr>
          <a:xfrm>
            <a:off x="10744200" y="4434840"/>
            <a:ext cx="1140480" cy="68328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99"/>
          <p:cNvSpPr/>
          <p:nvPr/>
        </p:nvSpPr>
        <p:spPr>
          <a:xfrm>
            <a:off x="10817280" y="4581000"/>
            <a:ext cx="994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8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8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00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01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02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82"/>
          <p:cNvSpPr/>
          <p:nvPr/>
        </p:nvSpPr>
        <p:spPr>
          <a:xfrm>
            <a:off x="685800" y="1417320"/>
            <a:ext cx="5803920" cy="415800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103"/>
          <p:cNvSpPr/>
          <p:nvPr/>
        </p:nvSpPr>
        <p:spPr>
          <a:xfrm>
            <a:off x="822960" y="1536120"/>
            <a:ext cx="5529600" cy="39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3"/>
          <p:cNvSpPr/>
          <p:nvPr/>
        </p:nvSpPr>
        <p:spPr>
          <a:xfrm>
            <a:off x="6949440" y="1645920"/>
            <a:ext cx="4478040" cy="328932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04"/>
          <p:cNvSpPr/>
          <p:nvPr/>
        </p:nvSpPr>
        <p:spPr>
          <a:xfrm>
            <a:off x="7223760" y="1920240"/>
            <a:ext cx="39294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05"/>
          <p:cNvSpPr/>
          <p:nvPr/>
        </p:nvSpPr>
        <p:spPr>
          <a:xfrm>
            <a:off x="7223760" y="2560320"/>
            <a:ext cx="379224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Shape 8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85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106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107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108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86"/>
          <p:cNvSpPr/>
          <p:nvPr/>
        </p:nvSpPr>
        <p:spPr>
          <a:xfrm>
            <a:off x="685800" y="1508760"/>
            <a:ext cx="5301000" cy="182628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109"/>
          <p:cNvSpPr/>
          <p:nvPr/>
        </p:nvSpPr>
        <p:spPr>
          <a:xfrm>
            <a:off x="822960" y="1627560"/>
            <a:ext cx="502668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87"/>
          <p:cNvSpPr/>
          <p:nvPr/>
        </p:nvSpPr>
        <p:spPr>
          <a:xfrm>
            <a:off x="6446520" y="1508760"/>
            <a:ext cx="5072400" cy="182628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10"/>
          <p:cNvSpPr/>
          <p:nvPr/>
        </p:nvSpPr>
        <p:spPr>
          <a:xfrm>
            <a:off x="6720840" y="1783080"/>
            <a:ext cx="4386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88"/>
          <p:cNvSpPr/>
          <p:nvPr/>
        </p:nvSpPr>
        <p:spPr>
          <a:xfrm>
            <a:off x="6720840" y="2331720"/>
            <a:ext cx="4340880" cy="77472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111"/>
          <p:cNvSpPr/>
          <p:nvPr/>
        </p:nvSpPr>
        <p:spPr>
          <a:xfrm>
            <a:off x="6858000" y="2450520"/>
            <a:ext cx="40665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112"/>
          <p:cNvSpPr/>
          <p:nvPr/>
        </p:nvSpPr>
        <p:spPr>
          <a:xfrm>
            <a:off x="685800" y="3794760"/>
            <a:ext cx="2100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89"/>
          <p:cNvSpPr/>
          <p:nvPr/>
        </p:nvSpPr>
        <p:spPr>
          <a:xfrm>
            <a:off x="2971800" y="4069080"/>
            <a:ext cx="2009160" cy="71064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113"/>
          <p:cNvSpPr/>
          <p:nvPr/>
        </p:nvSpPr>
        <p:spPr>
          <a:xfrm>
            <a:off x="3044880" y="4215240"/>
            <a:ext cx="186300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91"/>
          <p:cNvSpPr/>
          <p:nvPr/>
        </p:nvSpPr>
        <p:spPr>
          <a:xfrm>
            <a:off x="5989320" y="4069080"/>
            <a:ext cx="2009160" cy="71064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14"/>
          <p:cNvSpPr/>
          <p:nvPr/>
        </p:nvSpPr>
        <p:spPr>
          <a:xfrm>
            <a:off x="6062400" y="4215240"/>
            <a:ext cx="186300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93"/>
          <p:cNvSpPr/>
          <p:nvPr/>
        </p:nvSpPr>
        <p:spPr>
          <a:xfrm>
            <a:off x="9235440" y="4069080"/>
            <a:ext cx="2009160" cy="71064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115"/>
          <p:cNvSpPr/>
          <p:nvPr/>
        </p:nvSpPr>
        <p:spPr>
          <a:xfrm>
            <a:off x="9308520" y="4215240"/>
            <a:ext cx="186300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Shape 9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95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16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117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18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96"/>
          <p:cNvSpPr/>
          <p:nvPr/>
        </p:nvSpPr>
        <p:spPr>
          <a:xfrm>
            <a:off x="685800" y="1463040"/>
            <a:ext cx="10970280" cy="424944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19"/>
          <p:cNvSpPr/>
          <p:nvPr/>
        </p:nvSpPr>
        <p:spPr>
          <a:xfrm>
            <a:off x="1005840" y="1783080"/>
            <a:ext cx="2740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20"/>
          <p:cNvSpPr/>
          <p:nvPr/>
        </p:nvSpPr>
        <p:spPr>
          <a:xfrm>
            <a:off x="1005840" y="2331720"/>
            <a:ext cx="10238760" cy="24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Shape 97"/>
          <p:cNvSpPr/>
          <p:nvPr/>
        </p:nvSpPr>
        <p:spPr>
          <a:xfrm>
            <a:off x="1005840" y="5074920"/>
            <a:ext cx="820440" cy="32652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1"/>
          <p:cNvSpPr/>
          <p:nvPr/>
        </p:nvSpPr>
        <p:spPr>
          <a:xfrm>
            <a:off x="1078920" y="5148000"/>
            <a:ext cx="674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98"/>
          <p:cNvSpPr/>
          <p:nvPr/>
        </p:nvSpPr>
        <p:spPr>
          <a:xfrm>
            <a:off x="1965960" y="5074920"/>
            <a:ext cx="774720" cy="32652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22"/>
          <p:cNvSpPr/>
          <p:nvPr/>
        </p:nvSpPr>
        <p:spPr>
          <a:xfrm>
            <a:off x="2039040" y="5148000"/>
            <a:ext cx="6285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99"/>
          <p:cNvSpPr/>
          <p:nvPr/>
        </p:nvSpPr>
        <p:spPr>
          <a:xfrm>
            <a:off x="2880360" y="5074920"/>
            <a:ext cx="729000" cy="32652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23"/>
          <p:cNvSpPr/>
          <p:nvPr/>
        </p:nvSpPr>
        <p:spPr>
          <a:xfrm>
            <a:off x="2953440" y="5148000"/>
            <a:ext cx="582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100"/>
          <p:cNvSpPr/>
          <p:nvPr/>
        </p:nvSpPr>
        <p:spPr>
          <a:xfrm>
            <a:off x="3749040" y="5074920"/>
            <a:ext cx="911880" cy="32652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24"/>
          <p:cNvSpPr/>
          <p:nvPr/>
        </p:nvSpPr>
        <p:spPr>
          <a:xfrm>
            <a:off x="3822120" y="5148000"/>
            <a:ext cx="7657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01"/>
          <p:cNvSpPr/>
          <p:nvPr/>
        </p:nvSpPr>
        <p:spPr>
          <a:xfrm>
            <a:off x="4800600" y="5074920"/>
            <a:ext cx="1414800" cy="32652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125"/>
          <p:cNvSpPr/>
          <p:nvPr/>
        </p:nvSpPr>
        <p:spPr>
          <a:xfrm>
            <a:off x="4873680" y="5148000"/>
            <a:ext cx="1268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http://localhost:8080/items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dependencies and DB migration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 --timeout=180s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job db-migration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wait --for=condition=complete job/db-migration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 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Shape 229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278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79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application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80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30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81"/>
          <p:cNvSpPr/>
          <p:nvPr/>
        </p:nvSpPr>
        <p:spPr>
          <a:xfrm>
            <a:off x="850320" y="1527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Verify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deploy,rs,pod,svc,endpoints,jobs,pvc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And in the second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24"/>
          <p:cNvSpPr/>
          <p:nvPr/>
        </p:nvSpPr>
        <p:spPr>
          <a:xfrm>
            <a:off x="685800" y="344736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25"/>
          <p:cNvSpPr/>
          <p:nvPr/>
        </p:nvSpPr>
        <p:spPr>
          <a:xfrm>
            <a:off x="758880" y="35935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26"/>
          <p:cNvSpPr/>
          <p:nvPr/>
        </p:nvSpPr>
        <p:spPr>
          <a:xfrm>
            <a:off x="286200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27"/>
          <p:cNvSpPr/>
          <p:nvPr/>
        </p:nvSpPr>
        <p:spPr>
          <a:xfrm>
            <a:off x="523944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28"/>
          <p:cNvSpPr/>
          <p:nvPr/>
        </p:nvSpPr>
        <p:spPr>
          <a:xfrm>
            <a:off x="7616880" y="35935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Shape 29"/>
          <p:cNvSpPr/>
          <p:nvPr/>
        </p:nvSpPr>
        <p:spPr>
          <a:xfrm>
            <a:off x="685800" y="397764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30"/>
          <p:cNvSpPr/>
          <p:nvPr/>
        </p:nvSpPr>
        <p:spPr>
          <a:xfrm>
            <a:off x="758880" y="412380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Text 31"/>
          <p:cNvSpPr/>
          <p:nvPr/>
        </p:nvSpPr>
        <p:spPr>
          <a:xfrm>
            <a:off x="286200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32"/>
          <p:cNvSpPr/>
          <p:nvPr/>
        </p:nvSpPr>
        <p:spPr>
          <a:xfrm>
            <a:off x="523944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33"/>
          <p:cNvSpPr/>
          <p:nvPr/>
        </p:nvSpPr>
        <p:spPr>
          <a:xfrm>
            <a:off x="7616880" y="412380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34"/>
          <p:cNvSpPr/>
          <p:nvPr/>
        </p:nvSpPr>
        <p:spPr>
          <a:xfrm>
            <a:off x="685800" y="450792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35"/>
          <p:cNvSpPr/>
          <p:nvPr/>
        </p:nvSpPr>
        <p:spPr>
          <a:xfrm>
            <a:off x="758880" y="46544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Text 36"/>
          <p:cNvSpPr/>
          <p:nvPr/>
        </p:nvSpPr>
        <p:spPr>
          <a:xfrm>
            <a:off x="286200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37"/>
          <p:cNvSpPr/>
          <p:nvPr/>
        </p:nvSpPr>
        <p:spPr>
          <a:xfrm>
            <a:off x="523944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38"/>
          <p:cNvSpPr/>
          <p:nvPr/>
        </p:nvSpPr>
        <p:spPr>
          <a:xfrm>
            <a:off x="7616880" y="46544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Rectangle 1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7" name="Rectangle 3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8" name="TextBox 1"/>
          <p:cNvSpPr/>
          <p:nvPr/>
        </p:nvSpPr>
        <p:spPr>
          <a:xfrm>
            <a:off x="571320" y="342720"/>
            <a:ext cx="48844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Fast Failure Diagnosis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Box 2"/>
          <p:cNvSpPr/>
          <p:nvPr/>
        </p:nvSpPr>
        <p:spPr>
          <a:xfrm>
            <a:off x="594360" y="876240"/>
            <a:ext cx="6188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module-local manifests, not old challenges/solutions paths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Box 6"/>
          <p:cNvSpPr/>
          <p:nvPr/>
        </p:nvSpPr>
        <p:spPr>
          <a:xfrm>
            <a:off x="761760" y="1447560"/>
            <a:ext cx="10668240" cy="18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Start from a healthy Module 4 baseline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Apply one faulty manifest from modules/module-05-fast-failure-diagnosis/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Observe the symptom before fixing anything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 from the reference manifest in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Rounded Rectangle 1"/>
          <p:cNvSpPr/>
          <p:nvPr/>
        </p:nvSpPr>
        <p:spPr>
          <a:xfrm>
            <a:off x="5486400" y="3429000"/>
            <a:ext cx="6172200" cy="13716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2" name="TextBox 8"/>
          <p:cNvSpPr/>
          <p:nvPr/>
        </p:nvSpPr>
        <p:spPr>
          <a:xfrm>
            <a:off x="5715000" y="3429000"/>
            <a:ext cx="591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cd ~/k8s-workshop-2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ls modules/module-05-fast-failure-diagnosis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Working reference: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Rounded Rectangle 2"/>
          <p:cNvSpPr/>
          <p:nvPr/>
        </p:nvSpPr>
        <p:spPr>
          <a:xfrm>
            <a:off x="3276360" y="5105160"/>
            <a:ext cx="5638680" cy="41868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4" name="TextBox 10"/>
          <p:cNvSpPr/>
          <p:nvPr/>
        </p:nvSpPr>
        <p:spPr>
          <a:xfrm>
            <a:off x="3428280" y="5144400"/>
            <a:ext cx="5334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Observe → Describe → Logs/Events → Recover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Shape 4"/>
          <p:cNvSpPr/>
          <p:nvPr/>
        </p:nvSpPr>
        <p:spPr>
          <a:xfrm>
            <a:off x="685800" y="1417320"/>
            <a:ext cx="10878120" cy="22402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modules/module-05-fast-failure-diagnosis/01-imagepullbackoff.yaml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Box 7"/>
          <p:cNvSpPr/>
          <p:nvPr/>
        </p:nvSpPr>
        <p:spPr>
          <a:xfrm>
            <a:off x="685800" y="3886200"/>
            <a:ext cx="1028700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ErrImagePull → ImagePullBackOff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There are no application logs yet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clue is in Pod events and image name/tag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Rounded Rectangle 8"/>
          <p:cNvSpPr/>
          <p:nvPr/>
        </p:nvSpPr>
        <p:spPr>
          <a:xfrm>
            <a:off x="5943600" y="5623920"/>
            <a:ext cx="4754520" cy="54828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1" name="TextBox 9"/>
          <p:cNvSpPr/>
          <p:nvPr/>
        </p:nvSpPr>
        <p:spPr>
          <a:xfrm>
            <a:off x="6172200" y="5715000"/>
            <a:ext cx="413352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Question: did the process ever start?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Rectangle 10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3" name="Rectangle 11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23"/>
          <p:cNvSpPr/>
          <p:nvPr/>
        </p:nvSpPr>
        <p:spPr>
          <a:xfrm>
            <a:off x="571320" y="342720"/>
            <a:ext cx="5320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Quick fix — kubectl edit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Box 24"/>
          <p:cNvSpPr/>
          <p:nvPr/>
        </p:nvSpPr>
        <p:spPr>
          <a:xfrm>
            <a:off x="594000" y="876240"/>
            <a:ext cx="88466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only for quick investigation or emergency edits — keep Git/YAML as the source of truth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Rounded Rectangle 9"/>
          <p:cNvSpPr/>
          <p:nvPr/>
        </p:nvSpPr>
        <p:spPr>
          <a:xfrm>
            <a:off x="457200" y="1333080"/>
            <a:ext cx="6858000" cy="327636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7" name="TextBox 25"/>
          <p:cNvSpPr/>
          <p:nvPr/>
        </p:nvSpPr>
        <p:spPr>
          <a:xfrm>
            <a:off x="713160" y="1510560"/>
            <a:ext cx="63734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ImagePullBackOff example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edit deploy/flask-app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Find the container image: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localhost:5000/k8s-workshop-app:debgu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Fix the tag: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Save and exit editor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Box 26"/>
          <p:cNvSpPr/>
          <p:nvPr/>
        </p:nvSpPr>
        <p:spPr>
          <a:xfrm>
            <a:off x="7353360" y="1523880"/>
            <a:ext cx="6722640" cy="18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Good for showing live object editing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Creates a new Deployment revision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Then watch the rollout status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Do not use as the normal workshop recovery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Rounded Rectangle 11"/>
          <p:cNvSpPr/>
          <p:nvPr/>
        </p:nvSpPr>
        <p:spPr>
          <a:xfrm>
            <a:off x="3200400" y="4572000"/>
            <a:ext cx="8001000" cy="9144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Box 27"/>
          <p:cNvSpPr/>
          <p:nvPr/>
        </p:nvSpPr>
        <p:spPr>
          <a:xfrm>
            <a:off x="3200400" y="4680720"/>
            <a:ext cx="689256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deploy/flask-app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Rounded Rectangle 12"/>
          <p:cNvSpPr/>
          <p:nvPr/>
        </p:nvSpPr>
        <p:spPr>
          <a:xfrm>
            <a:off x="685800" y="5677200"/>
            <a:ext cx="10972800" cy="4950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2" name="TextBox 28"/>
          <p:cNvSpPr/>
          <p:nvPr/>
        </p:nvSpPr>
        <p:spPr>
          <a:xfrm>
            <a:off x="932760" y="5715000"/>
            <a:ext cx="102686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After the demo, restore from k8s/base/06-app-deployment.yaml to keep the lab deterministic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Rectangle 4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4" name="Rectangle 5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5" name="TextBox 5"/>
          <p:cNvSpPr/>
          <p:nvPr/>
        </p:nvSpPr>
        <p:spPr>
          <a:xfrm>
            <a:off x="571320" y="342720"/>
            <a:ext cx="81482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ImagePullBackOff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Box 11"/>
          <p:cNvSpPr/>
          <p:nvPr/>
        </p:nvSpPr>
        <p:spPr>
          <a:xfrm>
            <a:off x="594360" y="876240"/>
            <a:ext cx="494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Show after participants identify the bad image tag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Rounded Rectangle 3"/>
          <p:cNvSpPr/>
          <p:nvPr/>
        </p:nvSpPr>
        <p:spPr>
          <a:xfrm>
            <a:off x="730080" y="1828800"/>
            <a:ext cx="10699920" cy="27432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8" name="TextBox 12"/>
          <p:cNvSpPr/>
          <p:nvPr/>
        </p:nvSpPr>
        <p:spPr>
          <a:xfrm>
            <a:off x="914400" y="2057040"/>
            <a:ext cx="101851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modules/module-05-fast-failure-diagnosis/01-imagepullbackoff.yaml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TextBox 13"/>
          <p:cNvSpPr/>
          <p:nvPr/>
        </p:nvSpPr>
        <p:spPr>
          <a:xfrm>
            <a:off x="1600200" y="4822200"/>
            <a:ext cx="800100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We do not keep a separate solution YAML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working source of truth is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This also avoids old challenges/solutions paths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Shape 4"/>
          <p:cNvSpPr/>
          <p:nvPr/>
        </p:nvSpPr>
        <p:spPr>
          <a:xfrm>
            <a:off x="685800" y="1417320"/>
            <a:ext cx="10878120" cy="2697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modules/module-05-fast-failure-diagnosis/02-crashloopbackoff.yaml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Box 3"/>
          <p:cNvSpPr/>
          <p:nvPr/>
        </p:nvSpPr>
        <p:spPr>
          <a:xfrm>
            <a:off x="731880" y="4114800"/>
            <a:ext cx="93265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CrashLoopBackOff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--previous for the last failed container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Check command, args, env and exit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5" name="Rounded Rectangle 4"/>
          <p:cNvSpPr/>
          <p:nvPr/>
        </p:nvSpPr>
        <p:spPr>
          <a:xfrm>
            <a:off x="6629400" y="5623920"/>
            <a:ext cx="4388760" cy="548280"/>
          </a:xfrm>
          <a:prstGeom prst="roundRect">
            <a:avLst>
              <a:gd name="adj" fmla="val 16667"/>
            </a:avLst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7086600" y="5715000"/>
            <a:ext cx="3393000" cy="38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Key command: logs --previous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ectangle 6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8" name="Rectangle 7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Box 14"/>
          <p:cNvSpPr/>
          <p:nvPr/>
        </p:nvSpPr>
        <p:spPr>
          <a:xfrm>
            <a:off x="571320" y="342720"/>
            <a:ext cx="8222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CrashLoopBackOff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Box 15"/>
          <p:cNvSpPr/>
          <p:nvPr/>
        </p:nvSpPr>
        <p:spPr>
          <a:xfrm>
            <a:off x="594000" y="876240"/>
            <a:ext cx="4136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the normal Deployment template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Rounded Rectangle 6"/>
          <p:cNvSpPr/>
          <p:nvPr/>
        </p:nvSpPr>
        <p:spPr>
          <a:xfrm>
            <a:off x="685800" y="1600200"/>
            <a:ext cx="10667880" cy="25146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2" name="TextBox 16"/>
          <p:cNvSpPr/>
          <p:nvPr/>
        </p:nvSpPr>
        <p:spPr>
          <a:xfrm>
            <a:off x="914400" y="1828440"/>
            <a:ext cx="101851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modules/module-05-fast-failure-diagnosis/02-crashloopbackoff.yaml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logs deployment/flask-app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Box 17"/>
          <p:cNvSpPr/>
          <p:nvPr/>
        </p:nvSpPr>
        <p:spPr>
          <a:xfrm>
            <a:off x="838440" y="4343400"/>
            <a:ext cx="89913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faulty manifest overrides command/args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base Deployment restores the real app 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Verify the rollout, then move 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Shape 4"/>
          <p:cNvSpPr/>
          <p:nvPr/>
        </p:nvSpPr>
        <p:spPr>
          <a:xfrm>
            <a:off x="685800" y="1417320"/>
            <a:ext cx="10878120" cy="2697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modules/module-05-fast-failure-diagnosis/03-readiness-failure.yaml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Box 4"/>
          <p:cNvSpPr/>
          <p:nvPr/>
        </p:nvSpPr>
        <p:spPr>
          <a:xfrm>
            <a:off x="731880" y="4343400"/>
            <a:ext cx="95551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Running, but 0/1 Ready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Readiness probe uses the wrong path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Service endpoints exclude unready Pods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Rounded Rectangle 5"/>
          <p:cNvSpPr/>
          <p:nvPr/>
        </p:nvSpPr>
        <p:spPr>
          <a:xfrm>
            <a:off x="7909920" y="5715000"/>
            <a:ext cx="3291480" cy="54828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Box 18"/>
          <p:cNvSpPr/>
          <p:nvPr/>
        </p:nvSpPr>
        <p:spPr>
          <a:xfrm>
            <a:off x="8461080" y="5822280"/>
            <a:ext cx="211572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Running ≠= Ready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ectangle 8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2" name="Rectangle 9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3" name="TextBox 19"/>
          <p:cNvSpPr/>
          <p:nvPr/>
        </p:nvSpPr>
        <p:spPr>
          <a:xfrm>
            <a:off x="571320" y="342720"/>
            <a:ext cx="7934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Readiness failure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Box 20"/>
          <p:cNvSpPr/>
          <p:nvPr/>
        </p:nvSpPr>
        <p:spPr>
          <a:xfrm>
            <a:off x="594360" y="876240"/>
            <a:ext cx="4766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readiness probe from the base manifest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Rounded Rectangle 7"/>
          <p:cNvSpPr/>
          <p:nvPr/>
        </p:nvSpPr>
        <p:spPr>
          <a:xfrm>
            <a:off x="762120" y="1828800"/>
            <a:ext cx="10667880" cy="25146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6" name="TextBox 21"/>
          <p:cNvSpPr/>
          <p:nvPr/>
        </p:nvSpPr>
        <p:spPr>
          <a:xfrm>
            <a:off x="914400" y="2057040"/>
            <a:ext cx="101851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modules/module-05-fast-failure-diagnosis/03-readiness-failure.yaml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endpoints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Box 22"/>
          <p:cNvSpPr/>
          <p:nvPr/>
        </p:nvSpPr>
        <p:spPr>
          <a:xfrm>
            <a:off x="914400" y="4593600"/>
            <a:ext cx="914400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app was running, but excluded from traffic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Fix readiness before testing Service routing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endpoints as a quick Service readiness check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</a:t>
            </a: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5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challenges/challenge-04-db-connection/broken.yaml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challenges/challenge-04-db-connection/solution.yaml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5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challenges/challenge-05-migration-job/broken.yaml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challenges/challenge-05-migration-job/solution.yaml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24"/>
          <p:cNvSpPr/>
          <p:nvPr/>
        </p:nvSpPr>
        <p:spPr>
          <a:xfrm>
            <a:off x="685800" y="344736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25"/>
          <p:cNvSpPr/>
          <p:nvPr/>
        </p:nvSpPr>
        <p:spPr>
          <a:xfrm>
            <a:off x="758880" y="35935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 26"/>
          <p:cNvSpPr/>
          <p:nvPr/>
        </p:nvSpPr>
        <p:spPr>
          <a:xfrm>
            <a:off x="286200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27"/>
          <p:cNvSpPr/>
          <p:nvPr/>
        </p:nvSpPr>
        <p:spPr>
          <a:xfrm>
            <a:off x="523944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28"/>
          <p:cNvSpPr/>
          <p:nvPr/>
        </p:nvSpPr>
        <p:spPr>
          <a:xfrm>
            <a:off x="7616880" y="35935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29"/>
          <p:cNvSpPr/>
          <p:nvPr/>
        </p:nvSpPr>
        <p:spPr>
          <a:xfrm>
            <a:off x="685800" y="397764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30"/>
          <p:cNvSpPr/>
          <p:nvPr/>
        </p:nvSpPr>
        <p:spPr>
          <a:xfrm>
            <a:off x="758880" y="412380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 31"/>
          <p:cNvSpPr/>
          <p:nvPr/>
        </p:nvSpPr>
        <p:spPr>
          <a:xfrm>
            <a:off x="286200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32"/>
          <p:cNvSpPr/>
          <p:nvPr/>
        </p:nvSpPr>
        <p:spPr>
          <a:xfrm>
            <a:off x="523944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 33"/>
          <p:cNvSpPr/>
          <p:nvPr/>
        </p:nvSpPr>
        <p:spPr>
          <a:xfrm>
            <a:off x="7616880" y="412380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6" name="Shape 34"/>
          <p:cNvSpPr/>
          <p:nvPr/>
        </p:nvSpPr>
        <p:spPr>
          <a:xfrm>
            <a:off x="685800" y="450792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35"/>
          <p:cNvSpPr/>
          <p:nvPr/>
        </p:nvSpPr>
        <p:spPr>
          <a:xfrm>
            <a:off x="758880" y="46544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36"/>
          <p:cNvSpPr/>
          <p:nvPr/>
        </p:nvSpPr>
        <p:spPr>
          <a:xfrm>
            <a:off x="286200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37"/>
          <p:cNvSpPr/>
          <p:nvPr/>
        </p:nvSpPr>
        <p:spPr>
          <a:xfrm>
            <a:off x="523944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 38"/>
          <p:cNvSpPr/>
          <p:nvPr/>
        </p:nvSpPr>
        <p:spPr>
          <a:xfrm>
            <a:off x="7616880" y="46544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6A: 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emptydir-writer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emptydir-writer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emptydir-writer -- ls -l /data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6B: 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pvc-writer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4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9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 /config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7: 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challenges/challenge-07-distroless/broken.yaml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distroless-demo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Better pattern: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pod/distroless-demo --image=busybox:1.36 --target=app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8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9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0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2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7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9: 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challenges/challenge-09-oomkilled/broken.yaml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oom-demo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oom-demo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Or use app endpoint with a low memory limit: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http://localhost:8080/stress/memory?mib=256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3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7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0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3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6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9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0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5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1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3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5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5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9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Shape 24"/>
          <p:cNvSpPr/>
          <p:nvPr/>
        </p:nvSpPr>
        <p:spPr>
          <a:xfrm>
            <a:off x="685800" y="344736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Text 25"/>
          <p:cNvSpPr/>
          <p:nvPr/>
        </p:nvSpPr>
        <p:spPr>
          <a:xfrm>
            <a:off x="758880" y="35935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2" name="Text 26"/>
          <p:cNvSpPr/>
          <p:nvPr/>
        </p:nvSpPr>
        <p:spPr>
          <a:xfrm>
            <a:off x="286200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3" name="Text 27"/>
          <p:cNvSpPr/>
          <p:nvPr/>
        </p:nvSpPr>
        <p:spPr>
          <a:xfrm>
            <a:off x="523944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Text 28"/>
          <p:cNvSpPr/>
          <p:nvPr/>
        </p:nvSpPr>
        <p:spPr>
          <a:xfrm>
            <a:off x="7616880" y="35935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Shape 29"/>
          <p:cNvSpPr/>
          <p:nvPr/>
        </p:nvSpPr>
        <p:spPr>
          <a:xfrm>
            <a:off x="685800" y="397764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30"/>
          <p:cNvSpPr/>
          <p:nvPr/>
        </p:nvSpPr>
        <p:spPr>
          <a:xfrm>
            <a:off x="758880" y="412380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Text 31"/>
          <p:cNvSpPr/>
          <p:nvPr/>
        </p:nvSpPr>
        <p:spPr>
          <a:xfrm>
            <a:off x="286200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 32"/>
          <p:cNvSpPr/>
          <p:nvPr/>
        </p:nvSpPr>
        <p:spPr>
          <a:xfrm>
            <a:off x="523944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 33"/>
          <p:cNvSpPr/>
          <p:nvPr/>
        </p:nvSpPr>
        <p:spPr>
          <a:xfrm>
            <a:off x="7616880" y="412380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0" name="Shape 34"/>
          <p:cNvSpPr/>
          <p:nvPr/>
        </p:nvSpPr>
        <p:spPr>
          <a:xfrm>
            <a:off x="685800" y="450792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1" name="Text 35"/>
          <p:cNvSpPr/>
          <p:nvPr/>
        </p:nvSpPr>
        <p:spPr>
          <a:xfrm>
            <a:off x="758880" y="46544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36"/>
          <p:cNvSpPr/>
          <p:nvPr/>
        </p:nvSpPr>
        <p:spPr>
          <a:xfrm>
            <a:off x="286200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Text 37"/>
          <p:cNvSpPr/>
          <p:nvPr/>
        </p:nvSpPr>
        <p:spPr>
          <a:xfrm>
            <a:off x="523944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4" name="Text 38"/>
          <p:cNvSpPr/>
          <p:nvPr/>
        </p:nvSpPr>
        <p:spPr>
          <a:xfrm>
            <a:off x="7616880" y="46544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5" name="Shape 39"/>
          <p:cNvSpPr/>
          <p:nvPr/>
        </p:nvSpPr>
        <p:spPr>
          <a:xfrm>
            <a:off x="685800" y="503820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 40"/>
          <p:cNvSpPr/>
          <p:nvPr/>
        </p:nvSpPr>
        <p:spPr>
          <a:xfrm>
            <a:off x="758880" y="51847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 41"/>
          <p:cNvSpPr/>
          <p:nvPr/>
        </p:nvSpPr>
        <p:spPr>
          <a:xfrm>
            <a:off x="2862000" y="51847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Text 42"/>
          <p:cNvSpPr/>
          <p:nvPr/>
        </p:nvSpPr>
        <p:spPr>
          <a:xfrm>
            <a:off x="5239440" y="51847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43"/>
          <p:cNvSpPr/>
          <p:nvPr/>
        </p:nvSpPr>
        <p:spPr>
          <a:xfrm>
            <a:off x="7616880" y="51847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4"/>
          <p:cNvSpPr/>
          <p:nvPr/>
        </p:nvSpPr>
        <p:spPr>
          <a:xfrm>
            <a:off x="731520" y="132588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 5"/>
          <p:cNvSpPr/>
          <p:nvPr/>
        </p:nvSpPr>
        <p:spPr>
          <a:xfrm>
            <a:off x="804600" y="147204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 6"/>
          <p:cNvSpPr/>
          <p:nvPr/>
        </p:nvSpPr>
        <p:spPr>
          <a:xfrm>
            <a:off x="2011680" y="139896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 7"/>
          <p:cNvSpPr/>
          <p:nvPr/>
        </p:nvSpPr>
        <p:spPr>
          <a:xfrm>
            <a:off x="5806440" y="141732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Shape 8"/>
          <p:cNvSpPr/>
          <p:nvPr/>
        </p:nvSpPr>
        <p:spPr>
          <a:xfrm>
            <a:off x="731520" y="193860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Text 9"/>
          <p:cNvSpPr/>
          <p:nvPr/>
        </p:nvSpPr>
        <p:spPr>
          <a:xfrm>
            <a:off x="804600" y="208476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 10"/>
          <p:cNvSpPr/>
          <p:nvPr/>
        </p:nvSpPr>
        <p:spPr>
          <a:xfrm>
            <a:off x="2011680" y="201168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11"/>
          <p:cNvSpPr/>
          <p:nvPr/>
        </p:nvSpPr>
        <p:spPr>
          <a:xfrm>
            <a:off x="5806440" y="203004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Shape 12"/>
          <p:cNvSpPr/>
          <p:nvPr/>
        </p:nvSpPr>
        <p:spPr>
          <a:xfrm>
            <a:off x="731520" y="255132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 13"/>
          <p:cNvSpPr/>
          <p:nvPr/>
        </p:nvSpPr>
        <p:spPr>
          <a:xfrm>
            <a:off x="804600" y="269748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14"/>
          <p:cNvSpPr/>
          <p:nvPr/>
        </p:nvSpPr>
        <p:spPr>
          <a:xfrm>
            <a:off x="2011680" y="262440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 15"/>
          <p:cNvSpPr/>
          <p:nvPr/>
        </p:nvSpPr>
        <p:spPr>
          <a:xfrm>
            <a:off x="5806440" y="264276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0" name="Shape 16"/>
          <p:cNvSpPr/>
          <p:nvPr/>
        </p:nvSpPr>
        <p:spPr>
          <a:xfrm>
            <a:off x="731520" y="316368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17"/>
          <p:cNvSpPr/>
          <p:nvPr/>
        </p:nvSpPr>
        <p:spPr>
          <a:xfrm>
            <a:off x="804600" y="331020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Text 18"/>
          <p:cNvSpPr/>
          <p:nvPr/>
        </p:nvSpPr>
        <p:spPr>
          <a:xfrm>
            <a:off x="2011680" y="323712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Text 19"/>
          <p:cNvSpPr/>
          <p:nvPr/>
        </p:nvSpPr>
        <p:spPr>
          <a:xfrm>
            <a:off x="5806440" y="325512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7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2026-06-21T20:06:01Z</cp:lastPrinted>
  <dcterms:modified xsi:type="dcterms:W3CDTF">2026-06-21T20:08:57Z</dcterms:modified>
  <cp:revision>54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