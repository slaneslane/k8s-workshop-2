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104.xml" ContentType="application/vnd.openxmlformats-officedocument.presentationml.slide+xml"/>
  <Override PartName="/ppt/slides/slide12.xml" ContentType="application/vnd.openxmlformats-officedocument.presentationml.slide+xml"/>
  <Override PartName="/ppt/slides/slide57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103.xml" ContentType="application/vnd.openxmlformats-officedocument.presentationml.slide+xml"/>
  <Override PartName="/ppt/slides/slide83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98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11.xml" ContentType="application/vnd.openxmlformats-officedocument.presentationml.slide+xml"/>
  <Override PartName="/ppt/slides/slide89.xml" ContentType="application/vnd.openxmlformats-officedocument.presentationml.slide+xml"/>
  <Override PartName="/ppt/slides/slide60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67.xml" ContentType="application/vnd.openxmlformats-officedocument.presentationml.slide+xml"/>
  <Override PartName="/ppt/slides/slide63.xml" ContentType="application/vnd.openxmlformats-officedocument.presentationml.slide+xml"/>
  <Override PartName="/ppt/slides/slide92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1.xml" ContentType="application/vnd.openxmlformats-officedocument.presentationml.slide+xml"/>
  <Override PartName="/ppt/slides/slide107.xml" ContentType="application/vnd.openxmlformats-officedocument.presentationml.slide+xml"/>
  <Override PartName="/ppt/slides/slide86.xml" ContentType="application/vnd.openxmlformats-officedocument.presentationml.slide+xml"/>
  <Override PartName="/ppt/slides/slide76.xml" ContentType="application/vnd.openxmlformats-officedocument.presentationml.slide+xml"/>
  <Override PartName="/ppt/slides/slide88.xml" ContentType="application/vnd.openxmlformats-officedocument.presentationml.slide+xml"/>
  <Override PartName="/ppt/slides/slide101.xml" ContentType="application/vnd.openxmlformats-officedocument.presentationml.slide+xml"/>
  <Override PartName="/ppt/slides/slide108.xml" ContentType="application/vnd.openxmlformats-officedocument.presentationml.slide+xml"/>
  <Override PartName="/ppt/slides/slide17.xml" ContentType="application/vnd.openxmlformats-officedocument.presentationml.slide+xml"/>
  <Override PartName="/ppt/slides/slide109.xml" ContentType="application/vnd.openxmlformats-officedocument.presentationml.slide+xml"/>
  <Override PartName="/ppt/slides/slide1.xml" ContentType="application/vnd.openxmlformats-officedocument.presentationml.slide+xml"/>
  <Override PartName="/ppt/slides/slide106.xml" ContentType="application/vnd.openxmlformats-officedocument.presentationml.slide+xml"/>
  <Override PartName="/ppt/slides/slide77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87.xml" ContentType="application/vnd.openxmlformats-officedocument.presentationml.slide+xml"/>
  <Override PartName="/ppt/slides/slide78.xml" ContentType="application/vnd.openxmlformats-officedocument.presentationml.slide+xml"/>
  <Override PartName="/ppt/slides/slide110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35.xml" ContentType="application/vnd.openxmlformats-officedocument.presentationml.slide+xml"/>
  <Override PartName="/ppt/slides/slide80.xml" ContentType="application/vnd.openxmlformats-officedocument.presentationml.slide+xml"/>
  <Override PartName="/ppt/slides/slide64.xml" ContentType="application/vnd.openxmlformats-officedocument.presentationml.slide+xml"/>
  <Override PartName="/ppt/slides/slide62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43.xml" ContentType="application/vnd.openxmlformats-officedocument.presentationml.slide+xml"/>
  <Override PartName="/ppt/slides/slide105.xml" ContentType="application/vnd.openxmlformats-officedocument.presentationml.slide+xml"/>
  <Override PartName="/ppt/slides/slide94.xml" ContentType="application/vnd.openxmlformats-officedocument.presentationml.slide+xml"/>
  <Override PartName="/ppt/slides/slide29.xml" ContentType="application/vnd.openxmlformats-officedocument.presentationml.slide+xml"/>
  <Override PartName="/ppt/slides/slide99.xml" ContentType="application/vnd.openxmlformats-officedocument.presentationml.slide+xml"/>
  <Override PartName="/ppt/slides/slide93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79.xml" ContentType="application/vnd.openxmlformats-officedocument.presentationml.slide+xml"/>
  <Override PartName="/ppt/slides/slide61.xml" ContentType="application/vnd.openxmlformats-officedocument.presentationml.slide+xml"/>
  <Override PartName="/ppt/slides/slide96.xml" ContentType="application/vnd.openxmlformats-officedocument.presentationml.slide+xml"/>
  <Override PartName="/ppt/slides/slide112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8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  <p:sldId id="342" r:id="rId91"/>
    <p:sldId id="343" r:id="rId92"/>
    <p:sldId id="344" r:id="rId93"/>
    <p:sldId id="345" r:id="rId94"/>
    <p:sldId id="346" r:id="rId95"/>
    <p:sldId id="347" r:id="rId96"/>
    <p:sldId id="348" r:id="rId97"/>
    <p:sldId id="349" r:id="rId98"/>
    <p:sldId id="350" r:id="rId99"/>
    <p:sldId id="351" r:id="rId100"/>
    <p:sldId id="352" r:id="rId101"/>
    <p:sldId id="353" r:id="rId102"/>
    <p:sldId id="354" r:id="rId103"/>
    <p:sldId id="355" r:id="rId104"/>
    <p:sldId id="356" r:id="rId105"/>
    <p:sldId id="357" r:id="rId106"/>
    <p:sldId id="358" r:id="rId107"/>
    <p:sldId id="359" r:id="rId108"/>
    <p:sldId id="360" r:id="rId109"/>
    <p:sldId id="361" r:id="rId110"/>
    <p:sldId id="362" r:id="rId111"/>
    <p:sldId id="363" r:id="rId112"/>
    <p:sldId id="364" r:id="rId113"/>
    <p:sldId id="365" r:id="rId114"/>
    <p:sldId id="366" r:id="rId115"/>
    <p:sldId id="367" r:id="rId116"/>
    <p:sldId id="368" r:id="rId117"/>
    <p:sldId id="369" r:id="rId11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82.xml"/><Relationship Id="rId87" Type="http://schemas.openxmlformats.org/officeDocument/2006/relationships/slide" Target="slides/slide83.xml"/><Relationship Id="rId88" Type="http://schemas.openxmlformats.org/officeDocument/2006/relationships/slide" Target="slides/slide84.xml"/><Relationship Id="rId89" Type="http://schemas.openxmlformats.org/officeDocument/2006/relationships/slide" Target="slides/slide85.xml"/><Relationship Id="rId90" Type="http://schemas.openxmlformats.org/officeDocument/2006/relationships/slide" Target="slides/slide86.xml"/><Relationship Id="rId91" Type="http://schemas.openxmlformats.org/officeDocument/2006/relationships/slide" Target="slides/slide87.xml"/><Relationship Id="rId92" Type="http://schemas.openxmlformats.org/officeDocument/2006/relationships/slide" Target="slides/slide88.xml"/><Relationship Id="rId93" Type="http://schemas.openxmlformats.org/officeDocument/2006/relationships/slide" Target="slides/slide89.xml"/><Relationship Id="rId94" Type="http://schemas.openxmlformats.org/officeDocument/2006/relationships/slide" Target="slides/slide90.xml"/><Relationship Id="rId95" Type="http://schemas.openxmlformats.org/officeDocument/2006/relationships/slide" Target="slides/slide91.xml"/><Relationship Id="rId96" Type="http://schemas.openxmlformats.org/officeDocument/2006/relationships/slide" Target="slides/slide92.xml"/><Relationship Id="rId97" Type="http://schemas.openxmlformats.org/officeDocument/2006/relationships/slide" Target="slides/slide93.xml"/><Relationship Id="rId98" Type="http://schemas.openxmlformats.org/officeDocument/2006/relationships/slide" Target="slides/slide94.xml"/><Relationship Id="rId99" Type="http://schemas.openxmlformats.org/officeDocument/2006/relationships/slide" Target="slides/slide95.xml"/><Relationship Id="rId100" Type="http://schemas.openxmlformats.org/officeDocument/2006/relationships/slide" Target="slides/slide96.xml"/><Relationship Id="rId101" Type="http://schemas.openxmlformats.org/officeDocument/2006/relationships/slide" Target="slides/slide97.xml"/><Relationship Id="rId102" Type="http://schemas.openxmlformats.org/officeDocument/2006/relationships/slide" Target="slides/slide98.xml"/><Relationship Id="rId103" Type="http://schemas.openxmlformats.org/officeDocument/2006/relationships/slide" Target="slides/slide99.xml"/><Relationship Id="rId104" Type="http://schemas.openxmlformats.org/officeDocument/2006/relationships/slide" Target="slides/slide100.xml"/><Relationship Id="rId105" Type="http://schemas.openxmlformats.org/officeDocument/2006/relationships/slide" Target="slides/slide101.xml"/><Relationship Id="rId106" Type="http://schemas.openxmlformats.org/officeDocument/2006/relationships/slide" Target="slides/slide102.xml"/><Relationship Id="rId107" Type="http://schemas.openxmlformats.org/officeDocument/2006/relationships/slide" Target="slides/slide103.xml"/><Relationship Id="rId108" Type="http://schemas.openxmlformats.org/officeDocument/2006/relationships/slide" Target="slides/slide104.xml"/><Relationship Id="rId109" Type="http://schemas.openxmlformats.org/officeDocument/2006/relationships/slide" Target="slides/slide105.xml"/><Relationship Id="rId110" Type="http://schemas.openxmlformats.org/officeDocument/2006/relationships/slide" Target="slides/slide106.xml"/><Relationship Id="rId111" Type="http://schemas.openxmlformats.org/officeDocument/2006/relationships/slide" Target="slides/slide107.xml"/><Relationship Id="rId112" Type="http://schemas.openxmlformats.org/officeDocument/2006/relationships/slide" Target="slides/slide108.xml"/><Relationship Id="rId113" Type="http://schemas.openxmlformats.org/officeDocument/2006/relationships/slide" Target="slides/slide109.xml"/><Relationship Id="rId114" Type="http://schemas.openxmlformats.org/officeDocument/2006/relationships/slide" Target="slides/slide110.xml"/><Relationship Id="rId115" Type="http://schemas.openxmlformats.org/officeDocument/2006/relationships/slide" Target="slides/slide111.xml"/><Relationship Id="rId116" Type="http://schemas.openxmlformats.org/officeDocument/2006/relationships/slide" Target="slides/slide112.xml"/><Relationship Id="rId117" Type="http://schemas.openxmlformats.org/officeDocument/2006/relationships/slide" Target="slides/slide113.xml"/><Relationship Id="rId118" Type="http://schemas.openxmlformats.org/officeDocument/2006/relationships/slide" Target="slides/slide114.xml"/><Relationship Id="rId1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B2A876D-E444-45BC-9C1E-497DD6DF190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_rels/notesSlide105.xml.rels><?xml version="1.0" encoding="UTF-8"?>
<Relationships xmlns="http://schemas.openxmlformats.org/package/2006/relationships"><Relationship Id="rId1" Type="http://schemas.openxmlformats.org/officeDocument/2006/relationships/slide" Target="../slides/slide105.xml"/><Relationship Id="rId2" Type="http://schemas.openxmlformats.org/officeDocument/2006/relationships/notesMaster" Target="../notesMasters/notesMaster1.xml"/>
</Relationships>
</file>

<file path=ppt/notesSlides/_rels/notesSlide106.xml.rels><?xml version="1.0" encoding="UTF-8"?>
<Relationships xmlns="http://schemas.openxmlformats.org/package/2006/relationships"><Relationship Id="rId1" Type="http://schemas.openxmlformats.org/officeDocument/2006/relationships/slide" Target="../slides/slide106.xml"/><Relationship Id="rId2" Type="http://schemas.openxmlformats.org/officeDocument/2006/relationships/notesMaster" Target="../notesMasters/notesMaster1.xml"/>
</Relationships>
</file>

<file path=ppt/notesSlides/_rels/notesSlide107.xml.rels><?xml version="1.0" encoding="UTF-8"?>
<Relationships xmlns="http://schemas.openxmlformats.org/package/2006/relationships"><Relationship Id="rId1" Type="http://schemas.openxmlformats.org/officeDocument/2006/relationships/slide" Target="../slides/slide107.xml"/><Relationship Id="rId2" Type="http://schemas.openxmlformats.org/officeDocument/2006/relationships/notesMaster" Target="../notesMasters/notesMaster1.xml"/>
</Relationships>
</file>

<file path=ppt/notesSlides/_rels/notesSlide108.xml.rels><?xml version="1.0" encoding="UTF-8"?>
<Relationships xmlns="http://schemas.openxmlformats.org/package/2006/relationships"><Relationship Id="rId1" Type="http://schemas.openxmlformats.org/officeDocument/2006/relationships/slide" Target="../slides/slide108.xml"/><Relationship Id="rId2" Type="http://schemas.openxmlformats.org/officeDocument/2006/relationships/notesMaster" Target="../notesMasters/notesMaster1.xml"/>
</Relationships>
</file>

<file path=ppt/notesSlides/_rels/notesSlide109.xml.rels><?xml version="1.0" encoding="UTF-8"?>
<Relationships xmlns="http://schemas.openxmlformats.org/package/2006/relationships"><Relationship Id="rId1" Type="http://schemas.openxmlformats.org/officeDocument/2006/relationships/slide" Target="../slides/slide109.xml"/><Relationship Id="rId2" Type="http://schemas.openxmlformats.org/officeDocument/2006/relationships/notesMaster" Target="../notesMasters/notesMaster1.xml"/>
</Relationships>
</file>

<file path=ppt/notesSlides/_rels/notesSlide110.xml.rels><?xml version="1.0" encoding="UTF-8"?>
<Relationships xmlns="http://schemas.openxmlformats.org/package/2006/relationships"><Relationship Id="rId1" Type="http://schemas.openxmlformats.org/officeDocument/2006/relationships/slide" Target="../slides/slide110.xml"/><Relationship Id="rId2" Type="http://schemas.openxmlformats.org/officeDocument/2006/relationships/notesMaster" Target="../notesMasters/notesMaster1.xml"/>
</Relationships>
</file>

<file path=ppt/notesSlides/_rels/notesSlide111.xml.rels><?xml version="1.0" encoding="UTF-8"?>
<Relationships xmlns="http://schemas.openxmlformats.org/package/2006/relationships"><Relationship Id="rId1" Type="http://schemas.openxmlformats.org/officeDocument/2006/relationships/slide" Target="../slides/slide111.xml"/><Relationship Id="rId2" Type="http://schemas.openxmlformats.org/officeDocument/2006/relationships/notesMaster" Target="../notesMasters/notesMaster1.xml"/>
</Relationships>
</file>

<file path=ppt/notesSlides/_rels/notesSlide112.xml.rels><?xml version="1.0" encoding="UTF-8"?>
<Relationships xmlns="http://schemas.openxmlformats.org/package/2006/relationships"><Relationship Id="rId1" Type="http://schemas.openxmlformats.org/officeDocument/2006/relationships/slide" Target="../slides/slide112.xml"/><Relationship Id="rId2" Type="http://schemas.openxmlformats.org/officeDocument/2006/relationships/notesMaster" Target="../notesMasters/notesMaster1.xml"/>
</Relationships>
</file>

<file path=ppt/notesSlides/_rels/notesSlide113.xml.rels><?xml version="1.0" encoding="UTF-8"?>
<Relationships xmlns="http://schemas.openxmlformats.org/package/2006/relationships"><Relationship Id="rId1" Type="http://schemas.openxmlformats.org/officeDocument/2006/relationships/slide" Target="../slides/slide113.xml"/><Relationship Id="rId2" Type="http://schemas.openxmlformats.org/officeDocument/2006/relationships/notesMaster" Target="../notesMasters/notesMaster1.xml"/>
</Relationships>
</file>

<file path=ppt/notesSlides/_rels/notesSlide114.xml.rels><?xml version="1.0" encoding="UTF-8"?>
<Relationships xmlns="http://schemas.openxmlformats.org/package/2006/relationships"><Relationship Id="rId1" Type="http://schemas.openxmlformats.org/officeDocument/2006/relationships/slide" Target="../slides/slide1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message: this is not a Kubernetes object catalog. It is a practical operations workshop.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E5AED1-580F-4DBB-8E0E-6FCBE9657E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11B8B6-E515-4671-ADEC-4F9EA73C8E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C49926-27C5-499B-8A63-8A606B78E5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717411-05C1-4D45-8921-30E5272D04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29A3A1-FC1F-4B9F-B508-5CBC24B127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8BE1CF-9885-4D3F-BEA4-7704AE405B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795E5E-B0CD-4954-9F43-48DFD58D7D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BFDEE6-2FC0-4BC2-AECA-02B55EA30F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0BF39C-E62E-475C-A7E2-D1F059C900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137898-F6E0-47C7-BA56-9204E0BC18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58E744-9187-4424-B4F1-8C741F11E9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6D9F74-7F94-49E9-BF49-B0543F0C10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4B9961-7FFC-4DFF-AEF6-6AABD55F26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4F364C-BA32-44CE-B124-E13DD7E7A2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B049EC-0BEB-4AB2-848E-D3CBF4DD1A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2EDC1F-DDA6-4A8F-A9DD-B889E03E5D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DBC816-6CEA-4448-AF91-C1B5A2FE66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B8E5C3-B472-4D9D-B80B-BF29F02F52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8C5489-4C8D-49DB-91F9-74E0CEF9F7A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1C10F5A-EE46-4035-BDB9-0D00B1FE12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7EDD3F-EE1C-4E10-BE66-3C06326F8A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4490A1-B764-4D68-94BE-A02A99776F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1EC477-1F1B-4D6D-ADE6-E600BA262B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AFCD3F-1EEF-47B4-B695-6C235B5BDB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68D6AC-5040-413C-A1C9-715AED94D6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3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AD1079-1F2D-4D98-B097-AFBC93862D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6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9C6824-FCF2-407B-8A59-C042659335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9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E29412-720A-4113-B7ED-826165B10B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2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F40C7A-7AC4-4FE4-B243-7AD4934258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5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7944CA-417F-412F-B108-CE0CEE58FE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22AF5B-548B-4C07-9FA9-686216961F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CB4485-E3D7-4E1C-AA89-5546063445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0606F4-4704-4891-BF25-9CD23C1C34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15B407-DE4B-4E99-B861-7F3AEFFBCD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CB9CD9-0B0C-4AD7-B37A-51AE36DB68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F1E59A-F942-4746-A2D2-78B61B590D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D82378-1AF8-44EE-81E1-8C5F407792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2BFA0F-3737-48E7-B173-4C91D4CD00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2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4303B8-30B7-4F17-AC97-17B4F7B233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82BD0D-A200-43C5-AB00-3B12511DFC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579C0B-6921-497E-8072-1ED5BD9AA6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1DAE36-52BD-438F-B837-096D1D28D2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4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4FD1E8-E872-4787-8B71-FC0BFCB2A2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7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9F16D0-8B45-4704-8522-9752BE36E9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F2A30C-C7DA-4DA1-901C-AFA8926AC2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3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B8F97E-9745-432C-BD72-46071B06E6B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6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6B9E2F-706E-4394-A598-C377F3873F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9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30ED1E-0B7E-4087-B188-D0B67A0269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2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9F922E-DA3C-419E-862F-F650643A64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5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63CE60-F97A-4A1A-B15B-1B0A1E74BA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8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C18385-3C8F-4CE2-BB83-34895F24C4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1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CEC128-AD3A-408F-936E-BE0A06D08B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4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270B58-CB59-4AC7-A4EF-9FD2919F83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7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D73040-D803-4C15-9505-E1AF084D8B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0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91DAD0-8030-41CC-8485-B44F2F8C52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3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D65F03-28E3-462A-A63F-4933643D8C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6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E39E1B-EDF1-43C4-B8DB-09FCEFF311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9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F6D55F-1A9D-43AD-B6AB-D389A69F5D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2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324C2E-8275-48FB-AE6A-712447F968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5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0FB7B8-11B6-4E4D-80EB-3BA71F20BD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8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C35374-C48D-4676-A071-5AD7E88007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1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7F0098-5FF8-47AD-9BC3-2960F7115B1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CF9081-1D06-45AE-BA2B-7281A0D282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7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61BA07-6267-43E5-BDFF-3842245987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0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F6401E-D668-4954-B3CA-29BA1DC4AB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3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04DDF8-8D0F-4A85-A03F-CD53013BD7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B02078-6973-4F9E-B2FF-3CD142A6BC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9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D3FBB8-9D0D-413D-B8C7-F1B6D82273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2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00E008-8F33-416C-9834-63215A306D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9251AE-5FB6-4380-9121-E0ECE8813B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8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4C375C-C74B-4C05-BE26-0DCA80E192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1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4FBE8B-40D9-4131-9B5D-D3B43D6A08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4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E708D7-5C10-4FD9-9206-81DE8514D3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7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A56DE4-2608-4CAE-A088-4A0C016780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0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A288D9-9334-46B9-A6EF-430E51D836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3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67CBD1-A388-421D-939E-1CADF20321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6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D3B6A6-76FC-46A9-A989-1775FEDBD6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9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DBAC61-CDC7-4D59-8B0B-0E5DB83575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2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660DD0-9362-4F70-ADD3-AAF3C326DB7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5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05A159-FACF-4198-928F-FE4D654B44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8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28E048-56B4-4F98-A005-23F5672C0E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1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DB8CCF-DA89-4B08-A6DB-B68452F0A9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4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75233A-72F5-4891-B8E1-E159D37D27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7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284F86-EE56-410E-BB0C-F80D49F315B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0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831B601-C7D6-41FC-9A42-C7777E57AA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3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EB01288-1679-4AF9-A632-160B835280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6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A2E664-0B2C-4FBF-B510-0E054CB8A9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9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9C809E-055B-4585-9FE2-BE58E18EA6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2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4ECF3D-5D4E-4BE4-A9C3-FDDF14D088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5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DDF5D7-F0A4-4AA5-B1A7-2384D0FF1F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8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340FDE-1EDC-4D52-9E21-F8B5C38D19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1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F445EF-B10B-4946-920C-106C610464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4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FF32FA-56C2-4A40-ACD6-3154EE3C2C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7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409887-DFA3-40E7-A1F3-AA02866410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0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A4E08E-B7BE-49F9-B477-C058895525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3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3B110D-479C-46F1-96F8-C525A04EA1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6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C3E676-DC15-41F2-9879-A56B8794B3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9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0001DB-93CD-41ED-AC6B-630AAB2982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2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800399-1CEC-4568-AAE3-4D4336308B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5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6F88EA-C545-4462-9705-4C0C253083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8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186983-3EB2-4919-8AA7-1E1E34296F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1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CB64CF-BEDE-4469-B92C-A1F8780DFF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4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93780BC-168A-4B88-B66A-F97A86251F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7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B0947E7-C963-4B3C-8287-F093158B51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0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ED9B71-09EE-48D4-A180-6656D72810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3010AB-EAAF-4303-A3C7-259D2D904B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ftr" idx="1"/>
          </p:nvPr>
        </p:nvSpPr>
        <p:spPr>
          <a:xfrm>
            <a:off x="2603160" y="5297040"/>
            <a:ext cx="2411640" cy="30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5460840" y="5297040"/>
            <a:ext cx="1776600" cy="30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E3E0B54-44A8-4858-9BD6-B7703848E7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3"/>
          </p:nvPr>
        </p:nvSpPr>
        <p:spPr>
          <a:xfrm>
            <a:off x="380880" y="5297040"/>
            <a:ext cx="1776600" cy="30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tabLst>
                <a:tab pos="0" algn="l"/>
              </a:tabLst>
              <a:def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  <a:tabLst>
                <a:tab pos="0" algn="l"/>
              </a:tabLst>
            </a:pP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</a:t>
            </a: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format</a:t>
            </a:r>
            <a:endParaRPr lang="en-US" sz="3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  <a:def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66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3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hyperlink" Target="http://localhost:8080/healthz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58440" y="1965960"/>
            <a:ext cx="10785600" cy="6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Hands-on Kubernetes Troubleshooting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676800" y="2816280"/>
            <a:ext cx="9596880" cy="32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Build, Deploy, Break, Observe, Debug, Fix and Learn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685800" y="3319200"/>
            <a:ext cx="731088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For Developers and Infrastructure Teams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5"/>
          <p:cNvSpPr/>
          <p:nvPr/>
        </p:nvSpPr>
        <p:spPr>
          <a:xfrm>
            <a:off x="685800" y="3977640"/>
            <a:ext cx="2921760" cy="8643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822960" y="4096440"/>
            <a:ext cx="26474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Single-node K3s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822960" y="4434840"/>
            <a:ext cx="26474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Each participant works on an isolated VM.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8"/>
          <p:cNvSpPr/>
          <p:nvPr/>
        </p:nvSpPr>
        <p:spPr>
          <a:xfrm>
            <a:off x="3886200" y="3977640"/>
            <a:ext cx="2921760" cy="8643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023360" y="4096440"/>
            <a:ext cx="26474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Real app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023360" y="4434840"/>
            <a:ext cx="26474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API, PostgreSQL, migrations and volumes.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7086600" y="3977640"/>
            <a:ext cx="3150360" cy="8643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7223760" y="4096440"/>
            <a:ext cx="28760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Troubleshooting-first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7223760" y="4434840"/>
            <a:ext cx="2876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Every concept is attached to a failure mode.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2136240" y="5715000"/>
            <a:ext cx="7462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git clone https://github.com/slaneslane/k8s-workshop-2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1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09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10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11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facts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65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184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85"/>
          <p:cNvSpPr/>
          <p:nvPr/>
        </p:nvSpPr>
        <p:spPr>
          <a:xfrm>
            <a:off x="0" y="0"/>
            <a:ext cx="12190680" cy="16308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36"/>
          <p:cNvSpPr/>
          <p:nvPr/>
        </p:nvSpPr>
        <p:spPr>
          <a:xfrm>
            <a:off x="502920" y="393120"/>
            <a:ext cx="86400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Kubernetes architecture: control plane and workers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37"/>
          <p:cNvSpPr/>
          <p:nvPr/>
        </p:nvSpPr>
        <p:spPr>
          <a:xfrm>
            <a:off x="521280" y="822960"/>
            <a:ext cx="1051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The control plane stores desired state. Worker nodes run the actual application Pods.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86"/>
          <p:cNvSpPr/>
          <p:nvPr/>
        </p:nvSpPr>
        <p:spPr>
          <a:xfrm>
            <a:off x="502920" y="1234440"/>
            <a:ext cx="4799160" cy="4982040"/>
          </a:xfrm>
          <a:prstGeom prst="roundRect">
            <a:avLst>
              <a:gd name="adj" fmla="val 1524"/>
            </a:avLst>
          </a:prstGeom>
          <a:solidFill>
            <a:srgbClr val="0C243A"/>
          </a:solidFill>
          <a:ln w="12700">
            <a:solidFill>
              <a:srgbClr val="27D3F5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87"/>
          <p:cNvSpPr/>
          <p:nvPr/>
        </p:nvSpPr>
        <p:spPr>
          <a:xfrm>
            <a:off x="5715000" y="1234440"/>
            <a:ext cx="5987880" cy="4982040"/>
          </a:xfrm>
          <a:prstGeom prst="roundRect">
            <a:avLst>
              <a:gd name="adj" fmla="val 1468"/>
            </a:avLst>
          </a:prstGeom>
          <a:solidFill>
            <a:srgbClr val="0C243A"/>
          </a:solidFill>
          <a:ln w="12700">
            <a:solidFill>
              <a:srgbClr val="3DDC97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88"/>
          <p:cNvSpPr/>
          <p:nvPr/>
        </p:nvSpPr>
        <p:spPr>
          <a:xfrm>
            <a:off x="685800" y="1444680"/>
            <a:ext cx="1324440" cy="254520"/>
          </a:xfrm>
          <a:prstGeom prst="roundRect">
            <a:avLst>
              <a:gd name="adj" fmla="val 28571"/>
            </a:avLst>
          </a:prstGeom>
          <a:solidFill>
            <a:srgbClr val="27D3F5">
              <a:alpha val="93000"/>
            </a:srgbClr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8"/>
          <p:cNvSpPr/>
          <p:nvPr/>
        </p:nvSpPr>
        <p:spPr>
          <a:xfrm>
            <a:off x="758880" y="1508760"/>
            <a:ext cx="117828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 PLANE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89"/>
          <p:cNvSpPr/>
          <p:nvPr/>
        </p:nvSpPr>
        <p:spPr>
          <a:xfrm>
            <a:off x="5925240" y="1444680"/>
            <a:ext cx="1233000" cy="254520"/>
          </a:xfrm>
          <a:prstGeom prst="roundRect">
            <a:avLst>
              <a:gd name="adj" fmla="val 28571"/>
            </a:avLst>
          </a:prstGeom>
          <a:solidFill>
            <a:srgbClr val="3DDC97">
              <a:alpha val="93000"/>
            </a:srgbClr>
          </a:solidFill>
          <a:ln w="12700">
            <a:solidFill>
              <a:srgbClr val="3DDC97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39"/>
          <p:cNvSpPr/>
          <p:nvPr/>
        </p:nvSpPr>
        <p:spPr>
          <a:xfrm>
            <a:off x="5998320" y="1508760"/>
            <a:ext cx="108684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NODES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90"/>
          <p:cNvSpPr/>
          <p:nvPr/>
        </p:nvSpPr>
        <p:spPr>
          <a:xfrm>
            <a:off x="4846320" y="3246120"/>
            <a:ext cx="9874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91"/>
          <p:cNvSpPr/>
          <p:nvPr/>
        </p:nvSpPr>
        <p:spPr>
          <a:xfrm>
            <a:off x="777240" y="1965960"/>
            <a:ext cx="191880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0"/>
          <p:cNvSpPr/>
          <p:nvPr/>
        </p:nvSpPr>
        <p:spPr>
          <a:xfrm>
            <a:off x="887040" y="2075760"/>
            <a:ext cx="169920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entry point for kubectl and controllers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92"/>
          <p:cNvSpPr/>
          <p:nvPr/>
        </p:nvSpPr>
        <p:spPr>
          <a:xfrm>
            <a:off x="2971800" y="1965960"/>
            <a:ext cx="159876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41"/>
          <p:cNvSpPr/>
          <p:nvPr/>
        </p:nvSpPr>
        <p:spPr>
          <a:xfrm>
            <a:off x="3081600" y="2075760"/>
            <a:ext cx="1379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etcd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cluster state database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93"/>
          <p:cNvSpPr/>
          <p:nvPr/>
        </p:nvSpPr>
        <p:spPr>
          <a:xfrm>
            <a:off x="777240" y="3246120"/>
            <a:ext cx="191880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2"/>
          <p:cNvSpPr/>
          <p:nvPr/>
        </p:nvSpPr>
        <p:spPr>
          <a:xfrm>
            <a:off x="887040" y="3355920"/>
            <a:ext cx="169920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selects a node for new Pods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94"/>
          <p:cNvSpPr/>
          <p:nvPr/>
        </p:nvSpPr>
        <p:spPr>
          <a:xfrm>
            <a:off x="2971800" y="3246120"/>
            <a:ext cx="159876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43"/>
          <p:cNvSpPr/>
          <p:nvPr/>
        </p:nvSpPr>
        <p:spPr>
          <a:xfrm>
            <a:off x="3081600" y="3355920"/>
            <a:ext cx="1379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Controller Manager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keeps desired state reconciled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95"/>
          <p:cNvSpPr/>
          <p:nvPr/>
        </p:nvSpPr>
        <p:spPr>
          <a:xfrm>
            <a:off x="2706480" y="2386440"/>
            <a:ext cx="255960" cy="36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96"/>
          <p:cNvSpPr/>
          <p:nvPr/>
        </p:nvSpPr>
        <p:spPr>
          <a:xfrm>
            <a:off x="17373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97"/>
          <p:cNvSpPr/>
          <p:nvPr/>
        </p:nvSpPr>
        <p:spPr>
          <a:xfrm>
            <a:off x="35841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44"/>
          <p:cNvSpPr/>
          <p:nvPr/>
        </p:nvSpPr>
        <p:spPr>
          <a:xfrm>
            <a:off x="777240" y="4645080"/>
            <a:ext cx="39762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Examples: Deployments, ReplicaSets, Jobs, Services, ConfigMaps, Secrets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98"/>
          <p:cNvSpPr/>
          <p:nvPr/>
        </p:nvSpPr>
        <p:spPr>
          <a:xfrm>
            <a:off x="6053400" y="1938600"/>
            <a:ext cx="2330280" cy="41904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5"/>
          <p:cNvSpPr/>
          <p:nvPr/>
        </p:nvSpPr>
        <p:spPr>
          <a:xfrm>
            <a:off x="6163200" y="2048400"/>
            <a:ext cx="2110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99"/>
          <p:cNvSpPr/>
          <p:nvPr/>
        </p:nvSpPr>
        <p:spPr>
          <a:xfrm>
            <a:off x="6053400" y="2615040"/>
            <a:ext cx="102276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46"/>
          <p:cNvSpPr/>
          <p:nvPr/>
        </p:nvSpPr>
        <p:spPr>
          <a:xfrm>
            <a:off x="6163200" y="2724840"/>
            <a:ext cx="8031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00"/>
          <p:cNvSpPr/>
          <p:nvPr/>
        </p:nvSpPr>
        <p:spPr>
          <a:xfrm>
            <a:off x="7287840" y="2615040"/>
            <a:ext cx="109584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7"/>
          <p:cNvSpPr/>
          <p:nvPr/>
        </p:nvSpPr>
        <p:spPr>
          <a:xfrm>
            <a:off x="7397640" y="2724840"/>
            <a:ext cx="8762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01"/>
          <p:cNvSpPr/>
          <p:nvPr/>
        </p:nvSpPr>
        <p:spPr>
          <a:xfrm>
            <a:off x="6053400" y="3694320"/>
            <a:ext cx="102276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48"/>
          <p:cNvSpPr/>
          <p:nvPr/>
        </p:nvSpPr>
        <p:spPr>
          <a:xfrm>
            <a:off x="6163200" y="3803760"/>
            <a:ext cx="80316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02"/>
          <p:cNvSpPr/>
          <p:nvPr/>
        </p:nvSpPr>
        <p:spPr>
          <a:xfrm>
            <a:off x="7287840" y="3694320"/>
            <a:ext cx="109584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49"/>
          <p:cNvSpPr/>
          <p:nvPr/>
        </p:nvSpPr>
        <p:spPr>
          <a:xfrm>
            <a:off x="7397640" y="3803760"/>
            <a:ext cx="87624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03"/>
          <p:cNvSpPr/>
          <p:nvPr/>
        </p:nvSpPr>
        <p:spPr>
          <a:xfrm>
            <a:off x="655596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04"/>
          <p:cNvSpPr/>
          <p:nvPr/>
        </p:nvSpPr>
        <p:spPr>
          <a:xfrm>
            <a:off x="78454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05"/>
          <p:cNvSpPr/>
          <p:nvPr/>
        </p:nvSpPr>
        <p:spPr>
          <a:xfrm>
            <a:off x="8842320" y="1938600"/>
            <a:ext cx="2330280" cy="41904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50"/>
          <p:cNvSpPr/>
          <p:nvPr/>
        </p:nvSpPr>
        <p:spPr>
          <a:xfrm>
            <a:off x="8952120" y="2048400"/>
            <a:ext cx="2110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06"/>
          <p:cNvSpPr/>
          <p:nvPr/>
        </p:nvSpPr>
        <p:spPr>
          <a:xfrm>
            <a:off x="8842320" y="2615040"/>
            <a:ext cx="102276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51"/>
          <p:cNvSpPr/>
          <p:nvPr/>
        </p:nvSpPr>
        <p:spPr>
          <a:xfrm>
            <a:off x="8952120" y="2724840"/>
            <a:ext cx="8031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07"/>
          <p:cNvSpPr/>
          <p:nvPr/>
        </p:nvSpPr>
        <p:spPr>
          <a:xfrm>
            <a:off x="10076760" y="2615040"/>
            <a:ext cx="109584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52"/>
          <p:cNvSpPr/>
          <p:nvPr/>
        </p:nvSpPr>
        <p:spPr>
          <a:xfrm>
            <a:off x="10186560" y="2724840"/>
            <a:ext cx="8762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08"/>
          <p:cNvSpPr/>
          <p:nvPr/>
        </p:nvSpPr>
        <p:spPr>
          <a:xfrm>
            <a:off x="8842320" y="3694320"/>
            <a:ext cx="102276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53"/>
          <p:cNvSpPr/>
          <p:nvPr/>
        </p:nvSpPr>
        <p:spPr>
          <a:xfrm>
            <a:off x="8952120" y="3803760"/>
            <a:ext cx="80316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09"/>
          <p:cNvSpPr/>
          <p:nvPr/>
        </p:nvSpPr>
        <p:spPr>
          <a:xfrm>
            <a:off x="10076760" y="3694320"/>
            <a:ext cx="109584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54"/>
          <p:cNvSpPr/>
          <p:nvPr/>
        </p:nvSpPr>
        <p:spPr>
          <a:xfrm>
            <a:off x="10186560" y="3803760"/>
            <a:ext cx="87624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10"/>
          <p:cNvSpPr/>
          <p:nvPr/>
        </p:nvSpPr>
        <p:spPr>
          <a:xfrm>
            <a:off x="93448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1"/>
          <p:cNvSpPr/>
          <p:nvPr/>
        </p:nvSpPr>
        <p:spPr>
          <a:xfrm>
            <a:off x="1063440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5"/>
          <p:cNvSpPr/>
          <p:nvPr/>
        </p:nvSpPr>
        <p:spPr>
          <a:xfrm>
            <a:off x="5989320" y="4956120"/>
            <a:ext cx="51192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In our lab every VM is a single-node K3s cluster: control plane and worker are on the same machine.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212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13"/>
          <p:cNvSpPr/>
          <p:nvPr/>
        </p:nvSpPr>
        <p:spPr>
          <a:xfrm>
            <a:off x="0" y="0"/>
            <a:ext cx="12190680" cy="16308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6"/>
          <p:cNvSpPr/>
          <p:nvPr/>
        </p:nvSpPr>
        <p:spPr>
          <a:xfrm>
            <a:off x="502920" y="393120"/>
            <a:ext cx="79542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What happens when you create a Pod?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7"/>
          <p:cNvSpPr/>
          <p:nvPr/>
        </p:nvSpPr>
        <p:spPr>
          <a:xfrm>
            <a:off x="521280" y="822960"/>
            <a:ext cx="1051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 Deployment request becomes running containers through a series of control-plane and node actions.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14"/>
          <p:cNvSpPr/>
          <p:nvPr/>
        </p:nvSpPr>
        <p:spPr>
          <a:xfrm>
            <a:off x="194760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15"/>
          <p:cNvSpPr/>
          <p:nvPr/>
        </p:nvSpPr>
        <p:spPr>
          <a:xfrm>
            <a:off x="374904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16"/>
          <p:cNvSpPr/>
          <p:nvPr/>
        </p:nvSpPr>
        <p:spPr>
          <a:xfrm>
            <a:off x="5550120" y="2743200"/>
            <a:ext cx="576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17"/>
          <p:cNvSpPr/>
          <p:nvPr/>
        </p:nvSpPr>
        <p:spPr>
          <a:xfrm>
            <a:off x="7470360" y="2743200"/>
            <a:ext cx="6310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18"/>
          <p:cNvSpPr/>
          <p:nvPr/>
        </p:nvSpPr>
        <p:spPr>
          <a:xfrm>
            <a:off x="9445680" y="2743200"/>
            <a:ext cx="594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19"/>
          <p:cNvSpPr/>
          <p:nvPr/>
        </p:nvSpPr>
        <p:spPr>
          <a:xfrm>
            <a:off x="71316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58"/>
          <p:cNvSpPr/>
          <p:nvPr/>
        </p:nvSpPr>
        <p:spPr>
          <a:xfrm>
            <a:off x="82296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kubectl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send YAML / command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20"/>
          <p:cNvSpPr/>
          <p:nvPr/>
        </p:nvSpPr>
        <p:spPr>
          <a:xfrm>
            <a:off x="251460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59"/>
          <p:cNvSpPr/>
          <p:nvPr/>
        </p:nvSpPr>
        <p:spPr>
          <a:xfrm>
            <a:off x="262440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validate and store desired state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21"/>
          <p:cNvSpPr/>
          <p:nvPr/>
        </p:nvSpPr>
        <p:spPr>
          <a:xfrm>
            <a:off x="431604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60"/>
          <p:cNvSpPr/>
          <p:nvPr/>
        </p:nvSpPr>
        <p:spPr>
          <a:xfrm>
            <a:off x="442584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choose a node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22"/>
          <p:cNvSpPr/>
          <p:nvPr/>
        </p:nvSpPr>
        <p:spPr>
          <a:xfrm>
            <a:off x="623628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61"/>
          <p:cNvSpPr/>
          <p:nvPr/>
        </p:nvSpPr>
        <p:spPr>
          <a:xfrm>
            <a:off x="634608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pull image and create 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23"/>
          <p:cNvSpPr/>
          <p:nvPr/>
        </p:nvSpPr>
        <p:spPr>
          <a:xfrm>
            <a:off x="821124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62"/>
          <p:cNvSpPr/>
          <p:nvPr/>
        </p:nvSpPr>
        <p:spPr>
          <a:xfrm>
            <a:off x="832104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run containers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24"/>
          <p:cNvSpPr/>
          <p:nvPr/>
        </p:nvSpPr>
        <p:spPr>
          <a:xfrm>
            <a:off x="1014984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63"/>
          <p:cNvSpPr/>
          <p:nvPr/>
        </p:nvSpPr>
        <p:spPr>
          <a:xfrm>
            <a:off x="1025964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application is running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64"/>
          <p:cNvSpPr/>
          <p:nvPr/>
        </p:nvSpPr>
        <p:spPr>
          <a:xfrm>
            <a:off x="658440" y="3886200"/>
            <a:ext cx="3930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Where common failures show up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25"/>
          <p:cNvSpPr/>
          <p:nvPr/>
        </p:nvSpPr>
        <p:spPr>
          <a:xfrm>
            <a:off x="658440" y="437076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65"/>
          <p:cNvSpPr/>
          <p:nvPr/>
        </p:nvSpPr>
        <p:spPr>
          <a:xfrm>
            <a:off x="822960" y="448056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2C94C"/>
                </a:solidFill>
                <a:effectLst/>
                <a:uFillTx/>
                <a:latin typeface="Aptos"/>
              </a:rPr>
              <a:t>ImagePullBackOff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66"/>
          <p:cNvSpPr/>
          <p:nvPr/>
        </p:nvSpPr>
        <p:spPr>
          <a:xfrm>
            <a:off x="2788920" y="448056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kubelet/containerd cannot pull image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67"/>
          <p:cNvSpPr/>
          <p:nvPr/>
        </p:nvSpPr>
        <p:spPr>
          <a:xfrm>
            <a:off x="7315200" y="448056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26"/>
          <p:cNvSpPr/>
          <p:nvPr/>
        </p:nvSpPr>
        <p:spPr>
          <a:xfrm>
            <a:off x="658440" y="486468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8"/>
          <p:cNvSpPr/>
          <p:nvPr/>
        </p:nvSpPr>
        <p:spPr>
          <a:xfrm>
            <a:off x="822960" y="497448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B5757"/>
                </a:solidFill>
                <a:effectLst/>
                <a:uFillTx/>
                <a:latin typeface="Aptos"/>
              </a:rPr>
              <a:t>CrashLoopBackOff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69"/>
          <p:cNvSpPr/>
          <p:nvPr/>
        </p:nvSpPr>
        <p:spPr>
          <a:xfrm>
            <a:off x="2788920" y="497448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image was pulled,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70"/>
          <p:cNvSpPr/>
          <p:nvPr/>
        </p:nvSpPr>
        <p:spPr>
          <a:xfrm>
            <a:off x="7315200" y="497448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logs --previous + describe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27"/>
          <p:cNvSpPr/>
          <p:nvPr/>
        </p:nvSpPr>
        <p:spPr>
          <a:xfrm>
            <a:off x="658440" y="535824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71"/>
          <p:cNvSpPr/>
          <p:nvPr/>
        </p:nvSpPr>
        <p:spPr>
          <a:xfrm>
            <a:off x="822960" y="546804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D3F5"/>
                </a:solidFill>
                <a:effectLst/>
                <a:uFillTx/>
                <a:latin typeface="Aptos"/>
              </a:rPr>
              <a:t>Running but not Ready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72"/>
          <p:cNvSpPr/>
          <p:nvPr/>
        </p:nvSpPr>
        <p:spPr>
          <a:xfrm>
            <a:off x="2788920" y="546804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process runs, readiness check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73"/>
          <p:cNvSpPr/>
          <p:nvPr/>
        </p:nvSpPr>
        <p:spPr>
          <a:xfrm>
            <a:off x="7315200" y="546804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endpoints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28"/>
          <p:cNvSpPr/>
          <p:nvPr/>
        </p:nvSpPr>
        <p:spPr>
          <a:xfrm>
            <a:off x="658440" y="585216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74"/>
          <p:cNvSpPr/>
          <p:nvPr/>
        </p:nvSpPr>
        <p:spPr>
          <a:xfrm>
            <a:off x="822960" y="596196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Pending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75"/>
          <p:cNvSpPr/>
          <p:nvPr/>
        </p:nvSpPr>
        <p:spPr>
          <a:xfrm>
            <a:off x="2788920" y="596196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or admission cannot place/create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76"/>
          <p:cNvSpPr/>
          <p:nvPr/>
        </p:nvSpPr>
        <p:spPr>
          <a:xfrm>
            <a:off x="7315200" y="596196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quota/events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77"/>
          <p:cNvSpPr/>
          <p:nvPr/>
        </p:nvSpPr>
        <p:spPr>
          <a:xfrm>
            <a:off x="658440" y="6382440"/>
            <a:ext cx="96001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Mental model: first classify the failure stage, then choose the command. Do not debug blindly.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66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67"/>
          <p:cNvSpPr/>
          <p:nvPr/>
        </p:nvSpPr>
        <p:spPr>
          <a:xfrm>
            <a:off x="0" y="0"/>
            <a:ext cx="12190680" cy="16308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12"/>
          <p:cNvSpPr/>
          <p:nvPr/>
        </p:nvSpPr>
        <p:spPr>
          <a:xfrm>
            <a:off x="502920" y="393120"/>
            <a:ext cx="79542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VM vs Docker vs Kubernetes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13"/>
          <p:cNvSpPr/>
          <p:nvPr/>
        </p:nvSpPr>
        <p:spPr>
          <a:xfrm>
            <a:off x="521280" y="822960"/>
            <a:ext cx="1051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Three different layers of abstraction, often used together.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8"/>
          <p:cNvSpPr/>
          <p:nvPr/>
        </p:nvSpPr>
        <p:spPr>
          <a:xfrm>
            <a:off x="658440" y="1207080"/>
            <a:ext cx="3153240" cy="4524840"/>
          </a:xfrm>
          <a:prstGeom prst="roundRect">
            <a:avLst>
              <a:gd name="adj" fmla="val 2899"/>
            </a:avLst>
          </a:prstGeom>
          <a:solidFill>
            <a:srgbClr val="0F2A43"/>
          </a:solidFill>
          <a:ln w="12700">
            <a:solidFill>
              <a:srgbClr val="2F80ED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14"/>
          <p:cNvSpPr/>
          <p:nvPr/>
        </p:nvSpPr>
        <p:spPr>
          <a:xfrm>
            <a:off x="859680" y="1444680"/>
            <a:ext cx="2604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Machine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15"/>
          <p:cNvSpPr/>
          <p:nvPr/>
        </p:nvSpPr>
        <p:spPr>
          <a:xfrm>
            <a:off x="859680" y="1755720"/>
            <a:ext cx="2650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Full OS boundary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69"/>
          <p:cNvSpPr/>
          <p:nvPr/>
        </p:nvSpPr>
        <p:spPr>
          <a:xfrm>
            <a:off x="4224600" y="1207080"/>
            <a:ext cx="3153240" cy="4524840"/>
          </a:xfrm>
          <a:prstGeom prst="roundRect">
            <a:avLst>
              <a:gd name="adj" fmla="val 2899"/>
            </a:avLst>
          </a:prstGeom>
          <a:solidFill>
            <a:srgbClr val="0D334A"/>
          </a:solidFill>
          <a:ln w="12700">
            <a:solidFill>
              <a:srgbClr val="27D3F5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16"/>
          <p:cNvSpPr/>
          <p:nvPr/>
        </p:nvSpPr>
        <p:spPr>
          <a:xfrm>
            <a:off x="4425840" y="1444680"/>
            <a:ext cx="2604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7"/>
          <p:cNvSpPr/>
          <p:nvPr/>
        </p:nvSpPr>
        <p:spPr>
          <a:xfrm>
            <a:off x="4425840" y="1755720"/>
            <a:ext cx="2650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Single-container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70"/>
          <p:cNvSpPr/>
          <p:nvPr/>
        </p:nvSpPr>
        <p:spPr>
          <a:xfrm>
            <a:off x="7790760" y="1207080"/>
            <a:ext cx="3153240" cy="4524840"/>
          </a:xfrm>
          <a:prstGeom prst="roundRect">
            <a:avLst>
              <a:gd name="adj" fmla="val 2899"/>
            </a:avLst>
          </a:prstGeom>
          <a:solidFill>
            <a:srgbClr val="102A44"/>
          </a:solidFill>
          <a:ln w="12700">
            <a:solidFill>
              <a:srgbClr val="3DDC97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18"/>
          <p:cNvSpPr/>
          <p:nvPr/>
        </p:nvSpPr>
        <p:spPr>
          <a:xfrm>
            <a:off x="7992000" y="1444680"/>
            <a:ext cx="2604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19"/>
          <p:cNvSpPr/>
          <p:nvPr/>
        </p:nvSpPr>
        <p:spPr>
          <a:xfrm>
            <a:off x="7992000" y="1755720"/>
            <a:ext cx="2650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Application platform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71"/>
          <p:cNvSpPr/>
          <p:nvPr/>
        </p:nvSpPr>
        <p:spPr>
          <a:xfrm>
            <a:off x="1097280" y="233172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20"/>
          <p:cNvSpPr/>
          <p:nvPr/>
        </p:nvSpPr>
        <p:spPr>
          <a:xfrm>
            <a:off x="1207080" y="244152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72"/>
          <p:cNvSpPr/>
          <p:nvPr/>
        </p:nvSpPr>
        <p:spPr>
          <a:xfrm>
            <a:off x="1097280" y="288036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21"/>
          <p:cNvSpPr/>
          <p:nvPr/>
        </p:nvSpPr>
        <p:spPr>
          <a:xfrm>
            <a:off x="1207080" y="299016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Guest OS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73"/>
          <p:cNvSpPr/>
          <p:nvPr/>
        </p:nvSpPr>
        <p:spPr>
          <a:xfrm>
            <a:off x="1097280" y="342900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22"/>
          <p:cNvSpPr/>
          <p:nvPr/>
        </p:nvSpPr>
        <p:spPr>
          <a:xfrm>
            <a:off x="1207080" y="353880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hardware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74"/>
          <p:cNvSpPr/>
          <p:nvPr/>
        </p:nvSpPr>
        <p:spPr>
          <a:xfrm>
            <a:off x="1097280" y="397764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23"/>
          <p:cNvSpPr/>
          <p:nvPr/>
        </p:nvSpPr>
        <p:spPr>
          <a:xfrm>
            <a:off x="1207080" y="408744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Hypervisor / cloud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24"/>
          <p:cNvSpPr/>
          <p:nvPr/>
        </p:nvSpPr>
        <p:spPr>
          <a:xfrm>
            <a:off x="914400" y="4864680"/>
            <a:ext cx="2604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strong isolation, legacy workloads, and OS-level control.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75"/>
          <p:cNvSpPr/>
          <p:nvPr/>
        </p:nvSpPr>
        <p:spPr>
          <a:xfrm>
            <a:off x="4663440" y="233172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25"/>
          <p:cNvSpPr/>
          <p:nvPr/>
        </p:nvSpPr>
        <p:spPr>
          <a:xfrm>
            <a:off x="4773240" y="244152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image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76"/>
          <p:cNvSpPr/>
          <p:nvPr/>
        </p:nvSpPr>
        <p:spPr>
          <a:xfrm>
            <a:off x="4663440" y="288036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26"/>
          <p:cNvSpPr/>
          <p:nvPr/>
        </p:nvSpPr>
        <p:spPr>
          <a:xfrm>
            <a:off x="4773240" y="299016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process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77"/>
          <p:cNvSpPr/>
          <p:nvPr/>
        </p:nvSpPr>
        <p:spPr>
          <a:xfrm>
            <a:off x="4663440" y="342900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27"/>
          <p:cNvSpPr/>
          <p:nvPr/>
        </p:nvSpPr>
        <p:spPr>
          <a:xfrm>
            <a:off x="4773240" y="353880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 daemon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78"/>
          <p:cNvSpPr/>
          <p:nvPr/>
        </p:nvSpPr>
        <p:spPr>
          <a:xfrm>
            <a:off x="4663440" y="397764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28"/>
          <p:cNvSpPr/>
          <p:nvPr/>
        </p:nvSpPr>
        <p:spPr>
          <a:xfrm>
            <a:off x="4773240" y="408744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Host OS kernel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29"/>
          <p:cNvSpPr/>
          <p:nvPr/>
        </p:nvSpPr>
        <p:spPr>
          <a:xfrm>
            <a:off x="4480560" y="4864680"/>
            <a:ext cx="2604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packaging and running a single container locally.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79"/>
          <p:cNvSpPr/>
          <p:nvPr/>
        </p:nvSpPr>
        <p:spPr>
          <a:xfrm>
            <a:off x="8229600" y="224028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30"/>
          <p:cNvSpPr/>
          <p:nvPr/>
        </p:nvSpPr>
        <p:spPr>
          <a:xfrm>
            <a:off x="8339400" y="235008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Deployment / Service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80"/>
          <p:cNvSpPr/>
          <p:nvPr/>
        </p:nvSpPr>
        <p:spPr>
          <a:xfrm>
            <a:off x="8229600" y="278892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31"/>
          <p:cNvSpPr/>
          <p:nvPr/>
        </p:nvSpPr>
        <p:spPr>
          <a:xfrm>
            <a:off x="8339400" y="289872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81"/>
          <p:cNvSpPr/>
          <p:nvPr/>
        </p:nvSpPr>
        <p:spPr>
          <a:xfrm>
            <a:off x="8229600" y="333756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32"/>
          <p:cNvSpPr/>
          <p:nvPr/>
        </p:nvSpPr>
        <p:spPr>
          <a:xfrm>
            <a:off x="8339400" y="344736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+ controllers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82"/>
          <p:cNvSpPr/>
          <p:nvPr/>
        </p:nvSpPr>
        <p:spPr>
          <a:xfrm>
            <a:off x="8229600" y="388620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33"/>
          <p:cNvSpPr/>
          <p:nvPr/>
        </p:nvSpPr>
        <p:spPr>
          <a:xfrm>
            <a:off x="8339400" y="399600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Nodes + container runtime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34"/>
          <p:cNvSpPr/>
          <p:nvPr/>
        </p:nvSpPr>
        <p:spPr>
          <a:xfrm>
            <a:off x="8046720" y="4864680"/>
            <a:ext cx="2604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operating many containers with desired state and self-healing.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83"/>
          <p:cNvSpPr/>
          <p:nvPr/>
        </p:nvSpPr>
        <p:spPr>
          <a:xfrm>
            <a:off x="1325880" y="5989320"/>
            <a:ext cx="9554400" cy="437400"/>
          </a:xfrm>
          <a:prstGeom prst="roundRect">
            <a:avLst>
              <a:gd name="adj" fmla="val 16667"/>
            </a:avLst>
          </a:prstGeom>
          <a:solidFill>
            <a:srgbClr val="0D263D"/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35"/>
          <p:cNvSpPr/>
          <p:nvPr/>
        </p:nvSpPr>
        <p:spPr>
          <a:xfrm>
            <a:off x="1572840" y="6117480"/>
            <a:ext cx="905148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In this workshop: VM provides the lab machine → Docker builds images → Kubernetes runs and operates the application.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4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Rectangle 15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35"/>
          <p:cNvSpPr/>
          <p:nvPr/>
        </p:nvSpPr>
        <p:spPr>
          <a:xfrm>
            <a:off x="571320" y="342720"/>
            <a:ext cx="1017828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YAML in Kubernetes — the minimum you need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36"/>
          <p:cNvSpPr/>
          <p:nvPr/>
        </p:nvSpPr>
        <p:spPr>
          <a:xfrm>
            <a:off x="594360" y="876240"/>
            <a:ext cx="74725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Kubernetes manifests are structured text files that describe the desired state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14"/>
          <p:cNvSpPr/>
          <p:nvPr/>
        </p:nvSpPr>
        <p:spPr>
          <a:xfrm>
            <a:off x="685800" y="1371600"/>
            <a:ext cx="5713920" cy="34279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397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37"/>
          <p:cNvSpPr/>
          <p:nvPr/>
        </p:nvSpPr>
        <p:spPr>
          <a:xfrm>
            <a:off x="876240" y="1508760"/>
            <a:ext cx="554760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apiVersion: apps/v1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kind: Deployment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metadata: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name: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replicas: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template: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containers: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  - name: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    image: 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8"/>
          <p:cNvSpPr/>
          <p:nvPr/>
        </p:nvSpPr>
        <p:spPr>
          <a:xfrm>
            <a:off x="6858000" y="1485720"/>
            <a:ext cx="4125960" cy="19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Indentation matters: use spaces, not tabs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key: value defines properties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Lists start with '-'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Nested blocks represent object structure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Kubernetes reads this as desired state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15"/>
          <p:cNvSpPr/>
          <p:nvPr/>
        </p:nvSpPr>
        <p:spPr>
          <a:xfrm>
            <a:off x="3581280" y="5333760"/>
            <a:ext cx="4875840" cy="45612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39"/>
          <p:cNvSpPr/>
          <p:nvPr/>
        </p:nvSpPr>
        <p:spPr>
          <a:xfrm>
            <a:off x="4492440" y="5392080"/>
            <a:ext cx="3054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YAML is data, not a script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16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Rectangle 17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40"/>
          <p:cNvSpPr/>
          <p:nvPr/>
        </p:nvSpPr>
        <p:spPr>
          <a:xfrm>
            <a:off x="571320" y="342720"/>
            <a:ext cx="694836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Reading a Kubernetes manifest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41"/>
          <p:cNvSpPr/>
          <p:nvPr/>
        </p:nvSpPr>
        <p:spPr>
          <a:xfrm>
            <a:off x="594000" y="876240"/>
            <a:ext cx="57578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Most Kubernetes YAML files follow the same mental model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ounded Rectangle 16"/>
          <p:cNvSpPr/>
          <p:nvPr/>
        </p:nvSpPr>
        <p:spPr>
          <a:xfrm>
            <a:off x="228600" y="1333440"/>
            <a:ext cx="6476040" cy="361836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397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42"/>
          <p:cNvSpPr/>
          <p:nvPr/>
        </p:nvSpPr>
        <p:spPr>
          <a:xfrm>
            <a:off x="457200" y="1470600"/>
            <a:ext cx="60980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apiVersion: v1         # Which API version?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kind: Service          # What object type?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metadata: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name: flask-app      # Object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selector: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app: flask-app     # Which Pods?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ports: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- port: 80         # Service 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targetPort: 8080 # Container 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43"/>
          <p:cNvSpPr/>
          <p:nvPr/>
        </p:nvSpPr>
        <p:spPr>
          <a:xfrm>
            <a:off x="7010280" y="1409400"/>
            <a:ext cx="4817880" cy="17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apiVersion + kind: what Kubernetes object this is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metadata: name, labels, annotations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spec: the desired configuration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status: current state, generated by Kubernetes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Troubleshooting often means comparing spec vs status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17"/>
          <p:cNvSpPr/>
          <p:nvPr/>
        </p:nvSpPr>
        <p:spPr>
          <a:xfrm>
            <a:off x="2590560" y="5371920"/>
            <a:ext cx="7085880" cy="45612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44"/>
          <p:cNvSpPr/>
          <p:nvPr/>
        </p:nvSpPr>
        <p:spPr>
          <a:xfrm>
            <a:off x="3027600" y="5429880"/>
            <a:ext cx="6213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kubectl apply sends spec; Kubernetes updates status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163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06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07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08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Workshop architecture and operating model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6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story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topic appears because the application needs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Learn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Who is this for?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Same lab, different responsibilities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 safely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runtime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 logs and health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when the app is the problem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Design for debuggability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workload impact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Diagnose scheduling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Enforce quotas and defaults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 minimal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Provide reliable cluster signals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we will build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application, many failure modes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Kubernetes pieces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dependency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logs and file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 and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and 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 and LimitRange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Lab rhythm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Repeat this pattern in every module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Desired state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Diagnose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Takeaway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 assumption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Designing exercises for the real lab environment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We can demonstrate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We discuss, not lab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failures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and RWO PVC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Multi-node RWO attach conflicts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storage implementation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Production-grade PostgreSQL HA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NetworkPolicy deep dive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Full CI/CD pipeline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schedule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4"/>
          <p:cNvSpPr/>
          <p:nvPr/>
        </p:nvSpPr>
        <p:spPr>
          <a:xfrm>
            <a:off x="731520" y="132588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804600" y="147204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2011680" y="139896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and first failures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5806440" y="141732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Images, Deployment, Service, ImagePullBackOff, CrashLoopBackOff, readiness.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8"/>
          <p:cNvSpPr/>
          <p:nvPr/>
        </p:nvSpPr>
        <p:spPr>
          <a:xfrm>
            <a:off x="731520" y="193860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9"/>
          <p:cNvSpPr/>
          <p:nvPr/>
        </p:nvSpPr>
        <p:spPr>
          <a:xfrm>
            <a:off x="804600" y="208476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0"/>
          <p:cNvSpPr/>
          <p:nvPr/>
        </p:nvSpPr>
        <p:spPr>
          <a:xfrm>
            <a:off x="2011680" y="201168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Production-like application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1"/>
          <p:cNvSpPr/>
          <p:nvPr/>
        </p:nvSpPr>
        <p:spPr>
          <a:xfrm>
            <a:off x="5806440" y="203004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PostgreSQL, migration Job, volumes, distroless, resources, quotas, OOMKilled.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2"/>
          <p:cNvSpPr/>
          <p:nvPr/>
        </p:nvSpPr>
        <p:spPr>
          <a:xfrm>
            <a:off x="731520" y="255132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3"/>
          <p:cNvSpPr/>
          <p:nvPr/>
        </p:nvSpPr>
        <p:spPr>
          <a:xfrm>
            <a:off x="804600" y="269748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4"/>
          <p:cNvSpPr/>
          <p:nvPr/>
        </p:nvSpPr>
        <p:spPr>
          <a:xfrm>
            <a:off x="2011680" y="262440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Playbook and combined cases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5"/>
          <p:cNvSpPr/>
          <p:nvPr/>
        </p:nvSpPr>
        <p:spPr>
          <a:xfrm>
            <a:off x="5806440" y="264276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Decision tree, team exercise, dev/platform responsibility split.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setup and K3s installation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lab VM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VM per participant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this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 vCPU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8 GB RAM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40 GB disk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Ubuntu 24.04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room for K3s + Docker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and several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cache without immediate disk pressure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Room for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Predictable participant experience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single-node installation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status k3s --no-pager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kubectl get nodes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For the workshop user: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cp /etc/rancher/k3s/k3s.yaml /home/k8s/.kube/config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chown -R k8s:k8s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 behind a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Export proxy variables before running the installer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HTTPS_PROXY=http://proxy.example.com:3128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NO_PROXY=localhost,127.0.0.1,10.42.0.0/16,10.43.0.0/16,.svc,.cluster.local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cat /etc/systemd/system/k3s.service.env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k3s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Docker daemon and Docker build need proxy separately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/etc/systemd/system/docker.service.d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tee /etc/systemd/system/docker.service.d/http-proxy.conf &lt;&lt;EOF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[Service]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Environment="HTTPS_PROXY=http://proxy.example.com:3128"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Environment="NO_PROXY=localhost,127.0.0.1,.svc,.cluster.local,10.42.0.0/16,10.43.0.0/16"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daemon-reload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info | grep -i proxy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validation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 before the workshop starts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Expected result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nodes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pods -A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compose version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df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free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system Pods are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command works without sudo or after newgrp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disk space left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 pulls images successfully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Shape 102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0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26"/>
          <p:cNvSpPr/>
          <p:nvPr/>
        </p:nvSpPr>
        <p:spPr>
          <a:xfrm>
            <a:off x="548640" y="6419160"/>
            <a:ext cx="4111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Module 3/4 bridge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27"/>
          <p:cNvSpPr/>
          <p:nvPr/>
        </p:nvSpPr>
        <p:spPr>
          <a:xfrm>
            <a:off x="567000" y="960120"/>
            <a:ext cx="74952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Nginx quick start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28"/>
          <p:cNvSpPr/>
          <p:nvPr/>
        </p:nvSpPr>
        <p:spPr>
          <a:xfrm>
            <a:off x="594360" y="1682640"/>
            <a:ext cx="80438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small hands-on warm-up before the Flask workshop application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04"/>
          <p:cNvSpPr/>
          <p:nvPr/>
        </p:nvSpPr>
        <p:spPr>
          <a:xfrm>
            <a:off x="658440" y="2331720"/>
            <a:ext cx="141444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29"/>
          <p:cNvSpPr/>
          <p:nvPr/>
        </p:nvSpPr>
        <p:spPr>
          <a:xfrm>
            <a:off x="658440" y="2414160"/>
            <a:ext cx="141444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Docker run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05"/>
          <p:cNvSpPr/>
          <p:nvPr/>
        </p:nvSpPr>
        <p:spPr>
          <a:xfrm>
            <a:off x="2240280" y="2331720"/>
            <a:ext cx="168876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0"/>
          <p:cNvSpPr/>
          <p:nvPr/>
        </p:nvSpPr>
        <p:spPr>
          <a:xfrm>
            <a:off x="2240280" y="2414160"/>
            <a:ext cx="16887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K3s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06"/>
          <p:cNvSpPr/>
          <p:nvPr/>
        </p:nvSpPr>
        <p:spPr>
          <a:xfrm>
            <a:off x="4096440" y="2331720"/>
            <a:ext cx="82008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31"/>
          <p:cNvSpPr/>
          <p:nvPr/>
        </p:nvSpPr>
        <p:spPr>
          <a:xfrm>
            <a:off x="4096440" y="2414160"/>
            <a:ext cx="82008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107"/>
          <p:cNvSpPr/>
          <p:nvPr/>
        </p:nvSpPr>
        <p:spPr>
          <a:xfrm>
            <a:off x="5102280" y="2331720"/>
            <a:ext cx="95724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32"/>
          <p:cNvSpPr/>
          <p:nvPr/>
        </p:nvSpPr>
        <p:spPr>
          <a:xfrm>
            <a:off x="5102280" y="2414160"/>
            <a:ext cx="95724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Service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08"/>
          <p:cNvSpPr/>
          <p:nvPr/>
        </p:nvSpPr>
        <p:spPr>
          <a:xfrm>
            <a:off x="6272640" y="2331720"/>
            <a:ext cx="150588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33"/>
          <p:cNvSpPr/>
          <p:nvPr/>
        </p:nvSpPr>
        <p:spPr>
          <a:xfrm>
            <a:off x="6272640" y="2414160"/>
            <a:ext cx="150588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Port-forward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09"/>
          <p:cNvSpPr/>
          <p:nvPr/>
        </p:nvSpPr>
        <p:spPr>
          <a:xfrm>
            <a:off x="731520" y="3063240"/>
            <a:ext cx="10741320" cy="1734480"/>
          </a:xfrm>
          <a:prstGeom prst="roundRect">
            <a:avLst>
              <a:gd name="adj" fmla="val 421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34"/>
          <p:cNvSpPr/>
          <p:nvPr/>
        </p:nvSpPr>
        <p:spPr>
          <a:xfrm>
            <a:off x="932760" y="3227760"/>
            <a:ext cx="10338840" cy="147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 --port=80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35"/>
          <p:cNvSpPr/>
          <p:nvPr/>
        </p:nvSpPr>
        <p:spPr>
          <a:xfrm>
            <a:off x="749880" y="5166360"/>
            <a:ext cx="96897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Goal: prove that participants can start a container locally and then run the same image in Kubernetes.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110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11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36"/>
          <p:cNvSpPr/>
          <p:nvPr/>
        </p:nvSpPr>
        <p:spPr>
          <a:xfrm>
            <a:off x="548640" y="6419160"/>
            <a:ext cx="4111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37"/>
          <p:cNvSpPr/>
          <p:nvPr/>
        </p:nvSpPr>
        <p:spPr>
          <a:xfrm>
            <a:off x="54864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Run nginx with Docker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38"/>
          <p:cNvSpPr/>
          <p:nvPr/>
        </p:nvSpPr>
        <p:spPr>
          <a:xfrm>
            <a:off x="567000" y="987480"/>
            <a:ext cx="1060416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minimal local container run: image, container, port mapping.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112"/>
          <p:cNvSpPr/>
          <p:nvPr/>
        </p:nvSpPr>
        <p:spPr>
          <a:xfrm>
            <a:off x="658440" y="1600200"/>
            <a:ext cx="6882840" cy="191736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39"/>
          <p:cNvSpPr/>
          <p:nvPr/>
        </p:nvSpPr>
        <p:spPr>
          <a:xfrm>
            <a:off x="859680" y="1764720"/>
            <a:ext cx="6224400" cy="16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113"/>
          <p:cNvSpPr/>
          <p:nvPr/>
        </p:nvSpPr>
        <p:spPr>
          <a:xfrm>
            <a:off x="7772400" y="1600200"/>
            <a:ext cx="3746160" cy="191736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40"/>
          <p:cNvSpPr/>
          <p:nvPr/>
        </p:nvSpPr>
        <p:spPr>
          <a:xfrm>
            <a:off x="8229600" y="1764720"/>
            <a:ext cx="3087720" cy="16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ps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logs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rm -f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41"/>
          <p:cNvSpPr/>
          <p:nvPr/>
        </p:nvSpPr>
        <p:spPr>
          <a:xfrm>
            <a:off x="685800" y="3977640"/>
            <a:ext cx="274032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this demonstrates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42"/>
          <p:cNvSpPr/>
          <p:nvPr/>
        </p:nvSpPr>
        <p:spPr>
          <a:xfrm>
            <a:off x="822960" y="4462200"/>
            <a:ext cx="566640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1  Image is pulled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2  Container starts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3  Host port maps to container port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4  HTTP responds on localhost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14"/>
          <p:cNvSpPr/>
          <p:nvPr/>
        </p:nvSpPr>
        <p:spPr>
          <a:xfrm>
            <a:off x="6995160" y="4343400"/>
            <a:ext cx="4066200" cy="957240"/>
          </a:xfrm>
          <a:prstGeom prst="roundRect">
            <a:avLst>
              <a:gd name="adj" fmla="val 11429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43"/>
          <p:cNvSpPr/>
          <p:nvPr/>
        </p:nvSpPr>
        <p:spPr>
          <a:xfrm>
            <a:off x="7269480" y="4681800"/>
            <a:ext cx="34718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Local success before Kubernetes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Shape 115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1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44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45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Docker command anatomy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46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Keep the mental model simple before moving to Kubernetes.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17"/>
          <p:cNvSpPr/>
          <p:nvPr/>
        </p:nvSpPr>
        <p:spPr>
          <a:xfrm>
            <a:off x="685800" y="1463040"/>
            <a:ext cx="10787400" cy="71064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47"/>
          <p:cNvSpPr/>
          <p:nvPr/>
        </p:nvSpPr>
        <p:spPr>
          <a:xfrm>
            <a:off x="887040" y="1627560"/>
            <a:ext cx="103849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18"/>
          <p:cNvSpPr/>
          <p:nvPr/>
        </p:nvSpPr>
        <p:spPr>
          <a:xfrm>
            <a:off x="822960" y="27889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48"/>
          <p:cNvSpPr/>
          <p:nvPr/>
        </p:nvSpPr>
        <p:spPr>
          <a:xfrm>
            <a:off x="969120" y="28987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49"/>
          <p:cNvSpPr/>
          <p:nvPr/>
        </p:nvSpPr>
        <p:spPr>
          <a:xfrm>
            <a:off x="3977640" y="28803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 in the background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19"/>
          <p:cNvSpPr/>
          <p:nvPr/>
        </p:nvSpPr>
        <p:spPr>
          <a:xfrm>
            <a:off x="822960" y="34747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50"/>
          <p:cNvSpPr/>
          <p:nvPr/>
        </p:nvSpPr>
        <p:spPr>
          <a:xfrm>
            <a:off x="969120" y="35845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--name nginx-demo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51"/>
          <p:cNvSpPr/>
          <p:nvPr/>
        </p:nvSpPr>
        <p:spPr>
          <a:xfrm>
            <a:off x="3977640" y="35661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Give the container a human-readable name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0"/>
          <p:cNvSpPr/>
          <p:nvPr/>
        </p:nvSpPr>
        <p:spPr>
          <a:xfrm>
            <a:off x="822960" y="41605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52"/>
          <p:cNvSpPr/>
          <p:nvPr/>
        </p:nvSpPr>
        <p:spPr>
          <a:xfrm>
            <a:off x="969120" y="42703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-p 8080:80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53"/>
          <p:cNvSpPr/>
          <p:nvPr/>
        </p:nvSpPr>
        <p:spPr>
          <a:xfrm>
            <a:off x="3977640" y="42519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Host port 8080 → container port 80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21"/>
          <p:cNvSpPr/>
          <p:nvPr/>
        </p:nvSpPr>
        <p:spPr>
          <a:xfrm>
            <a:off x="822960" y="48463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54"/>
          <p:cNvSpPr/>
          <p:nvPr/>
        </p:nvSpPr>
        <p:spPr>
          <a:xfrm>
            <a:off x="969120" y="49561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nginx:latest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5"/>
          <p:cNvSpPr/>
          <p:nvPr/>
        </p:nvSpPr>
        <p:spPr>
          <a:xfrm>
            <a:off x="3977640" y="49377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 name and tag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56"/>
          <p:cNvSpPr/>
          <p:nvPr/>
        </p:nvSpPr>
        <p:spPr>
          <a:xfrm>
            <a:off x="749880" y="5806440"/>
            <a:ext cx="9781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Next: Kubernetes will run the same image, but the objects are different.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122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12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57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58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1 — Create a namespace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59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Use a small isolated namespace for the nginx warm-up.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24"/>
          <p:cNvSpPr/>
          <p:nvPr/>
        </p:nvSpPr>
        <p:spPr>
          <a:xfrm>
            <a:off x="731520" y="1554480"/>
            <a:ext cx="10467720" cy="1826280"/>
          </a:xfrm>
          <a:prstGeom prst="roundRect">
            <a:avLst>
              <a:gd name="adj" fmla="val 400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60"/>
          <p:cNvSpPr/>
          <p:nvPr/>
        </p:nvSpPr>
        <p:spPr>
          <a:xfrm>
            <a:off x="932760" y="1719000"/>
            <a:ext cx="10037880" cy="15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get namespaces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config set-context --current --namespace=nginx-demo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61"/>
          <p:cNvSpPr/>
          <p:nvPr/>
        </p:nvSpPr>
        <p:spPr>
          <a:xfrm>
            <a:off x="6629400" y="3657600"/>
            <a:ext cx="438660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Why namespace first?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62"/>
          <p:cNvSpPr/>
          <p:nvPr/>
        </p:nvSpPr>
        <p:spPr>
          <a:xfrm>
            <a:off x="6629400" y="4298040"/>
            <a:ext cx="4660920" cy="11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keeps lab objects separate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makes cleanup easy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avoids touching the main workshop namespace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25"/>
          <p:cNvSpPr/>
          <p:nvPr/>
        </p:nvSpPr>
        <p:spPr>
          <a:xfrm>
            <a:off x="914400" y="4251960"/>
            <a:ext cx="5209560" cy="1094760"/>
          </a:xfrm>
          <a:prstGeom prst="roundRect">
            <a:avLst>
              <a:gd name="adj" fmla="val 6667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63"/>
          <p:cNvSpPr/>
          <p:nvPr/>
        </p:nvSpPr>
        <p:spPr>
          <a:xfrm>
            <a:off x="1115640" y="4416480"/>
            <a:ext cx="4807080" cy="83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Cleanup later: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Shape 126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27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64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65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- quick: Step 2 — Run nginx as a Pod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66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This is intentionally simple: one Pod, no Deployment yet.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28"/>
          <p:cNvSpPr/>
          <p:nvPr/>
        </p:nvSpPr>
        <p:spPr>
          <a:xfrm>
            <a:off x="685800" y="1536120"/>
            <a:ext cx="9827640" cy="74772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67"/>
          <p:cNvSpPr/>
          <p:nvPr/>
        </p:nvSpPr>
        <p:spPr>
          <a:xfrm>
            <a:off x="887040" y="1600200"/>
            <a:ext cx="939780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--image=nginx:latest --port=80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129"/>
          <p:cNvSpPr/>
          <p:nvPr/>
        </p:nvSpPr>
        <p:spPr>
          <a:xfrm flipV="1">
            <a:off x="6602040" y="2509560"/>
            <a:ext cx="4935240" cy="1598040"/>
          </a:xfrm>
          <a:prstGeom prst="roundRect">
            <a:avLst>
              <a:gd name="adj" fmla="val 4324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68"/>
          <p:cNvSpPr/>
          <p:nvPr/>
        </p:nvSpPr>
        <p:spPr>
          <a:xfrm>
            <a:off x="6803280" y="2514600"/>
            <a:ext cx="4532760" cy="15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pods -w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pod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logs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9"/>
          <p:cNvSpPr/>
          <p:nvPr/>
        </p:nvSpPr>
        <p:spPr>
          <a:xfrm>
            <a:off x="749880" y="3794760"/>
            <a:ext cx="25578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to observe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30"/>
          <p:cNvSpPr/>
          <p:nvPr/>
        </p:nvSpPr>
        <p:spPr>
          <a:xfrm>
            <a:off x="841320" y="4370760"/>
            <a:ext cx="381600" cy="3816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70"/>
          <p:cNvSpPr/>
          <p:nvPr/>
        </p:nvSpPr>
        <p:spPr>
          <a:xfrm>
            <a:off x="841320" y="4457880"/>
            <a:ext cx="381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71"/>
          <p:cNvSpPr/>
          <p:nvPr/>
        </p:nvSpPr>
        <p:spPr>
          <a:xfrm>
            <a:off x="1344240" y="4407480"/>
            <a:ext cx="246636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ContainerCreating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31"/>
          <p:cNvSpPr/>
          <p:nvPr/>
        </p:nvSpPr>
        <p:spPr>
          <a:xfrm>
            <a:off x="2989800" y="4562640"/>
            <a:ext cx="66780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32"/>
          <p:cNvSpPr/>
          <p:nvPr/>
        </p:nvSpPr>
        <p:spPr>
          <a:xfrm>
            <a:off x="3822120" y="4370760"/>
            <a:ext cx="381600" cy="3816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72"/>
          <p:cNvSpPr/>
          <p:nvPr/>
        </p:nvSpPr>
        <p:spPr>
          <a:xfrm>
            <a:off x="3822120" y="4457880"/>
            <a:ext cx="381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73"/>
          <p:cNvSpPr/>
          <p:nvPr/>
        </p:nvSpPr>
        <p:spPr>
          <a:xfrm>
            <a:off x="4325040" y="4407480"/>
            <a:ext cx="182628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133"/>
          <p:cNvSpPr/>
          <p:nvPr/>
        </p:nvSpPr>
        <p:spPr>
          <a:xfrm>
            <a:off x="5394960" y="4562640"/>
            <a:ext cx="64008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34"/>
          <p:cNvSpPr/>
          <p:nvPr/>
        </p:nvSpPr>
        <p:spPr>
          <a:xfrm>
            <a:off x="6199560" y="4370760"/>
            <a:ext cx="381600" cy="3816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74"/>
          <p:cNvSpPr/>
          <p:nvPr/>
        </p:nvSpPr>
        <p:spPr>
          <a:xfrm>
            <a:off x="6199560" y="4457880"/>
            <a:ext cx="381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75"/>
          <p:cNvSpPr/>
          <p:nvPr/>
        </p:nvSpPr>
        <p:spPr>
          <a:xfrm>
            <a:off x="6702480" y="4407480"/>
            <a:ext cx="159768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Ready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76"/>
          <p:cNvSpPr/>
          <p:nvPr/>
        </p:nvSpPr>
        <p:spPr>
          <a:xfrm>
            <a:off x="786240" y="5532120"/>
            <a:ext cx="104216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This is a smoke test of image pulling, scheduling, container start and basic logging.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135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3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77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78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3 — Expose the Pod with a Service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79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Service gives the Pod a stable network entry point.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37"/>
          <p:cNvSpPr/>
          <p:nvPr/>
        </p:nvSpPr>
        <p:spPr>
          <a:xfrm>
            <a:off x="713160" y="1508760"/>
            <a:ext cx="8885880" cy="54648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80"/>
          <p:cNvSpPr/>
          <p:nvPr/>
        </p:nvSpPr>
        <p:spPr>
          <a:xfrm>
            <a:off x="914400" y="1508760"/>
            <a:ext cx="9370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expose pod nginx --name=nginx --port=80 --target-port=80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38"/>
          <p:cNvSpPr/>
          <p:nvPr/>
        </p:nvSpPr>
        <p:spPr>
          <a:xfrm>
            <a:off x="6537960" y="2286000"/>
            <a:ext cx="5072400" cy="136944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81"/>
          <p:cNvSpPr/>
          <p:nvPr/>
        </p:nvSpPr>
        <p:spPr>
          <a:xfrm>
            <a:off x="6739200" y="2286000"/>
            <a:ext cx="466992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svc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endpoints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svc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139"/>
          <p:cNvSpPr/>
          <p:nvPr/>
        </p:nvSpPr>
        <p:spPr>
          <a:xfrm>
            <a:off x="960120" y="4005000"/>
            <a:ext cx="1460520" cy="8204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82"/>
          <p:cNvSpPr/>
          <p:nvPr/>
        </p:nvSpPr>
        <p:spPr>
          <a:xfrm>
            <a:off x="1234440" y="4325040"/>
            <a:ext cx="9118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40"/>
          <p:cNvSpPr/>
          <p:nvPr/>
        </p:nvSpPr>
        <p:spPr>
          <a:xfrm>
            <a:off x="2514600" y="4416480"/>
            <a:ext cx="164592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141"/>
          <p:cNvSpPr/>
          <p:nvPr/>
        </p:nvSpPr>
        <p:spPr>
          <a:xfrm>
            <a:off x="4251960" y="4005000"/>
            <a:ext cx="1643400" cy="8204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55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183"/>
          <p:cNvSpPr/>
          <p:nvPr/>
        </p:nvSpPr>
        <p:spPr>
          <a:xfrm>
            <a:off x="4462200" y="4325040"/>
            <a:ext cx="1231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142"/>
          <p:cNvSpPr/>
          <p:nvPr/>
        </p:nvSpPr>
        <p:spPr>
          <a:xfrm>
            <a:off x="5989320" y="4416480"/>
            <a:ext cx="15087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43"/>
          <p:cNvSpPr/>
          <p:nvPr/>
        </p:nvSpPr>
        <p:spPr>
          <a:xfrm>
            <a:off x="7589520" y="4005000"/>
            <a:ext cx="1734840" cy="8204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84"/>
          <p:cNvSpPr/>
          <p:nvPr/>
        </p:nvSpPr>
        <p:spPr>
          <a:xfrm>
            <a:off x="7927920" y="4325040"/>
            <a:ext cx="10033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Client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85"/>
          <p:cNvSpPr/>
          <p:nvPr/>
        </p:nvSpPr>
        <p:spPr>
          <a:xfrm>
            <a:off x="868680" y="5596200"/>
            <a:ext cx="8227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Without endpoints, Service has nowhere to send traffic.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144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145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86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87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4 — Port-forward and test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88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Forward traffic from your local machine to the Service.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46"/>
          <p:cNvSpPr/>
          <p:nvPr/>
        </p:nvSpPr>
        <p:spPr>
          <a:xfrm>
            <a:off x="749880" y="1536120"/>
            <a:ext cx="10421640" cy="71064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89"/>
          <p:cNvSpPr/>
          <p:nvPr/>
        </p:nvSpPr>
        <p:spPr>
          <a:xfrm>
            <a:off x="951120" y="1700640"/>
            <a:ext cx="100191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port-forward svc/nginx 8080:80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147"/>
          <p:cNvSpPr/>
          <p:nvPr/>
        </p:nvSpPr>
        <p:spPr>
          <a:xfrm>
            <a:off x="804600" y="2743200"/>
            <a:ext cx="5392440" cy="141480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90"/>
          <p:cNvSpPr/>
          <p:nvPr/>
        </p:nvSpPr>
        <p:spPr>
          <a:xfrm>
            <a:off x="1005840" y="2907720"/>
            <a:ext cx="4989960" cy="11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or open in a browser: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1"/>
          <p:cNvSpPr/>
          <p:nvPr/>
        </p:nvSpPr>
        <p:spPr>
          <a:xfrm>
            <a:off x="6720840" y="276156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Troubleshooting checks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92"/>
          <p:cNvSpPr/>
          <p:nvPr/>
        </p:nvSpPr>
        <p:spPr>
          <a:xfrm>
            <a:off x="6729840" y="3273480"/>
            <a:ext cx="4478040" cy="11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Pod Running?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Does the Service have endpoints?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targetPort correct?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another process using local port 8080?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148"/>
          <p:cNvSpPr/>
          <p:nvPr/>
        </p:nvSpPr>
        <p:spPr>
          <a:xfrm>
            <a:off x="822960" y="4937760"/>
            <a:ext cx="7312680" cy="591840"/>
          </a:xfrm>
          <a:prstGeom prst="roundRect">
            <a:avLst>
              <a:gd name="adj" fmla="val 12308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93"/>
          <p:cNvSpPr/>
          <p:nvPr/>
        </p:nvSpPr>
        <p:spPr>
          <a:xfrm>
            <a:off x="1024200" y="5102280"/>
            <a:ext cx="691020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pod,svc,endpoints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149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50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94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Transition to workshop app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95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From nginx to the workshop application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196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The warm-up introduces the mechanics; the Flask app introduces real dependencies and failure modes.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151"/>
          <p:cNvSpPr/>
          <p:nvPr/>
        </p:nvSpPr>
        <p:spPr>
          <a:xfrm>
            <a:off x="77724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197"/>
          <p:cNvSpPr/>
          <p:nvPr/>
        </p:nvSpPr>
        <p:spPr>
          <a:xfrm>
            <a:off x="77724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152"/>
          <p:cNvSpPr/>
          <p:nvPr/>
        </p:nvSpPr>
        <p:spPr>
          <a:xfrm>
            <a:off x="210312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153"/>
          <p:cNvSpPr/>
          <p:nvPr/>
        </p:nvSpPr>
        <p:spPr>
          <a:xfrm>
            <a:off x="246888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98"/>
          <p:cNvSpPr/>
          <p:nvPr/>
        </p:nvSpPr>
        <p:spPr>
          <a:xfrm>
            <a:off x="246888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54"/>
          <p:cNvSpPr/>
          <p:nvPr/>
        </p:nvSpPr>
        <p:spPr>
          <a:xfrm>
            <a:off x="379476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155"/>
          <p:cNvSpPr/>
          <p:nvPr/>
        </p:nvSpPr>
        <p:spPr>
          <a:xfrm>
            <a:off x="416052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99"/>
          <p:cNvSpPr/>
          <p:nvPr/>
        </p:nvSpPr>
        <p:spPr>
          <a:xfrm>
            <a:off x="416052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156"/>
          <p:cNvSpPr/>
          <p:nvPr/>
        </p:nvSpPr>
        <p:spPr>
          <a:xfrm>
            <a:off x="548640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57"/>
          <p:cNvSpPr/>
          <p:nvPr/>
        </p:nvSpPr>
        <p:spPr>
          <a:xfrm>
            <a:off x="585216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00"/>
          <p:cNvSpPr/>
          <p:nvPr/>
        </p:nvSpPr>
        <p:spPr>
          <a:xfrm>
            <a:off x="585216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Port-forward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158"/>
          <p:cNvSpPr/>
          <p:nvPr/>
        </p:nvSpPr>
        <p:spPr>
          <a:xfrm>
            <a:off x="717804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159"/>
          <p:cNvSpPr/>
          <p:nvPr/>
        </p:nvSpPr>
        <p:spPr>
          <a:xfrm>
            <a:off x="754380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201"/>
          <p:cNvSpPr/>
          <p:nvPr/>
        </p:nvSpPr>
        <p:spPr>
          <a:xfrm>
            <a:off x="754380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Logs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60"/>
          <p:cNvSpPr/>
          <p:nvPr/>
        </p:nvSpPr>
        <p:spPr>
          <a:xfrm>
            <a:off x="886968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161"/>
          <p:cNvSpPr/>
          <p:nvPr/>
        </p:nvSpPr>
        <p:spPr>
          <a:xfrm>
            <a:off x="923544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202"/>
          <p:cNvSpPr/>
          <p:nvPr/>
        </p:nvSpPr>
        <p:spPr>
          <a:xfrm>
            <a:off x="923544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Events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203"/>
          <p:cNvSpPr/>
          <p:nvPr/>
        </p:nvSpPr>
        <p:spPr>
          <a:xfrm>
            <a:off x="822960" y="3246120"/>
            <a:ext cx="27406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Next application adds: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04"/>
          <p:cNvSpPr/>
          <p:nvPr/>
        </p:nvSpPr>
        <p:spPr>
          <a:xfrm>
            <a:off x="868680" y="3749040"/>
            <a:ext cx="81356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local registry and custom images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ConfigMap and Secret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PostgreSQL and migrations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readiness depending on DB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volumes, limits, quotas and real troubleshooting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162"/>
          <p:cNvSpPr/>
          <p:nvPr/>
        </p:nvSpPr>
        <p:spPr>
          <a:xfrm>
            <a:off x="6446520" y="5559480"/>
            <a:ext cx="4660920" cy="527760"/>
          </a:xfrm>
          <a:prstGeom prst="roundRect">
            <a:avLst>
              <a:gd name="adj" fmla="val 13793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205"/>
          <p:cNvSpPr/>
          <p:nvPr/>
        </p:nvSpPr>
        <p:spPr>
          <a:xfrm>
            <a:off x="6647760" y="5724000"/>
            <a:ext cx="4258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Rectangle 18"/>
          <p:cNvSpPr/>
          <p:nvPr/>
        </p:nvSpPr>
        <p:spPr>
          <a:xfrm>
            <a:off x="0" y="0"/>
            <a:ext cx="12191760" cy="685728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6" name="Rectangle 19"/>
          <p:cNvSpPr/>
          <p:nvPr/>
        </p:nvSpPr>
        <p:spPr>
          <a:xfrm>
            <a:off x="0" y="0"/>
            <a:ext cx="12191760" cy="6048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7" name="TextBox 45"/>
          <p:cNvSpPr/>
          <p:nvPr/>
        </p:nvSpPr>
        <p:spPr>
          <a:xfrm>
            <a:off x="533160" y="304560"/>
            <a:ext cx="84999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Entering Containers (Docker vs Kubernetes)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46"/>
          <p:cNvSpPr/>
          <p:nvPr/>
        </p:nvSpPr>
        <p:spPr>
          <a:xfrm>
            <a:off x="609480" y="990360"/>
            <a:ext cx="6891840" cy="788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exec -it &lt;container&gt;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docker exec -it &lt;container&gt; bash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Example: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exec -it docker-app-1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---------------------------------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Kubernetes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exec -it &lt;pod&gt; --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exec -it &lt;pod&gt; -- bash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Example: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exec -it deploy/flask-app --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---------------------------------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Distroless images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No shell available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Use: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logs &lt;pod&gt;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describe pod &lt;pod&gt;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debug &lt;pod&gt; -it --image=busybox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Shape 2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3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24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29"/>
          <p:cNvSpPr/>
          <p:nvPr/>
        </p:nvSpPr>
        <p:spPr>
          <a:xfrm>
            <a:off x="594360" y="1051560"/>
            <a:ext cx="4568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7E8F9"/>
                </a:solidFill>
                <a:effectLst/>
                <a:uFillTx/>
                <a:latin typeface="Aptos"/>
              </a:rPr>
              <a:t>Module 2 Add-on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34"/>
          <p:cNvSpPr/>
          <p:nvPr/>
        </p:nvSpPr>
        <p:spPr>
          <a:xfrm>
            <a:off x="567000" y="1508760"/>
            <a:ext cx="987192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Local Container Registry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39"/>
          <p:cNvSpPr/>
          <p:nvPr/>
        </p:nvSpPr>
        <p:spPr>
          <a:xfrm>
            <a:off x="603360" y="2331720"/>
            <a:ext cx="96890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Build images locally, push to localhost:5000, then let K3s pull from the same VM.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17"/>
          <p:cNvSpPr/>
          <p:nvPr/>
        </p:nvSpPr>
        <p:spPr>
          <a:xfrm>
            <a:off x="914400" y="3794760"/>
            <a:ext cx="1916640" cy="72792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44"/>
          <p:cNvSpPr/>
          <p:nvPr/>
        </p:nvSpPr>
        <p:spPr>
          <a:xfrm>
            <a:off x="987480" y="3940920"/>
            <a:ext cx="17704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0"/>
          <p:cNvSpPr/>
          <p:nvPr/>
        </p:nvSpPr>
        <p:spPr>
          <a:xfrm>
            <a:off x="3063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3"/>
          <p:cNvSpPr/>
          <p:nvPr/>
        </p:nvSpPr>
        <p:spPr>
          <a:xfrm>
            <a:off x="4160520" y="3794760"/>
            <a:ext cx="2099520" cy="72792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45"/>
          <p:cNvSpPr/>
          <p:nvPr/>
        </p:nvSpPr>
        <p:spPr>
          <a:xfrm>
            <a:off x="4233600" y="3940920"/>
            <a:ext cx="1953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localhost:5000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25"/>
          <p:cNvSpPr/>
          <p:nvPr/>
        </p:nvSpPr>
        <p:spPr>
          <a:xfrm>
            <a:off x="6492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26"/>
          <p:cNvSpPr/>
          <p:nvPr/>
        </p:nvSpPr>
        <p:spPr>
          <a:xfrm>
            <a:off x="7589520" y="3794760"/>
            <a:ext cx="2190960" cy="72792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46"/>
          <p:cNvSpPr/>
          <p:nvPr/>
        </p:nvSpPr>
        <p:spPr>
          <a:xfrm>
            <a:off x="7662600" y="3940920"/>
            <a:ext cx="20448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27"/>
          <p:cNvSpPr/>
          <p:nvPr/>
        </p:nvSpPr>
        <p:spPr>
          <a:xfrm>
            <a:off x="9966960" y="4160520"/>
            <a:ext cx="5943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28"/>
          <p:cNvSpPr/>
          <p:nvPr/>
        </p:nvSpPr>
        <p:spPr>
          <a:xfrm>
            <a:off x="10744200" y="3794760"/>
            <a:ext cx="910800" cy="72792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47"/>
          <p:cNvSpPr/>
          <p:nvPr/>
        </p:nvSpPr>
        <p:spPr>
          <a:xfrm>
            <a:off x="10817280" y="3940920"/>
            <a:ext cx="764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30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48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49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Where does Kubernetes get images from?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0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Kubernetes pulls images from a registry; it does not automatically use your local Docker image cache.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32"/>
          <p:cNvSpPr/>
          <p:nvPr/>
        </p:nvSpPr>
        <p:spPr>
          <a:xfrm>
            <a:off x="17190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33"/>
          <p:cNvSpPr/>
          <p:nvPr/>
        </p:nvSpPr>
        <p:spPr>
          <a:xfrm>
            <a:off x="37033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35"/>
          <p:cNvSpPr/>
          <p:nvPr/>
        </p:nvSpPr>
        <p:spPr>
          <a:xfrm>
            <a:off x="5687280" y="2944080"/>
            <a:ext cx="6678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36"/>
          <p:cNvSpPr/>
          <p:nvPr/>
        </p:nvSpPr>
        <p:spPr>
          <a:xfrm>
            <a:off x="76626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37"/>
          <p:cNvSpPr/>
          <p:nvPr/>
        </p:nvSpPr>
        <p:spPr>
          <a:xfrm>
            <a:off x="96469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38"/>
          <p:cNvSpPr/>
          <p:nvPr/>
        </p:nvSpPr>
        <p:spPr>
          <a:xfrm>
            <a:off x="50292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51"/>
          <p:cNvSpPr/>
          <p:nvPr/>
        </p:nvSpPr>
        <p:spPr>
          <a:xfrm>
            <a:off x="57600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40"/>
          <p:cNvSpPr/>
          <p:nvPr/>
        </p:nvSpPr>
        <p:spPr>
          <a:xfrm>
            <a:off x="251460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52"/>
          <p:cNvSpPr/>
          <p:nvPr/>
        </p:nvSpPr>
        <p:spPr>
          <a:xfrm>
            <a:off x="258768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41"/>
          <p:cNvSpPr/>
          <p:nvPr/>
        </p:nvSpPr>
        <p:spPr>
          <a:xfrm>
            <a:off x="449892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53"/>
          <p:cNvSpPr/>
          <p:nvPr/>
        </p:nvSpPr>
        <p:spPr>
          <a:xfrm>
            <a:off x="457200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42"/>
          <p:cNvSpPr/>
          <p:nvPr/>
        </p:nvSpPr>
        <p:spPr>
          <a:xfrm>
            <a:off x="647388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54"/>
          <p:cNvSpPr/>
          <p:nvPr/>
        </p:nvSpPr>
        <p:spPr>
          <a:xfrm>
            <a:off x="654696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43"/>
          <p:cNvSpPr/>
          <p:nvPr/>
        </p:nvSpPr>
        <p:spPr>
          <a:xfrm>
            <a:off x="845820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55"/>
          <p:cNvSpPr/>
          <p:nvPr/>
        </p:nvSpPr>
        <p:spPr>
          <a:xfrm>
            <a:off x="853128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44"/>
          <p:cNvSpPr/>
          <p:nvPr/>
        </p:nvSpPr>
        <p:spPr>
          <a:xfrm>
            <a:off x="1045152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56"/>
          <p:cNvSpPr/>
          <p:nvPr/>
        </p:nvSpPr>
        <p:spPr>
          <a:xfrm>
            <a:off x="1052460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57"/>
          <p:cNvSpPr/>
          <p:nvPr/>
        </p:nvSpPr>
        <p:spPr>
          <a:xfrm>
            <a:off x="822960" y="4617720"/>
            <a:ext cx="10603440" cy="11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registry means no pull path for 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Using localhost:5000 keeps the workshop fast and reproducible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Later failures map directly to ImagePullBackOff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Shape 45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46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58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59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Registry options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60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For this workshop we use a local registry on every VM.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47"/>
          <p:cNvSpPr/>
          <p:nvPr/>
        </p:nvSpPr>
        <p:spPr>
          <a:xfrm>
            <a:off x="640080" y="1508760"/>
            <a:ext cx="3151080" cy="38826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61"/>
          <p:cNvSpPr/>
          <p:nvPr/>
        </p:nvSpPr>
        <p:spPr>
          <a:xfrm>
            <a:off x="914400" y="1783080"/>
            <a:ext cx="25567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Public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62"/>
          <p:cNvSpPr/>
          <p:nvPr/>
        </p:nvSpPr>
        <p:spPr>
          <a:xfrm>
            <a:off x="914400" y="2423160"/>
            <a:ext cx="2556720" cy="22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Docker Hub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GHCR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Quay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to start, but depends on Internet and rate limits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48"/>
          <p:cNvSpPr/>
          <p:nvPr/>
        </p:nvSpPr>
        <p:spPr>
          <a:xfrm>
            <a:off x="4526280" y="1508760"/>
            <a:ext cx="3151080" cy="38826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63"/>
          <p:cNvSpPr/>
          <p:nvPr/>
        </p:nvSpPr>
        <p:spPr>
          <a:xfrm>
            <a:off x="4800600" y="1783080"/>
            <a:ext cx="25567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64"/>
          <p:cNvSpPr/>
          <p:nvPr/>
        </p:nvSpPr>
        <p:spPr>
          <a:xfrm>
            <a:off x="4800600" y="2423160"/>
            <a:ext cx="2556720" cy="22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Harbor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Artifactory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ECR / ACR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Production-like, but needs credentials and setup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49"/>
          <p:cNvSpPr/>
          <p:nvPr/>
        </p:nvSpPr>
        <p:spPr>
          <a:xfrm>
            <a:off x="8412480" y="1508760"/>
            <a:ext cx="3151080" cy="38826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65"/>
          <p:cNvSpPr/>
          <p:nvPr/>
        </p:nvSpPr>
        <p:spPr>
          <a:xfrm>
            <a:off x="8686800" y="1783080"/>
            <a:ext cx="25567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66"/>
          <p:cNvSpPr/>
          <p:nvPr/>
        </p:nvSpPr>
        <p:spPr>
          <a:xfrm>
            <a:off x="8686800" y="2423160"/>
            <a:ext cx="2556720" cy="22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localhost:5000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external dependency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Great for labs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Easy to break and fix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50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5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67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68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Start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69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setup script runs a registry container and verifies push/pull before the workshop begins.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52"/>
          <p:cNvSpPr/>
          <p:nvPr/>
        </p:nvSpPr>
        <p:spPr>
          <a:xfrm>
            <a:off x="685800" y="1600200"/>
            <a:ext cx="5574240" cy="2373840"/>
          </a:xfrm>
          <a:prstGeom prst="roundRect">
            <a:avLst>
              <a:gd name="adj" fmla="val 3077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70"/>
          <p:cNvSpPr/>
          <p:nvPr/>
        </p:nvSpPr>
        <p:spPr>
          <a:xfrm>
            <a:off x="822960" y="1719000"/>
            <a:ext cx="5299920" cy="21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run -d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--name local-registry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--restart always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-p 5000:5000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-v /opt/local-registry:/var/lib/registry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registry:2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Shape 53"/>
          <p:cNvSpPr/>
          <p:nvPr/>
        </p:nvSpPr>
        <p:spPr>
          <a:xfrm>
            <a:off x="6720840" y="1600200"/>
            <a:ext cx="4705560" cy="2373840"/>
          </a:xfrm>
          <a:prstGeom prst="roundRect">
            <a:avLst>
              <a:gd name="adj" fmla="val 4615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71"/>
          <p:cNvSpPr/>
          <p:nvPr/>
        </p:nvSpPr>
        <p:spPr>
          <a:xfrm>
            <a:off x="7040880" y="1828800"/>
            <a:ext cx="41112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local?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72"/>
          <p:cNvSpPr/>
          <p:nvPr/>
        </p:nvSpPr>
        <p:spPr>
          <a:xfrm>
            <a:off x="7040880" y="2423160"/>
            <a:ext cx="4019760" cy="12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Docker Hub rate limits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shared credentials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Predictable and fast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Each participant owns their environment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54"/>
          <p:cNvSpPr/>
          <p:nvPr/>
        </p:nvSpPr>
        <p:spPr>
          <a:xfrm>
            <a:off x="7040880" y="4069080"/>
            <a:ext cx="1459440" cy="32544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73"/>
          <p:cNvSpPr/>
          <p:nvPr/>
        </p:nvSpPr>
        <p:spPr>
          <a:xfrm>
            <a:off x="7113960" y="4142160"/>
            <a:ext cx="13132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workshop-friendly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55"/>
          <p:cNvSpPr/>
          <p:nvPr/>
        </p:nvSpPr>
        <p:spPr>
          <a:xfrm>
            <a:off x="8641080" y="4069080"/>
            <a:ext cx="1413720" cy="32544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74"/>
          <p:cNvSpPr/>
          <p:nvPr/>
        </p:nvSpPr>
        <p:spPr>
          <a:xfrm>
            <a:off x="8714160" y="4142160"/>
            <a:ext cx="1267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offline-capable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56"/>
          <p:cNvSpPr/>
          <p:nvPr/>
        </p:nvSpPr>
        <p:spPr>
          <a:xfrm>
            <a:off x="10195560" y="4069080"/>
            <a:ext cx="1047960" cy="32544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75"/>
          <p:cNvSpPr/>
          <p:nvPr/>
        </p:nvSpPr>
        <p:spPr>
          <a:xfrm>
            <a:off x="10268640" y="4142160"/>
            <a:ext cx="901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repeatable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57"/>
          <p:cNvSpPr/>
          <p:nvPr/>
        </p:nvSpPr>
        <p:spPr>
          <a:xfrm>
            <a:off x="685800" y="4892040"/>
            <a:ext cx="5574240" cy="590760"/>
          </a:xfrm>
          <a:prstGeom prst="roundRect">
            <a:avLst>
              <a:gd name="adj" fmla="val 1230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76"/>
          <p:cNvSpPr/>
          <p:nvPr/>
        </p:nvSpPr>
        <p:spPr>
          <a:xfrm>
            <a:off x="822960" y="5010840"/>
            <a:ext cx="52999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77"/>
          <p:cNvSpPr/>
          <p:nvPr/>
        </p:nvSpPr>
        <p:spPr>
          <a:xfrm>
            <a:off x="6720840" y="4974480"/>
            <a:ext cx="47512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Expected result: the registry API responds, even before any images are pushed.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Shape 58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59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78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79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Configure K3s to use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80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K3s uses containerd, so the Docker daemon configuration alone is not enough.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60"/>
          <p:cNvSpPr/>
          <p:nvPr/>
        </p:nvSpPr>
        <p:spPr>
          <a:xfrm>
            <a:off x="685800" y="1417320"/>
            <a:ext cx="6122880" cy="415692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81"/>
          <p:cNvSpPr/>
          <p:nvPr/>
        </p:nvSpPr>
        <p:spPr>
          <a:xfrm>
            <a:off x="822960" y="1536120"/>
            <a:ext cx="5848560" cy="39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/etc/rancher/k3s/registries.yaml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mirrors: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"http://localhost:5000"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"127.0.0.1:5000":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"http://127.0.0.1:5000"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configs: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tls: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insecure_skip_verify: 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Shape 61"/>
          <p:cNvSpPr/>
          <p:nvPr/>
        </p:nvSpPr>
        <p:spPr>
          <a:xfrm>
            <a:off x="7315200" y="1600200"/>
            <a:ext cx="4294080" cy="3562560"/>
          </a:xfrm>
          <a:prstGeom prst="roundRect">
            <a:avLst>
              <a:gd name="adj" fmla="val 3077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82"/>
          <p:cNvSpPr/>
          <p:nvPr/>
        </p:nvSpPr>
        <p:spPr>
          <a:xfrm>
            <a:off x="7589520" y="1874520"/>
            <a:ext cx="3745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After changing it: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62"/>
          <p:cNvSpPr/>
          <p:nvPr/>
        </p:nvSpPr>
        <p:spPr>
          <a:xfrm>
            <a:off x="7589520" y="2514600"/>
            <a:ext cx="3471120" cy="1002240"/>
          </a:xfrm>
          <a:prstGeom prst="roundRect">
            <a:avLst>
              <a:gd name="adj" fmla="val 727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83"/>
          <p:cNvSpPr/>
          <p:nvPr/>
        </p:nvSpPr>
        <p:spPr>
          <a:xfrm>
            <a:off x="7726680" y="2633400"/>
            <a:ext cx="319680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sudo systemctl restart k3s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nodes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84"/>
          <p:cNvSpPr/>
          <p:nvPr/>
        </p:nvSpPr>
        <p:spPr>
          <a:xfrm>
            <a:off x="7589520" y="3931920"/>
            <a:ext cx="3654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reloads containerd registry configuration used by K3s.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63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64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85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86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Build workshop images with registry tags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87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Tag images with localhost:5000 from the beginning.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65"/>
          <p:cNvSpPr/>
          <p:nvPr/>
        </p:nvSpPr>
        <p:spPr>
          <a:xfrm>
            <a:off x="685800" y="1600200"/>
            <a:ext cx="10832040" cy="2785320"/>
          </a:xfrm>
          <a:prstGeom prst="roundRect">
            <a:avLst>
              <a:gd name="adj" fmla="val 262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88"/>
          <p:cNvSpPr/>
          <p:nvPr/>
        </p:nvSpPr>
        <p:spPr>
          <a:xfrm>
            <a:off x="822960" y="1719000"/>
            <a:ext cx="10557720" cy="260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docker/Dockerfile.debug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docker/Dockerfile.broken_migration -t localhost:5000/k8s-workshop-migration:broken .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66"/>
          <p:cNvSpPr/>
          <p:nvPr/>
        </p:nvSpPr>
        <p:spPr>
          <a:xfrm>
            <a:off x="685800" y="4892040"/>
            <a:ext cx="10832040" cy="773640"/>
          </a:xfrm>
          <a:prstGeom prst="roundRect">
            <a:avLst>
              <a:gd name="adj" fmla="val 14118"/>
            </a:avLst>
          </a:prstGeom>
          <a:solidFill>
            <a:srgbClr val="0B2740"/>
          </a:solidFill>
          <a:ln w="13970">
            <a:solidFill>
              <a:srgbClr val="FACC1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89"/>
          <p:cNvSpPr/>
          <p:nvPr/>
        </p:nvSpPr>
        <p:spPr>
          <a:xfrm>
            <a:off x="960120" y="5102280"/>
            <a:ext cx="102376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point: k8s-workshop-app:debug is only a local Docker tag. localhost:5000/k8s-workshop-app:debug is a pullable registry reference.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Shape 67"/>
          <p:cNvSpPr/>
          <p:nvPr/>
        </p:nvSpPr>
        <p:spPr>
          <a:xfrm>
            <a:off x="-74160" y="114480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68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90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91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Push and verify images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92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Pushing images makes them available for K3s/containerd to pull.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69"/>
          <p:cNvSpPr/>
          <p:nvPr/>
        </p:nvSpPr>
        <p:spPr>
          <a:xfrm>
            <a:off x="685800" y="1508760"/>
            <a:ext cx="5482800" cy="260424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93"/>
          <p:cNvSpPr/>
          <p:nvPr/>
        </p:nvSpPr>
        <p:spPr>
          <a:xfrm>
            <a:off x="822960" y="1627560"/>
            <a:ext cx="5208480" cy="22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localhost:5000/k8s-workshop-app:distroless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70"/>
          <p:cNvSpPr/>
          <p:nvPr/>
        </p:nvSpPr>
        <p:spPr>
          <a:xfrm>
            <a:off x="6583680" y="1508760"/>
            <a:ext cx="5072040" cy="182520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94"/>
          <p:cNvSpPr/>
          <p:nvPr/>
        </p:nvSpPr>
        <p:spPr>
          <a:xfrm>
            <a:off x="6720840" y="1627560"/>
            <a:ext cx="493488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localhost:5000/v2/k8s-workshop-app/tags/list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localhost:5000/v2/k8s-workshop-migration/tags/list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71"/>
          <p:cNvSpPr/>
          <p:nvPr/>
        </p:nvSpPr>
        <p:spPr>
          <a:xfrm>
            <a:off x="109728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95"/>
          <p:cNvSpPr/>
          <p:nvPr/>
        </p:nvSpPr>
        <p:spPr>
          <a:xfrm>
            <a:off x="117036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72"/>
          <p:cNvSpPr/>
          <p:nvPr/>
        </p:nvSpPr>
        <p:spPr>
          <a:xfrm>
            <a:off x="248688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3"/>
          <p:cNvSpPr/>
          <p:nvPr/>
        </p:nvSpPr>
        <p:spPr>
          <a:xfrm>
            <a:off x="352044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96"/>
          <p:cNvSpPr/>
          <p:nvPr/>
        </p:nvSpPr>
        <p:spPr>
          <a:xfrm>
            <a:off x="359352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74"/>
          <p:cNvSpPr/>
          <p:nvPr/>
        </p:nvSpPr>
        <p:spPr>
          <a:xfrm>
            <a:off x="48920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75"/>
          <p:cNvSpPr/>
          <p:nvPr/>
        </p:nvSpPr>
        <p:spPr>
          <a:xfrm>
            <a:off x="592524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97"/>
          <p:cNvSpPr/>
          <p:nvPr/>
        </p:nvSpPr>
        <p:spPr>
          <a:xfrm>
            <a:off x="599832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verify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Shape 76"/>
          <p:cNvSpPr/>
          <p:nvPr/>
        </p:nvSpPr>
        <p:spPr>
          <a:xfrm>
            <a:off x="72968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77"/>
          <p:cNvSpPr/>
          <p:nvPr/>
        </p:nvSpPr>
        <p:spPr>
          <a:xfrm>
            <a:off x="832104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98"/>
          <p:cNvSpPr/>
          <p:nvPr/>
        </p:nvSpPr>
        <p:spPr>
          <a:xfrm>
            <a:off x="839412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78"/>
          <p:cNvSpPr/>
          <p:nvPr/>
        </p:nvSpPr>
        <p:spPr>
          <a:xfrm>
            <a:off x="97106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79"/>
          <p:cNvSpPr/>
          <p:nvPr/>
        </p:nvSpPr>
        <p:spPr>
          <a:xfrm>
            <a:off x="10744200" y="4434840"/>
            <a:ext cx="1139400" cy="6822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99"/>
          <p:cNvSpPr/>
          <p:nvPr/>
        </p:nvSpPr>
        <p:spPr>
          <a:xfrm>
            <a:off x="10817280" y="4581000"/>
            <a:ext cx="993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Shape 80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8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00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101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Use registry references in Kubernetes manifests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02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Deployment should point to the local registry image.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82"/>
          <p:cNvSpPr/>
          <p:nvPr/>
        </p:nvSpPr>
        <p:spPr>
          <a:xfrm>
            <a:off x="685800" y="1417320"/>
            <a:ext cx="5802840" cy="415692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03"/>
          <p:cNvSpPr/>
          <p:nvPr/>
        </p:nvSpPr>
        <p:spPr>
          <a:xfrm>
            <a:off x="822960" y="1536120"/>
            <a:ext cx="5528520" cy="39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apiVersion: apps/v1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kind: 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metadata: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template: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containers: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-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image: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imagePullPolicy: IfNotPresent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83"/>
          <p:cNvSpPr/>
          <p:nvPr/>
        </p:nvSpPr>
        <p:spPr>
          <a:xfrm>
            <a:off x="6949440" y="1645920"/>
            <a:ext cx="4476960" cy="3288240"/>
          </a:xfrm>
          <a:prstGeom prst="roundRect">
            <a:avLst>
              <a:gd name="adj" fmla="val 3333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04"/>
          <p:cNvSpPr/>
          <p:nvPr/>
        </p:nvSpPr>
        <p:spPr>
          <a:xfrm>
            <a:off x="7223760" y="1920240"/>
            <a:ext cx="39283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for labs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105"/>
          <p:cNvSpPr/>
          <p:nvPr/>
        </p:nvSpPr>
        <p:spPr>
          <a:xfrm>
            <a:off x="7223760" y="2560320"/>
            <a:ext cx="379116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imagePullPolicy: IfNotPresent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local pulls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change tag when you want a new image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Always when teaching pull behavior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84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85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06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107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Troubleshooting preview: ImagePullBackOff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08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A registry flow makes image problems visible and easy to diagnose.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86"/>
          <p:cNvSpPr/>
          <p:nvPr/>
        </p:nvSpPr>
        <p:spPr>
          <a:xfrm>
            <a:off x="685800" y="1508760"/>
            <a:ext cx="5299920" cy="182520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09"/>
          <p:cNvSpPr/>
          <p:nvPr/>
        </p:nvSpPr>
        <p:spPr>
          <a:xfrm>
            <a:off x="822960" y="1627560"/>
            <a:ext cx="502560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typo in tag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image: localhost:5000/k8s-workshop-app:debgu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expected status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ImagePullBackOff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87"/>
          <p:cNvSpPr/>
          <p:nvPr/>
        </p:nvSpPr>
        <p:spPr>
          <a:xfrm>
            <a:off x="6446520" y="1508760"/>
            <a:ext cx="5071320" cy="1825200"/>
          </a:xfrm>
          <a:prstGeom prst="roundRect">
            <a:avLst>
              <a:gd name="adj" fmla="val 6000"/>
            </a:avLst>
          </a:prstGeom>
          <a:solidFill>
            <a:srgbClr val="0B2740"/>
          </a:solidFill>
          <a:ln w="1397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10"/>
          <p:cNvSpPr/>
          <p:nvPr/>
        </p:nvSpPr>
        <p:spPr>
          <a:xfrm>
            <a:off x="6720840" y="1783080"/>
            <a:ext cx="43855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checks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88"/>
          <p:cNvSpPr/>
          <p:nvPr/>
        </p:nvSpPr>
        <p:spPr>
          <a:xfrm>
            <a:off x="6720840" y="2331720"/>
            <a:ext cx="4339800" cy="773640"/>
          </a:xfrm>
          <a:prstGeom prst="roundRect">
            <a:avLst>
              <a:gd name="adj" fmla="val 9412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11"/>
          <p:cNvSpPr/>
          <p:nvPr/>
        </p:nvSpPr>
        <p:spPr>
          <a:xfrm>
            <a:off x="6858000" y="2450520"/>
            <a:ext cx="40654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12"/>
          <p:cNvSpPr/>
          <p:nvPr/>
        </p:nvSpPr>
        <p:spPr>
          <a:xfrm>
            <a:off x="685800" y="3794760"/>
            <a:ext cx="20995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Mental model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89"/>
          <p:cNvSpPr/>
          <p:nvPr/>
        </p:nvSpPr>
        <p:spPr>
          <a:xfrm>
            <a:off x="2971800" y="4069080"/>
            <a:ext cx="2008080" cy="70956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13"/>
          <p:cNvSpPr/>
          <p:nvPr/>
        </p:nvSpPr>
        <p:spPr>
          <a:xfrm>
            <a:off x="3044880" y="4215240"/>
            <a:ext cx="1861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found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90"/>
          <p:cNvSpPr/>
          <p:nvPr/>
        </p:nvSpPr>
        <p:spPr>
          <a:xfrm>
            <a:off x="5166360" y="4425480"/>
            <a:ext cx="6400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91"/>
          <p:cNvSpPr/>
          <p:nvPr/>
        </p:nvSpPr>
        <p:spPr>
          <a:xfrm>
            <a:off x="5989320" y="4069080"/>
            <a:ext cx="2008080" cy="709560"/>
          </a:xfrm>
          <a:prstGeom prst="roundRect">
            <a:avLst>
              <a:gd name="adj" fmla="val 15385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114"/>
          <p:cNvSpPr/>
          <p:nvPr/>
        </p:nvSpPr>
        <p:spPr>
          <a:xfrm>
            <a:off x="6062400" y="4215240"/>
            <a:ext cx="1861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never starts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92"/>
          <p:cNvSpPr/>
          <p:nvPr/>
        </p:nvSpPr>
        <p:spPr>
          <a:xfrm>
            <a:off x="8183880" y="4425480"/>
            <a:ext cx="8686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93"/>
          <p:cNvSpPr/>
          <p:nvPr/>
        </p:nvSpPr>
        <p:spPr>
          <a:xfrm>
            <a:off x="9235440" y="4069080"/>
            <a:ext cx="2008080" cy="70956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15"/>
          <p:cNvSpPr/>
          <p:nvPr/>
        </p:nvSpPr>
        <p:spPr>
          <a:xfrm>
            <a:off x="9308520" y="4215240"/>
            <a:ext cx="1861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app logs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94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95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116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117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Lab: Build, push, deploy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118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lab becomes the foundation for the rest of the workshop.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96"/>
          <p:cNvSpPr/>
          <p:nvPr/>
        </p:nvSpPr>
        <p:spPr>
          <a:xfrm>
            <a:off x="685800" y="1463040"/>
            <a:ext cx="10969200" cy="4248360"/>
          </a:xfrm>
          <a:prstGeom prst="roundRect">
            <a:avLst>
              <a:gd name="adj" fmla="val 2581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119"/>
          <p:cNvSpPr/>
          <p:nvPr/>
        </p:nvSpPr>
        <p:spPr>
          <a:xfrm>
            <a:off x="1005840" y="1783080"/>
            <a:ext cx="2739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120"/>
          <p:cNvSpPr/>
          <p:nvPr/>
        </p:nvSpPr>
        <p:spPr>
          <a:xfrm>
            <a:off x="1005840" y="2331720"/>
            <a:ext cx="10237680" cy="24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Run setup-local-registry.sh and confirm the test passes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Build app, distroless, and migration images with localhost:5000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Push all images to the local registry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Verify registry catalog and image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localhost:5000/... image references in Kubernetes manifests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Deploy the app in Module 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97"/>
          <p:cNvSpPr/>
          <p:nvPr/>
        </p:nvSpPr>
        <p:spPr>
          <a:xfrm>
            <a:off x="1005840" y="5074920"/>
            <a:ext cx="819360" cy="32544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21"/>
          <p:cNvSpPr/>
          <p:nvPr/>
        </p:nvSpPr>
        <p:spPr>
          <a:xfrm>
            <a:off x="1078920" y="5148000"/>
            <a:ext cx="6732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98"/>
          <p:cNvSpPr/>
          <p:nvPr/>
        </p:nvSpPr>
        <p:spPr>
          <a:xfrm>
            <a:off x="1965960" y="5074920"/>
            <a:ext cx="773640" cy="32544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2"/>
          <p:cNvSpPr/>
          <p:nvPr/>
        </p:nvSpPr>
        <p:spPr>
          <a:xfrm>
            <a:off x="2039040" y="5148000"/>
            <a:ext cx="6274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99"/>
          <p:cNvSpPr/>
          <p:nvPr/>
        </p:nvSpPr>
        <p:spPr>
          <a:xfrm>
            <a:off x="2880360" y="5074920"/>
            <a:ext cx="727920" cy="32544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23"/>
          <p:cNvSpPr/>
          <p:nvPr/>
        </p:nvSpPr>
        <p:spPr>
          <a:xfrm>
            <a:off x="2953440" y="5148000"/>
            <a:ext cx="581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00"/>
          <p:cNvSpPr/>
          <p:nvPr/>
        </p:nvSpPr>
        <p:spPr>
          <a:xfrm>
            <a:off x="3749040" y="5074920"/>
            <a:ext cx="910800" cy="325440"/>
          </a:xfrm>
          <a:prstGeom prst="roundRect">
            <a:avLst>
              <a:gd name="adj" fmla="val 33333"/>
            </a:avLst>
          </a:prstGeom>
          <a:solidFill>
            <a:srgbClr val="FB923C">
              <a:alpha val="85000"/>
            </a:srgbClr>
          </a:solidFill>
          <a:ln w="1016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24"/>
          <p:cNvSpPr/>
          <p:nvPr/>
        </p:nvSpPr>
        <p:spPr>
          <a:xfrm>
            <a:off x="3822120" y="5148000"/>
            <a:ext cx="764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101"/>
          <p:cNvSpPr/>
          <p:nvPr/>
        </p:nvSpPr>
        <p:spPr>
          <a:xfrm>
            <a:off x="4800600" y="5074920"/>
            <a:ext cx="1413720" cy="325440"/>
          </a:xfrm>
          <a:prstGeom prst="roundRect">
            <a:avLst>
              <a:gd name="adj" fmla="val 33333"/>
            </a:avLst>
          </a:prstGeom>
          <a:solidFill>
            <a:srgbClr val="F87171">
              <a:alpha val="85000"/>
            </a:srgbClr>
          </a:solidFill>
          <a:ln w="1016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25"/>
          <p:cNvSpPr/>
          <p:nvPr/>
        </p:nvSpPr>
        <p:spPr>
          <a:xfrm>
            <a:off x="4873680" y="5148000"/>
            <a:ext cx="1267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3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Containers, images and local application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image mental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is not a VM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contains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Image does not contain by default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Entrypoint and command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environment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Filesystem layers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Cluster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Service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Secrets from the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 guarantee that shell exists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build flow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Multi-stage builds separate build-time and runtime concerns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Runtime image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Kubernetes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image vs distroless image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Both are useful, for different reasons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Debug-friendly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Distroless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Based on python:slim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Contains shell and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Easier kubectl exec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Larger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for labs and diagnosis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better logs/probes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kubectl debug when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used in the repository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docker/Dockerfile.debug    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docker/Dockerfile.broken_migration -t localhost:5000/k8s-workshop-migration:broken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image ls | grep k8s-workshop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 locally with Docker Compose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Prove the app before Kubernetes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cd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compose up --build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http://localhost:8080/items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-X POST http://localhost:8080/items -H 'Content-Type: application/json' -d '{"name":"demo"}'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endpoints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app is designed to create useful signals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Operational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Training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/healthz - process is alive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/readyz - DB dependency is 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/version - image/config visible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/file-log - last file log lines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/items - DB-backed data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/stress/cpu - CPU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/stress/memory -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 writer - restart visibility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4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First deployment to Kubernetes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Deployment, Pod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Three objects, three jobs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Service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Declarative desired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Creates ReplicaSets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Recreates failed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Supports rollout and rollback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 default for stateless app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virtual IP and DNS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Selects 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Routes to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Decouples clients from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with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dependencies and DB migration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-f k8s/base/01-namespace.yaml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k8s/base/02-configmap.yaml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 --timeout=180s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job db-migration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wait --for=condition=complete job/db-migration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 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229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278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279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application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280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230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281"/>
          <p:cNvSpPr/>
          <p:nvPr/>
        </p:nvSpPr>
        <p:spPr>
          <a:xfrm>
            <a:off x="850320" y="1527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k8s/base/07-app-service.yaml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Verify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deploy,rs,pod,svc,endpoints,jobs,pvc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And in the second terminal: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0563C1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 first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fix before observing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rollout is a controlled state transition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ReplicaSet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template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New Pods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Readiness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Traffic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commands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in almost every lab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history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undo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set image deploy/flask-app flask-app=localhost:5000/k8s-workshop-app:debug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5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Fast failure diagnosis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classification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Classify the state before reading random logs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Likely phase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Typical root cause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Pending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Scheduling/admission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quota, capacity, PVC, node selector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pull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tag, registry auth,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crash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command, config, app error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3" name="Shape 24"/>
          <p:cNvSpPr/>
          <p:nvPr/>
        </p:nvSpPr>
        <p:spPr>
          <a:xfrm>
            <a:off x="685800" y="344736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25"/>
          <p:cNvSpPr/>
          <p:nvPr/>
        </p:nvSpPr>
        <p:spPr>
          <a:xfrm>
            <a:off x="758880" y="35935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26"/>
          <p:cNvSpPr/>
          <p:nvPr/>
        </p:nvSpPr>
        <p:spPr>
          <a:xfrm>
            <a:off x="286200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27"/>
          <p:cNvSpPr/>
          <p:nvPr/>
        </p:nvSpPr>
        <p:spPr>
          <a:xfrm>
            <a:off x="523944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28"/>
          <p:cNvSpPr/>
          <p:nvPr/>
        </p:nvSpPr>
        <p:spPr>
          <a:xfrm>
            <a:off x="7616880" y="35935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path, dependency down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9"/>
          <p:cNvSpPr/>
          <p:nvPr/>
        </p:nvSpPr>
        <p:spPr>
          <a:xfrm>
            <a:off x="685800" y="397764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30"/>
          <p:cNvSpPr/>
          <p:nvPr/>
        </p:nvSpPr>
        <p:spPr>
          <a:xfrm>
            <a:off x="758880" y="412380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31"/>
          <p:cNvSpPr/>
          <p:nvPr/>
        </p:nvSpPr>
        <p:spPr>
          <a:xfrm>
            <a:off x="286200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limit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32"/>
          <p:cNvSpPr/>
          <p:nvPr/>
        </p:nvSpPr>
        <p:spPr>
          <a:xfrm>
            <a:off x="523944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33"/>
          <p:cNvSpPr/>
          <p:nvPr/>
        </p:nvSpPr>
        <p:spPr>
          <a:xfrm>
            <a:off x="7616880" y="412380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exceeded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34"/>
          <p:cNvSpPr/>
          <p:nvPr/>
        </p:nvSpPr>
        <p:spPr>
          <a:xfrm>
            <a:off x="685800" y="450792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35"/>
          <p:cNvSpPr/>
          <p:nvPr/>
        </p:nvSpPr>
        <p:spPr>
          <a:xfrm>
            <a:off x="758880" y="46544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36"/>
          <p:cNvSpPr/>
          <p:nvPr/>
        </p:nvSpPr>
        <p:spPr>
          <a:xfrm>
            <a:off x="286200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routing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Text 37"/>
          <p:cNvSpPr/>
          <p:nvPr/>
        </p:nvSpPr>
        <p:spPr>
          <a:xfrm>
            <a:off x="523944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 38"/>
          <p:cNvSpPr/>
          <p:nvPr/>
        </p:nvSpPr>
        <p:spPr>
          <a:xfrm>
            <a:off x="7616880" y="46544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 or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Rectangle 1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9" name="Rectangle 3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0" name="TextBox 1"/>
          <p:cNvSpPr/>
          <p:nvPr/>
        </p:nvSpPr>
        <p:spPr>
          <a:xfrm>
            <a:off x="571320" y="342720"/>
            <a:ext cx="488376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Fast Failure Diagnosis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Box 2"/>
          <p:cNvSpPr/>
          <p:nvPr/>
        </p:nvSpPr>
        <p:spPr>
          <a:xfrm>
            <a:off x="594360" y="876240"/>
            <a:ext cx="6188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module-local manifests, not old challenges/solutions paths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Box 6"/>
          <p:cNvSpPr/>
          <p:nvPr/>
        </p:nvSpPr>
        <p:spPr>
          <a:xfrm>
            <a:off x="761760" y="1447560"/>
            <a:ext cx="10667160" cy="18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Start from a healthy Module 4 baseline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Apply one faulty manifest from modules/module-05-fast-failure-diagnosis/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Observe the symptom before fixing anything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 from the reference manifest in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Rounded Rectangle 1"/>
          <p:cNvSpPr/>
          <p:nvPr/>
        </p:nvSpPr>
        <p:spPr>
          <a:xfrm>
            <a:off x="5486400" y="3429000"/>
            <a:ext cx="6171120" cy="13705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4" name="TextBox 8"/>
          <p:cNvSpPr/>
          <p:nvPr/>
        </p:nvSpPr>
        <p:spPr>
          <a:xfrm>
            <a:off x="5715000" y="3429000"/>
            <a:ext cx="5918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cd ~/k8s-workshop-2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ls modules/module-05-fast-failure-diagnosis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Working reference: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Rounded Rectangle 2"/>
          <p:cNvSpPr/>
          <p:nvPr/>
        </p:nvSpPr>
        <p:spPr>
          <a:xfrm>
            <a:off x="3276360" y="5105160"/>
            <a:ext cx="5637600" cy="41760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Box 10"/>
          <p:cNvSpPr/>
          <p:nvPr/>
        </p:nvSpPr>
        <p:spPr>
          <a:xfrm>
            <a:off x="3428280" y="5144400"/>
            <a:ext cx="5334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Observe → Describe → Logs/Events → Recover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container never started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Kubelet tried to pull the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 failed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Retry delay increases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There are no app logs yet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 contain the clue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Typo in image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 registry without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Proxy/certificate/DNS issue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ImagePullPolicy surprises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1: 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Break and diagnose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9" name="Shape 4"/>
          <p:cNvSpPr/>
          <p:nvPr/>
        </p:nvSpPr>
        <p:spPr>
          <a:xfrm>
            <a:off x="685800" y="1417320"/>
            <a:ext cx="10877040" cy="22392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modules/module-05-fast-failure-diagnosis/01-imagepullbackoff.yaml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Box 7"/>
          <p:cNvSpPr/>
          <p:nvPr/>
        </p:nvSpPr>
        <p:spPr>
          <a:xfrm>
            <a:off x="685800" y="3886200"/>
            <a:ext cx="102859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ErrImagePull → ImagePullBackOff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There are no application logs yet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clue is in Pod events and image name/tag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2" name="Rounded Rectangle 8"/>
          <p:cNvSpPr/>
          <p:nvPr/>
        </p:nvSpPr>
        <p:spPr>
          <a:xfrm>
            <a:off x="5943600" y="5623920"/>
            <a:ext cx="475344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3" name="TextBox 9"/>
          <p:cNvSpPr/>
          <p:nvPr/>
        </p:nvSpPr>
        <p:spPr>
          <a:xfrm>
            <a:off x="6172200" y="5715360"/>
            <a:ext cx="413244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Question: did the process ever start?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Rectangle 10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5" name="Rectangle 11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6" name="TextBox 23"/>
          <p:cNvSpPr/>
          <p:nvPr/>
        </p:nvSpPr>
        <p:spPr>
          <a:xfrm>
            <a:off x="571320" y="342720"/>
            <a:ext cx="5320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Quick fix — kubectl edit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Box 24"/>
          <p:cNvSpPr/>
          <p:nvPr/>
        </p:nvSpPr>
        <p:spPr>
          <a:xfrm>
            <a:off x="594000" y="876240"/>
            <a:ext cx="88466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only for quick investigation or emergency edits — keep Git/YAML as the source of truth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Rounded Rectangle 9"/>
          <p:cNvSpPr/>
          <p:nvPr/>
        </p:nvSpPr>
        <p:spPr>
          <a:xfrm>
            <a:off x="457200" y="1333080"/>
            <a:ext cx="6856920" cy="327528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9" name="TextBox 25"/>
          <p:cNvSpPr/>
          <p:nvPr/>
        </p:nvSpPr>
        <p:spPr>
          <a:xfrm>
            <a:off x="713160" y="1510560"/>
            <a:ext cx="637344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ImagePullBackOff example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edit deploy/flask-app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Find the container image: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localhost:5000/k8s-workshop-app:debgu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Fix the tag: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Save and exit editor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Box 26"/>
          <p:cNvSpPr/>
          <p:nvPr/>
        </p:nvSpPr>
        <p:spPr>
          <a:xfrm>
            <a:off x="7353360" y="1523880"/>
            <a:ext cx="6722640" cy="18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Good for showing live object editing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Creates a new Deployment revision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Then watch the rollout status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Do not use as the normal workshop recovery path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Rounded Rectangle 11"/>
          <p:cNvSpPr/>
          <p:nvPr/>
        </p:nvSpPr>
        <p:spPr>
          <a:xfrm>
            <a:off x="3200400" y="4572000"/>
            <a:ext cx="7999920" cy="9133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2" name="TextBox 27"/>
          <p:cNvSpPr/>
          <p:nvPr/>
        </p:nvSpPr>
        <p:spPr>
          <a:xfrm>
            <a:off x="3200400" y="4680720"/>
            <a:ext cx="68918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deploy/flask-app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Rounded Rectangle 12"/>
          <p:cNvSpPr/>
          <p:nvPr/>
        </p:nvSpPr>
        <p:spPr>
          <a:xfrm>
            <a:off x="685800" y="5677200"/>
            <a:ext cx="10971720" cy="49392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4" name="TextBox 28"/>
          <p:cNvSpPr/>
          <p:nvPr/>
        </p:nvSpPr>
        <p:spPr>
          <a:xfrm>
            <a:off x="932760" y="5715000"/>
            <a:ext cx="1026864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After the demo, restore from k8s/base/06-app-deployment.yaml to keep the lab deterministic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Rectangle 4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6" name="Rectangle 5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7" name="TextBox 5"/>
          <p:cNvSpPr/>
          <p:nvPr/>
        </p:nvSpPr>
        <p:spPr>
          <a:xfrm>
            <a:off x="571320" y="342720"/>
            <a:ext cx="81482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ImagePullBackOff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Box 11"/>
          <p:cNvSpPr/>
          <p:nvPr/>
        </p:nvSpPr>
        <p:spPr>
          <a:xfrm>
            <a:off x="594360" y="876240"/>
            <a:ext cx="4946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Show after participants identify the bad image tag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Rounded Rectangle 3"/>
          <p:cNvSpPr/>
          <p:nvPr/>
        </p:nvSpPr>
        <p:spPr>
          <a:xfrm>
            <a:off x="730080" y="1828800"/>
            <a:ext cx="10698840" cy="27421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0" name="TextBox 12"/>
          <p:cNvSpPr/>
          <p:nvPr/>
        </p:nvSpPr>
        <p:spPr>
          <a:xfrm>
            <a:off x="914400" y="20570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modules/module-05-fast-failure-diagnosis/01-imagepullbackoff.yaml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get pods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Box 13"/>
          <p:cNvSpPr/>
          <p:nvPr/>
        </p:nvSpPr>
        <p:spPr>
          <a:xfrm>
            <a:off x="1600200" y="4822200"/>
            <a:ext cx="79999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We do not keep a separate solution YAML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working source of truth is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This also avoids old challenges/solutions paths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image starts, then the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 these signals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was pulled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started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Main process exited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restarted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Backoff delay increased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 --previous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exit code in describe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variables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 and args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2: 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key command is logs --previous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4"/>
          <p:cNvSpPr/>
          <p:nvPr/>
        </p:nvSpPr>
        <p:spPr>
          <a:xfrm>
            <a:off x="685800" y="1417320"/>
            <a:ext cx="10877040" cy="2696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modules/module-05-fast-failure-diagnosis/02-crashloopbackoff.yaml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Box 3"/>
          <p:cNvSpPr/>
          <p:nvPr/>
        </p:nvSpPr>
        <p:spPr>
          <a:xfrm>
            <a:off x="731880" y="4114800"/>
            <a:ext cx="93254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CrashLoopBackOff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--previous for the last failed container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Check command, args, env and exit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Rounded Rectangle 4"/>
          <p:cNvSpPr/>
          <p:nvPr/>
        </p:nvSpPr>
        <p:spPr>
          <a:xfrm>
            <a:off x="6629400" y="5623920"/>
            <a:ext cx="4387680" cy="547200"/>
          </a:xfrm>
          <a:prstGeom prst="roundRect">
            <a:avLst>
              <a:gd name="adj" fmla="val 16667"/>
            </a:avLst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8" name=""/>
          <p:cNvSpPr/>
          <p:nvPr/>
        </p:nvSpPr>
        <p:spPr>
          <a:xfrm>
            <a:off x="7086600" y="5715000"/>
            <a:ext cx="3391920" cy="38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Key command: logs --previous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Rectangle 6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0" name="Rectangle 7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1" name="TextBox 14"/>
          <p:cNvSpPr/>
          <p:nvPr/>
        </p:nvSpPr>
        <p:spPr>
          <a:xfrm>
            <a:off x="571320" y="342720"/>
            <a:ext cx="8222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CrashLoopBackOff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TextBox 15"/>
          <p:cNvSpPr/>
          <p:nvPr/>
        </p:nvSpPr>
        <p:spPr>
          <a:xfrm>
            <a:off x="594000" y="876240"/>
            <a:ext cx="41364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the normal Deployment template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Rounded Rectangle 6"/>
          <p:cNvSpPr/>
          <p:nvPr/>
        </p:nvSpPr>
        <p:spPr>
          <a:xfrm>
            <a:off x="685800" y="1600200"/>
            <a:ext cx="10666800" cy="25135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Box 16"/>
          <p:cNvSpPr/>
          <p:nvPr/>
        </p:nvSpPr>
        <p:spPr>
          <a:xfrm>
            <a:off x="914400" y="18284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modules/module-05-fast-failure-diagnosis/02-crashloopbackoff.yaml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logs deployment/flask-app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Box 17"/>
          <p:cNvSpPr/>
          <p:nvPr/>
        </p:nvSpPr>
        <p:spPr>
          <a:xfrm>
            <a:off x="838440" y="4343400"/>
            <a:ext cx="899028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faulty manifest overrides command/args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base Deployment restores the real app startup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Verify the rollout, then move 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but not Ready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Running is not the same as receiving traffic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Readiness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process is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asked the app if it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app said no or did not respond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endpoints exclude the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Traffic should not be routed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readiness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port or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Dependency unavailable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DB credentials wrong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 takes longer to start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3: Readiness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 runs, Service has no ready endpoint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Shape 4"/>
          <p:cNvSpPr/>
          <p:nvPr/>
        </p:nvSpPr>
        <p:spPr>
          <a:xfrm>
            <a:off x="685800" y="1417320"/>
            <a:ext cx="10877040" cy="2696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modules/module-05-fast-failure-diagnosis/03-readiness-failure.yaml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Box 4"/>
          <p:cNvSpPr/>
          <p:nvPr/>
        </p:nvSpPr>
        <p:spPr>
          <a:xfrm>
            <a:off x="731880" y="4343400"/>
            <a:ext cx="95540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Running, but 0/1 Ready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Readiness probe uses the wrong path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Service endpoints exclude unready Pods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Rounded Rectangle 5"/>
          <p:cNvSpPr/>
          <p:nvPr/>
        </p:nvSpPr>
        <p:spPr>
          <a:xfrm>
            <a:off x="7909920" y="5715000"/>
            <a:ext cx="329040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2" name="TextBox 18"/>
          <p:cNvSpPr/>
          <p:nvPr/>
        </p:nvSpPr>
        <p:spPr>
          <a:xfrm>
            <a:off x="8461080" y="5822280"/>
            <a:ext cx="2114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Running ≠= Ready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Rectangle 8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4" name="Rectangle 9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Box 19"/>
          <p:cNvSpPr/>
          <p:nvPr/>
        </p:nvSpPr>
        <p:spPr>
          <a:xfrm>
            <a:off x="571320" y="342720"/>
            <a:ext cx="7934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Readiness failure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Box 20"/>
          <p:cNvSpPr/>
          <p:nvPr/>
        </p:nvSpPr>
        <p:spPr>
          <a:xfrm>
            <a:off x="594360" y="876240"/>
            <a:ext cx="4766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readiness probe from the base manifest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Rounded Rectangle 7"/>
          <p:cNvSpPr/>
          <p:nvPr/>
        </p:nvSpPr>
        <p:spPr>
          <a:xfrm>
            <a:off x="762120" y="1828800"/>
            <a:ext cx="10666800" cy="25135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8" name="TextBox 21"/>
          <p:cNvSpPr/>
          <p:nvPr/>
        </p:nvSpPr>
        <p:spPr>
          <a:xfrm>
            <a:off x="914400" y="20570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modules/module-05-fast-failure-diagnosis/03-readiness-failure.yaml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get endpoints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Box 22"/>
          <p:cNvSpPr/>
          <p:nvPr/>
        </p:nvSpPr>
        <p:spPr>
          <a:xfrm>
            <a:off x="914400" y="4593600"/>
            <a:ext cx="91429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app was running, but excluded from traffic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Fix readiness before testing Service routing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endpoints as a quick Service readiness check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2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6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PostgreSQL and database migrations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Adding PostgreSQL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the app more realistic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objects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Operational questions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Headless or normal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for credentials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via 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depends on DB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Where is data stored?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When is DB ready?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do we migrate schema?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fails if Secret is wrong?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should restart automatically?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Rectangle 12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4" name="Rectangle 13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5" name="TextBox 30"/>
          <p:cNvSpPr/>
          <p:nvPr/>
        </p:nvSpPr>
        <p:spPr>
          <a:xfrm>
            <a:off x="571320" y="342720"/>
            <a:ext cx="3243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3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rules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Box 31"/>
          <p:cNvSpPr/>
          <p:nvPr/>
        </p:nvSpPr>
        <p:spPr>
          <a:xfrm>
            <a:off x="594000" y="876240"/>
            <a:ext cx="3749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Keep the flow short and deterministic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Box 32"/>
          <p:cNvSpPr/>
          <p:nvPr/>
        </p:nvSpPr>
        <p:spPr>
          <a:xfrm>
            <a:off x="761760" y="1447560"/>
            <a:ext cx="7690320" cy="18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Never delete PostgreSQL during this module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Delete a Job before re-running the same Job name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k8s/base/ to restore the normal app configuration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repair Job to clean the controlled broken SQL state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Rounded Rectangle 10"/>
          <p:cNvSpPr/>
          <p:nvPr/>
        </p:nvSpPr>
        <p:spPr>
          <a:xfrm>
            <a:off x="6782040" y="3475080"/>
            <a:ext cx="4875480" cy="201024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Box 33"/>
          <p:cNvSpPr/>
          <p:nvPr/>
        </p:nvSpPr>
        <p:spPr>
          <a:xfrm>
            <a:off x="7356600" y="3475080"/>
            <a:ext cx="3387600" cy="18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Cleanup after the module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delete job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db-migration-broken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db-migration-repair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-n k8s-workshop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--ignore-not-found=true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Rounded Rectangle 13"/>
          <p:cNvSpPr/>
          <p:nvPr/>
        </p:nvSpPr>
        <p:spPr>
          <a:xfrm>
            <a:off x="2171160" y="5715000"/>
            <a:ext cx="7314120" cy="49392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1" name="TextBox 34"/>
          <p:cNvSpPr/>
          <p:nvPr/>
        </p:nvSpPr>
        <p:spPr>
          <a:xfrm>
            <a:off x="2362320" y="5808600"/>
            <a:ext cx="67816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Migrations should be atomic, idempotent, and observable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 PostgreSQL and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DB becomes part of the application lifecycle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THIS IS ALREADY DONE !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 vs initContainer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the right mechanism for the risk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Migration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initContainer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once per release step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Easy to inspect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fail before app rollout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Avoids N replicas running migration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teaching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before each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local setup/waiting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duplicate migration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Tightly coupled with Pod startup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but risky for schema changes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4: DB connection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Wrong Secret or wrong Service DNS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db-migration-broken db-migration-repair -n 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modules/module-06-postgresql-and-database-migrations/01-wrong-database-secret.yaml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k8s/base/06-app-deployment,yaml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db-migration-broken db-migration-repair -n 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modules/module-06-postgresql-and-database-migrations/02-broken-migration-job.yaml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jobs,pods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job 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with a valid migration or fixed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Box 29"/>
          <p:cNvSpPr/>
          <p:nvPr/>
        </p:nvSpPr>
        <p:spPr>
          <a:xfrm>
            <a:off x="6657480" y="2820240"/>
            <a:ext cx="4772520" cy="175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Image: migration:broken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Isolated schema: workshop_training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Job Failed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 idea: partial DB state can remain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Shape 231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282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 283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</a:t>
            </a: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 – cleanup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 284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3" name="Shape 232"/>
          <p:cNvSpPr/>
          <p:nvPr/>
        </p:nvSpPr>
        <p:spPr>
          <a:xfrm>
            <a:off x="685800" y="1371600"/>
            <a:ext cx="10877040" cy="47962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285"/>
          <p:cNvSpPr/>
          <p:nvPr/>
        </p:nvSpPr>
        <p:spPr>
          <a:xfrm>
            <a:off x="850320" y="1563480"/>
            <a:ext cx="10557000" cy="46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db-migration-repair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modules/module-06-postgresql-and-database-migrations/03-repair-migration-job.yaml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wait --for=condition=complete job/db-migration-repair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logs job/db-migration-repair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exec statefulset/postgres --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psql -U workshop -d workshop -c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"SELECT table_schema, table_name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 FROM information_schema.tables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 WHERE table_schema = 'workshop_training';"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7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Volumes and persistence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 types in this workshop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we can and cannot demonstrate on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4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Access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Survives Pod recreation?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Pod-local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3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file log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4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configuration as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Credential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24"/>
          <p:cNvSpPr/>
          <p:nvPr/>
        </p:nvSpPr>
        <p:spPr>
          <a:xfrm>
            <a:off x="685800" y="344736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5" name="Text 25"/>
          <p:cNvSpPr/>
          <p:nvPr/>
        </p:nvSpPr>
        <p:spPr>
          <a:xfrm>
            <a:off x="758880" y="35935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26"/>
          <p:cNvSpPr/>
          <p:nvPr/>
        </p:nvSpPr>
        <p:spPr>
          <a:xfrm>
            <a:off x="286200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node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27"/>
          <p:cNvSpPr/>
          <p:nvPr/>
        </p:nvSpPr>
        <p:spPr>
          <a:xfrm>
            <a:off x="523944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28"/>
          <p:cNvSpPr/>
          <p:nvPr/>
        </p:nvSpPr>
        <p:spPr>
          <a:xfrm>
            <a:off x="7616880" y="35935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app log and PostgreSQL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9" name="Shape 29"/>
          <p:cNvSpPr/>
          <p:nvPr/>
        </p:nvSpPr>
        <p:spPr>
          <a:xfrm>
            <a:off x="685800" y="397764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30"/>
          <p:cNvSpPr/>
          <p:nvPr/>
        </p:nvSpPr>
        <p:spPr>
          <a:xfrm>
            <a:off x="758880" y="412380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RWX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31"/>
          <p:cNvSpPr/>
          <p:nvPr/>
        </p:nvSpPr>
        <p:spPr>
          <a:xfrm>
            <a:off x="286200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Many writers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32"/>
          <p:cNvSpPr/>
          <p:nvPr/>
        </p:nvSpPr>
        <p:spPr>
          <a:xfrm>
            <a:off x="523944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Text 33"/>
          <p:cNvSpPr/>
          <p:nvPr/>
        </p:nvSpPr>
        <p:spPr>
          <a:xfrm>
            <a:off x="7616880" y="412380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Slides only: NFS/CephFS/EFS/Azure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4" name="Shape 34"/>
          <p:cNvSpPr/>
          <p:nvPr/>
        </p:nvSpPr>
        <p:spPr>
          <a:xfrm>
            <a:off x="685800" y="450792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35"/>
          <p:cNvSpPr/>
          <p:nvPr/>
        </p:nvSpPr>
        <p:spPr>
          <a:xfrm>
            <a:off x="758880" y="46544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36"/>
          <p:cNvSpPr/>
          <p:nvPr/>
        </p:nvSpPr>
        <p:spPr>
          <a:xfrm>
            <a:off x="286200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Pod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37"/>
          <p:cNvSpPr/>
          <p:nvPr/>
        </p:nvSpPr>
        <p:spPr>
          <a:xfrm>
            <a:off x="523944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38"/>
          <p:cNvSpPr/>
          <p:nvPr/>
        </p:nvSpPr>
        <p:spPr>
          <a:xfrm>
            <a:off x="7616880" y="46544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Conceptual comparison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Good for temporary data, not persistence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Not 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Scratch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caches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Sidecar sharing inside a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Training log disappearance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storage provisioning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Databases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 that must survive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Cross-Pod sharing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failure protection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Shared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volume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did my file go?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5"/>
          <p:cNvSpPr/>
          <p:nvPr/>
        </p:nvSpPr>
        <p:spPr>
          <a:xfrm>
            <a:off x="814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Create a Pod with emptyDir storage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k8s/storage/01-emptydir-app.yaml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Observe files being written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Delete the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flask-app-emptydir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Recreate the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k8s/storage/01-emptydir-app.yaml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Inspect the directory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ls -la /data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with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Persistent volume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RWO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Single-node caveat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9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ReadWriteOnce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read-write by a single node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 K3s local-path creates local PVs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single-node persistence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the same as shared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Two Pods on the same node may appear to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Multi-attach errors need multi-node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overclaim what the lab proves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Teach semantics on slides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StatefulSet for DB pattern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File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5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k8s/storage/02-pvc-rwo.yaml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deployment/flask-app-pvc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deployment/flask-app-pvc 8082:8080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-l app=flask-app-pvc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deployment/flask-app-pvc –timeout=120s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deployment/flask-app-pvc 8082:8080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pvc,pv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Rounded Rectangle 18"/>
          <p:cNvSpPr/>
          <p:nvPr/>
        </p:nvSpPr>
        <p:spPr>
          <a:xfrm>
            <a:off x="7749720" y="2563200"/>
            <a:ext cx="365760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8001000" y="2681640"/>
            <a:ext cx="320040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curl http://localhost:8082/file-log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Rounded Rectangle 19"/>
          <p:cNvSpPr/>
          <p:nvPr/>
        </p:nvSpPr>
        <p:spPr>
          <a:xfrm>
            <a:off x="7749720" y="4800600"/>
            <a:ext cx="365760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8001000" y="4890600"/>
            <a:ext cx="320040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curl http://localhost:8082/file-log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lifecycle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Follow the data, not only the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5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0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recreation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3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4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PVC remains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 backend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Reclaim policy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Configuration can also be mounted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ConfigMap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Secret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Plain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as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update files eventually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for sensitive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application properties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Sensitive values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read-only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Base64 in API object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needs RBAC discipline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often needed for env vars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 lab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 configuration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k8s/storage/03-configmap-secret-volumes.yaml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 volume-reader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-la 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-la /secret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/config/application.properties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/secret/password.txt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overview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Discuss it, do not force it in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RWX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Examples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ReadWriteMany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Multiple writers/readers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backend support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for shared content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every StorageClass supports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CephFS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Amazon EFS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Azure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NetApp / enterprise NAS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 storage pattern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Databases need stable identity and storage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StatefulSet gives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Teaching 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0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Pod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Ordered rollout by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network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One PVC per replica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1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HA PostgreSQL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storage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remains after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Deleting StatefulSet does not automatically delete PVCs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what owns the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4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Distroless and no-shell troubleshooting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no shell?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Minimal images improve security but change troubleshooting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1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Benefits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Trade-offs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runtime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vulnerable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Less accidental tooling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Closer to immutable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production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exec -- sh fails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curl, ps, nslookup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and probes become critical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good application telemetry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7: Distroless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challenges/challenge-07-distroless/broken.yaml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-it distroless-demo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Better pattern: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debug -it pod/distroless-demo --image=busybox:1.36 --target=app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Debugging without shell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cluster signals before interactive access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5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9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Describe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0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3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5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Probes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8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Metrics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9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0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 container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 safer operational escape hatch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when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Remember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 image has 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network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process namespace insight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quick triage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want to rebuild app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a replacement for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May need RBAC permission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Does not change app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uses same Pod network namespace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carefully in production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9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Requests, limits and runtime behavior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4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vs actual usage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This is the source of many misunderstandings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Actual usage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1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by scheduler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Reserve scheduling 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mean process is using it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Help cluster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2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the process consumes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lower than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higher than request if allowed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Drives performance and cost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4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Runtime guardrails are different from scheduling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7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CPU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8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Memory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9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CPU is throttled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becomes slower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Usually not 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create latency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 careful with tight CPU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cannot be throttled the same way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Exceeding limit can kill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Seen as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can cause 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Needs app-level understanding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 classes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How Kubernetes classifies Pods from resources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Condition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Operational meaning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9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Example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Guaranteed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== limits for all containers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Highest eviction priority protection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4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Critical stable workload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Burstable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some requests or limits set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8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default for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9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Most workshop app Pods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BestEffort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requests or limits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3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to be evicted under pressure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4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 for important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9: OOMKilled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Memory limit becomes visible at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challenges/challenge-09-oomkilled/broken.yaml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oom-demo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oom-demo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Or use app endpoint with a low memory limit: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http://localhost:8080/stress/memory?mib=256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explain VM comparison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 infra teams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VM workload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guide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 control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Actual usage can be much 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may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can be restarted/rescheduled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Flavor/guest memory shapes scheduling/capacity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pressure behaves differently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Platform may overcommit 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Quota/capacity can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Treat as heavier scheduling unit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ResourceQuota and LimitRange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3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Namespace-level capacity control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8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it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9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What it teaches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Aggregate requests and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count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count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Object counts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Admission decisions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new Pods may not appear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idle-looking clusters can reject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requests are part of capacity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teams share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Dev/platform contract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Defaults and guardrails for a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Can provide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it matters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Minimum allowed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Maximum allowed limit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size constraints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Prevents BestEffort by accident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Gives predictable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Protects neighbors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surprise developers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Must be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ResourceQuota and 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after the app basics are understood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4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k8s/resources/01-limitrange.yaml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k8s/resources/02-resourcequota.yaml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limitrange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8: Quota exceeded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Pods can fail before the app has a chance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0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challenges/challenge-08-quota/broken.yaml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&lt;pending-pod&gt;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message for participants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confuse booked, allowed and used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Booked / requested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Used / runtime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for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block new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Represents expected need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necessarily used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Measured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Changes over 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exceed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Limited by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cause throttling or OOM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3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routing and application availability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is label-based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Service does not know your Deployment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9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selects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failures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1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Only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targetPort on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DNS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Virtual IP inside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Network/proxy confusion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4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5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10: Wrong Service selector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 runs, but no traffic reaches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--show-labels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svc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selector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 path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to look when traffic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4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Client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5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6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7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Service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8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9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0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Selector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1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2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3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EndpointSlice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4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5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6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IP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7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port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0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1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4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5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 playbook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Decision tree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this as the final participant cheat sheet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Question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 means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Next step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created?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Controller/admission issue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deploy/rs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Pending?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Cannot schedule/start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capacity, PVC,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pulled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tag, registry,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Shape 24"/>
          <p:cNvSpPr/>
          <p:nvPr/>
        </p:nvSpPr>
        <p:spPr>
          <a:xfrm>
            <a:off x="685800" y="344736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Text 25"/>
          <p:cNvSpPr/>
          <p:nvPr/>
        </p:nvSpPr>
        <p:spPr>
          <a:xfrm>
            <a:off x="758880" y="35935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4" name="Text 26"/>
          <p:cNvSpPr/>
          <p:nvPr/>
        </p:nvSpPr>
        <p:spPr>
          <a:xfrm>
            <a:off x="286200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Process exits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27"/>
          <p:cNvSpPr/>
          <p:nvPr/>
        </p:nvSpPr>
        <p:spPr>
          <a:xfrm>
            <a:off x="523944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Text 28"/>
          <p:cNvSpPr/>
          <p:nvPr/>
        </p:nvSpPr>
        <p:spPr>
          <a:xfrm>
            <a:off x="7616880" y="35935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command, env, app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7" name="Shape 29"/>
          <p:cNvSpPr/>
          <p:nvPr/>
        </p:nvSpPr>
        <p:spPr>
          <a:xfrm>
            <a:off x="685800" y="397764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 30"/>
          <p:cNvSpPr/>
          <p:nvPr/>
        </p:nvSpPr>
        <p:spPr>
          <a:xfrm>
            <a:off x="758880" y="412380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Text 31"/>
          <p:cNvSpPr/>
          <p:nvPr/>
        </p:nvSpPr>
        <p:spPr>
          <a:xfrm>
            <a:off x="286200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 failed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0" name="Text 32"/>
          <p:cNvSpPr/>
          <p:nvPr/>
        </p:nvSpPr>
        <p:spPr>
          <a:xfrm>
            <a:off x="523944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33"/>
          <p:cNvSpPr/>
          <p:nvPr/>
        </p:nvSpPr>
        <p:spPr>
          <a:xfrm>
            <a:off x="7616880" y="412380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probe/dependency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Shape 34"/>
          <p:cNvSpPr/>
          <p:nvPr/>
        </p:nvSpPr>
        <p:spPr>
          <a:xfrm>
            <a:off x="685800" y="450792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Text 35"/>
          <p:cNvSpPr/>
          <p:nvPr/>
        </p:nvSpPr>
        <p:spPr>
          <a:xfrm>
            <a:off x="758880" y="46544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36"/>
          <p:cNvSpPr/>
          <p:nvPr/>
        </p:nvSpPr>
        <p:spPr>
          <a:xfrm>
            <a:off x="286200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hit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Text 37"/>
          <p:cNvSpPr/>
          <p:nvPr/>
        </p:nvSpPr>
        <p:spPr>
          <a:xfrm>
            <a:off x="523944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Text 38"/>
          <p:cNvSpPr/>
          <p:nvPr/>
        </p:nvSpPr>
        <p:spPr>
          <a:xfrm>
            <a:off x="7616880" y="46544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limits/usage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Shape 39"/>
          <p:cNvSpPr/>
          <p:nvPr/>
        </p:nvSpPr>
        <p:spPr>
          <a:xfrm>
            <a:off x="685800" y="503820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8" name="Text 40"/>
          <p:cNvSpPr/>
          <p:nvPr/>
        </p:nvSpPr>
        <p:spPr>
          <a:xfrm>
            <a:off x="758880" y="51847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9" name="Text 41"/>
          <p:cNvSpPr/>
          <p:nvPr/>
        </p:nvSpPr>
        <p:spPr>
          <a:xfrm>
            <a:off x="2862000" y="51847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cannot route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42"/>
          <p:cNvSpPr/>
          <p:nvPr/>
        </p:nvSpPr>
        <p:spPr>
          <a:xfrm>
            <a:off x="5239440" y="51847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1" name="Text 43"/>
          <p:cNvSpPr/>
          <p:nvPr/>
        </p:nvSpPr>
        <p:spPr>
          <a:xfrm>
            <a:off x="7616880" y="51847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selector/readiness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Core command set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participants should leave with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deploy,rs,pod,svc,endpoints,pvc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rollout status deploy/&lt;name&gt;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debug -it pod/&lt;pod&gt; --image=busybox:1.36 --target=&lt;container&gt;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run combined cases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Final exercise format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Instructor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Participant output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one broken manifest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reveal the failure mode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team to classify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first three commands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root cause and fix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Evidence from events/logs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Root cause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Fix command or YAML change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Preventive practice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Final 2-hour agenda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0" name="Shape 4"/>
          <p:cNvSpPr/>
          <p:nvPr/>
        </p:nvSpPr>
        <p:spPr>
          <a:xfrm>
            <a:off x="731520" y="132588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Text 5"/>
          <p:cNvSpPr/>
          <p:nvPr/>
        </p:nvSpPr>
        <p:spPr>
          <a:xfrm>
            <a:off x="804600" y="147204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2" name="Text 6"/>
          <p:cNvSpPr/>
          <p:nvPr/>
        </p:nvSpPr>
        <p:spPr>
          <a:xfrm>
            <a:off x="2011680" y="139896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End-to-end 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Text 7"/>
          <p:cNvSpPr/>
          <p:nvPr/>
        </p:nvSpPr>
        <p:spPr>
          <a:xfrm>
            <a:off x="5806440" y="141732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Build -&gt; Deploy -&gt; DB -&gt; Migrate -&gt; Persist -&gt; Limit.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4" name="Shape 8"/>
          <p:cNvSpPr/>
          <p:nvPr/>
        </p:nvSpPr>
        <p:spPr>
          <a:xfrm>
            <a:off x="731520" y="193860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Text 9"/>
          <p:cNvSpPr/>
          <p:nvPr/>
        </p:nvSpPr>
        <p:spPr>
          <a:xfrm>
            <a:off x="804600" y="208476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Text 10"/>
          <p:cNvSpPr/>
          <p:nvPr/>
        </p:nvSpPr>
        <p:spPr>
          <a:xfrm>
            <a:off x="2011680" y="201168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decision tree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Text 11"/>
          <p:cNvSpPr/>
          <p:nvPr/>
        </p:nvSpPr>
        <p:spPr>
          <a:xfrm>
            <a:off x="5806440" y="203004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Classify states and map each to first commands.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8" name="Shape 12"/>
          <p:cNvSpPr/>
          <p:nvPr/>
        </p:nvSpPr>
        <p:spPr>
          <a:xfrm>
            <a:off x="731520" y="255132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Text 13"/>
          <p:cNvSpPr/>
          <p:nvPr/>
        </p:nvSpPr>
        <p:spPr>
          <a:xfrm>
            <a:off x="804600" y="269748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Text 14"/>
          <p:cNvSpPr/>
          <p:nvPr/>
        </p:nvSpPr>
        <p:spPr>
          <a:xfrm>
            <a:off x="2011680" y="262440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Combined scenarios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 15"/>
          <p:cNvSpPr/>
          <p:nvPr/>
        </p:nvSpPr>
        <p:spPr>
          <a:xfrm>
            <a:off x="5806440" y="264276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 diagnose three broken manifests.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Shape 16"/>
          <p:cNvSpPr/>
          <p:nvPr/>
        </p:nvSpPr>
        <p:spPr>
          <a:xfrm>
            <a:off x="731520" y="316368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Text 17"/>
          <p:cNvSpPr/>
          <p:nvPr/>
        </p:nvSpPr>
        <p:spPr>
          <a:xfrm>
            <a:off x="804600" y="331020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4" name="Text 18"/>
          <p:cNvSpPr/>
          <p:nvPr/>
        </p:nvSpPr>
        <p:spPr>
          <a:xfrm>
            <a:off x="2011680" y="323712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19"/>
          <p:cNvSpPr/>
          <p:nvPr/>
        </p:nvSpPr>
        <p:spPr>
          <a:xfrm>
            <a:off x="5806440" y="325512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Who defines what and what should be standardized.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responsibilities explicit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expectations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Configuration keys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strategy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Meaningful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requests/limits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namespace policy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StorageClass options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 and proxy access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permissions and guardrails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 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to take back to real 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to stdout/stderr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reflects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secrets in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plan is explicit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requests are tested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defaults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visible to teams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semantics clear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registry access reliable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access controlled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Closing message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is observable when you ask the right questions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Classify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Inspect 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 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resources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 safely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3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5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Document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454</TotalTime>
  <Application>LibreOffice/26.2.3.2$Linux_X86_64 LibreOffice_project/d4d5ed47b6084125f28d269a5650105d54dde034</Application>
  <AppVersion>15.0000</AppVersion>
  <Words>0</Words>
  <Paragraphs>0</Paragraphs>
  <Company>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2026-06-19T21:54:19Z</dcterms:created>
  <dc:creator>OpenAI</dc:creator>
  <dc:description/>
  <dc:language>en-US</dc:language>
  <cp:lastModifiedBy/>
  <cp:lastPrinted>2026-06-21T22:40:27Z</cp:lastPrinted>
  <dcterms:modified xsi:type="dcterms:W3CDTF">2026-06-22T22:25:22Z</dcterms:modified>
  <cp:revision>70</cp:revision>
  <dc:subject>Hands-on Kubernetes Troubleshooting Workshop</dc:subject>
  <dc:title>Hands-on Kubernetes Troubleshooting for Developers and Infrastructure Teams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81</vt:i4>
  </property>
  <property fmtid="{D5CDD505-2E9C-101B-9397-08002B2CF9AE}" pid="3" name="PresentationFormat">
    <vt:lpwstr>On-screen Show (16:9)</vt:lpwstr>
  </property>
  <property fmtid="{D5CDD505-2E9C-101B-9397-08002B2CF9AE}" pid="4" name="Slides">
    <vt:i4>81</vt:i4>
  </property>
</Properties>
</file>