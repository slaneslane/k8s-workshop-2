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slides/slide102.xml" ContentType="application/vnd.openxmlformats-officedocument.presentationml.slide+xml"/>
  <Override PartName="/ppt/slides/slide55.xml" ContentType="application/vnd.openxmlformats-officedocument.presentationml.slide+xml"/>
  <Override PartName="/ppt/slides/slide101.xml" ContentType="application/vnd.openxmlformats-officedocument.presentationml.slide+xml"/>
  <Override PartName="/ppt/slides/slide54.xml" ContentType="application/vnd.openxmlformats-officedocument.presentationml.slide+xml"/>
  <Override PartName="/ppt/slides/slide100.xml" ContentType="application/vnd.openxmlformats-officedocument.presentationml.slide+xml"/>
  <Override PartName="/ppt/slides/slide53.xml" ContentType="application/vnd.openxmlformats-officedocument.presentationml.slide+xml"/>
  <Override PartName="/ppt/slides/slide45.xml" ContentType="application/vnd.openxmlformats-officedocument.presentationml.slide+xml"/>
  <Override PartName="/ppt/slides/slide44.xml" ContentType="application/vnd.openxmlformats-officedocument.presentationml.slide+xml"/>
  <Override PartName="/ppt/slides/slide42.xml" ContentType="application/vnd.openxmlformats-officedocument.presentationml.slide+xml"/>
  <Override PartName="/ppt/slides/slide40.xml" ContentType="application/vnd.openxmlformats-officedocument.presentationml.slide+xml"/>
  <Override PartName="/ppt/slides/slide38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9.xml" ContentType="application/vnd.openxmlformats-officedocument.presentationml.slide+xml"/>
  <Override PartName="/ppt/slides/slide32.xml" ContentType="application/vnd.openxmlformats-officedocument.presentationml.slide+xml"/>
  <Override PartName="/ppt/slides/slide31.xml" ContentType="application/vnd.openxmlformats-officedocument.presentationml.slide+xml"/>
  <Override PartName="/ppt/slides/slide52.xml" ContentType="application/vnd.openxmlformats-officedocument.presentationml.slide+xml"/>
  <Override PartName="/ppt/slides/slide30.xml" ContentType="application/vnd.openxmlformats-officedocument.presentationml.slide+xml"/>
  <Override PartName="/ppt/slides/slide59.xml" ContentType="application/vnd.openxmlformats-officedocument.presentationml.slide+xml"/>
  <Override PartName="/ppt/slides/slide13.xml" ContentType="application/vnd.openxmlformats-officedocument.presentationml.slide+xml"/>
  <Override PartName="/ppt/slides/slide5.xml" ContentType="application/vnd.openxmlformats-officedocument.presentationml.slide+xml"/>
  <Override PartName="/ppt/slides/slide25.xml" ContentType="application/vnd.openxmlformats-officedocument.presentationml.slide+xml"/>
  <Override PartName="/ppt/slides/slide104.xml" ContentType="application/vnd.openxmlformats-officedocument.presentationml.slide+xml"/>
  <Override PartName="/ppt/slides/slide12.xml" ContentType="application/vnd.openxmlformats-officedocument.presentationml.slide+xml"/>
  <Override PartName="/ppt/slides/slide43.xml" ContentType="application/vnd.openxmlformats-officedocument.presentationml.slide+xml"/>
  <Override PartName="/ppt/slides/slide94.xml" ContentType="application/vnd.openxmlformats-officedocument.presentationml.slide+xml"/>
  <Override PartName="/ppt/slides/slide62.xml" ContentType="application/vnd.openxmlformats-officedocument.presentationml.slide+xml"/>
  <Override PartName="/ppt/slides/slide48.xml" ContentType="application/vnd.openxmlformats-officedocument.presentationml.slide+xml"/>
  <Override PartName="/ppt/slides/slide99.xml" ContentType="application/vnd.openxmlformats-officedocument.presentationml.slide+xml"/>
  <Override PartName="/ppt/slides/slide93.xml" ContentType="application/vnd.openxmlformats-officedocument.presentationml.slide+xml"/>
  <Override PartName="/ppt/slides/slide63.xml" ContentType="application/vnd.openxmlformats-officedocument.presentationml.slide+xml"/>
  <Override PartName="/ppt/slides/slide67.xml" ContentType="application/vnd.openxmlformats-officedocument.presentationml.slide+xml"/>
  <Override PartName="/ppt/slides/slide92.xml" ContentType="application/vnd.openxmlformats-officedocument.presentationml.slide+xml"/>
  <Override PartName="/ppt/slides/slide37.xml" ContentType="application/vnd.openxmlformats-officedocument.presentationml.slide+xml"/>
  <Override PartName="/ppt/slides/slide69.xml" ContentType="application/vnd.openxmlformats-officedocument.presentationml.slide+xml"/>
  <Override PartName="/ppt/slides/slide49.xml" ContentType="application/vnd.openxmlformats-officedocument.presentationml.slide+xml"/>
  <Override PartName="/ppt/slides/slide75.xml" ContentType="application/vnd.openxmlformats-officedocument.presentationml.slide+xml"/>
  <Override PartName="/ppt/slides/slide85.xml" ContentType="application/vnd.openxmlformats-officedocument.presentationml.slide+xml"/>
  <Override PartName="/ppt/slides/slide72.xml" ContentType="application/vnd.openxmlformats-officedocument.presentationml.slide+xml"/>
  <Override PartName="/ppt/slides/slide95.xml" ContentType="application/vnd.openxmlformats-officedocument.presentationml.slide+xml"/>
  <Override PartName="/ppt/slides/slide84.xml" ContentType="application/vnd.openxmlformats-officedocument.presentationml.slide+xml"/>
  <Override PartName="/ppt/slides/slide8.xml" ContentType="application/vnd.openxmlformats-officedocument.presentationml.slide+xml"/>
  <Override PartName="/ppt/slides/slide89.xml" ContentType="application/vnd.openxmlformats-officedocument.presentationml.slide+xml"/>
  <Override PartName="/ppt/slides/slide60.xml" ContentType="application/vnd.openxmlformats-officedocument.presentationml.slide+xml"/>
  <Override PartName="/ppt/slides/slide77.xml" ContentType="application/vnd.openxmlformats-officedocument.presentationml.slide+xml"/>
  <Override PartName="/ppt/slides/slide88.xml" ContentType="application/vnd.openxmlformats-officedocument.presentationml.slide+xml"/>
  <Override PartName="/ppt/slides/slide87.xml" ContentType="application/vnd.openxmlformats-officedocument.presentationml.slide+xml"/>
  <Override PartName="/ppt/slides/slide29.xml" ContentType="application/vnd.openxmlformats-officedocument.presentationml.slide+xml"/>
  <Override PartName="/ppt/slides/slide41.xml" ContentType="application/vnd.openxmlformats-officedocument.presentationml.slide+xml"/>
  <Override PartName="/ppt/slides/slide23.xml" ContentType="application/vnd.openxmlformats-officedocument.presentationml.slide+xml"/>
  <Override PartName="/ppt/slides/slide98.xml" ContentType="application/vnd.openxmlformats-officedocument.presentationml.slide+xml"/>
  <Override PartName="/ppt/slides/slide78.xml" ContentType="application/vnd.openxmlformats-officedocument.presentationml.slide+xml"/>
  <Override PartName="/ppt/slides/slide51.xml" ContentType="application/vnd.openxmlformats-officedocument.presentationml.slide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6.xml" ContentType="application/vnd.openxmlformats-officedocument.presentationml.slide+xml"/>
  <Override PartName="/ppt/slides/slide66.xml" ContentType="application/vnd.openxmlformats-officedocument.presentationml.slide+xml"/>
  <Override PartName="/ppt/slides/slide2.xml" ContentType="application/vnd.openxmlformats-officedocument.presentationml.slide+xml"/>
  <Override PartName="/ppt/slides/slide71.xml" ContentType="application/vnd.openxmlformats-officedocument.presentationml.slide+xml"/>
  <Override PartName="/ppt/slides/slide86.xml" ContentType="application/vnd.openxmlformats-officedocument.presentationml.slide+xml"/>
  <Override PartName="/ppt/slides/slide76.xml" ContentType="application/vnd.openxmlformats-officedocument.presentationml.slide+xml"/>
  <Override PartName="/ppt/slides/slide21.xml" ContentType="application/vnd.openxmlformats-officedocument.presentationml.slide+xml"/>
  <Override PartName="/ppt/slides/slide68.xml" ContentType="application/vnd.openxmlformats-officedocument.presentationml.slide+xml"/>
  <Override PartName="/ppt/slides/slide97.xml" ContentType="application/vnd.openxmlformats-officedocument.presentationml.slide+xml"/>
  <Override PartName="/ppt/slides/slide65.xml" ContentType="application/vnd.openxmlformats-officedocument.presentationml.slide+xml"/>
  <Override PartName="/ppt/slides/slide58.xml" ContentType="application/vnd.openxmlformats-officedocument.presentationml.slide+xml"/>
  <Override PartName="/ppt/slides/slide15.xml" ContentType="application/vnd.openxmlformats-officedocument.presentationml.slide+xml"/>
  <Override PartName="/ppt/slides/slide22.xml" ContentType="application/vnd.openxmlformats-officedocument.presentationml.slide+xml"/>
  <Override PartName="/ppt/slides/slide74.xml" ContentType="application/vnd.openxmlformats-officedocument.presentationml.slide+xml"/>
  <Override PartName="/ppt/slides/slide70.xml" ContentType="application/vnd.openxmlformats-officedocument.presentationml.slide+xml"/>
  <Override PartName="/ppt/slides/slide28.xml" ContentType="application/vnd.openxmlformats-officedocument.presentationml.slide+xml"/>
  <Override PartName="/ppt/slides/slide35.xml" ContentType="application/vnd.openxmlformats-officedocument.presentationml.slide+xml"/>
  <Override PartName="/ppt/slides/slide64.xml" ContentType="application/vnd.openxmlformats-officedocument.presentationml.slide+xml"/>
  <Override PartName="/ppt/slides/slide80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19.xml" ContentType="application/vnd.openxmlformats-officedocument.presentationml.slide+xml"/>
  <Override PartName="/ppt/slides/slide26.xml" ContentType="application/vnd.openxmlformats-officedocument.presentationml.slide+xml"/>
  <Override PartName="/ppt/slides/slide73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79.xml" ContentType="application/vnd.openxmlformats-officedocument.presentationml.slide+xml"/>
  <Override PartName="/ppt/slides/slide61.xml" ContentType="application/vnd.openxmlformats-officedocument.presentationml.slide+xml"/>
  <Override PartName="/ppt/slides/slide96.xml" ContentType="application/vnd.openxmlformats-officedocument.presentationml.slide+xml"/>
  <Override PartName="/ppt/slides/slide1.xml" ContentType="application/vnd.openxmlformats-officedocument.presentationml.slide+xml"/>
  <Override PartName="/ppt/slides/slide91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47.xml" ContentType="application/vnd.openxmlformats-officedocument.presentationml.slide+xml"/>
  <Override PartName="/ppt/slides/slide16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34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90.xml" ContentType="application/vnd.openxmlformats-officedocument.presentationml.slide+xml"/>
  <Override PartName="/ppt/slides/slide11.xml" ContentType="application/vnd.openxmlformats-officedocument.presentationml.slide+xml"/>
  <Override PartName="/ppt/slides/slide83.xml" ContentType="application/vnd.openxmlformats-officedocument.presentationml.slide+xml"/>
  <Override PartName="/ppt/slides/slide20.xml" ContentType="application/vnd.openxmlformats-officedocument.presentationml.slide+xml"/>
  <Override PartName="/ppt/slides/slide56.xml" ContentType="application/vnd.openxmlformats-officedocument.presentationml.slide+xml"/>
  <Override PartName="/ppt/slides/slide50.xml" ContentType="application/vnd.openxmlformats-officedocument.presentationml.slide+xml"/>
  <Override PartName="/ppt/slides/slide24.xml" ContentType="application/vnd.openxmlformats-officedocument.presentationml.slide+xml"/>
  <Override PartName="/ppt/slides/slide103.xml" ContentType="application/vnd.openxmlformats-officedocument.presentationml.slide+xml"/>
  <Override PartName="/ppt/slides/slide57.xml" ContentType="application/vnd.openxmlformats-officedocument.presentationml.slide+xml"/>
  <Override PartName="/ppt/notesSlides/notesSlide46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83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471DDCA7-1B06-496D-B1F4-B4C14CD985B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_rels/notesSlide51.xml.rels><?xml version="1.0" encoding="UTF-8"?>
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
</Relationships>
</file>

<file path=ppt/notesSlides/_rels/notesSlide52.xml.rels><?xml version="1.0" encoding="UTF-8"?>
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
</Relationships>
</file>

<file path=ppt/notesSlides/_rels/notesSlide53.xml.rels><?xml version="1.0" encoding="UTF-8"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
</Relationships>
</file>

<file path=ppt/notesSlides/_rels/notesSlide54.xml.rels><?xml version="1.0" encoding="UTF-8"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
</Relationships>
</file>

<file path=ppt/notesSlides/_rels/notesSlide55.xml.rels><?xml version="1.0" encoding="UTF-8"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
</Relationships>
</file>

<file path=ppt/notesSlides/_rels/notesSlide56.xml.rels><?xml version="1.0" encoding="UTF-8"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
</Relationships>
</file>

<file path=ppt/notesSlides/_rels/notesSlide57.xml.rels><?xml version="1.0" encoding="UTF-8"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
</Relationships>
</file>

<file path=ppt/notesSlides/_rels/notesSlide58.xml.rels><?xml version="1.0" encoding="UTF-8"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
</Relationships>
</file>

<file path=ppt/notesSlides/_rels/notesSlide59.xml.rels><?xml version="1.0" encoding="UTF-8"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
</Relationships>
</file>

<file path=ppt/notesSlides/_rels/notesSlide60.xml.rels><?xml version="1.0" encoding="UTF-8"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
</Relationships>
</file>

<file path=ppt/notesSlides/_rels/notesSlide61.xml.rels><?xml version="1.0" encoding="UTF-8"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
</Relationships>
</file>

<file path=ppt/notesSlides/_rels/notesSlide62.xml.rels><?xml version="1.0" encoding="UTF-8"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
</Relationships>
</file>

<file path=ppt/notesSlides/_rels/notesSlide63.xml.rels><?xml version="1.0" encoding="UTF-8"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
</Relationships>
</file>

<file path=ppt/notesSlides/_rels/notesSlide64.xml.rels><?xml version="1.0" encoding="UTF-8"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
</Relationships>
</file>

<file path=ppt/notesSlides/_rels/notesSlide65.xml.rels><?xml version="1.0" encoding="UTF-8"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
</Relationships>
</file>

<file path=ppt/notesSlides/_rels/notesSlide66.xml.rels><?xml version="1.0" encoding="UTF-8"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
</Relationships>
</file>

<file path=ppt/notesSlides/_rels/notesSlide67.xml.rels><?xml version="1.0" encoding="UTF-8"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
</Relationships>
</file>

<file path=ppt/notesSlides/_rels/notesSlide68.xml.rels><?xml version="1.0" encoding="UTF-8"?>
<Relationships xmlns="http://schemas.openxmlformats.org/package/2006/relationships"><Relationship Id="rId1" Type="http://schemas.openxmlformats.org/officeDocument/2006/relationships/slide" Target="../slides/slide68.xml"/><Relationship Id="rId2" Type="http://schemas.openxmlformats.org/officeDocument/2006/relationships/notesMaster" Target="../notesMasters/notesMaster1.xml"/>
</Relationships>
</file>

<file path=ppt/notesSlides/_rels/notesSlide69.xml.rels><?xml version="1.0" encoding="UTF-8"?>
<Relationships xmlns="http://schemas.openxmlformats.org/package/2006/relationships"><Relationship Id="rId1" Type="http://schemas.openxmlformats.org/officeDocument/2006/relationships/slide" Target="../slides/slide69.xml"/><Relationship Id="rId2" Type="http://schemas.openxmlformats.org/officeDocument/2006/relationships/notesMaster" Target="../notesMasters/notesMaster1.xml"/>
</Relationships>
</file>

<file path=ppt/notesSlides/_rels/notesSlide70.xml.rels><?xml version="1.0" encoding="UTF-8"?>
<Relationships xmlns="http://schemas.openxmlformats.org/package/2006/relationships"><Relationship Id="rId1" Type="http://schemas.openxmlformats.org/officeDocument/2006/relationships/slide" Target="../slides/slide70.xml"/><Relationship Id="rId2" Type="http://schemas.openxmlformats.org/officeDocument/2006/relationships/notesMaster" Target="../notesMasters/notesMaster1.xml"/>
</Relationships>
</file>

<file path=ppt/notesSlides/_rels/notesSlide71.xml.rels><?xml version="1.0" encoding="UTF-8"?>
<Relationships xmlns="http://schemas.openxmlformats.org/package/2006/relationships"><Relationship Id="rId1" Type="http://schemas.openxmlformats.org/officeDocument/2006/relationships/slide" Target="../slides/slide71.xml"/><Relationship Id="rId2" Type="http://schemas.openxmlformats.org/officeDocument/2006/relationships/notesMaster" Target="../notesMasters/notesMaster1.xml"/>
</Relationships>
</file>

<file path=ppt/notesSlides/_rels/notesSlide72.xml.rels><?xml version="1.0" encoding="UTF-8"?>
<Relationships xmlns="http://schemas.openxmlformats.org/package/2006/relationships"><Relationship Id="rId1" Type="http://schemas.openxmlformats.org/officeDocument/2006/relationships/slide" Target="../slides/slide72.xml"/><Relationship Id="rId2" Type="http://schemas.openxmlformats.org/officeDocument/2006/relationships/notesMaster" Target="../notesMasters/notesMaster1.xml"/>
</Relationships>
</file>

<file path=ppt/notesSlides/_rels/notesSlide73.xml.rels><?xml version="1.0" encoding="UTF-8"?>
<Relationships xmlns="http://schemas.openxmlformats.org/package/2006/relationships"><Relationship Id="rId1" Type="http://schemas.openxmlformats.org/officeDocument/2006/relationships/slide" Target="../slides/slide73.xml"/><Relationship Id="rId2" Type="http://schemas.openxmlformats.org/officeDocument/2006/relationships/notesMaster" Target="../notesMasters/notesMaster1.xml"/>
</Relationships>
</file>

<file path=ppt/notesSlides/_rels/notesSlide74.xml.rels><?xml version="1.0" encoding="UTF-8"?>
<Relationships xmlns="http://schemas.openxmlformats.org/package/2006/relationships"><Relationship Id="rId1" Type="http://schemas.openxmlformats.org/officeDocument/2006/relationships/slide" Target="../slides/slide74.xml"/><Relationship Id="rId2" Type="http://schemas.openxmlformats.org/officeDocument/2006/relationships/notesMaster" Target="../notesMasters/notesMaster1.xml"/>
</Relationships>
</file>

<file path=ppt/notesSlides/_rels/notesSlide75.xml.rels><?xml version="1.0" encoding="UTF-8"?>
<Relationships xmlns="http://schemas.openxmlformats.org/package/2006/relationships"><Relationship Id="rId1" Type="http://schemas.openxmlformats.org/officeDocument/2006/relationships/slide" Target="../slides/slide75.xml"/><Relationship Id="rId2" Type="http://schemas.openxmlformats.org/officeDocument/2006/relationships/notesMaster" Target="../notesMasters/notesMaster1.xml"/>
</Relationships>
</file>

<file path=ppt/notesSlides/_rels/notesSlide76.xml.rels><?xml version="1.0" encoding="UTF-8"?>
<Relationships xmlns="http://schemas.openxmlformats.org/package/2006/relationships"><Relationship Id="rId1" Type="http://schemas.openxmlformats.org/officeDocument/2006/relationships/slide" Target="../slides/slide76.xml"/><Relationship Id="rId2" Type="http://schemas.openxmlformats.org/officeDocument/2006/relationships/notesMaster" Target="../notesMasters/notesMaster1.xml"/>
</Relationships>
</file>

<file path=ppt/notesSlides/_rels/notesSlide77.xml.rels><?xml version="1.0" encoding="UTF-8"?>
<Relationships xmlns="http://schemas.openxmlformats.org/package/2006/relationships"><Relationship Id="rId1" Type="http://schemas.openxmlformats.org/officeDocument/2006/relationships/slide" Target="../slides/slide77.xml"/><Relationship Id="rId2" Type="http://schemas.openxmlformats.org/officeDocument/2006/relationships/notesMaster" Target="../notesMasters/notesMaster1.xml"/>
</Relationships>
</file>

<file path=ppt/notesSlides/_rels/notesSlide78.xml.rels><?xml version="1.0" encoding="UTF-8"?>
<Relationships xmlns="http://schemas.openxmlformats.org/package/2006/relationships"><Relationship Id="rId1" Type="http://schemas.openxmlformats.org/officeDocument/2006/relationships/slide" Target="../slides/slide78.xml"/><Relationship Id="rId2" Type="http://schemas.openxmlformats.org/officeDocument/2006/relationships/notesMaster" Target="../notesMasters/notesMaster1.xml"/>
</Relationships>
</file>

<file path=ppt/notesSlides/_rels/notesSlide79.xml.rels><?xml version="1.0" encoding="UTF-8"?>
<Relationships xmlns="http://schemas.openxmlformats.org/package/2006/relationships"><Relationship Id="rId1" Type="http://schemas.openxmlformats.org/officeDocument/2006/relationships/slide" Target="../slides/slide79.xml"/><Relationship Id="rId2" Type="http://schemas.openxmlformats.org/officeDocument/2006/relationships/notesMaster" Target="../notesMasters/notesMaster1.xml"/>
</Relationships>
</file>

<file path=ppt/notesSlides/_rels/notesSlide80.xml.rels><?xml version="1.0" encoding="UTF-8"?>
<Relationships xmlns="http://schemas.openxmlformats.org/package/2006/relationships"><Relationship Id="rId1" Type="http://schemas.openxmlformats.org/officeDocument/2006/relationships/slide" Target="../slides/slide80.xml"/><Relationship Id="rId2" Type="http://schemas.openxmlformats.org/officeDocument/2006/relationships/notesMaster" Target="../notesMasters/notesMaster1.xml"/>
</Relationships>
</file>

<file path=ppt/notesSlides/_rels/notesSlide81.xml.rels><?xml version="1.0" encoding="UTF-8"?>
<Relationships xmlns="http://schemas.openxmlformats.org/package/2006/relationships"><Relationship Id="rId1" Type="http://schemas.openxmlformats.org/officeDocument/2006/relationships/slide" Target="../slides/slide81.xml"/><Relationship Id="rId2" Type="http://schemas.openxmlformats.org/officeDocument/2006/relationships/notesMaster" Target="../notesMasters/notesMaster1.xml"/>
</Relationships>
</file>

<file path=ppt/notesSlides/_rels/notesSlide82.xml.rels><?xml version="1.0" encoding="UTF-8"?>
<Relationships xmlns="http://schemas.openxmlformats.org/package/2006/relationships"><Relationship Id="rId1" Type="http://schemas.openxmlformats.org/officeDocument/2006/relationships/slide" Target="../slides/slide82.xml"/><Relationship Id="rId2" Type="http://schemas.openxmlformats.org/officeDocument/2006/relationships/notesMaster" Target="../notesMasters/notesMaster1.xml"/>
</Relationships>
</file>

<file path=ppt/notesSlides/_rels/notesSlide83.xml.rels><?xml version="1.0" encoding="UTF-8"?>
<Relationships xmlns="http://schemas.openxmlformats.org/package/2006/relationships"><Relationship Id="rId1" Type="http://schemas.openxmlformats.org/officeDocument/2006/relationships/slide" Target="../slides/slide83.xml"/><Relationship Id="rId2" Type="http://schemas.openxmlformats.org/officeDocument/2006/relationships/notesMaster" Target="../notesMasters/notesMaster1.xml"/>
</Relationships>
</file>

<file path=ppt/notesSlides/_rels/notesSlide84.xml.rels><?xml version="1.0" encoding="UTF-8"?>
<Relationships xmlns="http://schemas.openxmlformats.org/package/2006/relationships"><Relationship Id="rId1" Type="http://schemas.openxmlformats.org/officeDocument/2006/relationships/slide" Target="../slides/slide84.xml"/><Relationship Id="rId2" Type="http://schemas.openxmlformats.org/officeDocument/2006/relationships/notesMaster" Target="../notesMasters/notesMaster1.xml"/>
</Relationships>
</file>

<file path=ppt/notesSlides/_rels/notesSlide85.xml.rels><?xml version="1.0" encoding="UTF-8"?>
<Relationships xmlns="http://schemas.openxmlformats.org/package/2006/relationships"><Relationship Id="rId1" Type="http://schemas.openxmlformats.org/officeDocument/2006/relationships/slide" Target="../slides/slide85.xml"/><Relationship Id="rId2" Type="http://schemas.openxmlformats.org/officeDocument/2006/relationships/notesMaster" Target="../notesMasters/notesMaster1.xml"/>
</Relationships>
</file>

<file path=ppt/notesSlides/_rels/notesSlide86.xml.rels><?xml version="1.0" encoding="UTF-8"?>
<Relationships xmlns="http://schemas.openxmlformats.org/package/2006/relationships"><Relationship Id="rId1" Type="http://schemas.openxmlformats.org/officeDocument/2006/relationships/slide" Target="../slides/slide86.xml"/><Relationship Id="rId2" Type="http://schemas.openxmlformats.org/officeDocument/2006/relationships/notesMaster" Target="../notesMasters/notesMaster1.xml"/>
</Relationships>
</file>

<file path=ppt/notesSlides/_rels/notesSlide87.xml.rels><?xml version="1.0" encoding="UTF-8"?>
<Relationships xmlns="http://schemas.openxmlformats.org/package/2006/relationships"><Relationship Id="rId1" Type="http://schemas.openxmlformats.org/officeDocument/2006/relationships/slide" Target="../slides/slide87.xml"/><Relationship Id="rId2" Type="http://schemas.openxmlformats.org/officeDocument/2006/relationships/notesMaster" Target="../notesMasters/notesMaster1.xml"/>
</Relationships>
</file>

<file path=ppt/notesSlides/_rels/notesSlide88.xml.rels><?xml version="1.0" encoding="UTF-8"?>
<Relationships xmlns="http://schemas.openxmlformats.org/package/2006/relationships"><Relationship Id="rId1" Type="http://schemas.openxmlformats.org/officeDocument/2006/relationships/slide" Target="../slides/slide88.xml"/><Relationship Id="rId2" Type="http://schemas.openxmlformats.org/officeDocument/2006/relationships/notesMaster" Target="../notesMasters/notesMaster1.xml"/>
</Relationships>
</file>

<file path=ppt/notesSlides/_rels/notesSlide89.xml.rels><?xml version="1.0" encoding="UTF-8"?>
<Relationships xmlns="http://schemas.openxmlformats.org/package/2006/relationships"><Relationship Id="rId1" Type="http://schemas.openxmlformats.org/officeDocument/2006/relationships/slide" Target="../slides/slide89.xml"/><Relationship Id="rId2" Type="http://schemas.openxmlformats.org/officeDocument/2006/relationships/notesMaster" Target="../notesMasters/notesMaster1.xml"/>
</Relationships>
</file>

<file path=ppt/notesSlides/_rels/notesSlide90.xml.rels><?xml version="1.0" encoding="UTF-8"?>
<Relationships xmlns="http://schemas.openxmlformats.org/package/2006/relationships"><Relationship Id="rId1" Type="http://schemas.openxmlformats.org/officeDocument/2006/relationships/slide" Target="../slides/slide90.xml"/><Relationship Id="rId2" Type="http://schemas.openxmlformats.org/officeDocument/2006/relationships/notesMaster" Target="../notesMasters/notesMaster1.xml"/>
</Relationships>
</file>

<file path=ppt/notesSlides/_rels/notesSlide91.xml.rels><?xml version="1.0" encoding="UTF-8"?>
<Relationships xmlns="http://schemas.openxmlformats.org/package/2006/relationships"><Relationship Id="rId1" Type="http://schemas.openxmlformats.org/officeDocument/2006/relationships/slide" Target="../slides/slide91.xml"/><Relationship Id="rId2" Type="http://schemas.openxmlformats.org/officeDocument/2006/relationships/notesMaster" Target="../notesMasters/notesMaster1.xml"/>
</Relationships>
</file>

<file path=ppt/notesSlides/_rels/notesSlide92.xml.rels><?xml version="1.0" encoding="UTF-8"?>
<Relationships xmlns="http://schemas.openxmlformats.org/package/2006/relationships"><Relationship Id="rId1" Type="http://schemas.openxmlformats.org/officeDocument/2006/relationships/slide" Target="../slides/slide92.xml"/><Relationship Id="rId2" Type="http://schemas.openxmlformats.org/officeDocument/2006/relationships/notesMaster" Target="../notesMasters/notesMaster1.xml"/>
</Relationships>
</file>

<file path=ppt/notesSlides/_rels/notesSlide93.xml.rels><?xml version="1.0" encoding="UTF-8"?>
<Relationships xmlns="http://schemas.openxmlformats.org/package/2006/relationships"><Relationship Id="rId1" Type="http://schemas.openxmlformats.org/officeDocument/2006/relationships/slide" Target="../slides/slide93.xml"/><Relationship Id="rId2" Type="http://schemas.openxmlformats.org/officeDocument/2006/relationships/notesMaster" Target="../notesMasters/notesMaster1.xml"/>
</Relationships>
</file>

<file path=ppt/notesSlides/_rels/notesSlide94.xml.rels><?xml version="1.0" encoding="UTF-8"?>
<Relationships xmlns="http://schemas.openxmlformats.org/package/2006/relationships"><Relationship Id="rId1" Type="http://schemas.openxmlformats.org/officeDocument/2006/relationships/slide" Target="../slides/slide94.xml"/><Relationship Id="rId2" Type="http://schemas.openxmlformats.org/officeDocument/2006/relationships/notesMaster" Target="../notesMasters/notesMaster1.xml"/>
</Relationships>
</file>

<file path=ppt/notesSlides/_rels/notesSlide95.xml.rels><?xml version="1.0" encoding="UTF-8"?>
<Relationships xmlns="http://schemas.openxmlformats.org/package/2006/relationships"><Relationship Id="rId1" Type="http://schemas.openxmlformats.org/officeDocument/2006/relationships/slide" Target="../slides/slide95.xml"/><Relationship Id="rId2" Type="http://schemas.openxmlformats.org/officeDocument/2006/relationships/notesMaster" Target="../notesMasters/notesMaster1.xml"/>
</Relationships>
</file>

<file path=ppt/notesSlides/_rels/notesSlide96.xml.rels><?xml version="1.0" encoding="UTF-8"?>
<Relationships xmlns="http://schemas.openxmlformats.org/package/2006/relationships"><Relationship Id="rId1" Type="http://schemas.openxmlformats.org/officeDocument/2006/relationships/slide" Target="../slides/slide96.xml"/><Relationship Id="rId2" Type="http://schemas.openxmlformats.org/officeDocument/2006/relationships/notesMaster" Target="../notesMasters/notesMaster1.xml"/>
</Relationships>
</file>

<file path=ppt/notesSlides/_rels/notesSlide97.xml.rels><?xml version="1.0" encoding="UTF-8"?>
<Relationships xmlns="http://schemas.openxmlformats.org/package/2006/relationships"><Relationship Id="rId1" Type="http://schemas.openxmlformats.org/officeDocument/2006/relationships/slide" Target="../slides/slide97.xml"/><Relationship Id="rId2" Type="http://schemas.openxmlformats.org/officeDocument/2006/relationships/notesMaster" Target="../notesMasters/notesMaster1.xml"/>
</Relationships>
</file>

<file path=ppt/notesSlides/_rels/notesSlide98.xml.rels><?xml version="1.0" encoding="UTF-8"?>
<Relationships xmlns="http://schemas.openxmlformats.org/package/2006/relationships"><Relationship Id="rId1" Type="http://schemas.openxmlformats.org/officeDocument/2006/relationships/slide" Target="../slides/slide98.xml"/><Relationship Id="rId2" Type="http://schemas.openxmlformats.org/officeDocument/2006/relationships/notesMaster" Target="../notesMasters/notesMaster1.xml"/>
</Relationships>
</file>

<file path=ppt/notesSlides/_rels/notesSlide99.xml.rels><?xml version="1.0" encoding="UTF-8"?>
<Relationships xmlns="http://schemas.openxmlformats.org/package/2006/relationships"><Relationship Id="rId1" Type="http://schemas.openxmlformats.org/officeDocument/2006/relationships/slide" Target="../slides/slide99.xml"/><Relationship Id="rId2" Type="http://schemas.openxmlformats.org/officeDocument/2006/relationships/notesMaster" Target="../notesMasters/notesMaster1.xml"/>
</Relationships>
</file>

<file path=ppt/notesSlides/_rels/notesSlide100.xml.rels><?xml version="1.0" encoding="UTF-8"?>
<Relationships xmlns="http://schemas.openxmlformats.org/package/2006/relationships"><Relationship Id="rId1" Type="http://schemas.openxmlformats.org/officeDocument/2006/relationships/slide" Target="../slides/slide100.xml"/><Relationship Id="rId2" Type="http://schemas.openxmlformats.org/officeDocument/2006/relationships/notesMaster" Target="../notesMasters/notesMaster1.xml"/>
</Relationships>
</file>

<file path=ppt/notesSlides/_rels/notesSlide101.xml.rels><?xml version="1.0" encoding="UTF-8"?>
<Relationships xmlns="http://schemas.openxmlformats.org/package/2006/relationships"><Relationship Id="rId1" Type="http://schemas.openxmlformats.org/officeDocument/2006/relationships/slide" Target="../slides/slide101.xml"/><Relationship Id="rId2" Type="http://schemas.openxmlformats.org/officeDocument/2006/relationships/notesMaster" Target="../notesMasters/notesMaster1.xml"/>
</Relationships>
</file>

<file path=ppt/notesSlides/_rels/notesSlide102.xml.rels><?xml version="1.0" encoding="UTF-8"?>
<Relationships xmlns="http://schemas.openxmlformats.org/package/2006/relationships"><Relationship Id="rId1" Type="http://schemas.openxmlformats.org/officeDocument/2006/relationships/slide" Target="../slides/slide102.xml"/><Relationship Id="rId2" Type="http://schemas.openxmlformats.org/officeDocument/2006/relationships/notesMaster" Target="../notesMasters/notesMaster1.xml"/>
</Relationships>
</file>

<file path=ppt/notesSlides/_rels/notesSlide103.xml.rels><?xml version="1.0" encoding="UTF-8"?>
<Relationships xmlns="http://schemas.openxmlformats.org/package/2006/relationships"><Relationship Id="rId1" Type="http://schemas.openxmlformats.org/officeDocument/2006/relationships/slide" Target="../slides/slide103.xml"/><Relationship Id="rId2" Type="http://schemas.openxmlformats.org/officeDocument/2006/relationships/notesMaster" Target="../notesMasters/notesMaster1.xml"/>
</Relationships>
</file>

<file path=ppt/notesSlides/_rels/notesSlide104.xml.rels><?xml version="1.0" encoding="UTF-8"?>
<Relationships xmlns="http://schemas.openxmlformats.org/package/2006/relationships"><Relationship Id="rId1" Type="http://schemas.openxmlformats.org/officeDocument/2006/relationships/slide" Target="../slides/slide10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2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message: this is not a Kubernetes object catalog. It is a practical operations workshop.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1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744758-65FC-4C12-B23E-FB558C4032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2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4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144F52-EBA3-49F1-B607-E01F528E2F6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7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44E51B19-602E-485D-968A-85C68E0D4D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0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E11ECF68-D0DA-417B-AA35-1E5D7C618E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2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3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0C0672C5-7085-4EB5-810B-FECA8B9758D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2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6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0D2A6A8-1427-4BC9-8238-1031562F4C1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2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C748942-8F0D-4147-BFC0-54CE366150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621AA56-9529-444F-A3E9-7CBAC20990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1EC510C-F129-4C8F-92FC-C965B84594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1E04938-40A6-458E-9224-8B3787F3E8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250E29-AD99-427A-860B-E04335926C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4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440C609-DFDF-4643-AD3D-BDE2A7EEE7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7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0B82F32-6850-4AAC-92AA-D588153C467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0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5282871-CCDE-4204-B794-69D42A2398C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3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802551-6385-4615-A399-780AB4F43A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6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7CA6FD-4BEE-41EA-A32B-5849582921C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9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96EEF0A-D735-4443-84C4-B1504AFDED5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2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BE1FB2-20CE-4128-AE48-794EC03CEF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5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8AC720E-9B21-4838-B63C-911E07F4F1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600" cy="3084480"/>
          </a:xfrm>
          <a:prstGeom prst="rect">
            <a:avLst/>
          </a:prstGeom>
          <a:ln w="0">
            <a:noFill/>
          </a:ln>
        </p:spPr>
      </p:sp>
      <p:sp>
        <p:nvSpPr>
          <p:cNvPr id="13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600" cy="3598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8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70000" cy="456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C24BBD4-D5E9-4396-9583-7E359CD86C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1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4C6DF20-19C8-44E4-85A2-1B510451CD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4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2769DC-9306-4084-B985-C6A0E96034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7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6D3240E-1076-4FBD-911A-48971BB5E4A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0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94871E-3920-4A47-869A-174A08FFFE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3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7E5C345-D008-4359-8D16-D2B79BB40D2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4960" cy="3084840"/>
          </a:xfrm>
          <a:prstGeom prst="rect">
            <a:avLst/>
          </a:prstGeom>
          <a:ln w="0">
            <a:noFill/>
          </a:ln>
        </p:spPr>
      </p:sp>
      <p:sp>
        <p:nvSpPr>
          <p:cNvPr id="13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4960" cy="3598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6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70360" cy="4572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46EB46-76BB-471C-AF85-84C48753271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9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037822F-D742-42CB-B67A-8B909B4FCD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2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1860BA-47C0-49DB-9286-E9044DEC72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5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40A751A-EE82-4516-A5BF-E6884518A4E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8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75DBEA6-9509-4FD2-8BBC-CD76C049B27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1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4165A4-DEB7-4338-857F-568414B15F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4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928D48-6A2B-482D-BEDF-E804DB965B6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7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B955F4-053E-4BA8-97B6-73D06953EA9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7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0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B6AD89-ECA2-4A48-979A-58A325FFA2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3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B51FE02-DF7B-4CE9-A152-1636E5A7DC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138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6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CE74E98-9496-400C-8217-1052681013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8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9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2A212FA-4DF7-49EC-AC7B-7EF449D615B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2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D641C02-7B9A-4B03-97E6-8323CE7921B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5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72E0678-F113-43B0-9919-D80E5D38269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39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8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EDEB01A-79AC-4552-8D80-2D195A46FB1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0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1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403573-3334-4552-BC7F-015D543829C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0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4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BA8B6ED-6A2D-4DA6-B37F-8EB17E72A08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0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7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5DCABC7-9378-409A-8199-5253B2BF3F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0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0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2EF2660-F796-476A-8BA2-D7C654DF81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1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3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BD5F127-5284-422E-8FF9-8C6509A2853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1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6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4A649F2-BDD6-4824-A676-87B28D5212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9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8B47CB4-562C-440C-898B-465F72B466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2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D68348-F0AB-456A-BD8D-7B7E0D9284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5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C2440C-BA0E-4B12-92CD-043DF8A18A2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8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5D5DF6-8176-406C-A791-F779CB80071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1" name="PlaceHolder 3"/>
          <p:cNvSpPr>
            <a:spLocks noGrp="1"/>
          </p:cNvSpPr>
          <p:nvPr>
            <p:ph type="sldNum" idx="5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C509497-593E-406C-880D-F5CEFE56D6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4" name="PlaceHolder 3"/>
          <p:cNvSpPr>
            <a:spLocks noGrp="1"/>
          </p:cNvSpPr>
          <p:nvPr>
            <p:ph type="sldNum" idx="5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6077CEC-8084-4DEB-B9E6-B071F23279F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7" name="PlaceHolder 3"/>
          <p:cNvSpPr>
            <a:spLocks noGrp="1"/>
          </p:cNvSpPr>
          <p:nvPr>
            <p:ph type="sldNum" idx="5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ACE5D84-974D-48A7-A557-884E823DAB0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0" name="PlaceHolder 3"/>
          <p:cNvSpPr>
            <a:spLocks noGrp="1"/>
          </p:cNvSpPr>
          <p:nvPr>
            <p:ph type="sldNum" idx="5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F9B9CB-D037-49E0-9827-6569493F3EB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3" name="PlaceHolder 3"/>
          <p:cNvSpPr>
            <a:spLocks noGrp="1"/>
          </p:cNvSpPr>
          <p:nvPr>
            <p:ph type="sldNum" idx="5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B17A293-A167-4F49-9CD7-20B283D3913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6" name="PlaceHolder 3"/>
          <p:cNvSpPr>
            <a:spLocks noGrp="1"/>
          </p:cNvSpPr>
          <p:nvPr>
            <p:ph type="sldNum" idx="5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D6E6997-FC99-4024-8F7C-4002450A317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9" name="PlaceHolder 3"/>
          <p:cNvSpPr>
            <a:spLocks noGrp="1"/>
          </p:cNvSpPr>
          <p:nvPr>
            <p:ph type="sldNum" idx="6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9DC0B8A-5519-427A-896D-6721B1766EB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2" name="PlaceHolder 3"/>
          <p:cNvSpPr>
            <a:spLocks noGrp="1"/>
          </p:cNvSpPr>
          <p:nvPr>
            <p:ph type="sldNum" idx="6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F5CF3CE-FCF9-40AF-83BD-EA8DA574867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5" name="PlaceHolder 3"/>
          <p:cNvSpPr>
            <a:spLocks noGrp="1"/>
          </p:cNvSpPr>
          <p:nvPr>
            <p:ph type="sldNum" idx="6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77BF1C-C148-410B-B5E3-15E3F5E4513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8" name="PlaceHolder 3"/>
          <p:cNvSpPr>
            <a:spLocks noGrp="1"/>
          </p:cNvSpPr>
          <p:nvPr>
            <p:ph type="sldNum" idx="6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BA69E82-2FAD-49FE-A805-7EB634E6D21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1" name="PlaceHolder 3"/>
          <p:cNvSpPr>
            <a:spLocks noGrp="1"/>
          </p:cNvSpPr>
          <p:nvPr>
            <p:ph type="sldNum" idx="6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F5A2139-BB0A-4838-BCA1-DBB3973A99B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4" name="PlaceHolder 3"/>
          <p:cNvSpPr>
            <a:spLocks noGrp="1"/>
          </p:cNvSpPr>
          <p:nvPr>
            <p:ph type="sldNum" idx="6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CA1799-5D3F-4903-85F7-47B81BE5F95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7" name="PlaceHolder 3"/>
          <p:cNvSpPr>
            <a:spLocks noGrp="1"/>
          </p:cNvSpPr>
          <p:nvPr>
            <p:ph type="sldNum" idx="6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E300B1C-4E69-4DBA-B4EC-A55C31E7155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0" name="PlaceHolder 3"/>
          <p:cNvSpPr>
            <a:spLocks noGrp="1"/>
          </p:cNvSpPr>
          <p:nvPr>
            <p:ph type="sldNum" idx="6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0535A20-8B28-486A-AED9-EF998A3A85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3" name="PlaceHolder 3"/>
          <p:cNvSpPr>
            <a:spLocks noGrp="1"/>
          </p:cNvSpPr>
          <p:nvPr>
            <p:ph type="sldNum" idx="6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297D71-0971-4442-89CA-2944110C831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6" name="PlaceHolder 3"/>
          <p:cNvSpPr>
            <a:spLocks noGrp="1"/>
          </p:cNvSpPr>
          <p:nvPr>
            <p:ph type="sldNum" idx="6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70F9D35-C299-47EF-9AC1-CC3E6B94DA8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9" name="PlaceHolder 3"/>
          <p:cNvSpPr>
            <a:spLocks noGrp="1"/>
          </p:cNvSpPr>
          <p:nvPr>
            <p:ph type="sldNum" idx="7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FC7849-062A-47D8-8AD9-FE4C37E1342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2" name="PlaceHolder 3"/>
          <p:cNvSpPr>
            <a:spLocks noGrp="1"/>
          </p:cNvSpPr>
          <p:nvPr>
            <p:ph type="sldNum" idx="7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EBF4BFB-CC26-478B-8915-8C3F20FAA2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5" name="PlaceHolder 3"/>
          <p:cNvSpPr>
            <a:spLocks noGrp="1"/>
          </p:cNvSpPr>
          <p:nvPr>
            <p:ph type="sldNum" idx="7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73482BA-A989-48D8-8D50-0C3C99B30D3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8" name="PlaceHolder 3"/>
          <p:cNvSpPr>
            <a:spLocks noGrp="1"/>
          </p:cNvSpPr>
          <p:nvPr>
            <p:ph type="sldNum" idx="7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DCFC906-786C-4BF5-9329-496424DB23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1" name="PlaceHolder 3"/>
          <p:cNvSpPr>
            <a:spLocks noGrp="1"/>
          </p:cNvSpPr>
          <p:nvPr>
            <p:ph type="sldNum" idx="7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6443873-2DDF-4664-A064-01A91C5AF7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4" name="PlaceHolder 3"/>
          <p:cNvSpPr>
            <a:spLocks noGrp="1"/>
          </p:cNvSpPr>
          <p:nvPr>
            <p:ph type="sldNum" idx="7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97DAACD-68FB-4F45-BE25-B6AAD7C32C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7" name="PlaceHolder 3"/>
          <p:cNvSpPr>
            <a:spLocks noGrp="1"/>
          </p:cNvSpPr>
          <p:nvPr>
            <p:ph type="sldNum" idx="7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3F9EC8-66D6-477C-83D8-1011DAE6190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4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0" name="PlaceHolder 3"/>
          <p:cNvSpPr>
            <a:spLocks noGrp="1"/>
          </p:cNvSpPr>
          <p:nvPr>
            <p:ph type="sldNum" idx="7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9437543-7ADF-437C-8B37-0279BBA7CD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3" name="PlaceHolder 3"/>
          <p:cNvSpPr>
            <a:spLocks noGrp="1"/>
          </p:cNvSpPr>
          <p:nvPr>
            <p:ph type="sldNum" idx="7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5D78788-8C3F-41F1-9F7C-C8897544E0C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6" name="PlaceHolder 3"/>
          <p:cNvSpPr>
            <a:spLocks noGrp="1"/>
          </p:cNvSpPr>
          <p:nvPr>
            <p:ph type="sldNum" idx="7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E16894F-9772-4ED5-8996-71DA4240F7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0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9" name="PlaceHolder 3"/>
          <p:cNvSpPr>
            <a:spLocks noGrp="1"/>
          </p:cNvSpPr>
          <p:nvPr>
            <p:ph type="sldNum" idx="8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1B94E94-395A-4F6C-9B56-225E0064625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2" name="PlaceHolder 3"/>
          <p:cNvSpPr>
            <a:spLocks noGrp="1"/>
          </p:cNvSpPr>
          <p:nvPr>
            <p:ph type="sldNum" idx="8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3DD3C7D-82E0-498B-854D-FDEF2C14B54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5" name="PlaceHolder 3"/>
          <p:cNvSpPr>
            <a:spLocks noGrp="1"/>
          </p:cNvSpPr>
          <p:nvPr>
            <p:ph type="sldNum" idx="8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6D3E06C-D441-4515-A7D9-2F6D668947C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8" name="PlaceHolder 3"/>
          <p:cNvSpPr>
            <a:spLocks noGrp="1"/>
          </p:cNvSpPr>
          <p:nvPr>
            <p:ph type="sldNum" idx="8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BA87336-204A-4527-9A9B-3B05E795FBF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1" name="PlaceHolder 3"/>
          <p:cNvSpPr>
            <a:spLocks noGrp="1"/>
          </p:cNvSpPr>
          <p:nvPr>
            <p:ph type="sldNum" idx="8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BFABF76-8950-4AEC-98A5-1AAC429A1D7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4" name="PlaceHolder 3"/>
          <p:cNvSpPr>
            <a:spLocks noGrp="1"/>
          </p:cNvSpPr>
          <p:nvPr>
            <p:ph type="sldNum" idx="8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7B39EA-FBF5-466F-A64A-856A78E733C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7" name="PlaceHolder 3"/>
          <p:cNvSpPr>
            <a:spLocks noGrp="1"/>
          </p:cNvSpPr>
          <p:nvPr>
            <p:ph type="sldNum" idx="8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E4AD278-F4E7-461F-B8F8-067721CB76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0" name="PlaceHolder 3"/>
          <p:cNvSpPr>
            <a:spLocks noGrp="1"/>
          </p:cNvSpPr>
          <p:nvPr>
            <p:ph type="sldNum" idx="8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453ED1B-F161-49BD-A658-1E4912483A2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3" name="PlaceHolder 3"/>
          <p:cNvSpPr>
            <a:spLocks noGrp="1"/>
          </p:cNvSpPr>
          <p:nvPr>
            <p:ph type="sldNum" idx="8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3D6F926-0399-4ECE-830D-2996882B02F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6" name="PlaceHolder 3"/>
          <p:cNvSpPr>
            <a:spLocks noGrp="1"/>
          </p:cNvSpPr>
          <p:nvPr>
            <p:ph type="sldNum" idx="8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A0D0B48-1DC8-4868-AD90-9A44B0170E4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9" name="PlaceHolder 3"/>
          <p:cNvSpPr>
            <a:spLocks noGrp="1"/>
          </p:cNvSpPr>
          <p:nvPr>
            <p:ph type="sldNum" idx="9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920168B-6FD7-4F47-9CF4-F20B9E2DE2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2" name="PlaceHolder 3"/>
          <p:cNvSpPr>
            <a:spLocks noGrp="1"/>
          </p:cNvSpPr>
          <p:nvPr>
            <p:ph type="sldNum" idx="9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F6B7210-6521-4222-A221-6EF41B16CA9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5" name="PlaceHolder 3"/>
          <p:cNvSpPr>
            <a:spLocks noGrp="1"/>
          </p:cNvSpPr>
          <p:nvPr>
            <p:ph type="sldNum" idx="9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91DDA8-523D-4165-8549-2511D7B3E00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8" name="PlaceHolder 3"/>
          <p:cNvSpPr>
            <a:spLocks noGrp="1"/>
          </p:cNvSpPr>
          <p:nvPr>
            <p:ph type="sldNum" idx="9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A0A5D99-7041-46FD-8F45-739BC081482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1" name="PlaceHolder 3"/>
          <p:cNvSpPr>
            <a:spLocks noGrp="1"/>
          </p:cNvSpPr>
          <p:nvPr>
            <p:ph type="sldNum" idx="9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3F11244-3EE0-461C-A294-9E472114DB9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4" name="PlaceHolder 3"/>
          <p:cNvSpPr>
            <a:spLocks noGrp="1"/>
          </p:cNvSpPr>
          <p:nvPr>
            <p:ph type="sldNum" idx="9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02D04E6-6238-4AE9-BFB4-D024CB5DB4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7" name="PlaceHolder 3"/>
          <p:cNvSpPr>
            <a:spLocks noGrp="1"/>
          </p:cNvSpPr>
          <p:nvPr>
            <p:ph type="sldNum" idx="9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2D51231-6500-4A72-8C05-AD20E7F3B86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0" name="PlaceHolder 3"/>
          <p:cNvSpPr>
            <a:spLocks noGrp="1"/>
          </p:cNvSpPr>
          <p:nvPr>
            <p:ph type="sldNum" idx="9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479B2C1-82ED-4388-B149-47D44EB839B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3" name="PlaceHolder 3"/>
          <p:cNvSpPr>
            <a:spLocks noGrp="1"/>
          </p:cNvSpPr>
          <p:nvPr>
            <p:ph type="sldNum" idx="98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76EE0C4-3973-4979-866A-A45D692A0D1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6" name="PlaceHolder 3"/>
          <p:cNvSpPr>
            <a:spLocks noGrp="1"/>
          </p:cNvSpPr>
          <p:nvPr>
            <p:ph type="sldNum" idx="99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C74E33C-DC11-4A16-BA24-EE0D9053090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9" name="PlaceHolder 3"/>
          <p:cNvSpPr>
            <a:spLocks noGrp="1"/>
          </p:cNvSpPr>
          <p:nvPr>
            <p:ph type="sldNum" idx="100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ADA953F-7D93-43B5-A948-7037A1880E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2" name="PlaceHolder 3"/>
          <p:cNvSpPr>
            <a:spLocks noGrp="1"/>
          </p:cNvSpPr>
          <p:nvPr>
            <p:ph type="sldNum" idx="101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D6241BC-DF10-452B-B469-200DCF7236B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5" name="PlaceHolder 3"/>
          <p:cNvSpPr>
            <a:spLocks noGrp="1"/>
          </p:cNvSpPr>
          <p:nvPr>
            <p:ph type="sldNum" idx="102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D6D00E3-4111-4ABF-9610-8464A7DA01F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8" name="PlaceHolder 3"/>
          <p:cNvSpPr>
            <a:spLocks noGrp="1"/>
          </p:cNvSpPr>
          <p:nvPr>
            <p:ph type="sldNum" idx="103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7609077-AD67-43A9-B287-047D06C8190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1" name="PlaceHolder 3"/>
          <p:cNvSpPr>
            <a:spLocks noGrp="1"/>
          </p:cNvSpPr>
          <p:nvPr>
            <p:ph type="sldNum" idx="104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4F6019-8744-4722-BD12-869DB038FBD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4" name="PlaceHolder 3"/>
          <p:cNvSpPr>
            <a:spLocks noGrp="1"/>
          </p:cNvSpPr>
          <p:nvPr>
            <p:ph type="sldNum" idx="105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F971155-1F09-4F19-9300-1FF50F2398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7" name="PlaceHolder 3"/>
          <p:cNvSpPr>
            <a:spLocks noGrp="1"/>
          </p:cNvSpPr>
          <p:nvPr>
            <p:ph type="sldNum" idx="106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53D96AC-E460-4EFF-A916-9A75DE302036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160" cy="3083040"/>
          </a:xfrm>
          <a:prstGeom prst="rect">
            <a:avLst/>
          </a:prstGeom>
          <a:ln w="0">
            <a:noFill/>
          </a:ln>
        </p:spPr>
      </p:sp>
      <p:sp>
        <p:nvSpPr>
          <p:cNvPr id="15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160" cy="3597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0" name="PlaceHolder 3"/>
          <p:cNvSpPr>
            <a:spLocks noGrp="1"/>
          </p:cNvSpPr>
          <p:nvPr>
            <p:ph type="sldNum" idx="107"/>
          </p:nvPr>
        </p:nvSpPr>
        <p:spPr>
          <a:xfrm>
            <a:off x="3884760" y="8685360"/>
            <a:ext cx="2968560" cy="4554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B65D2A-DE86-419E-977E-841FBB83BD7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tos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hyperlink" Target="http://localhost:8080/healthz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
</Relationships>
</file>

<file path=ppt/slides/_rels/slide5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
</Relationships>
</file>

<file path=ppt/slides/_rels/slide5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
</Relationships>
</file>

<file path=ppt/slides/_rels/slide5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
</Relationships>
</file>

<file path=ppt/slides/_rels/slide5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
</Relationships>
</file>

<file path=ppt/slides/_rels/slide5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
</Relationships>
</file>

<file path=ppt/slides/_rels/slide5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
</Relationships>
</file>

<file path=ppt/slides/_rels/slide5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
</Relationships>
</file>

<file path=ppt/slides/_rels/slide5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
</Relationships>
</file>

<file path=ppt/slides/_rels/slide5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
</Relationships>
</file>

<file path=ppt/slides/_rels/slide6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
</Relationships>
</file>

<file path=ppt/slides/_rels/slide6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
</Relationships>
</file>

<file path=ppt/slides/_rels/slide6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
</Relationships>
</file>

<file path=ppt/slides/_rels/slide6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
</Relationships>
</file>

<file path=ppt/slides/_rels/slide6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
</Relationships>
</file>

<file path=ppt/slides/_rels/slide6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
</Relationships>
</file>

<file path=ppt/slides/_rels/slide6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
</Relationships>
</file>

<file path=ppt/slides/_rels/slide6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
</Relationships>
</file>

<file path=ppt/slides/_rels/slide6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
</Relationships>
</file>

<file path=ppt/slides/_rels/slide6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
</Relationships>
</file>

<file path=ppt/slides/_rels/slide7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
</Relationships>
</file>

<file path=ppt/slides/_rels/slide7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
</Relationships>
</file>

<file path=ppt/slides/_rels/slide7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
</Relationships>
</file>

<file path=ppt/slides/_rels/slide7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
</Relationships>
</file>

<file path=ppt/slides/_rels/slide7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
</Relationships>
</file>

<file path=ppt/slides/_rels/slide7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
</Relationships>
</file>

<file path=ppt/slides/_rels/slide7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
</Relationships>
</file>

<file path=ppt/slides/_rels/slide7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
</Relationships>
</file>

<file path=ppt/slides/_rels/slide7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
</Relationships>
</file>

<file path=ppt/slides/_rels/slide7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
</Relationships>
</file>

<file path=ppt/slides/_rels/slide8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
</Relationships>
</file>

<file path=ppt/slides/_rels/slide8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
</Relationships>
</file>

<file path=ppt/slides/_rels/slide8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
</Relationships>
</file>

<file path=ppt/slides/_rels/slide8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
</Relationships>
</file>

<file path=ppt/slides/_rels/slide8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
</Relationships>
</file>

<file path=ppt/slides/_rels/slide8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
</Relationships>
</file>

<file path=ppt/slides/_rels/slide8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
</Relationships>
</file>

<file path=ppt/slides/_rels/slide8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
</Relationships>
</file>

<file path=ppt/slides/_rels/slide8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
</Relationships>
</file>

<file path=ppt/slides/_rels/slide8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
</Relationships>
</file>

<file path=ppt/slides/_rels/slide9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
</Relationships>
</file>

<file path=ppt/slides/_rels/slide9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
</Relationships>
</file>

<file path=ppt/slides/_rels/slide9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
</Relationships>
</file>

<file path=ppt/slides/_rels/slide9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
</Relationships>
</file>

<file path=ppt/slides/_rels/slide9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
</Relationships>
</file>

<file path=ppt/slides/_rels/slide9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
</Relationships>
</file>

<file path=ppt/slides/_rels/slide9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
</Relationships>
</file>

<file path=ppt/slides/_rels/slide9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
</Relationships>
</file>

<file path=ppt/slides/_rels/slide9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
</Relationships>
</file>

<file path=ppt/slides/_rels/slide9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
</Relationships>
</file>

<file path=ppt/slides/_rels/slide10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
</Relationships>
</file>

<file path=ppt/slides/_rels/slide10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
</Relationships>
</file>

<file path=ppt/slides/_rels/slide10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
</Relationships>
</file>

<file path=ppt/slides/_rels/slide10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
</Relationships>
</file>

<file path=ppt/slides/_rels/slide10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658440" y="1965960"/>
            <a:ext cx="10786680" cy="68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Hands-on Kubernetes Troubleshooting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676800" y="2816280"/>
            <a:ext cx="9597960" cy="32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Build, Deploy, Break, Observe, Debug, Fix and Learn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85800" y="3319200"/>
            <a:ext cx="731196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For Developers and Infrastructure Teams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Shape 5"/>
          <p:cNvSpPr/>
          <p:nvPr/>
        </p:nvSpPr>
        <p:spPr>
          <a:xfrm>
            <a:off x="6858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8229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Single-node K3s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8229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Each participant works on an isolated VM.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Shape 8"/>
          <p:cNvSpPr/>
          <p:nvPr/>
        </p:nvSpPr>
        <p:spPr>
          <a:xfrm>
            <a:off x="3886200" y="3977640"/>
            <a:ext cx="29228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9"/>
          <p:cNvSpPr/>
          <p:nvPr/>
        </p:nvSpPr>
        <p:spPr>
          <a:xfrm>
            <a:off x="4023360" y="4096440"/>
            <a:ext cx="26485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Real app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0"/>
          <p:cNvSpPr/>
          <p:nvPr/>
        </p:nvSpPr>
        <p:spPr>
          <a:xfrm>
            <a:off x="4023360" y="4434840"/>
            <a:ext cx="26485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API, PostgreSQL, migrations and volumes.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11"/>
          <p:cNvSpPr/>
          <p:nvPr/>
        </p:nvSpPr>
        <p:spPr>
          <a:xfrm>
            <a:off x="7086600" y="3977640"/>
            <a:ext cx="3151440" cy="865440"/>
          </a:xfrm>
          <a:prstGeom prst="roundRect">
            <a:avLst>
              <a:gd name="adj" fmla="val 7368"/>
            </a:avLst>
          </a:prstGeom>
          <a:solidFill>
            <a:srgbClr val="0B2235"/>
          </a:solidFill>
          <a:ln w="889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12"/>
          <p:cNvSpPr/>
          <p:nvPr/>
        </p:nvSpPr>
        <p:spPr>
          <a:xfrm>
            <a:off x="7223760" y="4096440"/>
            <a:ext cx="287712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Troubleshooting-first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13"/>
          <p:cNvSpPr/>
          <p:nvPr/>
        </p:nvSpPr>
        <p:spPr>
          <a:xfrm>
            <a:off x="7223760" y="4434840"/>
            <a:ext cx="2877120" cy="27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Every concept is attached to a failure mode.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2136240" y="5715000"/>
            <a:ext cx="7463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algn="ctr">
              <a:lnSpc>
                <a:spcPct val="100000"/>
              </a:lnSpc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git clone https://github.com/slaneslane/k8s-workshop-2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hape 1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209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210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11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facts 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65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184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Shape 185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236"/>
          <p:cNvSpPr/>
          <p:nvPr/>
        </p:nvSpPr>
        <p:spPr>
          <a:xfrm>
            <a:off x="502920" y="393120"/>
            <a:ext cx="86410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Kubernetes architecture: control plane and workers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23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The control plane stores desired state. Worker nodes run the actual application Pods.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86"/>
          <p:cNvSpPr/>
          <p:nvPr/>
        </p:nvSpPr>
        <p:spPr>
          <a:xfrm>
            <a:off x="502920" y="1234440"/>
            <a:ext cx="4800240" cy="4983120"/>
          </a:xfrm>
          <a:prstGeom prst="roundRect">
            <a:avLst>
              <a:gd name="adj" fmla="val 1524"/>
            </a:avLst>
          </a:prstGeom>
          <a:solidFill>
            <a:srgbClr val="0C243A"/>
          </a:solidFill>
          <a:ln w="12700">
            <a:solidFill>
              <a:srgbClr val="27D3F5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Shape 187"/>
          <p:cNvSpPr/>
          <p:nvPr/>
        </p:nvSpPr>
        <p:spPr>
          <a:xfrm>
            <a:off x="5715000" y="1234440"/>
            <a:ext cx="5988960" cy="4983120"/>
          </a:xfrm>
          <a:prstGeom prst="roundRect">
            <a:avLst>
              <a:gd name="adj" fmla="val 1468"/>
            </a:avLst>
          </a:prstGeom>
          <a:solidFill>
            <a:srgbClr val="0C243A"/>
          </a:solidFill>
          <a:ln w="12700">
            <a:solidFill>
              <a:srgbClr val="3DDC97">
                <a:alpha val="7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88"/>
          <p:cNvSpPr/>
          <p:nvPr/>
        </p:nvSpPr>
        <p:spPr>
          <a:xfrm>
            <a:off x="685800" y="1444680"/>
            <a:ext cx="1325520" cy="255600"/>
          </a:xfrm>
          <a:prstGeom prst="roundRect">
            <a:avLst>
              <a:gd name="adj" fmla="val 28571"/>
            </a:avLst>
          </a:prstGeom>
          <a:solidFill>
            <a:srgbClr val="27D3F5">
              <a:alpha val="93000"/>
            </a:srgbClr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238"/>
          <p:cNvSpPr/>
          <p:nvPr/>
        </p:nvSpPr>
        <p:spPr>
          <a:xfrm>
            <a:off x="758880" y="1508760"/>
            <a:ext cx="117936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 PLANE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Shape 189"/>
          <p:cNvSpPr/>
          <p:nvPr/>
        </p:nvSpPr>
        <p:spPr>
          <a:xfrm>
            <a:off x="5925240" y="1444680"/>
            <a:ext cx="1234080" cy="255600"/>
          </a:xfrm>
          <a:prstGeom prst="roundRect">
            <a:avLst>
              <a:gd name="adj" fmla="val 28571"/>
            </a:avLst>
          </a:prstGeom>
          <a:solidFill>
            <a:srgbClr val="3DDC97">
              <a:alpha val="93000"/>
            </a:srgbClr>
          </a:solidFill>
          <a:ln w="12700">
            <a:solidFill>
              <a:srgbClr val="3DDC97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239"/>
          <p:cNvSpPr/>
          <p:nvPr/>
        </p:nvSpPr>
        <p:spPr>
          <a:xfrm>
            <a:off x="5998320" y="1508760"/>
            <a:ext cx="108792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7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NODES</a:t>
            </a:r>
            <a:endParaRPr lang="en-US" sz="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90"/>
          <p:cNvSpPr/>
          <p:nvPr/>
        </p:nvSpPr>
        <p:spPr>
          <a:xfrm>
            <a:off x="4846320" y="3246120"/>
            <a:ext cx="9874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Shape 191"/>
          <p:cNvSpPr/>
          <p:nvPr/>
        </p:nvSpPr>
        <p:spPr>
          <a:xfrm>
            <a:off x="777240" y="196596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Text 240"/>
          <p:cNvSpPr/>
          <p:nvPr/>
        </p:nvSpPr>
        <p:spPr>
          <a:xfrm>
            <a:off x="887040" y="207576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entry point for kubectl and controllers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Shape 192"/>
          <p:cNvSpPr/>
          <p:nvPr/>
        </p:nvSpPr>
        <p:spPr>
          <a:xfrm>
            <a:off x="2971800" y="196596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41"/>
          <p:cNvSpPr/>
          <p:nvPr/>
        </p:nvSpPr>
        <p:spPr>
          <a:xfrm>
            <a:off x="3081600" y="207576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etcd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cluster state database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Shape 193"/>
          <p:cNvSpPr/>
          <p:nvPr/>
        </p:nvSpPr>
        <p:spPr>
          <a:xfrm>
            <a:off x="777240" y="3246120"/>
            <a:ext cx="191988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242"/>
          <p:cNvSpPr/>
          <p:nvPr/>
        </p:nvSpPr>
        <p:spPr>
          <a:xfrm>
            <a:off x="887040" y="3355920"/>
            <a:ext cx="170028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selects a node for new Pods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Shape 194"/>
          <p:cNvSpPr/>
          <p:nvPr/>
        </p:nvSpPr>
        <p:spPr>
          <a:xfrm>
            <a:off x="2971800" y="3246120"/>
            <a:ext cx="1599840" cy="840960"/>
          </a:xfrm>
          <a:prstGeom prst="roundRect">
            <a:avLst>
              <a:gd name="adj" fmla="val 8696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243"/>
          <p:cNvSpPr/>
          <p:nvPr/>
        </p:nvSpPr>
        <p:spPr>
          <a:xfrm>
            <a:off x="3081600" y="3355920"/>
            <a:ext cx="1380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Controller Manager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keeps desired state reconciled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195"/>
          <p:cNvSpPr/>
          <p:nvPr/>
        </p:nvSpPr>
        <p:spPr>
          <a:xfrm>
            <a:off x="2706480" y="2386440"/>
            <a:ext cx="255960" cy="36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196"/>
          <p:cNvSpPr/>
          <p:nvPr/>
        </p:nvSpPr>
        <p:spPr>
          <a:xfrm>
            <a:off x="17373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Shape 197"/>
          <p:cNvSpPr/>
          <p:nvPr/>
        </p:nvSpPr>
        <p:spPr>
          <a:xfrm>
            <a:off x="3584160" y="2816280"/>
            <a:ext cx="360" cy="420480"/>
          </a:xfrm>
          <a:prstGeom prst="line">
            <a:avLst/>
          </a:prstGeom>
          <a:ln w="12700">
            <a:solidFill>
              <a:srgbClr val="2A5C82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244"/>
          <p:cNvSpPr/>
          <p:nvPr/>
        </p:nvSpPr>
        <p:spPr>
          <a:xfrm>
            <a:off x="777240" y="4645080"/>
            <a:ext cx="397728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Examples: Deployments, ReplicaSets, Jobs, Services, ConfigMaps, Secrets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198"/>
          <p:cNvSpPr/>
          <p:nvPr/>
        </p:nvSpPr>
        <p:spPr>
          <a:xfrm>
            <a:off x="605340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245"/>
          <p:cNvSpPr/>
          <p:nvPr/>
        </p:nvSpPr>
        <p:spPr>
          <a:xfrm>
            <a:off x="616320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199"/>
          <p:cNvSpPr/>
          <p:nvPr/>
        </p:nvSpPr>
        <p:spPr>
          <a:xfrm>
            <a:off x="605340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 246"/>
          <p:cNvSpPr/>
          <p:nvPr/>
        </p:nvSpPr>
        <p:spPr>
          <a:xfrm>
            <a:off x="616320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200"/>
          <p:cNvSpPr/>
          <p:nvPr/>
        </p:nvSpPr>
        <p:spPr>
          <a:xfrm>
            <a:off x="728784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247"/>
          <p:cNvSpPr/>
          <p:nvPr/>
        </p:nvSpPr>
        <p:spPr>
          <a:xfrm>
            <a:off x="739764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201"/>
          <p:cNvSpPr/>
          <p:nvPr/>
        </p:nvSpPr>
        <p:spPr>
          <a:xfrm>
            <a:off x="605340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248"/>
          <p:cNvSpPr/>
          <p:nvPr/>
        </p:nvSpPr>
        <p:spPr>
          <a:xfrm>
            <a:off x="616320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202"/>
          <p:cNvSpPr/>
          <p:nvPr/>
        </p:nvSpPr>
        <p:spPr>
          <a:xfrm>
            <a:off x="728784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249"/>
          <p:cNvSpPr/>
          <p:nvPr/>
        </p:nvSpPr>
        <p:spPr>
          <a:xfrm>
            <a:off x="739764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Shape 203"/>
          <p:cNvSpPr/>
          <p:nvPr/>
        </p:nvSpPr>
        <p:spPr>
          <a:xfrm>
            <a:off x="655596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04"/>
          <p:cNvSpPr/>
          <p:nvPr/>
        </p:nvSpPr>
        <p:spPr>
          <a:xfrm>
            <a:off x="78454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205"/>
          <p:cNvSpPr/>
          <p:nvPr/>
        </p:nvSpPr>
        <p:spPr>
          <a:xfrm>
            <a:off x="8842320" y="1938600"/>
            <a:ext cx="2331360" cy="420120"/>
          </a:xfrm>
          <a:prstGeom prst="roundRect">
            <a:avLst>
              <a:gd name="adj" fmla="val 17391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250"/>
          <p:cNvSpPr/>
          <p:nvPr/>
        </p:nvSpPr>
        <p:spPr>
          <a:xfrm>
            <a:off x="8952120" y="2048400"/>
            <a:ext cx="211176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Worker node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Shape 206"/>
          <p:cNvSpPr/>
          <p:nvPr/>
        </p:nvSpPr>
        <p:spPr>
          <a:xfrm>
            <a:off x="8842320" y="2615040"/>
            <a:ext cx="102384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Text 251"/>
          <p:cNvSpPr/>
          <p:nvPr/>
        </p:nvSpPr>
        <p:spPr>
          <a:xfrm>
            <a:off x="8952120" y="2724840"/>
            <a:ext cx="80424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 agent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207"/>
          <p:cNvSpPr/>
          <p:nvPr/>
        </p:nvSpPr>
        <p:spPr>
          <a:xfrm>
            <a:off x="10076760" y="2615040"/>
            <a:ext cx="1096920" cy="658080"/>
          </a:xfrm>
          <a:prstGeom prst="roundRect">
            <a:avLst>
              <a:gd name="adj" fmla="val 11111"/>
            </a:avLst>
          </a:prstGeom>
          <a:solidFill>
            <a:srgbClr val="102A44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 252"/>
          <p:cNvSpPr/>
          <p:nvPr/>
        </p:nvSpPr>
        <p:spPr>
          <a:xfrm>
            <a:off x="10186560" y="2724840"/>
            <a:ext cx="87732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Shape 208"/>
          <p:cNvSpPr/>
          <p:nvPr/>
        </p:nvSpPr>
        <p:spPr>
          <a:xfrm>
            <a:off x="8842320" y="3694320"/>
            <a:ext cx="102384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253"/>
          <p:cNvSpPr/>
          <p:nvPr/>
        </p:nvSpPr>
        <p:spPr>
          <a:xfrm>
            <a:off x="8952120" y="3803760"/>
            <a:ext cx="80424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Flask app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209"/>
          <p:cNvSpPr/>
          <p:nvPr/>
        </p:nvSpPr>
        <p:spPr>
          <a:xfrm>
            <a:off x="10076760" y="3694320"/>
            <a:ext cx="1096920" cy="639720"/>
          </a:xfrm>
          <a:prstGeom prst="roundRect">
            <a:avLst>
              <a:gd name="adj" fmla="val 11429"/>
            </a:avLst>
          </a:prstGeom>
          <a:solidFill>
            <a:srgbClr val="15334D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254"/>
          <p:cNvSpPr/>
          <p:nvPr/>
        </p:nvSpPr>
        <p:spPr>
          <a:xfrm>
            <a:off x="10186560" y="3803760"/>
            <a:ext cx="877320" cy="420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Postgres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Shape 210"/>
          <p:cNvSpPr/>
          <p:nvPr/>
        </p:nvSpPr>
        <p:spPr>
          <a:xfrm>
            <a:off x="934488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211"/>
          <p:cNvSpPr/>
          <p:nvPr/>
        </p:nvSpPr>
        <p:spPr>
          <a:xfrm>
            <a:off x="10634400" y="3282480"/>
            <a:ext cx="360" cy="402480"/>
          </a:xfrm>
          <a:prstGeom prst="line">
            <a:avLst/>
          </a:prstGeom>
          <a:ln w="12700">
            <a:solidFill>
              <a:srgbClr val="3DDC97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255"/>
          <p:cNvSpPr/>
          <p:nvPr/>
        </p:nvSpPr>
        <p:spPr>
          <a:xfrm>
            <a:off x="5989320" y="4956120"/>
            <a:ext cx="51202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In our lab every VM is a single-node K3s cluster: control plane and worker are on the same machine.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Shape 212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213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256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What happens when you create a Pod?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257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 Deployment request becomes running containers through a series of control-plane and node actions.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Shape 214"/>
          <p:cNvSpPr/>
          <p:nvPr/>
        </p:nvSpPr>
        <p:spPr>
          <a:xfrm>
            <a:off x="194760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15"/>
          <p:cNvSpPr/>
          <p:nvPr/>
        </p:nvSpPr>
        <p:spPr>
          <a:xfrm>
            <a:off x="3749040" y="2743200"/>
            <a:ext cx="45720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216"/>
          <p:cNvSpPr/>
          <p:nvPr/>
        </p:nvSpPr>
        <p:spPr>
          <a:xfrm>
            <a:off x="5550120" y="2743200"/>
            <a:ext cx="576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17"/>
          <p:cNvSpPr/>
          <p:nvPr/>
        </p:nvSpPr>
        <p:spPr>
          <a:xfrm>
            <a:off x="7470360" y="2743200"/>
            <a:ext cx="63108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" name="Shape 218"/>
          <p:cNvSpPr/>
          <p:nvPr/>
        </p:nvSpPr>
        <p:spPr>
          <a:xfrm>
            <a:off x="9445680" y="2743200"/>
            <a:ext cx="594360" cy="360"/>
          </a:xfrm>
          <a:prstGeom prst="line">
            <a:avLst/>
          </a:prstGeom>
          <a:ln w="12700">
            <a:solidFill>
              <a:srgbClr val="27D3F5">
                <a:alpha val="95000"/>
              </a:srgbClr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Shape 219"/>
          <p:cNvSpPr/>
          <p:nvPr/>
        </p:nvSpPr>
        <p:spPr>
          <a:xfrm>
            <a:off x="71316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258"/>
          <p:cNvSpPr/>
          <p:nvPr/>
        </p:nvSpPr>
        <p:spPr>
          <a:xfrm>
            <a:off x="82296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kubectl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send YAML / command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220"/>
          <p:cNvSpPr/>
          <p:nvPr/>
        </p:nvSpPr>
        <p:spPr>
          <a:xfrm>
            <a:off x="251460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02A4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259"/>
          <p:cNvSpPr/>
          <p:nvPr/>
        </p:nvSpPr>
        <p:spPr>
          <a:xfrm>
            <a:off x="262440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API Server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validate and store desired state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Shape 221"/>
          <p:cNvSpPr/>
          <p:nvPr/>
        </p:nvSpPr>
        <p:spPr>
          <a:xfrm>
            <a:off x="43160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260"/>
          <p:cNvSpPr/>
          <p:nvPr/>
        </p:nvSpPr>
        <p:spPr>
          <a:xfrm>
            <a:off x="44258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choose a node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222"/>
          <p:cNvSpPr/>
          <p:nvPr/>
        </p:nvSpPr>
        <p:spPr>
          <a:xfrm>
            <a:off x="623628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261"/>
          <p:cNvSpPr/>
          <p:nvPr/>
        </p:nvSpPr>
        <p:spPr>
          <a:xfrm>
            <a:off x="634608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pull image and create 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223"/>
          <p:cNvSpPr/>
          <p:nvPr/>
        </p:nvSpPr>
        <p:spPr>
          <a:xfrm>
            <a:off x="82112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262"/>
          <p:cNvSpPr/>
          <p:nvPr/>
        </p:nvSpPr>
        <p:spPr>
          <a:xfrm>
            <a:off x="83210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run containers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Shape 224"/>
          <p:cNvSpPr/>
          <p:nvPr/>
        </p:nvSpPr>
        <p:spPr>
          <a:xfrm>
            <a:off x="10149840" y="2212920"/>
            <a:ext cx="1325520" cy="1060200"/>
          </a:xfrm>
          <a:prstGeom prst="roundRect">
            <a:avLst>
              <a:gd name="adj" fmla="val 6897"/>
            </a:avLst>
          </a:prstGeom>
          <a:solidFill>
            <a:srgbClr val="12395A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63"/>
          <p:cNvSpPr/>
          <p:nvPr/>
        </p:nvSpPr>
        <p:spPr>
          <a:xfrm>
            <a:off x="10259640" y="2322720"/>
            <a:ext cx="1105920" cy="84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7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application is running</a:t>
            </a:r>
            <a:endParaRPr lang="en-US" sz="10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264"/>
          <p:cNvSpPr/>
          <p:nvPr/>
        </p:nvSpPr>
        <p:spPr>
          <a:xfrm>
            <a:off x="658440" y="3886200"/>
            <a:ext cx="3931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Where common failures show up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Shape 225"/>
          <p:cNvSpPr/>
          <p:nvPr/>
        </p:nvSpPr>
        <p:spPr>
          <a:xfrm>
            <a:off x="658440" y="43707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 265"/>
          <p:cNvSpPr/>
          <p:nvPr/>
        </p:nvSpPr>
        <p:spPr>
          <a:xfrm>
            <a:off x="822960" y="44805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F2C94C"/>
                </a:solidFill>
                <a:effectLst/>
                <a:uFillTx/>
                <a:latin typeface="Aptos"/>
              </a:rPr>
              <a:t>ImagePullBackOff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266"/>
          <p:cNvSpPr/>
          <p:nvPr/>
        </p:nvSpPr>
        <p:spPr>
          <a:xfrm>
            <a:off x="2788920" y="44805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kubelet/containerd cannot pull image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267"/>
          <p:cNvSpPr/>
          <p:nvPr/>
        </p:nvSpPr>
        <p:spPr>
          <a:xfrm>
            <a:off x="7315200" y="44805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26"/>
          <p:cNvSpPr/>
          <p:nvPr/>
        </p:nvSpPr>
        <p:spPr>
          <a:xfrm>
            <a:off x="658440" y="486468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268"/>
          <p:cNvSpPr/>
          <p:nvPr/>
        </p:nvSpPr>
        <p:spPr>
          <a:xfrm>
            <a:off x="822960" y="497448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EB5757"/>
                </a:solidFill>
                <a:effectLst/>
                <a:uFillTx/>
                <a:latin typeface="Aptos"/>
              </a:rPr>
              <a:t>CrashLoopBackOff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269"/>
          <p:cNvSpPr/>
          <p:nvPr/>
        </p:nvSpPr>
        <p:spPr>
          <a:xfrm>
            <a:off x="2788920" y="497448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image was pulled,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270"/>
          <p:cNvSpPr/>
          <p:nvPr/>
        </p:nvSpPr>
        <p:spPr>
          <a:xfrm>
            <a:off x="7315200" y="497448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logs --previous + describe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Shape 227"/>
          <p:cNvSpPr/>
          <p:nvPr/>
        </p:nvSpPr>
        <p:spPr>
          <a:xfrm>
            <a:off x="658440" y="535824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D263D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271"/>
          <p:cNvSpPr/>
          <p:nvPr/>
        </p:nvSpPr>
        <p:spPr>
          <a:xfrm>
            <a:off x="822960" y="546804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27D3F5"/>
                </a:solidFill>
                <a:effectLst/>
                <a:uFillTx/>
                <a:latin typeface="Aptos"/>
              </a:rPr>
              <a:t>Running but not Ready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272"/>
          <p:cNvSpPr/>
          <p:nvPr/>
        </p:nvSpPr>
        <p:spPr>
          <a:xfrm>
            <a:off x="2788920" y="546804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process runs, readiness check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273"/>
          <p:cNvSpPr/>
          <p:nvPr/>
        </p:nvSpPr>
        <p:spPr>
          <a:xfrm>
            <a:off x="7315200" y="546804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endpoints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228"/>
          <p:cNvSpPr/>
          <p:nvPr/>
        </p:nvSpPr>
        <p:spPr>
          <a:xfrm>
            <a:off x="658440" y="5852160"/>
            <a:ext cx="10808280" cy="402120"/>
          </a:xfrm>
          <a:prstGeom prst="roundRect">
            <a:avLst>
              <a:gd name="adj" fmla="val 13636"/>
            </a:avLst>
          </a:prstGeom>
          <a:solidFill>
            <a:srgbClr val="0A2035"/>
          </a:solidFill>
          <a:ln w="12700">
            <a:solidFill>
              <a:srgbClr val="173E60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274"/>
          <p:cNvSpPr/>
          <p:nvPr/>
        </p:nvSpPr>
        <p:spPr>
          <a:xfrm>
            <a:off x="822960" y="5961960"/>
            <a:ext cx="182844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Pending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275"/>
          <p:cNvSpPr/>
          <p:nvPr/>
        </p:nvSpPr>
        <p:spPr>
          <a:xfrm>
            <a:off x="2788920" y="5961960"/>
            <a:ext cx="425160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or admission cannot place/create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276"/>
          <p:cNvSpPr/>
          <p:nvPr/>
        </p:nvSpPr>
        <p:spPr>
          <a:xfrm>
            <a:off x="7315200" y="5961960"/>
            <a:ext cx="3748680" cy="13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describe pod + quota/events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277"/>
          <p:cNvSpPr/>
          <p:nvPr/>
        </p:nvSpPr>
        <p:spPr>
          <a:xfrm>
            <a:off x="658440" y="6382440"/>
            <a:ext cx="9601200" cy="20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Mental model: first classify the failure stage, then choose the command. Do not debug blindly.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7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Shape 166"/>
          <p:cNvSpPr/>
          <p:nvPr/>
        </p:nvSpPr>
        <p:spPr>
          <a:xfrm>
            <a:off x="0" y="0"/>
            <a:ext cx="12191760" cy="6857640"/>
          </a:xfrm>
          <a:prstGeom prst="rect">
            <a:avLst/>
          </a:prstGeom>
          <a:solidFill>
            <a:srgbClr val="071726"/>
          </a:solidFill>
          <a:ln w="12700">
            <a:solidFill>
              <a:srgbClr val="071726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" name="Shape 167"/>
          <p:cNvSpPr/>
          <p:nvPr/>
        </p:nvSpPr>
        <p:spPr>
          <a:xfrm>
            <a:off x="0" y="0"/>
            <a:ext cx="12191760" cy="164160"/>
          </a:xfrm>
          <a:prstGeom prst="rect">
            <a:avLst/>
          </a:prstGeom>
          <a:solidFill>
            <a:srgbClr val="27D3F5">
              <a:alpha val="85000"/>
            </a:srgbClr>
          </a:solidFill>
          <a:ln w="12700">
            <a:solidFill>
              <a:srgbClr val="27D3F5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12"/>
          <p:cNvSpPr/>
          <p:nvPr/>
        </p:nvSpPr>
        <p:spPr>
          <a:xfrm>
            <a:off x="502920" y="393120"/>
            <a:ext cx="795528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500" b="1" u="none" strike="noStrike">
                <a:solidFill>
                  <a:srgbClr val="F4F8FB"/>
                </a:solidFill>
                <a:effectLst/>
                <a:uFillTx/>
                <a:latin typeface="Aptos Display"/>
                <a:ea typeface="Aptos Display"/>
              </a:rPr>
              <a:t>VM vs Docker vs Kubernetes</a:t>
            </a:r>
            <a:endParaRPr lang="en-US" sz="2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13"/>
          <p:cNvSpPr/>
          <p:nvPr/>
        </p:nvSpPr>
        <p:spPr>
          <a:xfrm>
            <a:off x="521280" y="822960"/>
            <a:ext cx="105156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Three different layers of abstraction, often used together.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168"/>
          <p:cNvSpPr/>
          <p:nvPr/>
        </p:nvSpPr>
        <p:spPr>
          <a:xfrm>
            <a:off x="65844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F2A43"/>
          </a:solidFill>
          <a:ln w="12700">
            <a:solidFill>
              <a:srgbClr val="2F80ED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Text 214"/>
          <p:cNvSpPr/>
          <p:nvPr/>
        </p:nvSpPr>
        <p:spPr>
          <a:xfrm>
            <a:off x="85968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Machine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215"/>
          <p:cNvSpPr/>
          <p:nvPr/>
        </p:nvSpPr>
        <p:spPr>
          <a:xfrm>
            <a:off x="85968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Full OS boundary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169"/>
          <p:cNvSpPr/>
          <p:nvPr/>
        </p:nvSpPr>
        <p:spPr>
          <a:xfrm>
            <a:off x="422460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0D334A"/>
          </a:solidFill>
          <a:ln w="12700">
            <a:solidFill>
              <a:srgbClr val="27D3F5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216"/>
          <p:cNvSpPr/>
          <p:nvPr/>
        </p:nvSpPr>
        <p:spPr>
          <a:xfrm>
            <a:off x="442584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17"/>
          <p:cNvSpPr/>
          <p:nvPr/>
        </p:nvSpPr>
        <p:spPr>
          <a:xfrm>
            <a:off x="442584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Single-container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170"/>
          <p:cNvSpPr/>
          <p:nvPr/>
        </p:nvSpPr>
        <p:spPr>
          <a:xfrm>
            <a:off x="7790760" y="1207080"/>
            <a:ext cx="3154320" cy="4525920"/>
          </a:xfrm>
          <a:prstGeom prst="roundRect">
            <a:avLst>
              <a:gd name="adj" fmla="val 2899"/>
            </a:avLst>
          </a:prstGeom>
          <a:solidFill>
            <a:srgbClr val="102A44"/>
          </a:solidFill>
          <a:ln w="12700">
            <a:solidFill>
              <a:srgbClr val="3DDC97">
                <a:alpha val="9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218"/>
          <p:cNvSpPr/>
          <p:nvPr/>
        </p:nvSpPr>
        <p:spPr>
          <a:xfrm>
            <a:off x="7992000" y="1444680"/>
            <a:ext cx="26056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19"/>
          <p:cNvSpPr/>
          <p:nvPr/>
        </p:nvSpPr>
        <p:spPr>
          <a:xfrm>
            <a:off x="7992000" y="1755720"/>
            <a:ext cx="265140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Application platform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171"/>
          <p:cNvSpPr/>
          <p:nvPr/>
        </p:nvSpPr>
        <p:spPr>
          <a:xfrm>
            <a:off x="109728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220"/>
          <p:cNvSpPr/>
          <p:nvPr/>
        </p:nvSpPr>
        <p:spPr>
          <a:xfrm>
            <a:off x="120708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App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172"/>
          <p:cNvSpPr/>
          <p:nvPr/>
        </p:nvSpPr>
        <p:spPr>
          <a:xfrm>
            <a:off x="109728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221"/>
          <p:cNvSpPr/>
          <p:nvPr/>
        </p:nvSpPr>
        <p:spPr>
          <a:xfrm>
            <a:off x="120708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Guest OS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Shape 173"/>
          <p:cNvSpPr/>
          <p:nvPr/>
        </p:nvSpPr>
        <p:spPr>
          <a:xfrm>
            <a:off x="109728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222"/>
          <p:cNvSpPr/>
          <p:nvPr/>
        </p:nvSpPr>
        <p:spPr>
          <a:xfrm>
            <a:off x="120708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Virtual hardware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74"/>
          <p:cNvSpPr/>
          <p:nvPr/>
        </p:nvSpPr>
        <p:spPr>
          <a:xfrm>
            <a:off x="109728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43854"/>
          </a:solidFill>
          <a:ln w="12700">
            <a:solidFill>
              <a:srgbClr val="2F80ED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23"/>
          <p:cNvSpPr/>
          <p:nvPr/>
        </p:nvSpPr>
        <p:spPr>
          <a:xfrm>
            <a:off x="120708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Hypervisor / cloud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Text 224"/>
          <p:cNvSpPr/>
          <p:nvPr/>
        </p:nvSpPr>
        <p:spPr>
          <a:xfrm>
            <a:off x="91440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strong isolation, legacy workloads, and OS-level control.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Shape 175"/>
          <p:cNvSpPr/>
          <p:nvPr/>
        </p:nvSpPr>
        <p:spPr>
          <a:xfrm>
            <a:off x="4663440" y="23317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225"/>
          <p:cNvSpPr/>
          <p:nvPr/>
        </p:nvSpPr>
        <p:spPr>
          <a:xfrm>
            <a:off x="4773240" y="24415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image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Shape 176"/>
          <p:cNvSpPr/>
          <p:nvPr/>
        </p:nvSpPr>
        <p:spPr>
          <a:xfrm>
            <a:off x="4663440" y="28803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226"/>
          <p:cNvSpPr/>
          <p:nvPr/>
        </p:nvSpPr>
        <p:spPr>
          <a:xfrm>
            <a:off x="4773240" y="29901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Container process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Shape 177"/>
          <p:cNvSpPr/>
          <p:nvPr/>
        </p:nvSpPr>
        <p:spPr>
          <a:xfrm>
            <a:off x="4663440" y="34290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 227"/>
          <p:cNvSpPr/>
          <p:nvPr/>
        </p:nvSpPr>
        <p:spPr>
          <a:xfrm>
            <a:off x="4773240" y="35388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Docker daemon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178"/>
          <p:cNvSpPr/>
          <p:nvPr/>
        </p:nvSpPr>
        <p:spPr>
          <a:xfrm>
            <a:off x="4663440" y="397764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23B54"/>
          </a:solidFill>
          <a:ln w="12700">
            <a:solidFill>
              <a:srgbClr val="27D3F5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228"/>
          <p:cNvSpPr/>
          <p:nvPr/>
        </p:nvSpPr>
        <p:spPr>
          <a:xfrm>
            <a:off x="4773240" y="408744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Host OS kernel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229"/>
          <p:cNvSpPr/>
          <p:nvPr/>
        </p:nvSpPr>
        <p:spPr>
          <a:xfrm>
            <a:off x="448056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packaging and running a single container locally.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Shape 179"/>
          <p:cNvSpPr/>
          <p:nvPr/>
        </p:nvSpPr>
        <p:spPr>
          <a:xfrm>
            <a:off x="8229600" y="224028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9" name="Text 230"/>
          <p:cNvSpPr/>
          <p:nvPr/>
        </p:nvSpPr>
        <p:spPr>
          <a:xfrm>
            <a:off x="8339400" y="235008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Deployment / Service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180"/>
          <p:cNvSpPr/>
          <p:nvPr/>
        </p:nvSpPr>
        <p:spPr>
          <a:xfrm>
            <a:off x="8229600" y="278892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Text 231"/>
          <p:cNvSpPr/>
          <p:nvPr/>
        </p:nvSpPr>
        <p:spPr>
          <a:xfrm>
            <a:off x="8339400" y="289872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Pods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2" name="Shape 181"/>
          <p:cNvSpPr/>
          <p:nvPr/>
        </p:nvSpPr>
        <p:spPr>
          <a:xfrm>
            <a:off x="8229600" y="333756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 232"/>
          <p:cNvSpPr/>
          <p:nvPr/>
        </p:nvSpPr>
        <p:spPr>
          <a:xfrm>
            <a:off x="8339400" y="344736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Scheduler + controllers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Shape 182"/>
          <p:cNvSpPr/>
          <p:nvPr/>
        </p:nvSpPr>
        <p:spPr>
          <a:xfrm>
            <a:off x="8229600" y="3886200"/>
            <a:ext cx="2239920" cy="411120"/>
          </a:xfrm>
          <a:prstGeom prst="roundRect">
            <a:avLst>
              <a:gd name="adj" fmla="val 17778"/>
            </a:avLst>
          </a:prstGeom>
          <a:solidFill>
            <a:srgbClr val="163B43"/>
          </a:solidFill>
          <a:ln w="12700">
            <a:solidFill>
              <a:srgbClr val="3DDC97">
                <a:alpha val="8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233"/>
          <p:cNvSpPr/>
          <p:nvPr/>
        </p:nvSpPr>
        <p:spPr>
          <a:xfrm>
            <a:off x="8339400" y="3996000"/>
            <a:ext cx="2020320" cy="19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Nodes + container 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 234"/>
          <p:cNvSpPr/>
          <p:nvPr/>
        </p:nvSpPr>
        <p:spPr>
          <a:xfrm>
            <a:off x="8046720" y="4864680"/>
            <a:ext cx="2605680" cy="438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A8C1D1"/>
                </a:solidFill>
                <a:effectLst/>
                <a:uFillTx/>
                <a:latin typeface="Aptos"/>
              </a:rPr>
              <a:t>Best for operating many containers with desired state and self-healing.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83"/>
          <p:cNvSpPr/>
          <p:nvPr/>
        </p:nvSpPr>
        <p:spPr>
          <a:xfrm>
            <a:off x="1325880" y="5989320"/>
            <a:ext cx="9555480" cy="438480"/>
          </a:xfrm>
          <a:prstGeom prst="roundRect">
            <a:avLst>
              <a:gd name="adj" fmla="val 16667"/>
            </a:avLst>
          </a:prstGeom>
          <a:solidFill>
            <a:srgbClr val="0D263D"/>
          </a:solidFill>
          <a:ln w="12700">
            <a:solidFill>
              <a:srgbClr val="27D3F5">
                <a:alpha val="6500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Text 235"/>
          <p:cNvSpPr/>
          <p:nvPr/>
        </p:nvSpPr>
        <p:spPr>
          <a:xfrm>
            <a:off x="1572840" y="6117480"/>
            <a:ext cx="9052560" cy="145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80" b="1" u="none" strike="noStrike">
                <a:solidFill>
                  <a:srgbClr val="F4F8FB"/>
                </a:solidFill>
                <a:effectLst/>
                <a:uFillTx/>
                <a:latin typeface="Aptos"/>
              </a:rPr>
              <a:t>In this workshop: VM provides the lab machine → Docker builds images → Kubernetes runs and operates the application.</a:t>
            </a:r>
            <a:endParaRPr lang="en-US" sz="10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Shape 163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206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1" name="Text 207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 208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Workshop architecture and operating model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6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story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topic appears because the application needs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0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6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Learn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Who is this for?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Same lab, different responsibilities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Infrastructure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 safely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runtime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 logs and health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when the app is the problem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Design for debuggability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Understand workload impact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Diagnose scheduling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Enforce quotas and defaults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 minimal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Provide reliable cluster signals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we will build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application, many failure modes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Kubernetes pieces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Flask API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dependency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logs and file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 and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and 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 and LimitRange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Lab rhythm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Repeat this pattern in every module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8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Desired state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3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Observe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7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Break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Diagnose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Takeaway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 assumption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Designing exercises for the real lab environment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We can demonstrate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We discuss, not lab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failures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 and RWO PVC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Multi-node RWO attach conflicts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storage implementation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Production-grade PostgreSQL HA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NetworkPolicy deep dive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Full CI/CD pipeline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schedule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1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and first failures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Images, Deployment, Service, ImagePullBackOff, CrashLoopBackOff, readiness.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2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Production-like application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PostgreSQL, migration Job, volumes, distroless, resources, quotas, OOMKilled.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Day 3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Playbook and combined cases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Decision tree, team exercise, dev/platform responsibility split.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setup and K3s installation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lab VM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One VM per participant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VM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this shape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 vCPU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8 GB RAM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40 GB disk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Ubuntu 24.04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Single-node K3s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room for K3s + Docker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PostgreSQL and several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cache without immediate disk pressure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Room for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Predictable participant experience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Basic single-node installation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status k3s --no-pager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kubectl get nodes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For the workshop user: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cp /etc/rancher/k3s/k3s.yaml /home/k8s/.kube/config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chown -R k8s:k8s /home/k8s/.kube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Install K3s behind a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Export proxy variables before running the installer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HTTPS_PROXY=http://proxy.example.com:3128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export NO_PROXY=localhost,127.0.0.1,10.42.0.0/16,10.43.0.0/16,.svc,.cluster.local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-sfL https://get.k3s.io | sh -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cat /etc/systemd/system/k3s.service.env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k3s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proxy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Docker daemon and Docker build need proxy separately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mkdir -p /etc/systemd/system/docker.service.d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tee /etc/systemd/system/docker.service.d/http-proxy.conf &lt;&lt;EOF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[Service]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Environment="HTTPS_PROXY=http://proxy.example.com:3128"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Environment="NO_PROXY=localhost,127.0.0.1,.svc,.cluster.local,10.42.0.0/16,10.43.0.0/16"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EOF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daemon-reload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sudo systemctl restart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info | grep -i proxy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validation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 before the workshop starts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Expected result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nodes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pods -A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ps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compose version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df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free -h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system Pods are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command works without sudo or after newgrp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Enough disk space left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 pulls images successfully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Shape 102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Shape 10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Text 12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Module 3/4 bridge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127"/>
          <p:cNvSpPr/>
          <p:nvPr/>
        </p:nvSpPr>
        <p:spPr>
          <a:xfrm>
            <a:off x="567000" y="960120"/>
            <a:ext cx="749628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2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Nginx quick start</a:t>
            </a:r>
            <a:endParaRPr lang="en-US" sz="4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128"/>
          <p:cNvSpPr/>
          <p:nvPr/>
        </p:nvSpPr>
        <p:spPr>
          <a:xfrm>
            <a:off x="594360" y="1682640"/>
            <a:ext cx="804492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small hands-on warm-up before the Flask workshop application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Shape 104"/>
          <p:cNvSpPr/>
          <p:nvPr/>
        </p:nvSpPr>
        <p:spPr>
          <a:xfrm>
            <a:off x="658440" y="2331720"/>
            <a:ext cx="14155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7" name="Text 129"/>
          <p:cNvSpPr/>
          <p:nvPr/>
        </p:nvSpPr>
        <p:spPr>
          <a:xfrm>
            <a:off x="658440" y="2414160"/>
            <a:ext cx="14155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Docker run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Shape 105"/>
          <p:cNvSpPr/>
          <p:nvPr/>
        </p:nvSpPr>
        <p:spPr>
          <a:xfrm>
            <a:off x="2240280" y="2331720"/>
            <a:ext cx="168984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130"/>
          <p:cNvSpPr/>
          <p:nvPr/>
        </p:nvSpPr>
        <p:spPr>
          <a:xfrm>
            <a:off x="2240280" y="2414160"/>
            <a:ext cx="168984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K3s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106"/>
          <p:cNvSpPr/>
          <p:nvPr/>
        </p:nvSpPr>
        <p:spPr>
          <a:xfrm>
            <a:off x="4096440" y="2331720"/>
            <a:ext cx="8211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131"/>
          <p:cNvSpPr/>
          <p:nvPr/>
        </p:nvSpPr>
        <p:spPr>
          <a:xfrm>
            <a:off x="4096440" y="2414160"/>
            <a:ext cx="8211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107"/>
          <p:cNvSpPr/>
          <p:nvPr/>
        </p:nvSpPr>
        <p:spPr>
          <a:xfrm>
            <a:off x="5102280" y="2331720"/>
            <a:ext cx="95832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132"/>
          <p:cNvSpPr/>
          <p:nvPr/>
        </p:nvSpPr>
        <p:spPr>
          <a:xfrm>
            <a:off x="5102280" y="2414160"/>
            <a:ext cx="95832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Service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108"/>
          <p:cNvSpPr/>
          <p:nvPr/>
        </p:nvSpPr>
        <p:spPr>
          <a:xfrm>
            <a:off x="6272640" y="2331720"/>
            <a:ext cx="1506960" cy="382320"/>
          </a:xfrm>
          <a:prstGeom prst="roundRect">
            <a:avLst>
              <a:gd name="adj" fmla="val 42857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5" name="Text 133"/>
          <p:cNvSpPr/>
          <p:nvPr/>
        </p:nvSpPr>
        <p:spPr>
          <a:xfrm>
            <a:off x="6272640" y="2414160"/>
            <a:ext cx="1506960" cy="16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Port-forward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109"/>
          <p:cNvSpPr/>
          <p:nvPr/>
        </p:nvSpPr>
        <p:spPr>
          <a:xfrm>
            <a:off x="731520" y="3063240"/>
            <a:ext cx="10742400" cy="1735560"/>
          </a:xfrm>
          <a:prstGeom prst="roundRect">
            <a:avLst>
              <a:gd name="adj" fmla="val 421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134"/>
          <p:cNvSpPr/>
          <p:nvPr/>
        </p:nvSpPr>
        <p:spPr>
          <a:xfrm>
            <a:off x="932760" y="3227760"/>
            <a:ext cx="10339920" cy="147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 --port=80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Text 135"/>
          <p:cNvSpPr/>
          <p:nvPr/>
        </p:nvSpPr>
        <p:spPr>
          <a:xfrm>
            <a:off x="749880" y="5166360"/>
            <a:ext cx="969084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Goal: prove that participants can start a container locally and then run the same image in Kubernetes.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Shape 110"/>
          <p:cNvSpPr/>
          <p:nvPr/>
        </p:nvSpPr>
        <p:spPr>
          <a:xfrm>
            <a:off x="0" y="0"/>
            <a:ext cx="12189960" cy="685620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Shape 111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6"/>
          <p:cNvSpPr/>
          <p:nvPr/>
        </p:nvSpPr>
        <p:spPr>
          <a:xfrm>
            <a:off x="548640" y="6419160"/>
            <a:ext cx="4113000" cy="19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37"/>
          <p:cNvSpPr/>
          <p:nvPr/>
        </p:nvSpPr>
        <p:spPr>
          <a:xfrm>
            <a:off x="548640" y="411480"/>
            <a:ext cx="11062440" cy="50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Run nginx with Docker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Text 138"/>
          <p:cNvSpPr/>
          <p:nvPr/>
        </p:nvSpPr>
        <p:spPr>
          <a:xfrm>
            <a:off x="567000" y="987480"/>
            <a:ext cx="10605240" cy="345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minimal local container run: image, container, port mapping.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Shape 112"/>
          <p:cNvSpPr/>
          <p:nvPr/>
        </p:nvSpPr>
        <p:spPr>
          <a:xfrm>
            <a:off x="658440" y="1600200"/>
            <a:ext cx="688392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Text 139"/>
          <p:cNvSpPr/>
          <p:nvPr/>
        </p:nvSpPr>
        <p:spPr>
          <a:xfrm>
            <a:off x="859680" y="1764720"/>
            <a:ext cx="622548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113"/>
          <p:cNvSpPr/>
          <p:nvPr/>
        </p:nvSpPr>
        <p:spPr>
          <a:xfrm>
            <a:off x="7772400" y="1600200"/>
            <a:ext cx="3747240" cy="1918440"/>
          </a:xfrm>
          <a:prstGeom prst="roundRect">
            <a:avLst>
              <a:gd name="adj" fmla="val 381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7" name="Text 140"/>
          <p:cNvSpPr/>
          <p:nvPr/>
        </p:nvSpPr>
        <p:spPr>
          <a:xfrm>
            <a:off x="8229600" y="1764720"/>
            <a:ext cx="3088800" cy="166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ps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logs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rm -f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141"/>
          <p:cNvSpPr/>
          <p:nvPr/>
        </p:nvSpPr>
        <p:spPr>
          <a:xfrm>
            <a:off x="685800" y="3977640"/>
            <a:ext cx="2741400" cy="29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this demonstrates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Text 142"/>
          <p:cNvSpPr/>
          <p:nvPr/>
        </p:nvSpPr>
        <p:spPr>
          <a:xfrm>
            <a:off x="822960" y="4462200"/>
            <a:ext cx="5667480" cy="109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1  Image is pulled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2  Container starts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3  Host port maps to container port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4  HTTP responds on localhost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0" name="Shape 114"/>
          <p:cNvSpPr/>
          <p:nvPr/>
        </p:nvSpPr>
        <p:spPr>
          <a:xfrm>
            <a:off x="6995160" y="4343400"/>
            <a:ext cx="4067280" cy="958320"/>
          </a:xfrm>
          <a:prstGeom prst="roundRect">
            <a:avLst>
              <a:gd name="adj" fmla="val 11429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143"/>
          <p:cNvSpPr/>
          <p:nvPr/>
        </p:nvSpPr>
        <p:spPr>
          <a:xfrm>
            <a:off x="7269480" y="4681800"/>
            <a:ext cx="3472920" cy="226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3DDC97"/>
                </a:solidFill>
                <a:effectLst/>
                <a:uFillTx/>
                <a:latin typeface="Aptos"/>
              </a:rPr>
              <a:t>Local success before Kubernetes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Shape 11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3" name="Shape 11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4" name="Text 14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Docker warm-up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Text 14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Docker command anatomy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14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Keep the mental model simple before moving to Kubernetes.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117"/>
          <p:cNvSpPr/>
          <p:nvPr/>
        </p:nvSpPr>
        <p:spPr>
          <a:xfrm>
            <a:off x="685800" y="1463040"/>
            <a:ext cx="1078848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47"/>
          <p:cNvSpPr/>
          <p:nvPr/>
        </p:nvSpPr>
        <p:spPr>
          <a:xfrm>
            <a:off x="887040" y="1627560"/>
            <a:ext cx="1038600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docker run -d --name nginx-demo -p 8080:80 nginx:latest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9" name="Shape 118"/>
          <p:cNvSpPr/>
          <p:nvPr/>
        </p:nvSpPr>
        <p:spPr>
          <a:xfrm>
            <a:off x="822960" y="27889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148"/>
          <p:cNvSpPr/>
          <p:nvPr/>
        </p:nvSpPr>
        <p:spPr>
          <a:xfrm>
            <a:off x="969120" y="28987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-d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1" name="Text 149"/>
          <p:cNvSpPr/>
          <p:nvPr/>
        </p:nvSpPr>
        <p:spPr>
          <a:xfrm>
            <a:off x="3977640" y="28803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 in the background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119"/>
          <p:cNvSpPr/>
          <p:nvPr/>
        </p:nvSpPr>
        <p:spPr>
          <a:xfrm>
            <a:off x="822960" y="34747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3" name="Text 150"/>
          <p:cNvSpPr/>
          <p:nvPr/>
        </p:nvSpPr>
        <p:spPr>
          <a:xfrm>
            <a:off x="969120" y="35845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--name nginx-demo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151"/>
          <p:cNvSpPr/>
          <p:nvPr/>
        </p:nvSpPr>
        <p:spPr>
          <a:xfrm>
            <a:off x="3977640" y="35661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Give the container a human-readable name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120"/>
          <p:cNvSpPr/>
          <p:nvPr/>
        </p:nvSpPr>
        <p:spPr>
          <a:xfrm>
            <a:off x="822960" y="41605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52"/>
          <p:cNvSpPr/>
          <p:nvPr/>
        </p:nvSpPr>
        <p:spPr>
          <a:xfrm>
            <a:off x="969120" y="42703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-p 8080:80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153"/>
          <p:cNvSpPr/>
          <p:nvPr/>
        </p:nvSpPr>
        <p:spPr>
          <a:xfrm>
            <a:off x="3977640" y="42519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Host port 8080 → container port 80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121"/>
          <p:cNvSpPr/>
          <p:nvPr/>
        </p:nvSpPr>
        <p:spPr>
          <a:xfrm>
            <a:off x="822960" y="4846320"/>
            <a:ext cx="2833200" cy="437400"/>
          </a:xfrm>
          <a:prstGeom prst="roundRect">
            <a:avLst>
              <a:gd name="adj" fmla="val 25000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9" name="Text 154"/>
          <p:cNvSpPr/>
          <p:nvPr/>
        </p:nvSpPr>
        <p:spPr>
          <a:xfrm>
            <a:off x="969120" y="4956120"/>
            <a:ext cx="25588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55E6FF"/>
                </a:solidFill>
                <a:effectLst/>
                <a:uFillTx/>
                <a:latin typeface="Aptos Mono"/>
                <a:ea typeface="Aptos Mono"/>
              </a:rPr>
              <a:t>nginx:latest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0" name="Text 155"/>
          <p:cNvSpPr/>
          <p:nvPr/>
        </p:nvSpPr>
        <p:spPr>
          <a:xfrm>
            <a:off x="3977640" y="4937760"/>
            <a:ext cx="6216480" cy="218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 name and tag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1" name="Text 156"/>
          <p:cNvSpPr/>
          <p:nvPr/>
        </p:nvSpPr>
        <p:spPr>
          <a:xfrm>
            <a:off x="749880" y="5806440"/>
            <a:ext cx="978264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Next: Kubernetes will run the same image, but the objects are different.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Shape 122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123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15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15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1 — Create a namespace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15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Use a small isolated namespace for the nginx warm-up.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7" name="Shape 124"/>
          <p:cNvSpPr/>
          <p:nvPr/>
        </p:nvSpPr>
        <p:spPr>
          <a:xfrm>
            <a:off x="731520" y="1554480"/>
            <a:ext cx="10468800" cy="1827360"/>
          </a:xfrm>
          <a:prstGeom prst="roundRect">
            <a:avLst>
              <a:gd name="adj" fmla="val 4000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60"/>
          <p:cNvSpPr/>
          <p:nvPr/>
        </p:nvSpPr>
        <p:spPr>
          <a:xfrm>
            <a:off x="932760" y="1719000"/>
            <a:ext cx="10038960" cy="1571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create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get namespaces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config set-context --current --namespace=nginx-demo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9" name="Text 161"/>
          <p:cNvSpPr/>
          <p:nvPr/>
        </p:nvSpPr>
        <p:spPr>
          <a:xfrm>
            <a:off x="6629400" y="3657600"/>
            <a:ext cx="43876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Why namespace first?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62"/>
          <p:cNvSpPr/>
          <p:nvPr/>
        </p:nvSpPr>
        <p:spPr>
          <a:xfrm>
            <a:off x="6629400" y="4298040"/>
            <a:ext cx="466200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keeps lab objects separate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makes cleanup easy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avoids touching the main workshop namespace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125"/>
          <p:cNvSpPr/>
          <p:nvPr/>
        </p:nvSpPr>
        <p:spPr>
          <a:xfrm>
            <a:off x="914400" y="4251960"/>
            <a:ext cx="5210640" cy="1095840"/>
          </a:xfrm>
          <a:prstGeom prst="roundRect">
            <a:avLst>
              <a:gd name="adj" fmla="val 6667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2" name="Text 163"/>
          <p:cNvSpPr/>
          <p:nvPr/>
        </p:nvSpPr>
        <p:spPr>
          <a:xfrm>
            <a:off x="1115640" y="4416480"/>
            <a:ext cx="4808160" cy="83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Cleanup later: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Shape 126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127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16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16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- quick: Step 2 — Run nginx as a Pod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7" name="Text 16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This is intentionally simple: one Pod, no Deployment yet.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Shape 128"/>
          <p:cNvSpPr/>
          <p:nvPr/>
        </p:nvSpPr>
        <p:spPr>
          <a:xfrm>
            <a:off x="685800" y="1536120"/>
            <a:ext cx="9828720" cy="74880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167"/>
          <p:cNvSpPr/>
          <p:nvPr/>
        </p:nvSpPr>
        <p:spPr>
          <a:xfrm>
            <a:off x="887040" y="1600200"/>
            <a:ext cx="9398880" cy="68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run nginx --image=nginx:latest --port=80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Shape 129"/>
          <p:cNvSpPr/>
          <p:nvPr/>
        </p:nvSpPr>
        <p:spPr>
          <a:xfrm flipV="1">
            <a:off x="6602040" y="2512080"/>
            <a:ext cx="4936320" cy="1599120"/>
          </a:xfrm>
          <a:prstGeom prst="roundRect">
            <a:avLst>
              <a:gd name="adj" fmla="val 4324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68"/>
          <p:cNvSpPr/>
          <p:nvPr/>
        </p:nvSpPr>
        <p:spPr>
          <a:xfrm>
            <a:off x="6803280" y="2514600"/>
            <a:ext cx="4533840" cy="159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pods -w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pod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logs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2" name="Text 169"/>
          <p:cNvSpPr/>
          <p:nvPr/>
        </p:nvSpPr>
        <p:spPr>
          <a:xfrm>
            <a:off x="749880" y="3794760"/>
            <a:ext cx="255888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What to observe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Shape 130"/>
          <p:cNvSpPr/>
          <p:nvPr/>
        </p:nvSpPr>
        <p:spPr>
          <a:xfrm>
            <a:off x="8413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Text 170"/>
          <p:cNvSpPr/>
          <p:nvPr/>
        </p:nvSpPr>
        <p:spPr>
          <a:xfrm>
            <a:off x="8413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1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1"/>
          <p:cNvSpPr/>
          <p:nvPr/>
        </p:nvSpPr>
        <p:spPr>
          <a:xfrm>
            <a:off x="1344240" y="4407480"/>
            <a:ext cx="246744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ContainerCreating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6" name="Shape 131"/>
          <p:cNvSpPr/>
          <p:nvPr/>
        </p:nvSpPr>
        <p:spPr>
          <a:xfrm>
            <a:off x="2989800" y="4562640"/>
            <a:ext cx="66780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32"/>
          <p:cNvSpPr/>
          <p:nvPr/>
        </p:nvSpPr>
        <p:spPr>
          <a:xfrm>
            <a:off x="382212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172"/>
          <p:cNvSpPr/>
          <p:nvPr/>
        </p:nvSpPr>
        <p:spPr>
          <a:xfrm>
            <a:off x="382212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9" name="Text 173"/>
          <p:cNvSpPr/>
          <p:nvPr/>
        </p:nvSpPr>
        <p:spPr>
          <a:xfrm>
            <a:off x="4325040" y="4407480"/>
            <a:ext cx="18273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Running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Shape 133"/>
          <p:cNvSpPr/>
          <p:nvPr/>
        </p:nvSpPr>
        <p:spPr>
          <a:xfrm>
            <a:off x="5394960" y="4562640"/>
            <a:ext cx="64008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1" name="Shape 134"/>
          <p:cNvSpPr/>
          <p:nvPr/>
        </p:nvSpPr>
        <p:spPr>
          <a:xfrm>
            <a:off x="6199560" y="4370760"/>
            <a:ext cx="382680" cy="382680"/>
          </a:xfrm>
          <a:prstGeom prst="ellipse">
            <a:avLst/>
          </a:prstGeom>
          <a:solidFill>
            <a:srgbClr val="32A8FF"/>
          </a:solidFill>
          <a:ln w="1270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Text 174"/>
          <p:cNvSpPr/>
          <p:nvPr/>
        </p:nvSpPr>
        <p:spPr>
          <a:xfrm>
            <a:off x="6199560" y="4457880"/>
            <a:ext cx="382680" cy="1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trike="noStrike">
                <a:solidFill>
                  <a:srgbClr val="06111D"/>
                </a:solidFill>
                <a:effectLst/>
                <a:uFillTx/>
                <a:latin typeface="Aptos"/>
              </a:rPr>
              <a:t>3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175"/>
          <p:cNvSpPr/>
          <p:nvPr/>
        </p:nvSpPr>
        <p:spPr>
          <a:xfrm>
            <a:off x="6702480" y="4407480"/>
            <a:ext cx="1598760" cy="32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Ready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4" name="Text 176"/>
          <p:cNvSpPr/>
          <p:nvPr/>
        </p:nvSpPr>
        <p:spPr>
          <a:xfrm>
            <a:off x="786240" y="5532120"/>
            <a:ext cx="10422720" cy="29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This is a smoke test of image pulling, scheduling, container start and basic logging.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Shape 135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6" name="Shape 136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177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178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3 — Expose the Pod with a Service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179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A Service gives the Pod a stable network entry point.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137"/>
          <p:cNvSpPr/>
          <p:nvPr/>
        </p:nvSpPr>
        <p:spPr>
          <a:xfrm>
            <a:off x="713160" y="1508760"/>
            <a:ext cx="8886960" cy="54756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1" name="Text 180"/>
          <p:cNvSpPr/>
          <p:nvPr/>
        </p:nvSpPr>
        <p:spPr>
          <a:xfrm>
            <a:off x="914400" y="1508760"/>
            <a:ext cx="9371520" cy="54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expose pod nginx --name=nginx --port=80 --target-port=80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2" name="Shape 138"/>
          <p:cNvSpPr/>
          <p:nvPr/>
        </p:nvSpPr>
        <p:spPr>
          <a:xfrm>
            <a:off x="6537960" y="2286000"/>
            <a:ext cx="5073480" cy="1370520"/>
          </a:xfrm>
          <a:prstGeom prst="roundRect">
            <a:avLst>
              <a:gd name="adj" fmla="val 465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181"/>
          <p:cNvSpPr/>
          <p:nvPr/>
        </p:nvSpPr>
        <p:spPr>
          <a:xfrm>
            <a:off x="6739200" y="2286000"/>
            <a:ext cx="4671000" cy="137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svc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endpoints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describe svc nginx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139"/>
          <p:cNvSpPr/>
          <p:nvPr/>
        </p:nvSpPr>
        <p:spPr>
          <a:xfrm>
            <a:off x="960120" y="4005000"/>
            <a:ext cx="146160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2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182"/>
          <p:cNvSpPr/>
          <p:nvPr/>
        </p:nvSpPr>
        <p:spPr>
          <a:xfrm>
            <a:off x="1234440" y="4325040"/>
            <a:ext cx="91296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6" name="Shape 140"/>
          <p:cNvSpPr/>
          <p:nvPr/>
        </p:nvSpPr>
        <p:spPr>
          <a:xfrm>
            <a:off x="2514600" y="4416480"/>
            <a:ext cx="164592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7" name="Shape 141"/>
          <p:cNvSpPr/>
          <p:nvPr/>
        </p:nvSpPr>
        <p:spPr>
          <a:xfrm>
            <a:off x="4251960" y="4005000"/>
            <a:ext cx="164448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55E6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8" name="Text 183"/>
          <p:cNvSpPr/>
          <p:nvPr/>
        </p:nvSpPr>
        <p:spPr>
          <a:xfrm>
            <a:off x="4462200" y="4325040"/>
            <a:ext cx="12330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9" name="Shape 142"/>
          <p:cNvSpPr/>
          <p:nvPr/>
        </p:nvSpPr>
        <p:spPr>
          <a:xfrm>
            <a:off x="5989320" y="4416480"/>
            <a:ext cx="15087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0" name="Shape 143"/>
          <p:cNvSpPr/>
          <p:nvPr/>
        </p:nvSpPr>
        <p:spPr>
          <a:xfrm>
            <a:off x="7589520" y="4005000"/>
            <a:ext cx="1735920" cy="821520"/>
          </a:xfrm>
          <a:prstGeom prst="roundRect">
            <a:avLst>
              <a:gd name="adj" fmla="val 11111"/>
            </a:avLst>
          </a:prstGeom>
          <a:solidFill>
            <a:srgbClr val="102F47"/>
          </a:solidFill>
          <a:ln w="19050">
            <a:solidFill>
              <a:srgbClr val="3DDC9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1" name="Text 184"/>
          <p:cNvSpPr/>
          <p:nvPr/>
        </p:nvSpPr>
        <p:spPr>
          <a:xfrm>
            <a:off x="7927920" y="4325040"/>
            <a:ext cx="1004400" cy="254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Client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185"/>
          <p:cNvSpPr/>
          <p:nvPr/>
        </p:nvSpPr>
        <p:spPr>
          <a:xfrm>
            <a:off x="868680" y="5596200"/>
            <a:ext cx="8228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FB454"/>
                </a:solidFill>
                <a:effectLst/>
                <a:uFillTx/>
                <a:latin typeface="Aptos"/>
              </a:rPr>
              <a:t>Without endpoints, Service has nowhere to send traffic.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Shape 144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Shape 145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186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K3s smoke test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6" name="Text 187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Step 4 — Port-forward and test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188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Forward traffic from your local machine to the Service.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8" name="Shape 146"/>
          <p:cNvSpPr/>
          <p:nvPr/>
        </p:nvSpPr>
        <p:spPr>
          <a:xfrm>
            <a:off x="749880" y="1536120"/>
            <a:ext cx="10422720" cy="711720"/>
          </a:xfrm>
          <a:prstGeom prst="roundRect">
            <a:avLst>
              <a:gd name="adj" fmla="val 10256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9" name="Text 189"/>
          <p:cNvSpPr/>
          <p:nvPr/>
        </p:nvSpPr>
        <p:spPr>
          <a:xfrm>
            <a:off x="951120" y="1700640"/>
            <a:ext cx="10020240" cy="455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port-forward svc/nginx 8080:80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Shape 147"/>
          <p:cNvSpPr/>
          <p:nvPr/>
        </p:nvSpPr>
        <p:spPr>
          <a:xfrm>
            <a:off x="804600" y="2743200"/>
            <a:ext cx="5393520" cy="1415880"/>
          </a:xfrm>
          <a:prstGeom prst="roundRect">
            <a:avLst>
              <a:gd name="adj" fmla="val 5161"/>
            </a:avLst>
          </a:prstGeom>
          <a:solidFill>
            <a:srgbClr val="06111D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90"/>
          <p:cNvSpPr/>
          <p:nvPr/>
        </p:nvSpPr>
        <p:spPr>
          <a:xfrm>
            <a:off x="1005840" y="2907720"/>
            <a:ext cx="4991040" cy="115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curl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or open in a browser: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# http://localhost:8080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2" name="Text 191"/>
          <p:cNvSpPr/>
          <p:nvPr/>
        </p:nvSpPr>
        <p:spPr>
          <a:xfrm>
            <a:off x="6720840" y="2761560"/>
            <a:ext cx="365616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Troubleshooting checks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92"/>
          <p:cNvSpPr/>
          <p:nvPr/>
        </p:nvSpPr>
        <p:spPr>
          <a:xfrm>
            <a:off x="6729840" y="3273480"/>
            <a:ext cx="4479120" cy="118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Pod Running?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Does the Service have endpoints?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the targetPort correct?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7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Is another process using local port 8080?</a:t>
            </a:r>
            <a:endParaRPr lang="en-US" sz="14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4" name="Shape 148"/>
          <p:cNvSpPr/>
          <p:nvPr/>
        </p:nvSpPr>
        <p:spPr>
          <a:xfrm>
            <a:off x="822960" y="4937760"/>
            <a:ext cx="7313760" cy="592920"/>
          </a:xfrm>
          <a:prstGeom prst="roundRect">
            <a:avLst>
              <a:gd name="adj" fmla="val 12308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93"/>
          <p:cNvSpPr/>
          <p:nvPr/>
        </p:nvSpPr>
        <p:spPr>
          <a:xfrm>
            <a:off x="1024200" y="5102280"/>
            <a:ext cx="6911280" cy="336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-n nginx-demo get pod,svc,endpoints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6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Shape 149"/>
          <p:cNvSpPr/>
          <p:nvPr/>
        </p:nvSpPr>
        <p:spPr>
          <a:xfrm>
            <a:off x="0" y="0"/>
            <a:ext cx="12190320" cy="6856560"/>
          </a:xfrm>
          <a:prstGeom prst="rect">
            <a:avLst/>
          </a:prstGeom>
          <a:solidFill>
            <a:srgbClr val="071626"/>
          </a:solidFill>
          <a:ln w="12700">
            <a:solidFill>
              <a:srgbClr val="07162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7" name="Shape 150"/>
          <p:cNvSpPr/>
          <p:nvPr/>
        </p:nvSpPr>
        <p:spPr>
          <a:xfrm>
            <a:off x="502920" y="6327360"/>
            <a:ext cx="11201400" cy="360"/>
          </a:xfrm>
          <a:prstGeom prst="line">
            <a:avLst/>
          </a:prstGeom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8" name="Text 194"/>
          <p:cNvSpPr/>
          <p:nvPr/>
        </p:nvSpPr>
        <p:spPr>
          <a:xfrm>
            <a:off x="548640" y="6419160"/>
            <a:ext cx="4113360" cy="19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50" b="0" u="none" strike="noStrike">
                <a:solidFill>
                  <a:srgbClr val="A7C3D7"/>
                </a:solidFill>
                <a:effectLst/>
                <a:uFillTx/>
                <a:latin typeface="Aptos"/>
                <a:ea typeface="Aptos"/>
              </a:rPr>
              <a:t>Transition to workshop app</a:t>
            </a:r>
            <a:endParaRPr lang="en-US" sz="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9" name="Text 195"/>
          <p:cNvSpPr/>
          <p:nvPr/>
        </p:nvSpPr>
        <p:spPr>
          <a:xfrm>
            <a:off x="548640" y="411480"/>
            <a:ext cx="1106280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4FAFF"/>
                </a:solidFill>
                <a:effectLst/>
                <a:uFillTx/>
                <a:latin typeface="Aptos Display"/>
                <a:ea typeface="Aptos Display"/>
              </a:rPr>
              <a:t>K8S – quick: From nginx to the workshop application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0" name="Text 196"/>
          <p:cNvSpPr/>
          <p:nvPr/>
        </p:nvSpPr>
        <p:spPr>
          <a:xfrm>
            <a:off x="567000" y="987480"/>
            <a:ext cx="10605600" cy="345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A7C3D7"/>
                </a:solidFill>
                <a:effectLst/>
                <a:uFillTx/>
                <a:latin typeface="Aptos"/>
              </a:rPr>
              <a:t>The warm-up introduces the mechanics; the Flask app introduces real dependencies and failure modes.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151"/>
          <p:cNvSpPr/>
          <p:nvPr/>
        </p:nvSpPr>
        <p:spPr>
          <a:xfrm>
            <a:off x="7772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2" name="Text 197"/>
          <p:cNvSpPr/>
          <p:nvPr/>
        </p:nvSpPr>
        <p:spPr>
          <a:xfrm>
            <a:off x="7772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Image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3" name="Shape 152"/>
          <p:cNvSpPr/>
          <p:nvPr/>
        </p:nvSpPr>
        <p:spPr>
          <a:xfrm>
            <a:off x="210312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4" name="Shape 153"/>
          <p:cNvSpPr/>
          <p:nvPr/>
        </p:nvSpPr>
        <p:spPr>
          <a:xfrm>
            <a:off x="246888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198"/>
          <p:cNvSpPr/>
          <p:nvPr/>
        </p:nvSpPr>
        <p:spPr>
          <a:xfrm>
            <a:off x="246888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6" name="Shape 154"/>
          <p:cNvSpPr/>
          <p:nvPr/>
        </p:nvSpPr>
        <p:spPr>
          <a:xfrm>
            <a:off x="379476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7" name="Shape 155"/>
          <p:cNvSpPr/>
          <p:nvPr/>
        </p:nvSpPr>
        <p:spPr>
          <a:xfrm>
            <a:off x="416052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8" name="Text 199"/>
          <p:cNvSpPr/>
          <p:nvPr/>
        </p:nvSpPr>
        <p:spPr>
          <a:xfrm>
            <a:off x="416052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Service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9" name="Shape 156"/>
          <p:cNvSpPr/>
          <p:nvPr/>
        </p:nvSpPr>
        <p:spPr>
          <a:xfrm>
            <a:off x="548640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0" name="Shape 157"/>
          <p:cNvSpPr/>
          <p:nvPr/>
        </p:nvSpPr>
        <p:spPr>
          <a:xfrm>
            <a:off x="585216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1" name="Text 200"/>
          <p:cNvSpPr/>
          <p:nvPr/>
        </p:nvSpPr>
        <p:spPr>
          <a:xfrm>
            <a:off x="585216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Port-forward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Shape 158"/>
          <p:cNvSpPr/>
          <p:nvPr/>
        </p:nvSpPr>
        <p:spPr>
          <a:xfrm>
            <a:off x="717804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3" name="Shape 159"/>
          <p:cNvSpPr/>
          <p:nvPr/>
        </p:nvSpPr>
        <p:spPr>
          <a:xfrm>
            <a:off x="754380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201"/>
          <p:cNvSpPr/>
          <p:nvPr/>
        </p:nvSpPr>
        <p:spPr>
          <a:xfrm>
            <a:off x="754380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Logs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5" name="Shape 160"/>
          <p:cNvSpPr/>
          <p:nvPr/>
        </p:nvSpPr>
        <p:spPr>
          <a:xfrm>
            <a:off x="8869680" y="2166840"/>
            <a:ext cx="255960" cy="360"/>
          </a:xfrm>
          <a:prstGeom prst="line">
            <a:avLst/>
          </a:prstGeom>
          <a:ln w="25400">
            <a:solidFill>
              <a:srgbClr val="32A8FF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6" name="Shape 161"/>
          <p:cNvSpPr/>
          <p:nvPr/>
        </p:nvSpPr>
        <p:spPr>
          <a:xfrm>
            <a:off x="9235440" y="1874520"/>
            <a:ext cx="1297080" cy="592920"/>
          </a:xfrm>
          <a:prstGeom prst="roundRect">
            <a:avLst>
              <a:gd name="adj" fmla="val 18462"/>
            </a:avLst>
          </a:prstGeom>
          <a:solidFill>
            <a:srgbClr val="102F47"/>
          </a:solidFill>
          <a:ln w="1270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7" name="Text 202"/>
          <p:cNvSpPr/>
          <p:nvPr/>
        </p:nvSpPr>
        <p:spPr>
          <a:xfrm>
            <a:off x="9235440" y="2084760"/>
            <a:ext cx="1297080" cy="181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Events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03"/>
          <p:cNvSpPr/>
          <p:nvPr/>
        </p:nvSpPr>
        <p:spPr>
          <a:xfrm>
            <a:off x="822960" y="3246120"/>
            <a:ext cx="2741760" cy="31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55E6FF"/>
                </a:solidFill>
                <a:effectLst/>
                <a:uFillTx/>
                <a:latin typeface="Aptos"/>
              </a:rPr>
              <a:t>Next application adds: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9" name="Text 204"/>
          <p:cNvSpPr/>
          <p:nvPr/>
        </p:nvSpPr>
        <p:spPr>
          <a:xfrm>
            <a:off x="868680" y="3749040"/>
            <a:ext cx="8136720" cy="1415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local registry and custom images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ConfigMap and Secret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PostgreSQL and migrations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readiness depending on DB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4FAFF"/>
                </a:solidFill>
                <a:effectLst/>
                <a:uFillTx/>
                <a:latin typeface="Aptos"/>
              </a:rPr>
              <a:t>• volumes, limits, quotas and real troubleshooting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Shape 162"/>
          <p:cNvSpPr/>
          <p:nvPr/>
        </p:nvSpPr>
        <p:spPr>
          <a:xfrm>
            <a:off x="6446520" y="5559480"/>
            <a:ext cx="4662000" cy="528840"/>
          </a:xfrm>
          <a:prstGeom prst="roundRect">
            <a:avLst>
              <a:gd name="adj" fmla="val 13793"/>
            </a:avLst>
          </a:prstGeom>
          <a:solidFill>
            <a:srgbClr val="0B1D2B"/>
          </a:solidFill>
          <a:ln w="13970">
            <a:solidFill>
              <a:srgbClr val="2E5D7D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205"/>
          <p:cNvSpPr/>
          <p:nvPr/>
        </p:nvSpPr>
        <p:spPr>
          <a:xfrm>
            <a:off x="6647760" y="5724000"/>
            <a:ext cx="4259520" cy="272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4FAFF"/>
                </a:solidFill>
                <a:effectLst/>
                <a:uFillTx/>
                <a:latin typeface="Aptos Mono"/>
                <a:ea typeface="Aptos Mono"/>
              </a:rPr>
              <a:t>kubectl delete namespace nginx-demo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Shape 2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3" name="Shape 3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4" name="Text 24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5" name="Text 29"/>
          <p:cNvSpPr/>
          <p:nvPr/>
        </p:nvSpPr>
        <p:spPr>
          <a:xfrm>
            <a:off x="594360" y="1051560"/>
            <a:ext cx="45694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>
                <a:solidFill>
                  <a:srgbClr val="67E8F9"/>
                </a:solidFill>
                <a:effectLst/>
                <a:uFillTx/>
                <a:latin typeface="Aptos"/>
              </a:rPr>
              <a:t>Module 2 Add-on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6" name="Text 34"/>
          <p:cNvSpPr/>
          <p:nvPr/>
        </p:nvSpPr>
        <p:spPr>
          <a:xfrm>
            <a:off x="567000" y="1508760"/>
            <a:ext cx="9873000" cy="72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4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Local Container Registry</a:t>
            </a:r>
            <a:endParaRPr lang="en-US" sz="4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9"/>
          <p:cNvSpPr/>
          <p:nvPr/>
        </p:nvSpPr>
        <p:spPr>
          <a:xfrm>
            <a:off x="603360" y="2331720"/>
            <a:ext cx="96901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Build images locally, push to localhost:5000, then let K3s pull from the same VM.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17"/>
          <p:cNvSpPr/>
          <p:nvPr/>
        </p:nvSpPr>
        <p:spPr>
          <a:xfrm>
            <a:off x="914400" y="3794760"/>
            <a:ext cx="191772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44"/>
          <p:cNvSpPr/>
          <p:nvPr/>
        </p:nvSpPr>
        <p:spPr>
          <a:xfrm>
            <a:off x="987480" y="3940920"/>
            <a:ext cx="177156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0" name="Shape 20"/>
          <p:cNvSpPr/>
          <p:nvPr/>
        </p:nvSpPr>
        <p:spPr>
          <a:xfrm>
            <a:off x="3063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23"/>
          <p:cNvSpPr/>
          <p:nvPr/>
        </p:nvSpPr>
        <p:spPr>
          <a:xfrm>
            <a:off x="4160520" y="3794760"/>
            <a:ext cx="210060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45"/>
          <p:cNvSpPr/>
          <p:nvPr/>
        </p:nvSpPr>
        <p:spPr>
          <a:xfrm>
            <a:off x="4233600" y="3940920"/>
            <a:ext cx="195444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localhost:5000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3" name="Shape 25"/>
          <p:cNvSpPr/>
          <p:nvPr/>
        </p:nvSpPr>
        <p:spPr>
          <a:xfrm>
            <a:off x="6492240" y="4160520"/>
            <a:ext cx="9144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26"/>
          <p:cNvSpPr/>
          <p:nvPr/>
        </p:nvSpPr>
        <p:spPr>
          <a:xfrm>
            <a:off x="7589520" y="3794760"/>
            <a:ext cx="2192040" cy="729000"/>
          </a:xfrm>
          <a:prstGeom prst="roundRect">
            <a:avLst>
              <a:gd name="adj" fmla="val 15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46"/>
          <p:cNvSpPr/>
          <p:nvPr/>
        </p:nvSpPr>
        <p:spPr>
          <a:xfrm>
            <a:off x="7662600" y="3940920"/>
            <a:ext cx="20458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K3s 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6" name="Shape 27"/>
          <p:cNvSpPr/>
          <p:nvPr/>
        </p:nvSpPr>
        <p:spPr>
          <a:xfrm>
            <a:off x="9966960" y="4160520"/>
            <a:ext cx="5943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7" name="Shape 28"/>
          <p:cNvSpPr/>
          <p:nvPr/>
        </p:nvSpPr>
        <p:spPr>
          <a:xfrm>
            <a:off x="10744200" y="3794760"/>
            <a:ext cx="911880" cy="729000"/>
          </a:xfrm>
          <a:prstGeom prst="roundRect">
            <a:avLst>
              <a:gd name="adj" fmla="val 15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47"/>
          <p:cNvSpPr/>
          <p:nvPr/>
        </p:nvSpPr>
        <p:spPr>
          <a:xfrm>
            <a:off x="10817280" y="3940920"/>
            <a:ext cx="765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3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3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Text 4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2" name="Text 4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Where does Kubernetes get images from?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3" name="Text 5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Kubernetes pulls images from a registry; it does not automatically use your local Docker image cache.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Shape 32"/>
          <p:cNvSpPr/>
          <p:nvPr/>
        </p:nvSpPr>
        <p:spPr>
          <a:xfrm>
            <a:off x="17190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Shape 33"/>
          <p:cNvSpPr/>
          <p:nvPr/>
        </p:nvSpPr>
        <p:spPr>
          <a:xfrm>
            <a:off x="37033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Shape 35"/>
          <p:cNvSpPr/>
          <p:nvPr/>
        </p:nvSpPr>
        <p:spPr>
          <a:xfrm>
            <a:off x="5687280" y="2944080"/>
            <a:ext cx="66780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7" name="Shape 36"/>
          <p:cNvSpPr/>
          <p:nvPr/>
        </p:nvSpPr>
        <p:spPr>
          <a:xfrm>
            <a:off x="7662600" y="2944080"/>
            <a:ext cx="676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8" name="Shape 37"/>
          <p:cNvSpPr/>
          <p:nvPr/>
        </p:nvSpPr>
        <p:spPr>
          <a:xfrm>
            <a:off x="9646920" y="2944080"/>
            <a:ext cx="66744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9" name="Shape 38"/>
          <p:cNvSpPr/>
          <p:nvPr/>
        </p:nvSpPr>
        <p:spPr>
          <a:xfrm>
            <a:off x="502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51"/>
          <p:cNvSpPr/>
          <p:nvPr/>
        </p:nvSpPr>
        <p:spPr>
          <a:xfrm>
            <a:off x="576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Dockerfile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40"/>
          <p:cNvSpPr/>
          <p:nvPr/>
        </p:nvSpPr>
        <p:spPr>
          <a:xfrm>
            <a:off x="25146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52"/>
          <p:cNvSpPr/>
          <p:nvPr/>
        </p:nvSpPr>
        <p:spPr>
          <a:xfrm>
            <a:off x="25876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docker 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3" name="Shape 41"/>
          <p:cNvSpPr/>
          <p:nvPr/>
        </p:nvSpPr>
        <p:spPr>
          <a:xfrm>
            <a:off x="44989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53"/>
          <p:cNvSpPr/>
          <p:nvPr/>
        </p:nvSpPr>
        <p:spPr>
          <a:xfrm>
            <a:off x="45720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5" name="Shape 42"/>
          <p:cNvSpPr/>
          <p:nvPr/>
        </p:nvSpPr>
        <p:spPr>
          <a:xfrm>
            <a:off x="647388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6" name="Text 54"/>
          <p:cNvSpPr/>
          <p:nvPr/>
        </p:nvSpPr>
        <p:spPr>
          <a:xfrm>
            <a:off x="654696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7" name="Shape 43"/>
          <p:cNvSpPr/>
          <p:nvPr/>
        </p:nvSpPr>
        <p:spPr>
          <a:xfrm>
            <a:off x="845820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55"/>
          <p:cNvSpPr/>
          <p:nvPr/>
        </p:nvSpPr>
        <p:spPr>
          <a:xfrm>
            <a:off x="853128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44"/>
          <p:cNvSpPr/>
          <p:nvPr/>
        </p:nvSpPr>
        <p:spPr>
          <a:xfrm>
            <a:off x="10451520" y="2487240"/>
            <a:ext cx="1231920" cy="911880"/>
          </a:xfrm>
          <a:prstGeom prst="roundRect">
            <a:avLst>
              <a:gd name="adj" fmla="val 12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56"/>
          <p:cNvSpPr/>
          <p:nvPr/>
        </p:nvSpPr>
        <p:spPr>
          <a:xfrm>
            <a:off x="10524600" y="2633400"/>
            <a:ext cx="1085760" cy="68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7"/>
          <p:cNvSpPr/>
          <p:nvPr/>
        </p:nvSpPr>
        <p:spPr>
          <a:xfrm>
            <a:off x="822960" y="4617720"/>
            <a:ext cx="10604520" cy="1140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registry means no pull path for Kubernetes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Using localhost:5000 keeps the workshop fast and reproducible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Later failures map directly to ImagePullBackOff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Shape 45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3" name="Shape 46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4" name="Text 5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5" name="Text 5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Registry options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6" name="Text 6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For this workshop we use a local registry on every VM.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47"/>
          <p:cNvSpPr/>
          <p:nvPr/>
        </p:nvSpPr>
        <p:spPr>
          <a:xfrm>
            <a:off x="6400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8" name="Text 61"/>
          <p:cNvSpPr/>
          <p:nvPr/>
        </p:nvSpPr>
        <p:spPr>
          <a:xfrm>
            <a:off x="9144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Public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9" name="Text 62"/>
          <p:cNvSpPr/>
          <p:nvPr/>
        </p:nvSpPr>
        <p:spPr>
          <a:xfrm>
            <a:off x="9144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Docker Hub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GHCR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Quay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to start, but depends on Internet and rate limits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0" name="Shape 48"/>
          <p:cNvSpPr/>
          <p:nvPr/>
        </p:nvSpPr>
        <p:spPr>
          <a:xfrm>
            <a:off x="45262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1" name="Text 63"/>
          <p:cNvSpPr/>
          <p:nvPr/>
        </p:nvSpPr>
        <p:spPr>
          <a:xfrm>
            <a:off x="48006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2" name="Text 64"/>
          <p:cNvSpPr/>
          <p:nvPr/>
        </p:nvSpPr>
        <p:spPr>
          <a:xfrm>
            <a:off x="48006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Harbor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Artifactory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ECR / ACR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Production-like, but needs credentials and setup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3" name="Shape 49"/>
          <p:cNvSpPr/>
          <p:nvPr/>
        </p:nvSpPr>
        <p:spPr>
          <a:xfrm>
            <a:off x="8412480" y="1508760"/>
            <a:ext cx="3152160" cy="3883680"/>
          </a:xfrm>
          <a:prstGeom prst="roundRect">
            <a:avLst>
              <a:gd name="adj" fmla="val 3478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4" name="Text 65"/>
          <p:cNvSpPr/>
          <p:nvPr/>
        </p:nvSpPr>
        <p:spPr>
          <a:xfrm>
            <a:off x="8686800" y="1783080"/>
            <a:ext cx="25578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Local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66"/>
          <p:cNvSpPr/>
          <p:nvPr/>
        </p:nvSpPr>
        <p:spPr>
          <a:xfrm>
            <a:off x="8686800" y="2423160"/>
            <a:ext cx="2557800" cy="2237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localhost:5000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external dependency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Great for labs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Easy to break and fix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Shape 5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7" name="Shape 5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8" name="Text 67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9" name="Text 68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Start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0" name="Text 69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setup script runs a registry container and verifies push/pull before the workshop begins.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1" name="Shape 52"/>
          <p:cNvSpPr/>
          <p:nvPr/>
        </p:nvSpPr>
        <p:spPr>
          <a:xfrm>
            <a:off x="685800" y="1600200"/>
            <a:ext cx="5575320" cy="2374920"/>
          </a:xfrm>
          <a:prstGeom prst="roundRect">
            <a:avLst>
              <a:gd name="adj" fmla="val 3077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2" name="Text 70"/>
          <p:cNvSpPr/>
          <p:nvPr/>
        </p:nvSpPr>
        <p:spPr>
          <a:xfrm>
            <a:off x="822960" y="1719000"/>
            <a:ext cx="5301000" cy="219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run -d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--name local-registry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--restart always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-p 5000:5000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-v /opt/local-registry:/var/lib/registry \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registry:2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Shape 53"/>
          <p:cNvSpPr/>
          <p:nvPr/>
        </p:nvSpPr>
        <p:spPr>
          <a:xfrm>
            <a:off x="6720840" y="1600200"/>
            <a:ext cx="4706640" cy="2374920"/>
          </a:xfrm>
          <a:prstGeom prst="roundRect">
            <a:avLst>
              <a:gd name="adj" fmla="val 4615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71"/>
          <p:cNvSpPr/>
          <p:nvPr/>
        </p:nvSpPr>
        <p:spPr>
          <a:xfrm>
            <a:off x="7040880" y="1828800"/>
            <a:ext cx="41122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local?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72"/>
          <p:cNvSpPr/>
          <p:nvPr/>
        </p:nvSpPr>
        <p:spPr>
          <a:xfrm>
            <a:off x="7040880" y="2423160"/>
            <a:ext cx="4020840" cy="1231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Docker Hub rate limits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No shared credentials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Predictable and fast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Each participant owns their environment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6" name="Shape 54"/>
          <p:cNvSpPr/>
          <p:nvPr/>
        </p:nvSpPr>
        <p:spPr>
          <a:xfrm>
            <a:off x="7040880" y="4069080"/>
            <a:ext cx="14605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7" name="Text 73"/>
          <p:cNvSpPr/>
          <p:nvPr/>
        </p:nvSpPr>
        <p:spPr>
          <a:xfrm>
            <a:off x="7113960" y="4142160"/>
            <a:ext cx="13143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workshop-friendly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8" name="Shape 55"/>
          <p:cNvSpPr/>
          <p:nvPr/>
        </p:nvSpPr>
        <p:spPr>
          <a:xfrm>
            <a:off x="8641080" y="406908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Text 74"/>
          <p:cNvSpPr/>
          <p:nvPr/>
        </p:nvSpPr>
        <p:spPr>
          <a:xfrm>
            <a:off x="8714160" y="414216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offline-capable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56"/>
          <p:cNvSpPr/>
          <p:nvPr/>
        </p:nvSpPr>
        <p:spPr>
          <a:xfrm>
            <a:off x="10195560" y="4069080"/>
            <a:ext cx="104904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1" name="Text 75"/>
          <p:cNvSpPr/>
          <p:nvPr/>
        </p:nvSpPr>
        <p:spPr>
          <a:xfrm>
            <a:off x="10268640" y="4142160"/>
            <a:ext cx="9028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repeatable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2" name="Shape 57"/>
          <p:cNvSpPr/>
          <p:nvPr/>
        </p:nvSpPr>
        <p:spPr>
          <a:xfrm>
            <a:off x="685800" y="4892040"/>
            <a:ext cx="5575320" cy="591840"/>
          </a:xfrm>
          <a:prstGeom prst="roundRect">
            <a:avLst>
              <a:gd name="adj" fmla="val 1230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76"/>
          <p:cNvSpPr/>
          <p:nvPr/>
        </p:nvSpPr>
        <p:spPr>
          <a:xfrm>
            <a:off x="822960" y="5010840"/>
            <a:ext cx="5301000" cy="408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77"/>
          <p:cNvSpPr/>
          <p:nvPr/>
        </p:nvSpPr>
        <p:spPr>
          <a:xfrm>
            <a:off x="6720840" y="4974480"/>
            <a:ext cx="47523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Expected result: the registry API responds, even before any images are pushed.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Shape 58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6" name="Shape 59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7" name="Text 78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8" name="Text 79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Configure K3s to use the local registry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80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K3s uses containerd, so the Docker daemon configuration alone is not enough.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60"/>
          <p:cNvSpPr/>
          <p:nvPr/>
        </p:nvSpPr>
        <p:spPr>
          <a:xfrm>
            <a:off x="685800" y="1417320"/>
            <a:ext cx="612396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81"/>
          <p:cNvSpPr/>
          <p:nvPr/>
        </p:nvSpPr>
        <p:spPr>
          <a:xfrm>
            <a:off x="822960" y="1536120"/>
            <a:ext cx="584964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/etc/rancher/k3s/registries.yaml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mirrors: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"http://localhost:5000"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"127.0.0.1:5000":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endpoint: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- "http://127.0.0.1:5000"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configs: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"localhost:5000":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tls: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insecure_skip_verify: 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2" name="Shape 61"/>
          <p:cNvSpPr/>
          <p:nvPr/>
        </p:nvSpPr>
        <p:spPr>
          <a:xfrm>
            <a:off x="7315200" y="1600200"/>
            <a:ext cx="4295160" cy="3563640"/>
          </a:xfrm>
          <a:prstGeom prst="roundRect">
            <a:avLst>
              <a:gd name="adj" fmla="val 3077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82"/>
          <p:cNvSpPr/>
          <p:nvPr/>
        </p:nvSpPr>
        <p:spPr>
          <a:xfrm>
            <a:off x="7589520" y="1874520"/>
            <a:ext cx="374652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After changing it: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4" name="Shape 62"/>
          <p:cNvSpPr/>
          <p:nvPr/>
        </p:nvSpPr>
        <p:spPr>
          <a:xfrm>
            <a:off x="7589520" y="2514600"/>
            <a:ext cx="3472200" cy="1003320"/>
          </a:xfrm>
          <a:prstGeom prst="roundRect">
            <a:avLst>
              <a:gd name="adj" fmla="val 727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5" name="Text 83"/>
          <p:cNvSpPr/>
          <p:nvPr/>
        </p:nvSpPr>
        <p:spPr>
          <a:xfrm>
            <a:off x="7726680" y="2633400"/>
            <a:ext cx="319788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sudo systemctl restart k3s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nodes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6" name="Text 84"/>
          <p:cNvSpPr/>
          <p:nvPr/>
        </p:nvSpPr>
        <p:spPr>
          <a:xfrm>
            <a:off x="7589520" y="3931920"/>
            <a:ext cx="365508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reloads containerd registry configuration used by K3s.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7" name="Shape 63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8" name="Shape 64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Text 85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86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Build workshop images with registry tags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87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Tag images with localhost:5000 from the beginning.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65"/>
          <p:cNvSpPr/>
          <p:nvPr/>
        </p:nvSpPr>
        <p:spPr>
          <a:xfrm>
            <a:off x="685800" y="1600200"/>
            <a:ext cx="10833120" cy="2786400"/>
          </a:xfrm>
          <a:prstGeom prst="roundRect">
            <a:avLst>
              <a:gd name="adj" fmla="val 2623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8"/>
          <p:cNvSpPr/>
          <p:nvPr/>
        </p:nvSpPr>
        <p:spPr>
          <a:xfrm>
            <a:off x="822960" y="1719000"/>
            <a:ext cx="10558800" cy="2603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docker/Dockerfile.debug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docker/Dockerfile.broken_migration -t localhost:5000/k8s-workshop-migration:broken .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4" name="Shape 66"/>
          <p:cNvSpPr/>
          <p:nvPr/>
        </p:nvSpPr>
        <p:spPr>
          <a:xfrm>
            <a:off x="685800" y="4892040"/>
            <a:ext cx="10833120" cy="774720"/>
          </a:xfrm>
          <a:prstGeom prst="roundRect">
            <a:avLst>
              <a:gd name="adj" fmla="val 14118"/>
            </a:avLst>
          </a:prstGeom>
          <a:solidFill>
            <a:srgbClr val="0B2740"/>
          </a:solidFill>
          <a:ln w="13970">
            <a:solidFill>
              <a:srgbClr val="FACC1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5" name="Text 89"/>
          <p:cNvSpPr/>
          <p:nvPr/>
        </p:nvSpPr>
        <p:spPr>
          <a:xfrm>
            <a:off x="960120" y="5102280"/>
            <a:ext cx="102387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5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point: k8s-workshop-app:debug is only a local Docker tag. localhost:5000/k8s-workshop-app:debug is a pullable registry reference.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Shape 67"/>
          <p:cNvSpPr/>
          <p:nvPr/>
        </p:nvSpPr>
        <p:spPr>
          <a:xfrm>
            <a:off x="-74160" y="114480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7" name="Shape 68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9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9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Push and verify images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0" name="Text 9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Pushing images makes them available for K3s/containerd to pull.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69"/>
          <p:cNvSpPr/>
          <p:nvPr/>
        </p:nvSpPr>
        <p:spPr>
          <a:xfrm>
            <a:off x="685800" y="1508760"/>
            <a:ext cx="5483880" cy="260532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Text 93"/>
          <p:cNvSpPr/>
          <p:nvPr/>
        </p:nvSpPr>
        <p:spPr>
          <a:xfrm>
            <a:off x="822960" y="1627560"/>
            <a:ext cx="5209560" cy="22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localhost:5000/k8s-workshop-app:distroless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docker push localhost:5000/k8s-workshop-migration:repair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3" name="Shape 70"/>
          <p:cNvSpPr/>
          <p:nvPr/>
        </p:nvSpPr>
        <p:spPr>
          <a:xfrm>
            <a:off x="6583680" y="1508760"/>
            <a:ext cx="507312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4" name="Text 94"/>
          <p:cNvSpPr/>
          <p:nvPr/>
        </p:nvSpPr>
        <p:spPr>
          <a:xfrm>
            <a:off x="6720840" y="1627560"/>
            <a:ext cx="493596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localhost:5000/v2/k8s-workshop-app/tags/list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localhost:5000/v2/k8s-workshop-migration/tags/list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Shape 71"/>
          <p:cNvSpPr/>
          <p:nvPr/>
        </p:nvSpPr>
        <p:spPr>
          <a:xfrm>
            <a:off x="109728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95"/>
          <p:cNvSpPr/>
          <p:nvPr/>
        </p:nvSpPr>
        <p:spPr>
          <a:xfrm>
            <a:off x="117036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Shape 72"/>
          <p:cNvSpPr/>
          <p:nvPr/>
        </p:nvSpPr>
        <p:spPr>
          <a:xfrm>
            <a:off x="248688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8" name="Shape 73"/>
          <p:cNvSpPr/>
          <p:nvPr/>
        </p:nvSpPr>
        <p:spPr>
          <a:xfrm>
            <a:off x="35204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9" name="Text 96"/>
          <p:cNvSpPr/>
          <p:nvPr/>
        </p:nvSpPr>
        <p:spPr>
          <a:xfrm>
            <a:off x="35935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0" name="Shape 74"/>
          <p:cNvSpPr/>
          <p:nvPr/>
        </p:nvSpPr>
        <p:spPr>
          <a:xfrm>
            <a:off x="48920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1" name="Shape 75"/>
          <p:cNvSpPr/>
          <p:nvPr/>
        </p:nvSpPr>
        <p:spPr>
          <a:xfrm>
            <a:off x="59252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2" name="Text 97"/>
          <p:cNvSpPr/>
          <p:nvPr/>
        </p:nvSpPr>
        <p:spPr>
          <a:xfrm>
            <a:off x="59983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verify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76"/>
          <p:cNvSpPr/>
          <p:nvPr/>
        </p:nvSpPr>
        <p:spPr>
          <a:xfrm>
            <a:off x="72968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4" name="Shape 77"/>
          <p:cNvSpPr/>
          <p:nvPr/>
        </p:nvSpPr>
        <p:spPr>
          <a:xfrm>
            <a:off x="8321040" y="4434840"/>
            <a:ext cx="1186200" cy="683280"/>
          </a:xfrm>
          <a:prstGeom prst="roundRect">
            <a:avLst>
              <a:gd name="adj" fmla="val 16000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5" name="Text 98"/>
          <p:cNvSpPr/>
          <p:nvPr/>
        </p:nvSpPr>
        <p:spPr>
          <a:xfrm>
            <a:off x="8394120" y="4581000"/>
            <a:ext cx="104004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78"/>
          <p:cNvSpPr/>
          <p:nvPr/>
        </p:nvSpPr>
        <p:spPr>
          <a:xfrm>
            <a:off x="9710640" y="4772880"/>
            <a:ext cx="822960" cy="360"/>
          </a:xfrm>
          <a:prstGeom prst="line">
            <a:avLst/>
          </a:prstGeom>
          <a:ln w="27940">
            <a:solidFill>
              <a:srgbClr val="67E8F9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9"/>
          <p:cNvSpPr/>
          <p:nvPr/>
        </p:nvSpPr>
        <p:spPr>
          <a:xfrm>
            <a:off x="10744200" y="4434840"/>
            <a:ext cx="1140480" cy="683280"/>
          </a:xfrm>
          <a:prstGeom prst="roundRect">
            <a:avLst>
              <a:gd name="adj" fmla="val 16000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8" name="Text 99"/>
          <p:cNvSpPr/>
          <p:nvPr/>
        </p:nvSpPr>
        <p:spPr>
          <a:xfrm>
            <a:off x="10817280" y="4581000"/>
            <a:ext cx="994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9" name="Shape 80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81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Text 100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2" name="Text 101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Use registry references in Kubernetes manifests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3" name="Text 102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The Deployment should point to the local registry image.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4" name="Shape 82"/>
          <p:cNvSpPr/>
          <p:nvPr/>
        </p:nvSpPr>
        <p:spPr>
          <a:xfrm>
            <a:off x="685800" y="1417320"/>
            <a:ext cx="5803920" cy="4158000"/>
          </a:xfrm>
          <a:prstGeom prst="roundRect">
            <a:avLst>
              <a:gd name="adj" fmla="val 1758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03"/>
          <p:cNvSpPr/>
          <p:nvPr/>
        </p:nvSpPr>
        <p:spPr>
          <a:xfrm>
            <a:off x="822960" y="1536120"/>
            <a:ext cx="5529600" cy="397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apiVersion: apps/v1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kind: 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metadata: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template: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spec: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containers: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- name: 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image: 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          imagePullPolicy: IfNotPresent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6" name="Shape 83"/>
          <p:cNvSpPr/>
          <p:nvPr/>
        </p:nvSpPr>
        <p:spPr>
          <a:xfrm>
            <a:off x="6949440" y="1645920"/>
            <a:ext cx="4478040" cy="3289320"/>
          </a:xfrm>
          <a:prstGeom prst="roundRect">
            <a:avLst>
              <a:gd name="adj" fmla="val 3333"/>
            </a:avLst>
          </a:prstGeom>
          <a:solidFill>
            <a:srgbClr val="0B2740"/>
          </a:solidFill>
          <a:ln w="1397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7" name="Text 104"/>
          <p:cNvSpPr/>
          <p:nvPr/>
        </p:nvSpPr>
        <p:spPr>
          <a:xfrm>
            <a:off x="7223760" y="1920240"/>
            <a:ext cx="39294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Recommended for labs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58" name="Text 105"/>
          <p:cNvSpPr/>
          <p:nvPr/>
        </p:nvSpPr>
        <p:spPr>
          <a:xfrm>
            <a:off x="7223760" y="2560320"/>
            <a:ext cx="379224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imagePullPolicy: IfNotPresent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fast local pulls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change tag when you want a new image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Always when teaching pull behavior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9" name="Shape 8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8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Text 10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2" name="Text 10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Troubleshooting preview: ImagePullBackOff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3" name="Text 10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A registry flow makes image problems visible and easy to diagnose.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86"/>
          <p:cNvSpPr/>
          <p:nvPr/>
        </p:nvSpPr>
        <p:spPr>
          <a:xfrm>
            <a:off x="685800" y="1508760"/>
            <a:ext cx="5301000" cy="1826280"/>
          </a:xfrm>
          <a:prstGeom prst="roundRect">
            <a:avLst>
              <a:gd name="adj" fmla="val 4000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5" name="Text 109"/>
          <p:cNvSpPr/>
          <p:nvPr/>
        </p:nvSpPr>
        <p:spPr>
          <a:xfrm>
            <a:off x="822960" y="1627560"/>
            <a:ext cx="5026680" cy="1643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typo in tag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image: localhost:5000/k8s-workshop-app:debgu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# expected status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ImagePullBackOff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6" name="Shape 87"/>
          <p:cNvSpPr/>
          <p:nvPr/>
        </p:nvSpPr>
        <p:spPr>
          <a:xfrm>
            <a:off x="6446520" y="1508760"/>
            <a:ext cx="5072400" cy="1826280"/>
          </a:xfrm>
          <a:prstGeom prst="roundRect">
            <a:avLst>
              <a:gd name="adj" fmla="val 6000"/>
            </a:avLst>
          </a:prstGeom>
          <a:solidFill>
            <a:srgbClr val="0B2740"/>
          </a:solidFill>
          <a:ln w="1397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7" name="Text 110"/>
          <p:cNvSpPr/>
          <p:nvPr/>
        </p:nvSpPr>
        <p:spPr>
          <a:xfrm>
            <a:off x="6720840" y="1783080"/>
            <a:ext cx="4386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1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checks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88"/>
          <p:cNvSpPr/>
          <p:nvPr/>
        </p:nvSpPr>
        <p:spPr>
          <a:xfrm>
            <a:off x="6720840" y="2331720"/>
            <a:ext cx="4340880" cy="774720"/>
          </a:xfrm>
          <a:prstGeom prst="roundRect">
            <a:avLst>
              <a:gd name="adj" fmla="val 9412"/>
            </a:avLst>
          </a:prstGeom>
          <a:solidFill>
            <a:srgbClr val="0A1420"/>
          </a:solidFill>
          <a:ln w="8890">
            <a:solidFill>
              <a:srgbClr val="1F3B5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9" name="Text 111"/>
          <p:cNvSpPr/>
          <p:nvPr/>
        </p:nvSpPr>
        <p:spPr>
          <a:xfrm>
            <a:off x="6858000" y="2450520"/>
            <a:ext cx="4066560" cy="591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F8FAFC"/>
                </a:solidFill>
                <a:effectLst/>
                <a:uFillTx/>
                <a:latin typeface="Cascadia Mono"/>
                <a:ea typeface="Cascadia Mono"/>
              </a:rPr>
              <a:t>curl localhost:5000/v2/_catalog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0" name="Text 112"/>
          <p:cNvSpPr/>
          <p:nvPr/>
        </p:nvSpPr>
        <p:spPr>
          <a:xfrm>
            <a:off x="685800" y="379476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Mental model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1" name="Shape 89"/>
          <p:cNvSpPr/>
          <p:nvPr/>
        </p:nvSpPr>
        <p:spPr>
          <a:xfrm>
            <a:off x="297180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13"/>
          <p:cNvSpPr/>
          <p:nvPr/>
        </p:nvSpPr>
        <p:spPr>
          <a:xfrm>
            <a:off x="304488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found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3" name="Shape 90"/>
          <p:cNvSpPr/>
          <p:nvPr/>
        </p:nvSpPr>
        <p:spPr>
          <a:xfrm>
            <a:off x="5166360" y="4425480"/>
            <a:ext cx="6400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4" name="Shape 91"/>
          <p:cNvSpPr/>
          <p:nvPr/>
        </p:nvSpPr>
        <p:spPr>
          <a:xfrm>
            <a:off x="598932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102D49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5" name="Text 114"/>
          <p:cNvSpPr/>
          <p:nvPr/>
        </p:nvSpPr>
        <p:spPr>
          <a:xfrm>
            <a:off x="606240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never starts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6" name="Shape 92"/>
          <p:cNvSpPr/>
          <p:nvPr/>
        </p:nvSpPr>
        <p:spPr>
          <a:xfrm>
            <a:off x="8183880" y="4425480"/>
            <a:ext cx="868680" cy="360"/>
          </a:xfrm>
          <a:prstGeom prst="line">
            <a:avLst/>
          </a:prstGeom>
          <a:ln w="27940">
            <a:solidFill>
              <a:srgbClr val="F87171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7" name="Shape 93"/>
          <p:cNvSpPr/>
          <p:nvPr/>
        </p:nvSpPr>
        <p:spPr>
          <a:xfrm>
            <a:off x="9235440" y="4069080"/>
            <a:ext cx="2009160" cy="710640"/>
          </a:xfrm>
          <a:prstGeom prst="roundRect">
            <a:avLst>
              <a:gd name="adj" fmla="val 15385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8" name="Text 115"/>
          <p:cNvSpPr/>
          <p:nvPr/>
        </p:nvSpPr>
        <p:spPr>
          <a:xfrm>
            <a:off x="9308520" y="4215240"/>
            <a:ext cx="1863000" cy="482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app logs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61A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Shape 94"/>
          <p:cNvSpPr/>
          <p:nvPr/>
        </p:nvSpPr>
        <p:spPr>
          <a:xfrm>
            <a:off x="0" y="0"/>
            <a:ext cx="12189240" cy="6855480"/>
          </a:xfrm>
          <a:prstGeom prst="rect">
            <a:avLst/>
          </a:prstGeom>
          <a:solidFill>
            <a:srgbClr val="061A2B"/>
          </a:solidFill>
          <a:ln w="12700">
            <a:solidFill>
              <a:srgbClr val="061A2B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0" name="Shape 95"/>
          <p:cNvSpPr/>
          <p:nvPr/>
        </p:nvSpPr>
        <p:spPr>
          <a:xfrm>
            <a:off x="0" y="0"/>
            <a:ext cx="12189240" cy="107280"/>
          </a:xfrm>
          <a:prstGeom prst="rect">
            <a:avLst/>
          </a:prstGeom>
          <a:solidFill>
            <a:srgbClr val="28A8FF"/>
          </a:solidFill>
          <a:ln w="12700">
            <a:solidFill>
              <a:srgbClr val="28A8FF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1" name="Text 116"/>
          <p:cNvSpPr/>
          <p:nvPr/>
        </p:nvSpPr>
        <p:spPr>
          <a:xfrm>
            <a:off x="502920" y="6355080"/>
            <a:ext cx="228348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A7B7C7"/>
                </a:solidFill>
                <a:effectLst/>
                <a:uFillTx/>
                <a:latin typeface="Aptos"/>
                <a:ea typeface="Aptos"/>
              </a:rPr>
              <a:t>Module 2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2" name="Text 117"/>
          <p:cNvSpPr/>
          <p:nvPr/>
        </p:nvSpPr>
        <p:spPr>
          <a:xfrm>
            <a:off x="502920" y="411480"/>
            <a:ext cx="11061720" cy="500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8FAFC"/>
                </a:solidFill>
                <a:effectLst/>
                <a:uFillTx/>
                <a:latin typeface="Aptos Display"/>
                <a:ea typeface="Aptos Display"/>
              </a:rPr>
              <a:t>Lab: Build, push, deploy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3" name="Text 118"/>
          <p:cNvSpPr/>
          <p:nvPr/>
        </p:nvSpPr>
        <p:spPr>
          <a:xfrm>
            <a:off x="530280" y="987480"/>
            <a:ext cx="1087884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A7B7C7"/>
                </a:solidFill>
                <a:effectLst/>
                <a:uFillTx/>
                <a:latin typeface="Aptos"/>
              </a:rPr>
              <a:t>This lab becomes the foundation for the rest of the workshop.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4" name="Shape 96"/>
          <p:cNvSpPr/>
          <p:nvPr/>
        </p:nvSpPr>
        <p:spPr>
          <a:xfrm>
            <a:off x="685800" y="1463040"/>
            <a:ext cx="10970280" cy="4249440"/>
          </a:xfrm>
          <a:prstGeom prst="roundRect">
            <a:avLst>
              <a:gd name="adj" fmla="val 2581"/>
            </a:avLst>
          </a:prstGeom>
          <a:solidFill>
            <a:srgbClr val="0B2740"/>
          </a:solidFill>
          <a:ln w="1397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5" name="Text 119"/>
          <p:cNvSpPr/>
          <p:nvPr/>
        </p:nvSpPr>
        <p:spPr>
          <a:xfrm>
            <a:off x="1005840" y="1783080"/>
            <a:ext cx="274068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6" name="Text 120"/>
          <p:cNvSpPr/>
          <p:nvPr/>
        </p:nvSpPr>
        <p:spPr>
          <a:xfrm>
            <a:off x="1005840" y="2331720"/>
            <a:ext cx="10238760" cy="242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rmAutofit/>
          </a:bodyPr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Run setup-local-registry.sh and confirm the test passes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Build app, distroless, and migration images with localhost:5000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Push all images to the local registry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Verify registry catalog and image tags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Use localhost:5000/... image references in Kubernetes manifests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• Deploy the app in Module 3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97"/>
          <p:cNvSpPr/>
          <p:nvPr/>
        </p:nvSpPr>
        <p:spPr>
          <a:xfrm>
            <a:off x="1005840" y="5074920"/>
            <a:ext cx="820440" cy="326520"/>
          </a:xfrm>
          <a:prstGeom prst="roundRect">
            <a:avLst>
              <a:gd name="adj" fmla="val 33333"/>
            </a:avLst>
          </a:prstGeom>
          <a:solidFill>
            <a:srgbClr val="28A8FF">
              <a:alpha val="85000"/>
            </a:srgbClr>
          </a:solidFill>
          <a:ln w="10160">
            <a:solidFill>
              <a:srgbClr val="28A8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8" name="Text 121"/>
          <p:cNvSpPr/>
          <p:nvPr/>
        </p:nvSpPr>
        <p:spPr>
          <a:xfrm>
            <a:off x="1078920" y="5148000"/>
            <a:ext cx="67428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9" name="Shape 98"/>
          <p:cNvSpPr/>
          <p:nvPr/>
        </p:nvSpPr>
        <p:spPr>
          <a:xfrm>
            <a:off x="1965960" y="5074920"/>
            <a:ext cx="774720" cy="326520"/>
          </a:xfrm>
          <a:prstGeom prst="roundRect">
            <a:avLst>
              <a:gd name="adj" fmla="val 33333"/>
            </a:avLst>
          </a:prstGeom>
          <a:solidFill>
            <a:srgbClr val="22C55E">
              <a:alpha val="85000"/>
            </a:srgbClr>
          </a:solidFill>
          <a:ln w="10160">
            <a:solidFill>
              <a:srgbClr val="22C55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2"/>
          <p:cNvSpPr/>
          <p:nvPr/>
        </p:nvSpPr>
        <p:spPr>
          <a:xfrm>
            <a:off x="2039040" y="5148000"/>
            <a:ext cx="62856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Push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1" name="Shape 99"/>
          <p:cNvSpPr/>
          <p:nvPr/>
        </p:nvSpPr>
        <p:spPr>
          <a:xfrm>
            <a:off x="2880360" y="5074920"/>
            <a:ext cx="729000" cy="326520"/>
          </a:xfrm>
          <a:prstGeom prst="roundRect">
            <a:avLst>
              <a:gd name="adj" fmla="val 33333"/>
            </a:avLst>
          </a:prstGeom>
          <a:solidFill>
            <a:srgbClr val="A78BFA">
              <a:alpha val="85000"/>
            </a:srgbClr>
          </a:solidFill>
          <a:ln w="1016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2" name="Text 123"/>
          <p:cNvSpPr/>
          <p:nvPr/>
        </p:nvSpPr>
        <p:spPr>
          <a:xfrm>
            <a:off x="2953440" y="5148000"/>
            <a:ext cx="5828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00"/>
          <p:cNvSpPr/>
          <p:nvPr/>
        </p:nvSpPr>
        <p:spPr>
          <a:xfrm>
            <a:off x="3749040" y="5074920"/>
            <a:ext cx="911880" cy="326520"/>
          </a:xfrm>
          <a:prstGeom prst="roundRect">
            <a:avLst>
              <a:gd name="adj" fmla="val 33333"/>
            </a:avLst>
          </a:prstGeom>
          <a:solidFill>
            <a:srgbClr val="FB923C">
              <a:alpha val="85000"/>
            </a:srgbClr>
          </a:solidFill>
          <a:ln w="10160">
            <a:solidFill>
              <a:srgbClr val="FB923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4" name="Text 124"/>
          <p:cNvSpPr/>
          <p:nvPr/>
        </p:nvSpPr>
        <p:spPr>
          <a:xfrm>
            <a:off x="3822120" y="5148000"/>
            <a:ext cx="76572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5" name="Shape 101"/>
          <p:cNvSpPr/>
          <p:nvPr/>
        </p:nvSpPr>
        <p:spPr>
          <a:xfrm>
            <a:off x="4800600" y="5074920"/>
            <a:ext cx="1414800" cy="326520"/>
          </a:xfrm>
          <a:prstGeom prst="roundRect">
            <a:avLst>
              <a:gd name="adj" fmla="val 33333"/>
            </a:avLst>
          </a:prstGeom>
          <a:solidFill>
            <a:srgbClr val="F87171">
              <a:alpha val="85000"/>
            </a:srgbClr>
          </a:solidFill>
          <a:ln w="10160">
            <a:solidFill>
              <a:srgbClr val="F8717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6" name="Text 125"/>
          <p:cNvSpPr/>
          <p:nvPr/>
        </p:nvSpPr>
        <p:spPr>
          <a:xfrm>
            <a:off x="4873680" y="5148000"/>
            <a:ext cx="1268640" cy="153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</a:t>
            </a:r>
            <a:endParaRPr lang="en-US" sz="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3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Containers, images and local application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image mental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is not a VM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Image contains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Image does not contain by default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Entrypoint and command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environment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Filesystem layers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Cluster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Service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Secrets from the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 guarantee that shell exists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build flow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Multi-stage builds separate build-time and runtime concerns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5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Source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6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7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Builder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9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0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3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4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Runtime image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Registry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8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9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0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Kubernetes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image vs distroless image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Both are useful, for different reasons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Debug-friendly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Distroless image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Based on python:slim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Contains shell and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Easier kubectl exec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Larger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for labs and diagnosis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attack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better logs/probes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kubectl debug when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Build images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used in the repository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docker/Dockerfile.debug     -t localhost:5000/k8s-workshop-app:debug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docker/Dockerfile.distroless -t localhost:5000/k8s-workshop-app:distroless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docker/Dockerfile.migration -t localhost:5000/k8s-workshop-migration:debug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docker/Dockerfile.broken_migration -t localhost:5000/k8s-workshop-migration:broken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build -f docker/Dockerfile.repair_migration -t localhost:5000/k8s-workshop-migration:repair .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image ls | grep k8s-workshop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 locally with Docker Compose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Prove the app before Kubernetes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9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0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cd docker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docker compose up --build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http://localhost:8080/items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-X POST http://localhost:8080/items -H 'Content-Type: application/json' -d '{"name":"demo"}'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endpoints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app is designed to create useful signals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Operational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Training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/healthz - process is alive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/readyz - DB dependency is 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/version - image/config visible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/file-log - last file log lines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/items - DB-backed data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/stress/cpu - CPU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/stress/memory - OOMKilled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cyclic log writer - restart visibility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1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4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2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First deployment to Kubernetes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3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Deployment, Pod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Three objects, three jobs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Deployment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Service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Declarative desired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Creates ReplicaSets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Recreates failed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Supports rollout and rollback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 default for stateless app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virtual IP and DNS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Selects 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Routes to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Decouples clients from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with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dependencies and DB migration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6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7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-f k8s/base/01-namespace.yaml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k8s/base/02-configmap.yaml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k8s/base/03-secret.yaml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 --timeout=180s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delete job db-migration -n k8s-workshop --ignore-not-found=true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wait --for=condition=complete job/db-migration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  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Shape 229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9" name="Text 278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0" name="Text 279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deploy – application and service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1" name="Text 280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Apply manifests in order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2" name="Shape 230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3" name="Text 281"/>
          <p:cNvSpPr/>
          <p:nvPr/>
        </p:nvSpPr>
        <p:spPr>
          <a:xfrm>
            <a:off x="850320" y="1527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k8s/base/06-app-deployment.yaml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k8s/base/07-app-service.yaml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deployment/flask-app --timeout=120s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Verify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deploy,rs,pod,svc,endpoints,jobs,pvc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And in the second terminal: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</a:t>
            </a: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  <a:hlinkClick r:id="rId1"/>
              </a:rPr>
              <a:t>http://localhost:8080/healthz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http://localhost:8080/readyz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http://localhost:8080/version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 first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fix before observing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port-forward svc/flask-app 8080:80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model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Every rollout is a controlled state transition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4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5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Deployment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6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7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8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ReplicaSet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9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0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1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template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2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3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4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New Pods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5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6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7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Readiness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8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9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0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Traffic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Rollout commands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in almost every lab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5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6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history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undo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set image deploy/flask-app flask-app=localhost:5000/k8s-workshop-app:debug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9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5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0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Fast failure diagnosis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1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classification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Classify the state before reading random logs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6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7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8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Likely phase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9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0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Typical root cause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1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2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Pending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3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Scheduling/admission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4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5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quota, capacity, PVC, node selector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6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7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8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pull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9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0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tag, registry auth,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1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2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3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crash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4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5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bad command, config, app error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6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7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8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9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0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path, dependency down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1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2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3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Runtime limit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4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5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exceeded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6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7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8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routing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9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0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 or not ready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container never started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Kubelet tried to pull the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Pull failed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Retry delay increases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There are no app logs yet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 contain the clue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6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Typo in image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Private registry without secret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Proxy/certificate/DNS issue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ImagePullPolicy surprises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1: ImagePullBackOff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Break and diagnose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challenges/challenge-01-imagepullbackoff/solution.yaml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image starts, then the process exits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happened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 these signals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was pulled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Container started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Main process exited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restarted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Backoff delay increased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logs &lt;pod&gt; --previous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exit code in describe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environment variables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 and args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2: CrashLoopBackOff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key command is logs --previous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challenges/challenge-02-crashloopbackoff/broken.yaml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but not Ready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Running is not the same as receiving traffic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Readiness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causes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process is running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Kubernetes asked the app if it is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The app said no or did not respond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endpoints exclude the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Traffic should not be routed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readiness path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port or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Dependency unavailable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DB credentials wrong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 takes longer to start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9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3: Readiness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 runs, Service has no ready endpoint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1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2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challenges/challenge-03-readiness/broken.yaml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5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6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6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PostgreSQL and database migrations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Adding PostgreSQL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the app more realistic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objects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Operational questions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Headless or normal Service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for credentials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via 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depends on DB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Where is data stored?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When is DB ready?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do we migrate schema?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fails if Secret is wrong?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should restart automatically?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Deploy PostgreSQL and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1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DB becomes part of the application lifecycle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k8s/base/04-postgres-statefulset.yaml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status statefulset/postgres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k8s/base/05-migration-job.yaml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Job vs initContainer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the right mechanism for the risk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6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Migration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7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initContainer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8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once per release step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Easy to inspect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fail before app rollout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Avoids N replicas running migration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teaching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9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Runs before each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local setup/waiting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duplicate migration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Tightly coupled with Pod startup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Useful but risky for schema changes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4: DB connection failure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Wrong Secret or wrong Service DNS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4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5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rollout restart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deploy/flask-app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&lt;pod-name&gt;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challenges/challenge-04-db-connection/solution.yaml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5: Broken migration Job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Completed vs Failed matters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jobs,pods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job/db-migration-broken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job db-migration-broken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with a valid migration or fixed Job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challenges/challenge-05-migration-job/solution.yaml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7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Volumes and persistence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 types in this workshop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we can and cannot demonstrate on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1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2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Type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3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Access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4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Survives Pod recreation?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5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Workshop use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6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7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8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Pod-local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9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0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file log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1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2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3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4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5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configuration as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6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7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Secret volume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8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Read-only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69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N/A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0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Credential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1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2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3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node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4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5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Persistent app log and PostgreSQL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6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7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RWX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8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Many writers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9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0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Slides only: NFS/CephFS/EFS/Azure Files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1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2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RWOP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3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Single Pod write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4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5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Conceptual comparison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8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Good for temporary data, not persistence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Not useful for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Scratch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Temporary caches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Sidecar sharing inside a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Training log disappearance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storage provisioning needed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Databases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Data that must survive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Cross-Pod sharing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Node failure protection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Shared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6A: emptyDir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did my file go?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8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9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emptydir-writer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emptydir-writer -- ls -l /data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with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Persistent volume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RWO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Single-node caveat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ReadWriteOnce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read-write by a single node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In K3s local-path creates local PVs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single-node persistence lab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the same as shared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Two Pods on the same node may appear to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Multi-attach errors need multi-node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overclaim what the lab proves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Teach semantics on slides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StatefulSet for DB pattern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6B: PVC RWO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File survives Pod recreation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delete pod pvc-writer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challenges/challenge-06-emptydir-vs-pvc/solution.yaml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pvc-writer -- tail /data/events.log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pvc,pv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lifecycle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Follow the data, not only the Pod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8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9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0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1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2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restart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3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4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5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recreation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6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7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8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PVC remains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29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0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1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PV backend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2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3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4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Reclaim policy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Configuration can also be mounted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ConfigMap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Secret volume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Plain configuration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as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update files eventually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for sensitive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application properties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Sensitive values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Mounted read-only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Base64 in API object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needs RBAC discipline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often needed for env vars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ConfigMap and Secret volume lab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Read configuration as files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4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k8s/storage/03-configmap-secret-volumes.yaml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ls -l /config /secret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/config/application.properties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volume-reader -- cat /secret/password.txt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RWX overview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Discuss it, do not force it in single-node K3s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RWX means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Examples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ReadWriteMany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Multiple writers/readers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Requires backend support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for shared content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every StorageClass supports 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CephFS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Amazon EFS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Azure Files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NetApp / enterprise NAS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5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StatefulSet storage pattern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Databases need stable identity and storage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StatefulSet gives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Teaching message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Pod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Ordered rollout by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network identity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volumeClaimTemplates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One PVC per replica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HA PostgreSQL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for storage lifecycle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remains after Pod recreation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Deleting StatefulSet does not automatically delete PVCs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Know what owns the data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7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8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8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Distroless and no-shell </a:t>
            </a: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9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0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1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2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no shell?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3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Minimal images improve security but change troubleshooting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4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Benefits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5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Trade-offs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6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Smaller runtime surface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Fewer vulnerable packages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Less accidental tooling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Closer to immutable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Good production default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7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kubectl exec -- sh fails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curl, ps, nslookup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and probes become critical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debug containers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good application telemetry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7: Distroless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assume shell exists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challenges/challenge-07-distroless/broken.yaml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exec -it distroless-demo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Better pattern: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debug -it pod/distroless-demo --image=busybox:1.36 --target=app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Debugging without shell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cluster signals before interactive access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8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9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0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1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2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Describe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3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4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5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6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7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8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Probes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9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0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1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Metrics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2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3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4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Debug container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Ephemeral debug containers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 safer operational escape hatch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when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Remember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 image has no shell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network tools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process namespace insight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 quick triage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want to rebuild app image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a replacement for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May need RBAC permission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Does not change app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Still uses same Pod network namespace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 carefully in production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5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9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6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Requests, limits and runtime behavior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vs actual usage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This is the source of many misunderstandings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Requests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Actual usage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by scheduler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Reserve scheduling 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mean process is using it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Help cluster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What the process consumes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lower than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be higher than request if allowed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Drives performance and cost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Runtime guardrails are different from scheduling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0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CPU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1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Memory limit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2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CPU is throttled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Application becomes slower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Usually not 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create latency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 careful with tight CPU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3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cannot be throttled the same way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Exceeding limit can kill container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Seen as OOMKilled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Restart can cause CrashLoopBackOff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Needs app-level understanding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 classes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How Kubernetes classifies Pods from resources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8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9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QoS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0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Condition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1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Operational meaning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2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Example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3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4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Guaranteed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5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== limits for all containers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6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Highest eviction priority protection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7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Critical stable workload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8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9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Burstable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0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some requests or limits set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1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Common default for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2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Most workshop app Pods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3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4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BestEffort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5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requests or limits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6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to be evicted under pressure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7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Avoid for important apps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9: OOMKilled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Memory limit becomes visible at runtime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2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3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challenges/challenge-09-oomkilled/broken.yaml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-w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oom-demo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logs oom-demo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Or use app endpoint with a low memory limit: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curl http://localhost:8080/stress/memory?mib=256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4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5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6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explain VM comparison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7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Useful for infra teams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8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9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VM workload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0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Requests guide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 control runtime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Actual usage can be much lower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may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can be restarted/rescheduled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1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Flavor/guest memory shapes scheduling/capacity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pressure behaves differently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Platform may overcommit CPU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Quota/capacity can block creation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Treat as heavier scheduling unit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4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10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5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ResourceQuota and LimitRange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6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ResourceQuota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Namespace-level capacity control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it controls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What it teaches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Aggregate requests and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count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count and storage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Object counts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Admission decisions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new Pods may not appear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idle-looking clusters can reject work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Why requests are part of capacity planning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teams share clusters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Dev/platform contract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Defaults and guardrails for a namespace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Can provide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Why it matters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Minimum allowed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Maximum allowed limit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PVC size constraints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Prevents BestEffort by accident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Gives predictable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Protects neighbors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surprise developers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Must be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5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ResourceQuota and LimitRange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6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after the app basics are understood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7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8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k8s/resources/01-limitrange.yaml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k8s/resources/02-resourcequota.yaml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limitrange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8: Quota exceeded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Pods can fail before the app has a chance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3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4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challenges/challenge-08-quota/broken.yaml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deploy,rs,pod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pod &lt;pending-pod&gt;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Key message for participants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Do not confuse booked, allowed and used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9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Booked / requested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0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Used / runtime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1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Used for scheduling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Counted by quota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block new Pods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Represents expected need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Not necessarily used now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2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Measured by metrics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Changes over time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exceed request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Limited by 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 cause throttling or OOM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3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4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5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11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6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routing and application availability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7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8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9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0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is label-based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1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The Service does not know your Deployment name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2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Service selects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3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Common failures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4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Pods by labels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Only ready endpoints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targetPort on Pod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Stable DNS name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Virtual IP inside cluster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5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Wrong targetPort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Ready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mismatch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Network/proxy confusion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8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Challenge 10: Wrong Service selector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9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 runs, but no traffic reaches 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0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1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challenges/challenge-10-service-selector/broken.yaml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pods --show-labels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describe svc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-n k8s-workshop get endpoints selector-app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# Fix selector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apply -n k8s-workshop -f challenges/challenge-10-service-selector/solution.yaml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2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3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4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Request path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5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Where to look when traffic fails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6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7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Client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8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9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0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Service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1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2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3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Selector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4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5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6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EndpointSlice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7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8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9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Pod IP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0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1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2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Container port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3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4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5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App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6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7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8" name="Text 2"/>
          <p:cNvSpPr/>
          <p:nvPr/>
        </p:nvSpPr>
        <p:spPr>
          <a:xfrm>
            <a:off x="658440" y="2148840"/>
            <a:ext cx="10603800" cy="72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Module 12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9" name="Text 3"/>
          <p:cNvSpPr/>
          <p:nvPr/>
        </p:nvSpPr>
        <p:spPr>
          <a:xfrm>
            <a:off x="676800" y="2953440"/>
            <a:ext cx="9597960" cy="36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Troubleshooting playbook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0" name="Shape 4"/>
          <p:cNvSpPr/>
          <p:nvPr/>
        </p:nvSpPr>
        <p:spPr>
          <a:xfrm>
            <a:off x="676440" y="3520440"/>
            <a:ext cx="3749040" cy="360"/>
          </a:xfrm>
          <a:prstGeom prst="line">
            <a:avLst/>
          </a:prstGeom>
          <a:ln w="254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Decision tree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Use this as the final participant cheat sheet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5" name="Shape 4"/>
          <p:cNvSpPr/>
          <p:nvPr/>
        </p:nvSpPr>
        <p:spPr>
          <a:xfrm>
            <a:off x="685800" y="1325880"/>
            <a:ext cx="10832400" cy="472320"/>
          </a:xfrm>
          <a:prstGeom prst="rect">
            <a:avLst/>
          </a:prstGeom>
          <a:solidFill>
            <a:srgbClr val="0EA5E9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6" name="Text 5"/>
          <p:cNvSpPr/>
          <p:nvPr/>
        </p:nvSpPr>
        <p:spPr>
          <a:xfrm>
            <a:off x="758880" y="14720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Question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7" name="Text 6"/>
          <p:cNvSpPr/>
          <p:nvPr/>
        </p:nvSpPr>
        <p:spPr>
          <a:xfrm>
            <a:off x="286200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Yes means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8" name="Text 7"/>
          <p:cNvSpPr/>
          <p:nvPr/>
        </p:nvSpPr>
        <p:spPr>
          <a:xfrm>
            <a:off x="5239440" y="14720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First command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9" name="Text 8"/>
          <p:cNvSpPr/>
          <p:nvPr/>
        </p:nvSpPr>
        <p:spPr>
          <a:xfrm>
            <a:off x="7616880" y="14720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Next step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0" name="Shape 9"/>
          <p:cNvSpPr/>
          <p:nvPr/>
        </p:nvSpPr>
        <p:spPr>
          <a:xfrm>
            <a:off x="685800" y="185616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1" name="Text 10"/>
          <p:cNvSpPr/>
          <p:nvPr/>
        </p:nvSpPr>
        <p:spPr>
          <a:xfrm>
            <a:off x="758880" y="200268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not created?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2" name="Text 11"/>
          <p:cNvSpPr/>
          <p:nvPr/>
        </p:nvSpPr>
        <p:spPr>
          <a:xfrm>
            <a:off x="286200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Controller/admission issue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3" name="Text 12"/>
          <p:cNvSpPr/>
          <p:nvPr/>
        </p:nvSpPr>
        <p:spPr>
          <a:xfrm>
            <a:off x="5239440" y="200268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deploy/rs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4" name="Text 13"/>
          <p:cNvSpPr/>
          <p:nvPr/>
        </p:nvSpPr>
        <p:spPr>
          <a:xfrm>
            <a:off x="7616880" y="200268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events,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5" name="Shape 14"/>
          <p:cNvSpPr/>
          <p:nvPr/>
        </p:nvSpPr>
        <p:spPr>
          <a:xfrm>
            <a:off x="685800" y="238644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6" name="Text 15"/>
          <p:cNvSpPr/>
          <p:nvPr/>
        </p:nvSpPr>
        <p:spPr>
          <a:xfrm>
            <a:off x="758880" y="253296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Pod Pending?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7" name="Text 16"/>
          <p:cNvSpPr/>
          <p:nvPr/>
        </p:nvSpPr>
        <p:spPr>
          <a:xfrm>
            <a:off x="286200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Cannot schedule/start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8" name="Text 17"/>
          <p:cNvSpPr/>
          <p:nvPr/>
        </p:nvSpPr>
        <p:spPr>
          <a:xfrm>
            <a:off x="5239440" y="253296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9" name="Text 18"/>
          <p:cNvSpPr/>
          <p:nvPr/>
        </p:nvSpPr>
        <p:spPr>
          <a:xfrm>
            <a:off x="7616880" y="253296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capacity, PVC, quota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0" name="Shape 19"/>
          <p:cNvSpPr/>
          <p:nvPr/>
        </p:nvSpPr>
        <p:spPr>
          <a:xfrm>
            <a:off x="685800" y="291708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1" name="Text 20"/>
          <p:cNvSpPr/>
          <p:nvPr/>
        </p:nvSpPr>
        <p:spPr>
          <a:xfrm>
            <a:off x="758880" y="30632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ImagePullBackOff?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2" name="Text 21"/>
          <p:cNvSpPr/>
          <p:nvPr/>
        </p:nvSpPr>
        <p:spPr>
          <a:xfrm>
            <a:off x="286200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not pulled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3" name="Text 22"/>
          <p:cNvSpPr/>
          <p:nvPr/>
        </p:nvSpPr>
        <p:spPr>
          <a:xfrm>
            <a:off x="5239440" y="30632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4" name="Text 23"/>
          <p:cNvSpPr/>
          <p:nvPr/>
        </p:nvSpPr>
        <p:spPr>
          <a:xfrm>
            <a:off x="7616880" y="30632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tag, registry, proxy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5" name="Shape 24"/>
          <p:cNvSpPr/>
          <p:nvPr/>
        </p:nvSpPr>
        <p:spPr>
          <a:xfrm>
            <a:off x="685800" y="344736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6" name="Text 25"/>
          <p:cNvSpPr/>
          <p:nvPr/>
        </p:nvSpPr>
        <p:spPr>
          <a:xfrm>
            <a:off x="758880" y="35935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CrashLoopBackOff?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7" name="Text 26"/>
          <p:cNvSpPr/>
          <p:nvPr/>
        </p:nvSpPr>
        <p:spPr>
          <a:xfrm>
            <a:off x="286200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Process exits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8" name="Text 27"/>
          <p:cNvSpPr/>
          <p:nvPr/>
        </p:nvSpPr>
        <p:spPr>
          <a:xfrm>
            <a:off x="5239440" y="35935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--previous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89" name="Text 28"/>
          <p:cNvSpPr/>
          <p:nvPr/>
        </p:nvSpPr>
        <p:spPr>
          <a:xfrm>
            <a:off x="7616880" y="35935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command, env, app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0" name="Shape 29"/>
          <p:cNvSpPr/>
          <p:nvPr/>
        </p:nvSpPr>
        <p:spPr>
          <a:xfrm>
            <a:off x="685800" y="397764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1" name="Text 30"/>
          <p:cNvSpPr/>
          <p:nvPr/>
        </p:nvSpPr>
        <p:spPr>
          <a:xfrm>
            <a:off x="758880" y="412380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Running not Ready?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2" name="Text 31"/>
          <p:cNvSpPr/>
          <p:nvPr/>
        </p:nvSpPr>
        <p:spPr>
          <a:xfrm>
            <a:off x="286200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gate failed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3" name="Text 32"/>
          <p:cNvSpPr/>
          <p:nvPr/>
        </p:nvSpPr>
        <p:spPr>
          <a:xfrm>
            <a:off x="5239440" y="412380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+ logs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4" name="Text 33"/>
          <p:cNvSpPr/>
          <p:nvPr/>
        </p:nvSpPr>
        <p:spPr>
          <a:xfrm>
            <a:off x="7616880" y="412380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probe/dependency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5" name="Shape 34"/>
          <p:cNvSpPr/>
          <p:nvPr/>
        </p:nvSpPr>
        <p:spPr>
          <a:xfrm>
            <a:off x="685800" y="4507920"/>
            <a:ext cx="10832400" cy="472320"/>
          </a:xfrm>
          <a:prstGeom prst="rect">
            <a:avLst/>
          </a:prstGeom>
          <a:solidFill>
            <a:srgbClr val="0B2235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6" name="Text 35"/>
          <p:cNvSpPr/>
          <p:nvPr/>
        </p:nvSpPr>
        <p:spPr>
          <a:xfrm>
            <a:off x="758880" y="465444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OOMKilled?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7" name="Text 36"/>
          <p:cNvSpPr/>
          <p:nvPr/>
        </p:nvSpPr>
        <p:spPr>
          <a:xfrm>
            <a:off x="286200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Memory limit hit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8" name="Text 37"/>
          <p:cNvSpPr/>
          <p:nvPr/>
        </p:nvSpPr>
        <p:spPr>
          <a:xfrm>
            <a:off x="5239440" y="465444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describe pod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9" name="Text 38"/>
          <p:cNvSpPr/>
          <p:nvPr/>
        </p:nvSpPr>
        <p:spPr>
          <a:xfrm>
            <a:off x="7616880" y="465444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limits/usage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0" name="Shape 39"/>
          <p:cNvSpPr/>
          <p:nvPr/>
        </p:nvSpPr>
        <p:spPr>
          <a:xfrm>
            <a:off x="685800" y="5038200"/>
            <a:ext cx="10832400" cy="472320"/>
          </a:xfrm>
          <a:prstGeom prst="rect">
            <a:avLst/>
          </a:prstGeom>
          <a:solidFill>
            <a:srgbClr val="0E2D46"/>
          </a:solidFill>
          <a:ln w="508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1" name="Text 40"/>
          <p:cNvSpPr/>
          <p:nvPr/>
        </p:nvSpPr>
        <p:spPr>
          <a:xfrm>
            <a:off x="758880" y="5184720"/>
            <a:ext cx="19627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endpoints?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2" name="Text 41"/>
          <p:cNvSpPr/>
          <p:nvPr/>
        </p:nvSpPr>
        <p:spPr>
          <a:xfrm>
            <a:off x="286200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Service cannot route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3" name="Text 42"/>
          <p:cNvSpPr/>
          <p:nvPr/>
        </p:nvSpPr>
        <p:spPr>
          <a:xfrm>
            <a:off x="5239440" y="5184720"/>
            <a:ext cx="223704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get endpoints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4" name="Text 43"/>
          <p:cNvSpPr/>
          <p:nvPr/>
        </p:nvSpPr>
        <p:spPr>
          <a:xfrm>
            <a:off x="7616880" y="5184720"/>
            <a:ext cx="333432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 lnSpcReduction="9999"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7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selector/readiness</a:t>
            </a:r>
            <a:endParaRPr lang="en-US" sz="9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Core command set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Commands participants should leave with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9" name="Shape 4"/>
          <p:cNvSpPr/>
          <p:nvPr/>
        </p:nvSpPr>
        <p:spPr>
          <a:xfrm>
            <a:off x="685800" y="1417320"/>
            <a:ext cx="10878120" cy="4568760"/>
          </a:xfrm>
          <a:prstGeom prst="roundRect">
            <a:avLst>
              <a:gd name="adj" fmla="val 1200"/>
            </a:avLst>
          </a:prstGeom>
          <a:solidFill>
            <a:srgbClr val="020617"/>
          </a:solidFill>
          <a:ln w="10160">
            <a:solidFill>
              <a:srgbClr val="1E3A5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0" name="Text 5"/>
          <p:cNvSpPr/>
          <p:nvPr/>
        </p:nvSpPr>
        <p:spPr>
          <a:xfrm>
            <a:off x="850320" y="1563480"/>
            <a:ext cx="10558080" cy="427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pods -o wide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pod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logs &lt;pod&gt; --previous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events --sort-by=.lastTimestamp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get deploy,rs,pod,svc,endpoints,pvc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describe quota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rollout status deploy/&lt;name&gt;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>
                <a:solidFill>
                  <a:srgbClr val="D1FAE5"/>
                </a:solidFill>
                <a:effectLst/>
                <a:uFillTx/>
                <a:latin typeface="Aptos Mono"/>
                <a:ea typeface="Aptos Mono"/>
              </a:rPr>
              <a:t>kubectl debug -it pod/&lt;pod&gt; --image=busybox:1.36 --target=&lt;container&gt; -- sh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1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2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3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How to run combined cases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4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Final exercise format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5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Instructor setup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6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Participant output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7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Apply one broken manifest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Do not reveal the failure mode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team to classify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first three commands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Ask for root cause and fix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8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Observed state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Evidence from events/logs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Root cause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Fix command or YAML change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Preventive practice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Final 2-hour agenda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Timing and workshop flow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3" name="Shape 4"/>
          <p:cNvSpPr/>
          <p:nvPr/>
        </p:nvSpPr>
        <p:spPr>
          <a:xfrm>
            <a:off x="731520" y="13258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4" name="Text 5"/>
          <p:cNvSpPr/>
          <p:nvPr/>
        </p:nvSpPr>
        <p:spPr>
          <a:xfrm>
            <a:off x="804600" y="147204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5" name="Text 6"/>
          <p:cNvSpPr/>
          <p:nvPr/>
        </p:nvSpPr>
        <p:spPr>
          <a:xfrm>
            <a:off x="2011680" y="139896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End-to-end recap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6" name="Text 7"/>
          <p:cNvSpPr/>
          <p:nvPr/>
        </p:nvSpPr>
        <p:spPr>
          <a:xfrm>
            <a:off x="5806440" y="14173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Build -&gt; Deploy -&gt; DB -&gt; Migrate -&gt; Persist -&gt; Limit.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7" name="Shape 8"/>
          <p:cNvSpPr/>
          <p:nvPr/>
        </p:nvSpPr>
        <p:spPr>
          <a:xfrm>
            <a:off x="731520" y="193860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8" name="Text 9"/>
          <p:cNvSpPr/>
          <p:nvPr/>
        </p:nvSpPr>
        <p:spPr>
          <a:xfrm>
            <a:off x="804600" y="208476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9" name="Text 10"/>
          <p:cNvSpPr/>
          <p:nvPr/>
        </p:nvSpPr>
        <p:spPr>
          <a:xfrm>
            <a:off x="2011680" y="201168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decision tree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0" name="Text 11"/>
          <p:cNvSpPr/>
          <p:nvPr/>
        </p:nvSpPr>
        <p:spPr>
          <a:xfrm>
            <a:off x="5806440" y="203004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Classify states and map each to first commands.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1" name="Shape 12"/>
          <p:cNvSpPr/>
          <p:nvPr/>
        </p:nvSpPr>
        <p:spPr>
          <a:xfrm>
            <a:off x="731520" y="255132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2" name="Text 13"/>
          <p:cNvSpPr/>
          <p:nvPr/>
        </p:nvSpPr>
        <p:spPr>
          <a:xfrm>
            <a:off x="804600" y="269748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40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3" name="Text 14"/>
          <p:cNvSpPr/>
          <p:nvPr/>
        </p:nvSpPr>
        <p:spPr>
          <a:xfrm>
            <a:off x="2011680" y="262440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Combined scenarios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4" name="Text 15"/>
          <p:cNvSpPr/>
          <p:nvPr/>
        </p:nvSpPr>
        <p:spPr>
          <a:xfrm>
            <a:off x="5806440" y="264276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Teams diagnose three broken manifests.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5" name="Shape 16"/>
          <p:cNvSpPr/>
          <p:nvPr/>
        </p:nvSpPr>
        <p:spPr>
          <a:xfrm>
            <a:off x="731520" y="3163680"/>
            <a:ext cx="1048320" cy="435600"/>
          </a:xfrm>
          <a:prstGeom prst="roundRect">
            <a:avLst>
              <a:gd name="adj" fmla="val 10417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6" name="Text 17"/>
          <p:cNvSpPr/>
          <p:nvPr/>
        </p:nvSpPr>
        <p:spPr>
          <a:xfrm>
            <a:off x="804600" y="3310200"/>
            <a:ext cx="892800" cy="133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20 min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7" name="Text 18"/>
          <p:cNvSpPr/>
          <p:nvPr/>
        </p:nvSpPr>
        <p:spPr>
          <a:xfrm>
            <a:off x="2011680" y="3237120"/>
            <a:ext cx="3654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8" name="Text 19"/>
          <p:cNvSpPr/>
          <p:nvPr/>
        </p:nvSpPr>
        <p:spPr>
          <a:xfrm>
            <a:off x="5806440" y="3255120"/>
            <a:ext cx="530028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rm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CBD5E1"/>
                </a:solidFill>
                <a:effectLst/>
                <a:uFillTx/>
                <a:latin typeface="Aptos"/>
              </a:rPr>
              <a:t>Who defines what and what should be standardized.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9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0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1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Dev vs platform contract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2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Make responsibilities explicit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3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Developers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4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 should define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5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Health and readiness behavior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expectations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Configuration keys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strategy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Meaningful logs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6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Default requests/limits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and namespace policy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StorageClass options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Registry and proxy access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Debug permissions and guardrails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7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8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9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Production checklist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0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What to take back to real work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1" name="Text 4"/>
          <p:cNvSpPr/>
          <p:nvPr/>
        </p:nvSpPr>
        <p:spPr>
          <a:xfrm>
            <a:off x="68580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Application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2" name="Text 5"/>
          <p:cNvSpPr/>
          <p:nvPr/>
        </p:nvSpPr>
        <p:spPr>
          <a:xfrm>
            <a:off x="6419160" y="1334880"/>
            <a:ext cx="511740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34D399"/>
                </a:solidFill>
                <a:effectLst/>
                <a:uFillTx/>
                <a:latin typeface="Aptos"/>
              </a:rPr>
              <a:t>Platform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3" name="Text 6"/>
          <p:cNvSpPr/>
          <p:nvPr/>
        </p:nvSpPr>
        <p:spPr>
          <a:xfrm>
            <a:off x="68580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Logs to stdout/stderr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Readiness reflects dependencies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No secrets in images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Migration plan is explicit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Resource requests are tested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4" name="Text 7"/>
          <p:cNvSpPr/>
          <p:nvPr/>
        </p:nvSpPr>
        <p:spPr>
          <a:xfrm>
            <a:off x="6419160" y="1737360"/>
            <a:ext cx="5208840" cy="4477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t">
            <a:normAutofit/>
          </a:bodyPr>
          <a:p>
            <a:pPr marL="216000" indent="-216000">
              <a:lnSpc>
                <a:spcPct val="100000"/>
              </a:lnSpc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Namespace defaults documented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Quota visible to teams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Storage semantics clear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Image registry access reliable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177840" indent="-177840" defTabSz="914400">
              <a:lnSpc>
                <a:spcPct val="100000"/>
              </a:lnSpc>
              <a:buClr>
                <a:srgbClr val="F8FAFC"/>
              </a:buClr>
              <a:buFont typeface="Symbol" charset="2"/>
              <a:buChar char=""/>
            </a:pPr>
            <a:r>
              <a:rPr lang="en-US" sz="1320" b="0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Troubleshooting access controlled</a:t>
            </a:r>
            <a:endParaRPr lang="en-US" sz="13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718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5" name="Shape 0"/>
          <p:cNvSpPr/>
          <p:nvPr/>
        </p:nvSpPr>
        <p:spPr>
          <a:xfrm>
            <a:off x="0" y="0"/>
            <a:ext cx="12188520" cy="106560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6" name="Text 1"/>
          <p:cNvSpPr/>
          <p:nvPr/>
        </p:nvSpPr>
        <p:spPr>
          <a:xfrm>
            <a:off x="502920" y="6510600"/>
            <a:ext cx="4385880" cy="14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650" b="0" u="none" strike="noStrike">
                <a:solidFill>
                  <a:srgbClr val="6B8AA6"/>
                </a:solidFill>
                <a:effectLst/>
                <a:uFillTx/>
                <a:latin typeface="Aptos"/>
              </a:rPr>
              <a:t>Kubernetes Troubleshooting Workshop</a:t>
            </a:r>
            <a:endParaRPr lang="en-US" sz="6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7" name="Text 2"/>
          <p:cNvSpPr/>
          <p:nvPr/>
        </p:nvSpPr>
        <p:spPr>
          <a:xfrm>
            <a:off x="567000" y="384120"/>
            <a:ext cx="10969560" cy="45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>
                <a:solidFill>
                  <a:srgbClr val="F8FAFC"/>
                </a:solidFill>
                <a:effectLst/>
                <a:uFillTx/>
                <a:latin typeface="Aptos"/>
              </a:rPr>
              <a:t>Closing message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8" name="Text 3"/>
          <p:cNvSpPr/>
          <p:nvPr/>
        </p:nvSpPr>
        <p:spPr>
          <a:xfrm>
            <a:off x="585360" y="868680"/>
            <a:ext cx="10695240" cy="25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8BDF8"/>
                </a:solidFill>
                <a:effectLst/>
                <a:uFillTx/>
                <a:latin typeface="Aptos"/>
              </a:rPr>
              <a:t>Kubernetes is observable when you ask the right questions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9" name="Shape 4"/>
          <p:cNvSpPr/>
          <p:nvPr/>
        </p:nvSpPr>
        <p:spPr>
          <a:xfrm>
            <a:off x="50292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0" name="Text 5"/>
          <p:cNvSpPr/>
          <p:nvPr/>
        </p:nvSpPr>
        <p:spPr>
          <a:xfrm>
            <a:off x="54864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Classify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1" name="Shape 6"/>
          <p:cNvSpPr/>
          <p:nvPr/>
        </p:nvSpPr>
        <p:spPr>
          <a:xfrm>
            <a:off x="17740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2" name="Shape 7"/>
          <p:cNvSpPr/>
          <p:nvPr/>
        </p:nvSpPr>
        <p:spPr>
          <a:xfrm>
            <a:off x="20026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A5E9"/>
          </a:solidFill>
          <a:ln w="12700">
            <a:solidFill>
              <a:srgbClr val="0EA5E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3" name="Text 8"/>
          <p:cNvSpPr/>
          <p:nvPr/>
        </p:nvSpPr>
        <p:spPr>
          <a:xfrm>
            <a:off x="20484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Inspect events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4" name="Shape 9"/>
          <p:cNvSpPr/>
          <p:nvPr/>
        </p:nvSpPr>
        <p:spPr>
          <a:xfrm>
            <a:off x="327348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5" name="Shape 10"/>
          <p:cNvSpPr/>
          <p:nvPr/>
        </p:nvSpPr>
        <p:spPr>
          <a:xfrm>
            <a:off x="350208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A78BFA"/>
          </a:solidFill>
          <a:ln w="12700">
            <a:solidFill>
              <a:srgbClr val="A78BF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6" name="Text 11"/>
          <p:cNvSpPr/>
          <p:nvPr/>
        </p:nvSpPr>
        <p:spPr>
          <a:xfrm>
            <a:off x="354780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Read logs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7" name="Shape 12"/>
          <p:cNvSpPr/>
          <p:nvPr/>
        </p:nvSpPr>
        <p:spPr>
          <a:xfrm>
            <a:off x="47732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8" name="Shape 13"/>
          <p:cNvSpPr/>
          <p:nvPr/>
        </p:nvSpPr>
        <p:spPr>
          <a:xfrm>
            <a:off x="50018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34D399"/>
          </a:solidFill>
          <a:ln w="12700">
            <a:solidFill>
              <a:srgbClr val="34D399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9" name="Text 14"/>
          <p:cNvSpPr/>
          <p:nvPr/>
        </p:nvSpPr>
        <p:spPr>
          <a:xfrm>
            <a:off x="50475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dependencies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0" name="Shape 15"/>
          <p:cNvSpPr/>
          <p:nvPr/>
        </p:nvSpPr>
        <p:spPr>
          <a:xfrm>
            <a:off x="627264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1" name="Shape 16"/>
          <p:cNvSpPr/>
          <p:nvPr/>
        </p:nvSpPr>
        <p:spPr>
          <a:xfrm>
            <a:off x="650124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BF24"/>
          </a:solidFill>
          <a:ln w="12700">
            <a:solidFill>
              <a:srgbClr val="FBBF2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2" name="Text 17"/>
          <p:cNvSpPr/>
          <p:nvPr/>
        </p:nvSpPr>
        <p:spPr>
          <a:xfrm>
            <a:off x="654696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Check resources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3" name="Shape 18"/>
          <p:cNvSpPr/>
          <p:nvPr/>
        </p:nvSpPr>
        <p:spPr>
          <a:xfrm>
            <a:off x="777240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4" name="Shape 19"/>
          <p:cNvSpPr/>
          <p:nvPr/>
        </p:nvSpPr>
        <p:spPr>
          <a:xfrm>
            <a:off x="800100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FB7185"/>
          </a:solidFill>
          <a:ln w="12700">
            <a:solidFill>
              <a:srgbClr val="FB7185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5" name="Text 20"/>
          <p:cNvSpPr/>
          <p:nvPr/>
        </p:nvSpPr>
        <p:spPr>
          <a:xfrm>
            <a:off x="804672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Fix safely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6" name="Shape 21"/>
          <p:cNvSpPr/>
          <p:nvPr/>
        </p:nvSpPr>
        <p:spPr>
          <a:xfrm>
            <a:off x="9272160" y="2962800"/>
            <a:ext cx="161280" cy="1980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46677F"/>
          </a:solidFill>
          <a:ln w="12700">
            <a:solidFill>
              <a:srgbClr val="46677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80640" tIns="45000" rIns="806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7" name="Shape 22"/>
          <p:cNvSpPr/>
          <p:nvPr/>
        </p:nvSpPr>
        <p:spPr>
          <a:xfrm>
            <a:off x="9500760" y="2743200"/>
            <a:ext cx="1203840" cy="655200"/>
          </a:xfrm>
          <a:prstGeom prst="roundRect">
            <a:avLst>
              <a:gd name="adj" fmla="val 9722"/>
            </a:avLst>
          </a:prstGeom>
          <a:solidFill>
            <a:srgbClr val="0E2D46"/>
          </a:solidFill>
          <a:ln w="12700">
            <a:solidFill>
              <a:srgbClr val="0E2D4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8" name="Text 23"/>
          <p:cNvSpPr/>
          <p:nvPr/>
        </p:nvSpPr>
        <p:spPr>
          <a:xfrm>
            <a:off x="9546480" y="2962800"/>
            <a:ext cx="1112400" cy="161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3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Document</a:t>
            </a:r>
            <a:endParaRPr lang="en-US" sz="9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255</TotalTime>
  <Application>LibreOffice/26.2.3.2$Linux_X86_64 LibreOffice_project/d4d5ed47b6084125f28d269a5650105d54dde034</Application>
  <AppVersion>15.0000</AppVersion>
  <Words>0</Words>
  <Paragraphs>0</Paragraphs>
  <Company>Workshop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2026-06-19T21:54:19Z</dcterms:created>
  <dc:creator>OpenAI</dc:creator>
  <dc:description/>
  <dc:language>en-US</dc:language>
  <cp:lastModifiedBy/>
  <cp:lastPrinted>2026-06-21T19:16:30Z</cp:lastPrinted>
  <dcterms:modified xsi:type="dcterms:W3CDTF">2026-06-21T19:18:14Z</dcterms:modified>
  <cp:revision>41</cp:revision>
  <dc:subject>Hands-on Kubernetes Troubleshooting Workshop</dc:subject>
  <dc:title>Hands-on Kubernetes Troubleshooting for Developers and Infrastructure Teams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81</vt:i4>
  </property>
  <property fmtid="{D5CDD505-2E9C-101B-9397-08002B2CF9AE}" pid="3" name="PresentationFormat">
    <vt:lpwstr>On-screen Show (16:9)</vt:lpwstr>
  </property>
  <property fmtid="{D5CDD505-2E9C-101B-9397-08002B2CF9AE}" pid="4" name="Slides">
    <vt:i4>81</vt:i4>
  </property>
</Properties>
</file>