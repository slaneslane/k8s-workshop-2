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2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5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2.xml" ContentType="application/vnd.openxmlformats-officedocument.presentationml.slide+xml"/>
  <Override PartName="/ppt/slides/slide43.xml" ContentType="application/vnd.openxmlformats-officedocument.presentationml.slide+xml"/>
  <Override PartName="/ppt/slides/slide94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99.xml" ContentType="application/vnd.openxmlformats-officedocument.presentationml.slide+xml"/>
  <Override PartName="/ppt/slides/slide93.xml" ContentType="application/vnd.openxmlformats-officedocument.presentationml.slide+xml"/>
  <Override PartName="/ppt/slides/slide63.xml" ContentType="application/vnd.openxmlformats-officedocument.presentationml.slide+xml"/>
  <Override PartName="/ppt/slides/slide67.xml" ContentType="application/vnd.openxmlformats-officedocument.presentationml.slide+xml"/>
  <Override PartName="/ppt/slides/slide92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49.xml" ContentType="application/vnd.openxmlformats-officedocument.presentationml.slide+xml"/>
  <Override PartName="/ppt/slides/slide75.xml" ContentType="application/vnd.openxmlformats-officedocument.presentationml.slide+xml"/>
  <Override PartName="/ppt/slides/slide85.xml" ContentType="application/vnd.openxmlformats-officedocument.presentationml.slide+xml"/>
  <Override PartName="/ppt/slides/slide72.xml" ContentType="application/vnd.openxmlformats-officedocument.presentationml.slide+xml"/>
  <Override PartName="/ppt/slides/slide95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89.xml" ContentType="application/vnd.openxmlformats-officedocument.presentationml.slide+xml"/>
  <Override PartName="/ppt/slides/slide60.xml" ContentType="application/vnd.openxmlformats-officedocument.presentationml.slide+xml"/>
  <Override PartName="/ppt/slides/slide77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29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98.xml" ContentType="application/vnd.openxmlformats-officedocument.presentationml.slide+xml"/>
  <Override PartName="/ppt/slides/slide78.xml" ContentType="application/vnd.openxmlformats-officedocument.presentationml.slide+xml"/>
  <Override PartName="/ppt/slides/slide51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6.xml" ContentType="application/vnd.openxmlformats-officedocument.presentationml.slide+xml"/>
  <Override PartName="/ppt/slides/slide66.xml" ContentType="application/vnd.openxmlformats-officedocument.presentationml.slide+xml"/>
  <Override PartName="/ppt/slides/slide2.xml" ContentType="application/vnd.openxmlformats-officedocument.presentationml.slide+xml"/>
  <Override PartName="/ppt/slides/slide71.xml" ContentType="application/vnd.openxmlformats-officedocument.presentationml.slide+xml"/>
  <Override PartName="/ppt/slides/slide86.xml" ContentType="application/vnd.openxmlformats-officedocument.presentationml.slide+xml"/>
  <Override PartName="/ppt/slides/slide76.xml" ContentType="application/vnd.openxmlformats-officedocument.presentationml.slide+xml"/>
  <Override PartName="/ppt/slides/slide21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65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22.xml" ContentType="application/vnd.openxmlformats-officedocument.presentationml.slide+xml"/>
  <Override PartName="/ppt/slides/slide74.xml" ContentType="application/vnd.openxmlformats-officedocument.presentationml.slide+xml"/>
  <Override PartName="/ppt/slides/slide70.xml" ContentType="application/vnd.openxmlformats-officedocument.presentationml.slide+xml"/>
  <Override PartName="/ppt/slides/slide28.xml" ContentType="application/vnd.openxmlformats-officedocument.presentationml.slide+xml"/>
  <Override PartName="/ppt/slides/slide35.xml" ContentType="application/vnd.openxmlformats-officedocument.presentationml.slide+xml"/>
  <Override PartName="/ppt/slides/slide64.xml" ContentType="application/vnd.openxmlformats-officedocument.presentationml.slide+xml"/>
  <Override PartName="/ppt/slides/slide80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7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79.xml" ContentType="application/vnd.openxmlformats-officedocument.presentationml.slide+xml"/>
  <Override PartName="/ppt/slides/slide61.xml" ContentType="application/vnd.openxmlformats-officedocument.presentationml.slide+xml"/>
  <Override PartName="/ppt/slides/slide96.xml" ContentType="application/vnd.openxmlformats-officedocument.presentationml.slide+xml"/>
  <Override PartName="/ppt/slides/slide1.xml" ContentType="application/vnd.openxmlformats-officedocument.presentationml.slide+xml"/>
  <Override PartName="/ppt/slides/slide91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47.xml" ContentType="application/vnd.openxmlformats-officedocument.presentationml.slid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90.xml" ContentType="application/vnd.openxmlformats-officedocument.presentationml.slide+xml"/>
  <Override PartName="/ppt/slides/slide11.xml" ContentType="application/vnd.openxmlformats-officedocument.presentationml.slide+xml"/>
  <Override PartName="/ppt/slides/slide57.xml" ContentType="application/vnd.openxmlformats-officedocument.presentationml.slide+xml"/>
  <Override PartName="/ppt/slides/slide20.xml" ContentType="application/vnd.openxmlformats-officedocument.presentationml.slide+xml"/>
  <Override PartName="/ppt/slides/slide83.xml" ContentType="application/vnd.openxmlformats-officedocument.presentationml.slide+xml"/>
  <Override PartName="/ppt/notesSlides/notesSlide4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9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D47DFC0-D901-40F7-844D-755EF411112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_rels/notesSlide79.xml.rels><?xml version="1.0" encoding="UTF-8"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
</Relationships>
</file>

<file path=ppt/notesSlides/_rels/notesSlide80.xml.rels><?xml version="1.0" encoding="UTF-8"?>
<Relationships xmlns="http://schemas.openxmlformats.org/package/2006/relationships"><Relationship Id="rId1" Type="http://schemas.openxmlformats.org/officeDocument/2006/relationships/slide" Target="../slides/slide80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2.xml.rels><?xml version="1.0" encoding="UTF-8"?>
<Relationships xmlns="http://schemas.openxmlformats.org/package/2006/relationships"><Relationship Id="rId1" Type="http://schemas.openxmlformats.org/officeDocument/2006/relationships/slide" Target="../slides/slide82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84.xml.rels><?xml version="1.0" encoding="UTF-8"?>
<Relationships xmlns="http://schemas.openxmlformats.org/package/2006/relationships"><Relationship Id="rId1" Type="http://schemas.openxmlformats.org/officeDocument/2006/relationships/slide" Target="../slides/slide84.xml"/><Relationship Id="rId2" Type="http://schemas.openxmlformats.org/officeDocument/2006/relationships/notesMaster" Target="../notesMasters/notesMaster1.xml"/>
</Relationships>
</file>

<file path=ppt/notesSlides/_rels/notesSlide85.xml.rels><?xml version="1.0" encoding="UTF-8"?>
<Relationships xmlns="http://schemas.openxmlformats.org/package/2006/relationships"><Relationship Id="rId1" Type="http://schemas.openxmlformats.org/officeDocument/2006/relationships/slide" Target="../slides/slide85.xml"/><Relationship Id="rId2" Type="http://schemas.openxmlformats.org/officeDocument/2006/relationships/notesMaster" Target="../notesMasters/notesMaster1.xml"/>
</Relationships>
</file>

<file path=ppt/notesSlides/_rels/notesSlide86.xml.rels><?xml version="1.0" encoding="UTF-8"?>
<Relationships xmlns="http://schemas.openxmlformats.org/package/2006/relationships"><Relationship Id="rId1" Type="http://schemas.openxmlformats.org/officeDocument/2006/relationships/slide" Target="../slides/slide86.xml"/><Relationship Id="rId2" Type="http://schemas.openxmlformats.org/officeDocument/2006/relationships/notesMaster" Target="../notesMasters/notesMaster1.xml"/>
</Relationships>
</file>

<file path=ppt/notesSlides/_rels/notesSlide87.xml.rels><?xml version="1.0" encoding="UTF-8"?>
<Relationships xmlns="http://schemas.openxmlformats.org/package/2006/relationships"><Relationship Id="rId1" Type="http://schemas.openxmlformats.org/officeDocument/2006/relationships/slide" Target="../slides/slide87.xml"/><Relationship Id="rId2" Type="http://schemas.openxmlformats.org/officeDocument/2006/relationships/notesMaster" Target="../notesMasters/notesMaster1.xml"/>
</Relationships>
</file>

<file path=ppt/notesSlides/_rels/notesSlide88.xml.rels><?xml version="1.0" encoding="UTF-8"?>
<Relationships xmlns="http://schemas.openxmlformats.org/package/2006/relationships"><Relationship Id="rId1" Type="http://schemas.openxmlformats.org/officeDocument/2006/relationships/slide" Target="../slides/slide88.xml"/><Relationship Id="rId2" Type="http://schemas.openxmlformats.org/officeDocument/2006/relationships/notesMaster" Target="../notesMasters/notesMaster1.xml"/>
</Relationships>
</file>

<file path=ppt/notesSlides/_rels/notesSlide89.xml.rels><?xml version="1.0" encoding="UTF-8"?>
<Relationships xmlns="http://schemas.openxmlformats.org/package/2006/relationships"><Relationship Id="rId1" Type="http://schemas.openxmlformats.org/officeDocument/2006/relationships/slide" Target="../slides/slide89.xml"/><Relationship Id="rId2" Type="http://schemas.openxmlformats.org/officeDocument/2006/relationships/notesMaster" Target="../notesMasters/notesMaster1.xml"/>
</Relationships>
</file>

<file path=ppt/notesSlides/_rels/notesSlide90.xml.rels><?xml version="1.0" encoding="UTF-8"?>
<Relationships xmlns="http://schemas.openxmlformats.org/package/2006/relationships"><Relationship Id="rId1" Type="http://schemas.openxmlformats.org/officeDocument/2006/relationships/slide" Target="../slides/slide90.xml"/><Relationship Id="rId2" Type="http://schemas.openxmlformats.org/officeDocument/2006/relationships/notesMaster" Target="../notesMasters/notesMaster1.xml"/>
</Relationships>
</file>

<file path=ppt/notesSlides/_rels/notesSlide91.xml.rels><?xml version="1.0" encoding="UTF-8"?>
<Relationships xmlns="http://schemas.openxmlformats.org/package/2006/relationships"><Relationship Id="rId1" Type="http://schemas.openxmlformats.org/officeDocument/2006/relationships/slide" Target="../slides/slide91.xml"/><Relationship Id="rId2" Type="http://schemas.openxmlformats.org/officeDocument/2006/relationships/notesMaster" Target="../notesMasters/notesMaster1.xml"/>
</Relationships>
</file>

<file path=ppt/notesSlides/_rels/notesSlide92.xml.rels><?xml version="1.0" encoding="UTF-8"?>
<Relationships xmlns="http://schemas.openxmlformats.org/package/2006/relationships"><Relationship Id="rId1" Type="http://schemas.openxmlformats.org/officeDocument/2006/relationships/slide" Target="../slides/slide92.xml"/><Relationship Id="rId2" Type="http://schemas.openxmlformats.org/officeDocument/2006/relationships/notesMaster" Target="../notesMasters/notesMaster1.xml"/>
</Relationships>
</file>

<file path=ppt/notesSlides/_rels/notesSlide93.xml.rels><?xml version="1.0" encoding="UTF-8"?>
<Relationships xmlns="http://schemas.openxmlformats.org/package/2006/relationships"><Relationship Id="rId1" Type="http://schemas.openxmlformats.org/officeDocument/2006/relationships/slide" Target="../slides/slide93.xml"/><Relationship Id="rId2" Type="http://schemas.openxmlformats.org/officeDocument/2006/relationships/notesMaster" Target="../notesMasters/notesMaster1.xml"/>
</Relationships>
</file>

<file path=ppt/notesSlides/_rels/notesSlide94.xml.rels><?xml version="1.0" encoding="UTF-8"?>
<Relationships xmlns="http://schemas.openxmlformats.org/package/2006/relationships"><Relationship Id="rId1" Type="http://schemas.openxmlformats.org/officeDocument/2006/relationships/slide" Target="../slides/slide94.xml"/><Relationship Id="rId2" Type="http://schemas.openxmlformats.org/officeDocument/2006/relationships/notesMaster" Target="../notesMasters/notesMaster1.xml"/>
</Relationships>
</file>

<file path=ppt/notesSlides/_rels/notesSlide95.xml.rels><?xml version="1.0" encoding="UTF-8"?>
<Relationships xmlns="http://schemas.openxmlformats.org/package/2006/relationships"><Relationship Id="rId1" Type="http://schemas.openxmlformats.org/officeDocument/2006/relationships/slide" Target="../slides/slide95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7.xml.rels><?xml version="1.0" encoding="UTF-8"?>
<Relationships xmlns="http://schemas.openxmlformats.org/package/2006/relationships"><Relationship Id="rId1" Type="http://schemas.openxmlformats.org/officeDocument/2006/relationships/slide" Target="../slides/slide97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99.xml.rels><?xml version="1.0" encoding="UTF-8"?>
<Relationships xmlns="http://schemas.openxmlformats.org/package/2006/relationships"><Relationship Id="rId1" Type="http://schemas.openxmlformats.org/officeDocument/2006/relationships/slide" Target="../slides/slide9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1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 message: this is not a Kubernetes object catalog. It is a practical operations workshop.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7072C83-6A5C-44C3-BF7A-5C36CFA8952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DFC48A-4369-4F56-9FB6-55A66BBE21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344201-3AE2-4277-BAD8-40C0BAF7FB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C7B25C-0BCE-44F0-A6B2-5FDA55A52C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1CE30F5-C8A5-4335-A8EA-6028F6C33A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1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B94937-269E-4D6E-B617-6B11ADD83E4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46D512-96BC-45DA-8930-22C3461E59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778586-24D4-4E81-B898-A6FD5FD89B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BFDC15-ECE6-4343-B1AF-CCC260202A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7E8690-0735-455A-BAE5-7C7C181E059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EE24C40-4F12-4EA9-9993-834CB614433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A21F5A-A27E-4700-B973-A73D4298F73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8321C3-7E14-4851-991A-E9BCE06E08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1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C127DD5-F7F3-4018-B93E-ECEECFFB440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A1E719-CDBB-4C1D-8B23-12F58108E90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03DA367-8D7A-42DF-AF85-45A6FA8520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D9942D-A880-457C-86E1-EF8D03F255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AB8528-5187-4639-96C6-276C4B3B77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2F22C4B-F406-4CFD-A429-5850770BB61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BB46F0-E5A4-45EB-A4FA-609207DDAA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1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4BE5C0-CAE1-4735-8FF3-D6D88B3E2C2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4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F3121C-04A7-4D98-99B1-FCBCF6E7B0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7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D0A660-3E6C-4E1E-B2EE-6B46C9B68D0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0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D9D841F-5908-4CD2-B468-F7C5879ADD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2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3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8F7B59C-9287-485D-A6A8-64FEE80832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2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6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33486B-8885-4867-AC11-5B18E73F22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2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E15CC3-8BF9-4207-9D53-CB69C220E41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2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AD96A0-A759-4C63-A23D-F4DBFE526F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5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8C4703-41A3-4EAF-877F-A49516A779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8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41EA26-422B-4807-B152-D05A098CD10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1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E1F1384-1429-4D6D-A031-2574B3D616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4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EB0F00-2A36-4BFA-B2E7-F3C9E41348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7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891930-8CC9-4707-A4B3-870369B7A6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0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FDE786-9488-4B73-8274-5C990C96A2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3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76371E-1CDB-4E0A-8766-317C1BDF0A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6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2C84A6-D70B-4335-A4D4-D23B2F0651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9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E2C27E-92FB-473A-B06F-8B6F529509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2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768982-887B-4840-B480-4BDC1F4B38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5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138868-4147-4CD2-BA5E-4E7B816DFB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8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DA95D1F-072C-4B68-8C40-91F48A40434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1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7A4132-B418-4697-9541-3F3217277AA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4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03644B2-FAB9-4E1A-A6AA-23286B2A92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7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6E8C76-E44E-49DD-AFEF-5FB8F9D8795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0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5A1407-9BA3-42F5-924D-A1117D5D29D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3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2D09E70-8643-4CE5-9470-495A45222B5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6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AE9C15-376B-4341-8CF6-7DB7B0E468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9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4993B6-6197-413F-ACEC-51A583489C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2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190D30-B70B-444C-A65B-88346974D43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5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0F56FB-DD47-42A3-A646-8239D8A6ED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8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77BBEA-8E07-4C28-AF36-20A80B9967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1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B34A86-3015-4122-B8EB-F679F42B826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4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7A8527-7B60-4F4F-829C-D0C7C97F08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7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6C3261-A507-4827-B466-016962A965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2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0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3D81075-5797-4FFA-9597-087869655A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3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5909D5-9FD0-443D-A29B-816FCB6592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6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28FC992-C8BE-47A9-A595-FB5C96839D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9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36392B-B4AB-4CAF-BA41-9BD70468D1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2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52EBF6-5133-4DE5-B0C3-23F84EDACE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5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127952-FADC-48B5-BE48-559A387F41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8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656667-191F-4F38-82A7-F62AB63B1A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1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11FAEBF-1A13-4F6B-B067-9CD7F8BF058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4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D4D408-9A09-4377-ABE5-4500BA189C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7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D4FA95-F989-4DF7-942B-4A882B1D96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0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BD19B3-7C80-4406-927B-F1931C7B506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3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1932F9-EDF2-420D-B883-10AFCAB4CD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6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2866B9D-92E3-4DFC-BA5E-AB867AA21C8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9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D192BB8-7B77-4E1B-B4B3-9255DCE98B7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2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C0F470-930F-4387-A2E3-A6C29C301F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5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5732EC-217B-48F7-A588-8D1EA5B064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8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D0C218-30CB-46EB-ABEB-5B4CC4C97F3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1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588A9A-ECAA-4D4C-A5ED-59774F496D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4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64B3A2-5DB5-4440-9544-F50DCAC4D6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7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EC0EDC-4ABF-4579-ADBA-AE0672107A7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0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40DFCB-97E4-4413-8C16-0E75E11AB7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3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41E81D-127F-4718-AB63-974F51ABB7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6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03DEB6-87D4-4391-9A34-C8659B95CF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9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495BEA-D790-466E-9671-2057A6B91D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2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D0A24B-3E63-46B5-B097-BB0AC2FF1E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5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672B11-C4E9-42D8-A439-C16A005A50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8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63362B-D7B5-4AC8-981D-80A4BFB93E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1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2D03DD5-D429-46F1-8971-494ADFBF89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4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757C03-1F7E-4292-AF5A-18394230AA9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7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C08DAA-C484-49B5-9F75-8F4E5C66E8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0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8ED6132-0F96-4F54-9FF5-C20EDE4F9D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3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D88E83-B400-417A-9CE1-F5E8A1C74E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6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4D797C3-5628-43B0-AB97-94F0548C7D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9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E960B9-D33D-48E3-AECA-C2DF401EB6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2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1FE6BC-7E8F-468C-A448-710FDAC1231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5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88BCB8-F00D-4C4B-B6FE-B98DCEF2FF9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8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BA9D71C-599F-4B78-91FF-C3C9085122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1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B1AD81B-3481-47B6-A998-5E9125D336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3BE072A-EA8C-4474-B842-112A745314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8AD5E1-1612-4400-B175-99C9301F832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804FF5-D84F-45D7-ABFE-5BDA981A65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3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C1B2F5-8E56-4A08-8BC0-07BFE78641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6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D793BE8-077C-4B82-BC16-E6D2A871240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9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E7304D-55D9-41F6-AF74-14A9AED262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2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F529D8-1808-4D81-98BC-2FF379FACF0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5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8708FC-17D5-496A-876B-A6119D008A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hyperlink" Target="http://localhost:8080/healthz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58440" y="1965960"/>
            <a:ext cx="1078740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Hands-on Kubernetes Troubleshooting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76800" y="2816280"/>
            <a:ext cx="959868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Build, Deploy, Break, Observe, Debug, Fix and Learn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85800" y="331920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For Developers and Infrastructure Teams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685800" y="3977640"/>
            <a:ext cx="2923560" cy="86616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822960" y="4096440"/>
            <a:ext cx="26492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Single-node K3s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822960" y="4434840"/>
            <a:ext cx="26492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Each participant works on an isolated VM.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3886200" y="3977640"/>
            <a:ext cx="2923560" cy="86616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4023360" y="4096440"/>
            <a:ext cx="26492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Real app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4023360" y="4434840"/>
            <a:ext cx="26492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API, PostgreSQL, migrations and volumes.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11"/>
          <p:cNvSpPr/>
          <p:nvPr/>
        </p:nvSpPr>
        <p:spPr>
          <a:xfrm>
            <a:off x="7086600" y="3977640"/>
            <a:ext cx="3152160" cy="86616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7223760" y="4096440"/>
            <a:ext cx="28778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Troubleshooting-first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7223760" y="4434840"/>
            <a:ext cx="2877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Every concept is attached to a failure mode.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2136240" y="5715000"/>
            <a:ext cx="74646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git clone https://github.com/slaneslane/k8s-workshop-2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1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209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210"/>
          <p:cNvSpPr/>
          <p:nvPr/>
        </p:nvSpPr>
        <p:spPr>
          <a:xfrm>
            <a:off x="658440" y="2148840"/>
            <a:ext cx="1060452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11"/>
          <p:cNvSpPr/>
          <p:nvPr/>
        </p:nvSpPr>
        <p:spPr>
          <a:xfrm>
            <a:off x="676800" y="2953440"/>
            <a:ext cx="9598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Workshop architecture and operating model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65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story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topic appears because the application needs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4"/>
          <p:cNvSpPr/>
          <p:nvPr/>
        </p:nvSpPr>
        <p:spPr>
          <a:xfrm>
            <a:off x="50292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5"/>
          <p:cNvSpPr/>
          <p:nvPr/>
        </p:nvSpPr>
        <p:spPr>
          <a:xfrm>
            <a:off x="54864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6"/>
          <p:cNvSpPr/>
          <p:nvPr/>
        </p:nvSpPr>
        <p:spPr>
          <a:xfrm>
            <a:off x="177408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7"/>
          <p:cNvSpPr/>
          <p:nvPr/>
        </p:nvSpPr>
        <p:spPr>
          <a:xfrm>
            <a:off x="200268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8"/>
          <p:cNvSpPr/>
          <p:nvPr/>
        </p:nvSpPr>
        <p:spPr>
          <a:xfrm>
            <a:off x="204840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9"/>
          <p:cNvSpPr/>
          <p:nvPr/>
        </p:nvSpPr>
        <p:spPr>
          <a:xfrm>
            <a:off x="327348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0"/>
          <p:cNvSpPr/>
          <p:nvPr/>
        </p:nvSpPr>
        <p:spPr>
          <a:xfrm>
            <a:off x="350208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1"/>
          <p:cNvSpPr/>
          <p:nvPr/>
        </p:nvSpPr>
        <p:spPr>
          <a:xfrm>
            <a:off x="354780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2"/>
          <p:cNvSpPr/>
          <p:nvPr/>
        </p:nvSpPr>
        <p:spPr>
          <a:xfrm>
            <a:off x="477324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3"/>
          <p:cNvSpPr/>
          <p:nvPr/>
        </p:nvSpPr>
        <p:spPr>
          <a:xfrm>
            <a:off x="500184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4"/>
          <p:cNvSpPr/>
          <p:nvPr/>
        </p:nvSpPr>
        <p:spPr>
          <a:xfrm>
            <a:off x="504756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5"/>
          <p:cNvSpPr/>
          <p:nvPr/>
        </p:nvSpPr>
        <p:spPr>
          <a:xfrm>
            <a:off x="627264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6"/>
          <p:cNvSpPr/>
          <p:nvPr/>
        </p:nvSpPr>
        <p:spPr>
          <a:xfrm>
            <a:off x="650124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7"/>
          <p:cNvSpPr/>
          <p:nvPr/>
        </p:nvSpPr>
        <p:spPr>
          <a:xfrm>
            <a:off x="654696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8"/>
          <p:cNvSpPr/>
          <p:nvPr/>
        </p:nvSpPr>
        <p:spPr>
          <a:xfrm>
            <a:off x="777240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9"/>
          <p:cNvSpPr/>
          <p:nvPr/>
        </p:nvSpPr>
        <p:spPr>
          <a:xfrm>
            <a:off x="800100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0"/>
          <p:cNvSpPr/>
          <p:nvPr/>
        </p:nvSpPr>
        <p:spPr>
          <a:xfrm>
            <a:off x="804672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21"/>
          <p:cNvSpPr/>
          <p:nvPr/>
        </p:nvSpPr>
        <p:spPr>
          <a:xfrm>
            <a:off x="927216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22"/>
          <p:cNvSpPr/>
          <p:nvPr/>
        </p:nvSpPr>
        <p:spPr>
          <a:xfrm>
            <a:off x="950076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3"/>
          <p:cNvSpPr/>
          <p:nvPr/>
        </p:nvSpPr>
        <p:spPr>
          <a:xfrm>
            <a:off x="954648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Learn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Who is this for?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Same lab, different responsibilities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 safely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runtime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 logs and health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when the app is the problem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Design for debuggability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workload impact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Diagnose scheduling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Enforce quotas and defaults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 minimal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Provide reliable cluster signals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we will build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application, many failure modes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Kubernetes pieces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dependency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logs and file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 and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and 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 and LimitRange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Lab rhythm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Repeat this pattern in every module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4"/>
          <p:cNvSpPr/>
          <p:nvPr/>
        </p:nvSpPr>
        <p:spPr>
          <a:xfrm>
            <a:off x="50292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5"/>
          <p:cNvSpPr/>
          <p:nvPr/>
        </p:nvSpPr>
        <p:spPr>
          <a:xfrm>
            <a:off x="54864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Desired state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6"/>
          <p:cNvSpPr/>
          <p:nvPr/>
        </p:nvSpPr>
        <p:spPr>
          <a:xfrm>
            <a:off x="177408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7"/>
          <p:cNvSpPr/>
          <p:nvPr/>
        </p:nvSpPr>
        <p:spPr>
          <a:xfrm>
            <a:off x="200268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204840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9"/>
          <p:cNvSpPr/>
          <p:nvPr/>
        </p:nvSpPr>
        <p:spPr>
          <a:xfrm>
            <a:off x="327348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0"/>
          <p:cNvSpPr/>
          <p:nvPr/>
        </p:nvSpPr>
        <p:spPr>
          <a:xfrm>
            <a:off x="350208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1"/>
          <p:cNvSpPr/>
          <p:nvPr/>
        </p:nvSpPr>
        <p:spPr>
          <a:xfrm>
            <a:off x="354780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2"/>
          <p:cNvSpPr/>
          <p:nvPr/>
        </p:nvSpPr>
        <p:spPr>
          <a:xfrm>
            <a:off x="477324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3"/>
          <p:cNvSpPr/>
          <p:nvPr/>
        </p:nvSpPr>
        <p:spPr>
          <a:xfrm>
            <a:off x="500184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4"/>
          <p:cNvSpPr/>
          <p:nvPr/>
        </p:nvSpPr>
        <p:spPr>
          <a:xfrm>
            <a:off x="504756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5"/>
          <p:cNvSpPr/>
          <p:nvPr/>
        </p:nvSpPr>
        <p:spPr>
          <a:xfrm>
            <a:off x="627264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6"/>
          <p:cNvSpPr/>
          <p:nvPr/>
        </p:nvSpPr>
        <p:spPr>
          <a:xfrm>
            <a:off x="650124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7"/>
          <p:cNvSpPr/>
          <p:nvPr/>
        </p:nvSpPr>
        <p:spPr>
          <a:xfrm>
            <a:off x="654696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Diagnose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8"/>
          <p:cNvSpPr/>
          <p:nvPr/>
        </p:nvSpPr>
        <p:spPr>
          <a:xfrm>
            <a:off x="777240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9"/>
          <p:cNvSpPr/>
          <p:nvPr/>
        </p:nvSpPr>
        <p:spPr>
          <a:xfrm>
            <a:off x="800100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0"/>
          <p:cNvSpPr/>
          <p:nvPr/>
        </p:nvSpPr>
        <p:spPr>
          <a:xfrm>
            <a:off x="804672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1"/>
          <p:cNvSpPr/>
          <p:nvPr/>
        </p:nvSpPr>
        <p:spPr>
          <a:xfrm>
            <a:off x="927216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2"/>
          <p:cNvSpPr/>
          <p:nvPr/>
        </p:nvSpPr>
        <p:spPr>
          <a:xfrm>
            <a:off x="950076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3"/>
          <p:cNvSpPr/>
          <p:nvPr/>
        </p:nvSpPr>
        <p:spPr>
          <a:xfrm>
            <a:off x="954648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Takeaway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 assumption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Designing exercises for the real lab environment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We can demonstrate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We discuss, not lab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failures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 and RWO PVC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Multi-node RWO attach conflicts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storage implementation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Production-grade PostgreSQL HA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NetworkPolicy deep dive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Full CI/CD pipeline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schedule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4"/>
          <p:cNvSpPr/>
          <p:nvPr/>
        </p:nvSpPr>
        <p:spPr>
          <a:xfrm>
            <a:off x="731520" y="1325880"/>
            <a:ext cx="1049040" cy="4363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5"/>
          <p:cNvSpPr/>
          <p:nvPr/>
        </p:nvSpPr>
        <p:spPr>
          <a:xfrm>
            <a:off x="804600" y="1472040"/>
            <a:ext cx="8935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6"/>
          <p:cNvSpPr/>
          <p:nvPr/>
        </p:nvSpPr>
        <p:spPr>
          <a:xfrm>
            <a:off x="2011680" y="1398960"/>
            <a:ext cx="36550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and first failures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7"/>
          <p:cNvSpPr/>
          <p:nvPr/>
        </p:nvSpPr>
        <p:spPr>
          <a:xfrm>
            <a:off x="5806440" y="1417320"/>
            <a:ext cx="5301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Images, Deployment, Service, ImagePullBackOff, CrashLoopBackOff, readiness.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8"/>
          <p:cNvSpPr/>
          <p:nvPr/>
        </p:nvSpPr>
        <p:spPr>
          <a:xfrm>
            <a:off x="731520" y="1938600"/>
            <a:ext cx="1049040" cy="4363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9"/>
          <p:cNvSpPr/>
          <p:nvPr/>
        </p:nvSpPr>
        <p:spPr>
          <a:xfrm>
            <a:off x="804600" y="2084760"/>
            <a:ext cx="8935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0"/>
          <p:cNvSpPr/>
          <p:nvPr/>
        </p:nvSpPr>
        <p:spPr>
          <a:xfrm>
            <a:off x="2011680" y="2011680"/>
            <a:ext cx="36550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Production-like application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1"/>
          <p:cNvSpPr/>
          <p:nvPr/>
        </p:nvSpPr>
        <p:spPr>
          <a:xfrm>
            <a:off x="5806440" y="2030040"/>
            <a:ext cx="5301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PostgreSQL, migration Job, volumes, distroless, resources, quotas, OOMKilled.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2"/>
          <p:cNvSpPr/>
          <p:nvPr/>
        </p:nvSpPr>
        <p:spPr>
          <a:xfrm>
            <a:off x="731520" y="2551320"/>
            <a:ext cx="1049040" cy="4363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3"/>
          <p:cNvSpPr/>
          <p:nvPr/>
        </p:nvSpPr>
        <p:spPr>
          <a:xfrm>
            <a:off x="804600" y="2697480"/>
            <a:ext cx="8935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4"/>
          <p:cNvSpPr/>
          <p:nvPr/>
        </p:nvSpPr>
        <p:spPr>
          <a:xfrm>
            <a:off x="2011680" y="2624400"/>
            <a:ext cx="36550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Playbook and combined cases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5"/>
          <p:cNvSpPr/>
          <p:nvPr/>
        </p:nvSpPr>
        <p:spPr>
          <a:xfrm>
            <a:off x="5806440" y="2642760"/>
            <a:ext cx="5301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Decision tree, team exercise, dev/platform responsibility split.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"/>
          <p:cNvSpPr/>
          <p:nvPr/>
        </p:nvSpPr>
        <p:spPr>
          <a:xfrm>
            <a:off x="658440" y="2148840"/>
            <a:ext cx="1060452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"/>
          <p:cNvSpPr/>
          <p:nvPr/>
        </p:nvSpPr>
        <p:spPr>
          <a:xfrm>
            <a:off x="676800" y="2953440"/>
            <a:ext cx="9598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setup and K3s installation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lab VM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VM per participant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this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 vCPU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8 GB RAM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40 GB disk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Ubuntu 24.04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room for K3s + Docker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and several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cache without immediate disk pressure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Room for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Predictable participant experience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single-node installation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status k3s --no-pager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kubectl get nodes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For the workshop user: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cp /etc/rancher/k3s/k3s.yaml /home/k8s/.kube/config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chown -R k8s:k8s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 behind a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Export proxy variables before running the installer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HTTPS_PROXY=http://proxy.example.com:3128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NO_PROXY=localhost,127.0.0.1,10.42.0.0/16,10.43.0.0/16,.svc,.cluster.local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cat /etc/systemd/system/k3s.service.env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k3s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Docker daemon and Docker build need proxy separately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/etc/systemd/system/docker.service.d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tee /etc/systemd/system/docker.service.d/http-proxy.conf &lt;&lt;EOF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[Service]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Environment="HTTPS_PROXY=http://proxy.example.com:3128"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Environment="NO_PROXY=localhost,127.0.0.1,.svc,.cluster.local,10.42.0.0/16,10.43.0.0/16"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daemon-reload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info | grep -i proxy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validation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 before the workshop starts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Expected result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nodes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pods -A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compose version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df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free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system Pods are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command works without sudo or after newgrp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disk space left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 pulls images successfully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102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0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26"/>
          <p:cNvSpPr/>
          <p:nvPr/>
        </p:nvSpPr>
        <p:spPr>
          <a:xfrm>
            <a:off x="548640" y="6419160"/>
            <a:ext cx="41137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Module 3/4 bridge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27"/>
          <p:cNvSpPr/>
          <p:nvPr/>
        </p:nvSpPr>
        <p:spPr>
          <a:xfrm>
            <a:off x="567000" y="960120"/>
            <a:ext cx="7497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Nginx quick start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28"/>
          <p:cNvSpPr/>
          <p:nvPr/>
        </p:nvSpPr>
        <p:spPr>
          <a:xfrm>
            <a:off x="594360" y="168264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small hands-on warm-up before the Flask workshop application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04"/>
          <p:cNvSpPr/>
          <p:nvPr/>
        </p:nvSpPr>
        <p:spPr>
          <a:xfrm>
            <a:off x="658440" y="2331720"/>
            <a:ext cx="1416240" cy="3830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29"/>
          <p:cNvSpPr/>
          <p:nvPr/>
        </p:nvSpPr>
        <p:spPr>
          <a:xfrm>
            <a:off x="658440" y="2414160"/>
            <a:ext cx="14162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Docker run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105"/>
          <p:cNvSpPr/>
          <p:nvPr/>
        </p:nvSpPr>
        <p:spPr>
          <a:xfrm>
            <a:off x="2240280" y="2331720"/>
            <a:ext cx="1690560" cy="3830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30"/>
          <p:cNvSpPr/>
          <p:nvPr/>
        </p:nvSpPr>
        <p:spPr>
          <a:xfrm>
            <a:off x="2240280" y="2414160"/>
            <a:ext cx="16905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K3s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06"/>
          <p:cNvSpPr/>
          <p:nvPr/>
        </p:nvSpPr>
        <p:spPr>
          <a:xfrm>
            <a:off x="4096440" y="2331720"/>
            <a:ext cx="821880" cy="3830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31"/>
          <p:cNvSpPr/>
          <p:nvPr/>
        </p:nvSpPr>
        <p:spPr>
          <a:xfrm>
            <a:off x="4096440" y="2414160"/>
            <a:ext cx="82188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07"/>
          <p:cNvSpPr/>
          <p:nvPr/>
        </p:nvSpPr>
        <p:spPr>
          <a:xfrm>
            <a:off x="5102280" y="2331720"/>
            <a:ext cx="959040" cy="3830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32"/>
          <p:cNvSpPr/>
          <p:nvPr/>
        </p:nvSpPr>
        <p:spPr>
          <a:xfrm>
            <a:off x="5102280" y="2414160"/>
            <a:ext cx="9590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Service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08"/>
          <p:cNvSpPr/>
          <p:nvPr/>
        </p:nvSpPr>
        <p:spPr>
          <a:xfrm>
            <a:off x="6272640" y="2331720"/>
            <a:ext cx="1507680" cy="3830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33"/>
          <p:cNvSpPr/>
          <p:nvPr/>
        </p:nvSpPr>
        <p:spPr>
          <a:xfrm>
            <a:off x="6272640" y="2414160"/>
            <a:ext cx="150768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Port-forward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09"/>
          <p:cNvSpPr/>
          <p:nvPr/>
        </p:nvSpPr>
        <p:spPr>
          <a:xfrm>
            <a:off x="731520" y="3063240"/>
            <a:ext cx="10743120" cy="1736280"/>
          </a:xfrm>
          <a:prstGeom prst="roundRect">
            <a:avLst>
              <a:gd name="adj" fmla="val 421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34"/>
          <p:cNvSpPr/>
          <p:nvPr/>
        </p:nvSpPr>
        <p:spPr>
          <a:xfrm>
            <a:off x="932760" y="3227760"/>
            <a:ext cx="10340640" cy="148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 --port=80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35"/>
          <p:cNvSpPr/>
          <p:nvPr/>
        </p:nvSpPr>
        <p:spPr>
          <a:xfrm>
            <a:off x="749880" y="5166360"/>
            <a:ext cx="969156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Goal: prove that participants can start a container locally and then run the same image in Kubernetes.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Shape 11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11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36"/>
          <p:cNvSpPr/>
          <p:nvPr/>
        </p:nvSpPr>
        <p:spPr>
          <a:xfrm>
            <a:off x="548640" y="6419160"/>
            <a:ext cx="41137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37"/>
          <p:cNvSpPr/>
          <p:nvPr/>
        </p:nvSpPr>
        <p:spPr>
          <a:xfrm>
            <a:off x="548640" y="411480"/>
            <a:ext cx="110631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Run nginx with Docker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38"/>
          <p:cNvSpPr/>
          <p:nvPr/>
        </p:nvSpPr>
        <p:spPr>
          <a:xfrm>
            <a:off x="567000" y="987480"/>
            <a:ext cx="1060596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minimal local container run: image, container, port mapping.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112"/>
          <p:cNvSpPr/>
          <p:nvPr/>
        </p:nvSpPr>
        <p:spPr>
          <a:xfrm>
            <a:off x="658440" y="1600200"/>
            <a:ext cx="6884640" cy="191916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39"/>
          <p:cNvSpPr/>
          <p:nvPr/>
        </p:nvSpPr>
        <p:spPr>
          <a:xfrm>
            <a:off x="859680" y="1764720"/>
            <a:ext cx="6226200" cy="166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13"/>
          <p:cNvSpPr/>
          <p:nvPr/>
        </p:nvSpPr>
        <p:spPr>
          <a:xfrm>
            <a:off x="7772400" y="1600200"/>
            <a:ext cx="3747960" cy="191916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40"/>
          <p:cNvSpPr/>
          <p:nvPr/>
        </p:nvSpPr>
        <p:spPr>
          <a:xfrm>
            <a:off x="8229600" y="1764720"/>
            <a:ext cx="3089520" cy="166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ps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logs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rm -f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41"/>
          <p:cNvSpPr/>
          <p:nvPr/>
        </p:nvSpPr>
        <p:spPr>
          <a:xfrm>
            <a:off x="685800" y="3977640"/>
            <a:ext cx="27421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this demonstrates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42"/>
          <p:cNvSpPr/>
          <p:nvPr/>
        </p:nvSpPr>
        <p:spPr>
          <a:xfrm>
            <a:off x="822960" y="4462200"/>
            <a:ext cx="566820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1  Image is pulled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2  Container starts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3  Host port maps to container port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4  HTTP responds on localhost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14"/>
          <p:cNvSpPr/>
          <p:nvPr/>
        </p:nvSpPr>
        <p:spPr>
          <a:xfrm>
            <a:off x="6995160" y="4343400"/>
            <a:ext cx="4068000" cy="959040"/>
          </a:xfrm>
          <a:prstGeom prst="roundRect">
            <a:avLst>
              <a:gd name="adj" fmla="val 11429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43"/>
          <p:cNvSpPr/>
          <p:nvPr/>
        </p:nvSpPr>
        <p:spPr>
          <a:xfrm>
            <a:off x="7269480" y="4681800"/>
            <a:ext cx="34736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Local success before Kubernetes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115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11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44"/>
          <p:cNvSpPr/>
          <p:nvPr/>
        </p:nvSpPr>
        <p:spPr>
          <a:xfrm>
            <a:off x="548640" y="6419160"/>
            <a:ext cx="4114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45"/>
          <p:cNvSpPr/>
          <p:nvPr/>
        </p:nvSpPr>
        <p:spPr>
          <a:xfrm>
            <a:off x="548640" y="411480"/>
            <a:ext cx="110635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Docker command anatomy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46"/>
          <p:cNvSpPr/>
          <p:nvPr/>
        </p:nvSpPr>
        <p:spPr>
          <a:xfrm>
            <a:off x="567000" y="987480"/>
            <a:ext cx="10606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Keep the mental model simple before moving to Kubernetes.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117"/>
          <p:cNvSpPr/>
          <p:nvPr/>
        </p:nvSpPr>
        <p:spPr>
          <a:xfrm>
            <a:off x="685800" y="1463040"/>
            <a:ext cx="10789200" cy="71244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47"/>
          <p:cNvSpPr/>
          <p:nvPr/>
        </p:nvSpPr>
        <p:spPr>
          <a:xfrm>
            <a:off x="887040" y="1627560"/>
            <a:ext cx="103867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118"/>
          <p:cNvSpPr/>
          <p:nvPr/>
        </p:nvSpPr>
        <p:spPr>
          <a:xfrm>
            <a:off x="822960" y="2788920"/>
            <a:ext cx="2833920" cy="4381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48"/>
          <p:cNvSpPr/>
          <p:nvPr/>
        </p:nvSpPr>
        <p:spPr>
          <a:xfrm>
            <a:off x="969120" y="2898720"/>
            <a:ext cx="2559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49"/>
          <p:cNvSpPr/>
          <p:nvPr/>
        </p:nvSpPr>
        <p:spPr>
          <a:xfrm>
            <a:off x="3977640" y="2880360"/>
            <a:ext cx="6217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 in the background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119"/>
          <p:cNvSpPr/>
          <p:nvPr/>
        </p:nvSpPr>
        <p:spPr>
          <a:xfrm>
            <a:off x="822960" y="3474720"/>
            <a:ext cx="2833920" cy="4381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50"/>
          <p:cNvSpPr/>
          <p:nvPr/>
        </p:nvSpPr>
        <p:spPr>
          <a:xfrm>
            <a:off x="969120" y="3584520"/>
            <a:ext cx="2559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--name nginx-demo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51"/>
          <p:cNvSpPr/>
          <p:nvPr/>
        </p:nvSpPr>
        <p:spPr>
          <a:xfrm>
            <a:off x="3977640" y="3566160"/>
            <a:ext cx="6217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Give the container a human-readable name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20"/>
          <p:cNvSpPr/>
          <p:nvPr/>
        </p:nvSpPr>
        <p:spPr>
          <a:xfrm>
            <a:off x="822960" y="4160520"/>
            <a:ext cx="2833920" cy="4381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52"/>
          <p:cNvSpPr/>
          <p:nvPr/>
        </p:nvSpPr>
        <p:spPr>
          <a:xfrm>
            <a:off x="969120" y="4270320"/>
            <a:ext cx="2559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-p 8080:80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53"/>
          <p:cNvSpPr/>
          <p:nvPr/>
        </p:nvSpPr>
        <p:spPr>
          <a:xfrm>
            <a:off x="3977640" y="4251960"/>
            <a:ext cx="6217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Host port 8080 → container port 80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21"/>
          <p:cNvSpPr/>
          <p:nvPr/>
        </p:nvSpPr>
        <p:spPr>
          <a:xfrm>
            <a:off x="822960" y="4846320"/>
            <a:ext cx="2833920" cy="4381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54"/>
          <p:cNvSpPr/>
          <p:nvPr/>
        </p:nvSpPr>
        <p:spPr>
          <a:xfrm>
            <a:off x="969120" y="4956120"/>
            <a:ext cx="2559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nginx:latest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55"/>
          <p:cNvSpPr/>
          <p:nvPr/>
        </p:nvSpPr>
        <p:spPr>
          <a:xfrm>
            <a:off x="3977640" y="4937760"/>
            <a:ext cx="6217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 name and tag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56"/>
          <p:cNvSpPr/>
          <p:nvPr/>
        </p:nvSpPr>
        <p:spPr>
          <a:xfrm>
            <a:off x="749880" y="5806440"/>
            <a:ext cx="9783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Next: Kubernetes will run the same image, but the objects are different.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hape 122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2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57"/>
          <p:cNvSpPr/>
          <p:nvPr/>
        </p:nvSpPr>
        <p:spPr>
          <a:xfrm>
            <a:off x="548640" y="6419160"/>
            <a:ext cx="4114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58"/>
          <p:cNvSpPr/>
          <p:nvPr/>
        </p:nvSpPr>
        <p:spPr>
          <a:xfrm>
            <a:off x="548640" y="411480"/>
            <a:ext cx="110635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1 — Create a namespace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59"/>
          <p:cNvSpPr/>
          <p:nvPr/>
        </p:nvSpPr>
        <p:spPr>
          <a:xfrm>
            <a:off x="567000" y="987480"/>
            <a:ext cx="10606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Use a small isolated namespace for the nginx warm-up.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24"/>
          <p:cNvSpPr/>
          <p:nvPr/>
        </p:nvSpPr>
        <p:spPr>
          <a:xfrm>
            <a:off x="731520" y="1554480"/>
            <a:ext cx="10469520" cy="1828080"/>
          </a:xfrm>
          <a:prstGeom prst="roundRect">
            <a:avLst>
              <a:gd name="adj" fmla="val 400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60"/>
          <p:cNvSpPr/>
          <p:nvPr/>
        </p:nvSpPr>
        <p:spPr>
          <a:xfrm>
            <a:off x="932760" y="1719000"/>
            <a:ext cx="10039680" cy="157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get namespaces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config set-context --current --namespace=nginx-demo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61"/>
          <p:cNvSpPr/>
          <p:nvPr/>
        </p:nvSpPr>
        <p:spPr>
          <a:xfrm>
            <a:off x="6629400" y="3657600"/>
            <a:ext cx="43884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Why namespace first?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62"/>
          <p:cNvSpPr/>
          <p:nvPr/>
        </p:nvSpPr>
        <p:spPr>
          <a:xfrm>
            <a:off x="6629400" y="4298040"/>
            <a:ext cx="466272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keeps lab objects separate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makes cleanup easy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avoids touching the main workshop namespace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25"/>
          <p:cNvSpPr/>
          <p:nvPr/>
        </p:nvSpPr>
        <p:spPr>
          <a:xfrm>
            <a:off x="914400" y="4251960"/>
            <a:ext cx="5211360" cy="1096560"/>
          </a:xfrm>
          <a:prstGeom prst="roundRect">
            <a:avLst>
              <a:gd name="adj" fmla="val 6667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63"/>
          <p:cNvSpPr/>
          <p:nvPr/>
        </p:nvSpPr>
        <p:spPr>
          <a:xfrm>
            <a:off x="1115640" y="4416480"/>
            <a:ext cx="480888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Cleanup later: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126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27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64"/>
          <p:cNvSpPr/>
          <p:nvPr/>
        </p:nvSpPr>
        <p:spPr>
          <a:xfrm>
            <a:off x="548640" y="6419160"/>
            <a:ext cx="4114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65"/>
          <p:cNvSpPr/>
          <p:nvPr/>
        </p:nvSpPr>
        <p:spPr>
          <a:xfrm>
            <a:off x="548640" y="411480"/>
            <a:ext cx="110635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- quick: Step 2 — Run nginx as a Pod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66"/>
          <p:cNvSpPr/>
          <p:nvPr/>
        </p:nvSpPr>
        <p:spPr>
          <a:xfrm>
            <a:off x="567000" y="987480"/>
            <a:ext cx="10606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This is intentionally simple: one Pod, no Deployment yet.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28"/>
          <p:cNvSpPr/>
          <p:nvPr/>
        </p:nvSpPr>
        <p:spPr>
          <a:xfrm>
            <a:off x="685800" y="1536120"/>
            <a:ext cx="9829440" cy="74952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67"/>
          <p:cNvSpPr/>
          <p:nvPr/>
        </p:nvSpPr>
        <p:spPr>
          <a:xfrm>
            <a:off x="887040" y="1600200"/>
            <a:ext cx="9399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--image=nginx:latest --port=80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29"/>
          <p:cNvSpPr/>
          <p:nvPr/>
        </p:nvSpPr>
        <p:spPr>
          <a:xfrm flipV="1">
            <a:off x="6602040" y="2513520"/>
            <a:ext cx="4937040" cy="1599840"/>
          </a:xfrm>
          <a:prstGeom prst="roundRect">
            <a:avLst>
              <a:gd name="adj" fmla="val 4324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68"/>
          <p:cNvSpPr/>
          <p:nvPr/>
        </p:nvSpPr>
        <p:spPr>
          <a:xfrm>
            <a:off x="6803280" y="2514600"/>
            <a:ext cx="453456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pods -w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pod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logs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69"/>
          <p:cNvSpPr/>
          <p:nvPr/>
        </p:nvSpPr>
        <p:spPr>
          <a:xfrm>
            <a:off x="749880" y="3794760"/>
            <a:ext cx="2559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to observe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130"/>
          <p:cNvSpPr/>
          <p:nvPr/>
        </p:nvSpPr>
        <p:spPr>
          <a:xfrm>
            <a:off x="841320" y="4370760"/>
            <a:ext cx="383400" cy="38340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70"/>
          <p:cNvSpPr/>
          <p:nvPr/>
        </p:nvSpPr>
        <p:spPr>
          <a:xfrm>
            <a:off x="841320" y="4457880"/>
            <a:ext cx="3834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71"/>
          <p:cNvSpPr/>
          <p:nvPr/>
        </p:nvSpPr>
        <p:spPr>
          <a:xfrm>
            <a:off x="1344240" y="4407480"/>
            <a:ext cx="246816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ContainerCreating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131"/>
          <p:cNvSpPr/>
          <p:nvPr/>
        </p:nvSpPr>
        <p:spPr>
          <a:xfrm>
            <a:off x="2989800" y="4562640"/>
            <a:ext cx="66780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132"/>
          <p:cNvSpPr/>
          <p:nvPr/>
        </p:nvSpPr>
        <p:spPr>
          <a:xfrm>
            <a:off x="3822120" y="4370760"/>
            <a:ext cx="383400" cy="38340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72"/>
          <p:cNvSpPr/>
          <p:nvPr/>
        </p:nvSpPr>
        <p:spPr>
          <a:xfrm>
            <a:off x="3822120" y="4457880"/>
            <a:ext cx="3834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73"/>
          <p:cNvSpPr/>
          <p:nvPr/>
        </p:nvSpPr>
        <p:spPr>
          <a:xfrm>
            <a:off x="4325040" y="4407480"/>
            <a:ext cx="18280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133"/>
          <p:cNvSpPr/>
          <p:nvPr/>
        </p:nvSpPr>
        <p:spPr>
          <a:xfrm>
            <a:off x="5394960" y="4562640"/>
            <a:ext cx="64008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34"/>
          <p:cNvSpPr/>
          <p:nvPr/>
        </p:nvSpPr>
        <p:spPr>
          <a:xfrm>
            <a:off x="6199560" y="4370760"/>
            <a:ext cx="383400" cy="38340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74"/>
          <p:cNvSpPr/>
          <p:nvPr/>
        </p:nvSpPr>
        <p:spPr>
          <a:xfrm>
            <a:off x="6199560" y="4457880"/>
            <a:ext cx="3834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75"/>
          <p:cNvSpPr/>
          <p:nvPr/>
        </p:nvSpPr>
        <p:spPr>
          <a:xfrm>
            <a:off x="6702480" y="4407480"/>
            <a:ext cx="15994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Ready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76"/>
          <p:cNvSpPr/>
          <p:nvPr/>
        </p:nvSpPr>
        <p:spPr>
          <a:xfrm>
            <a:off x="786240" y="5532120"/>
            <a:ext cx="104234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This is a smoke test of image pulling, scheduling, container start and basic logging.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135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3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77"/>
          <p:cNvSpPr/>
          <p:nvPr/>
        </p:nvSpPr>
        <p:spPr>
          <a:xfrm>
            <a:off x="548640" y="6419160"/>
            <a:ext cx="4114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78"/>
          <p:cNvSpPr/>
          <p:nvPr/>
        </p:nvSpPr>
        <p:spPr>
          <a:xfrm>
            <a:off x="548640" y="411480"/>
            <a:ext cx="110635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3 — Expose the Pod with a Service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79"/>
          <p:cNvSpPr/>
          <p:nvPr/>
        </p:nvSpPr>
        <p:spPr>
          <a:xfrm>
            <a:off x="567000" y="987480"/>
            <a:ext cx="10606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Service gives the Pod a stable network entry point.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37"/>
          <p:cNvSpPr/>
          <p:nvPr/>
        </p:nvSpPr>
        <p:spPr>
          <a:xfrm>
            <a:off x="713160" y="1508760"/>
            <a:ext cx="8887680" cy="54828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80"/>
          <p:cNvSpPr/>
          <p:nvPr/>
        </p:nvSpPr>
        <p:spPr>
          <a:xfrm>
            <a:off x="914400" y="1508760"/>
            <a:ext cx="9372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expose pod nginx --name=nginx --port=80 --target-port=80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38"/>
          <p:cNvSpPr/>
          <p:nvPr/>
        </p:nvSpPr>
        <p:spPr>
          <a:xfrm>
            <a:off x="6537960" y="2286000"/>
            <a:ext cx="5074200" cy="137124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81"/>
          <p:cNvSpPr/>
          <p:nvPr/>
        </p:nvSpPr>
        <p:spPr>
          <a:xfrm>
            <a:off x="6739200" y="2286000"/>
            <a:ext cx="46717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svc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endpoints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svc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139"/>
          <p:cNvSpPr/>
          <p:nvPr/>
        </p:nvSpPr>
        <p:spPr>
          <a:xfrm>
            <a:off x="960120" y="4005000"/>
            <a:ext cx="1462320" cy="82224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82"/>
          <p:cNvSpPr/>
          <p:nvPr/>
        </p:nvSpPr>
        <p:spPr>
          <a:xfrm>
            <a:off x="1234440" y="4325040"/>
            <a:ext cx="913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140"/>
          <p:cNvSpPr/>
          <p:nvPr/>
        </p:nvSpPr>
        <p:spPr>
          <a:xfrm>
            <a:off x="2514600" y="4416480"/>
            <a:ext cx="164592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41"/>
          <p:cNvSpPr/>
          <p:nvPr/>
        </p:nvSpPr>
        <p:spPr>
          <a:xfrm>
            <a:off x="4251960" y="4005000"/>
            <a:ext cx="1645200" cy="82224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55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83"/>
          <p:cNvSpPr/>
          <p:nvPr/>
        </p:nvSpPr>
        <p:spPr>
          <a:xfrm>
            <a:off x="4462200" y="4325040"/>
            <a:ext cx="12337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42"/>
          <p:cNvSpPr/>
          <p:nvPr/>
        </p:nvSpPr>
        <p:spPr>
          <a:xfrm>
            <a:off x="5989320" y="4416480"/>
            <a:ext cx="15087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143"/>
          <p:cNvSpPr/>
          <p:nvPr/>
        </p:nvSpPr>
        <p:spPr>
          <a:xfrm>
            <a:off x="7589520" y="4005000"/>
            <a:ext cx="1736640" cy="82224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84"/>
          <p:cNvSpPr/>
          <p:nvPr/>
        </p:nvSpPr>
        <p:spPr>
          <a:xfrm>
            <a:off x="7927920" y="4325040"/>
            <a:ext cx="10051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Client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85"/>
          <p:cNvSpPr/>
          <p:nvPr/>
        </p:nvSpPr>
        <p:spPr>
          <a:xfrm>
            <a:off x="868680" y="559620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Without endpoints, Service has nowhere to send traffic.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e 144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145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86"/>
          <p:cNvSpPr/>
          <p:nvPr/>
        </p:nvSpPr>
        <p:spPr>
          <a:xfrm>
            <a:off x="548640" y="6419160"/>
            <a:ext cx="4114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87"/>
          <p:cNvSpPr/>
          <p:nvPr/>
        </p:nvSpPr>
        <p:spPr>
          <a:xfrm>
            <a:off x="548640" y="411480"/>
            <a:ext cx="110635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4 — Port-forward and test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88"/>
          <p:cNvSpPr/>
          <p:nvPr/>
        </p:nvSpPr>
        <p:spPr>
          <a:xfrm>
            <a:off x="567000" y="987480"/>
            <a:ext cx="10606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Forward traffic from your local machine to the Service.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146"/>
          <p:cNvSpPr/>
          <p:nvPr/>
        </p:nvSpPr>
        <p:spPr>
          <a:xfrm>
            <a:off x="749880" y="1536120"/>
            <a:ext cx="10423440" cy="71244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89"/>
          <p:cNvSpPr/>
          <p:nvPr/>
        </p:nvSpPr>
        <p:spPr>
          <a:xfrm>
            <a:off x="951120" y="1700640"/>
            <a:ext cx="10020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port-forward svc/nginx 8080:80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47"/>
          <p:cNvSpPr/>
          <p:nvPr/>
        </p:nvSpPr>
        <p:spPr>
          <a:xfrm>
            <a:off x="804600" y="2743200"/>
            <a:ext cx="5394240" cy="141660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90"/>
          <p:cNvSpPr/>
          <p:nvPr/>
        </p:nvSpPr>
        <p:spPr>
          <a:xfrm>
            <a:off x="1005840" y="2907720"/>
            <a:ext cx="4991760" cy="11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or open in a browser: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91"/>
          <p:cNvSpPr/>
          <p:nvPr/>
        </p:nvSpPr>
        <p:spPr>
          <a:xfrm>
            <a:off x="6720840" y="276156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Troubleshooting checks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92"/>
          <p:cNvSpPr/>
          <p:nvPr/>
        </p:nvSpPr>
        <p:spPr>
          <a:xfrm>
            <a:off x="6729840" y="3273480"/>
            <a:ext cx="447984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Pod Running?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Does the Service have endpoints?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targetPort correct?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another process using local port 8080?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48"/>
          <p:cNvSpPr/>
          <p:nvPr/>
        </p:nvSpPr>
        <p:spPr>
          <a:xfrm>
            <a:off x="822960" y="4937760"/>
            <a:ext cx="7314480" cy="593640"/>
          </a:xfrm>
          <a:prstGeom prst="roundRect">
            <a:avLst>
              <a:gd name="adj" fmla="val 12308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93"/>
          <p:cNvSpPr/>
          <p:nvPr/>
        </p:nvSpPr>
        <p:spPr>
          <a:xfrm>
            <a:off x="1024200" y="5102280"/>
            <a:ext cx="691200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pod,svc,endpoints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Shape 149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50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94"/>
          <p:cNvSpPr/>
          <p:nvPr/>
        </p:nvSpPr>
        <p:spPr>
          <a:xfrm>
            <a:off x="548640" y="6419160"/>
            <a:ext cx="4114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Transition to workshop app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95"/>
          <p:cNvSpPr/>
          <p:nvPr/>
        </p:nvSpPr>
        <p:spPr>
          <a:xfrm>
            <a:off x="548640" y="411480"/>
            <a:ext cx="110635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From nginx to the workshop application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96"/>
          <p:cNvSpPr/>
          <p:nvPr/>
        </p:nvSpPr>
        <p:spPr>
          <a:xfrm>
            <a:off x="567000" y="987480"/>
            <a:ext cx="10606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The warm-up introduces the mechanics; the Flask app introduces real dependencies and failure modes.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151"/>
          <p:cNvSpPr/>
          <p:nvPr/>
        </p:nvSpPr>
        <p:spPr>
          <a:xfrm>
            <a:off x="777240" y="1874520"/>
            <a:ext cx="1297800" cy="5936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97"/>
          <p:cNvSpPr/>
          <p:nvPr/>
        </p:nvSpPr>
        <p:spPr>
          <a:xfrm>
            <a:off x="777240" y="2084760"/>
            <a:ext cx="1297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52"/>
          <p:cNvSpPr/>
          <p:nvPr/>
        </p:nvSpPr>
        <p:spPr>
          <a:xfrm>
            <a:off x="210312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153"/>
          <p:cNvSpPr/>
          <p:nvPr/>
        </p:nvSpPr>
        <p:spPr>
          <a:xfrm>
            <a:off x="2468880" y="1874520"/>
            <a:ext cx="1297800" cy="5936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98"/>
          <p:cNvSpPr/>
          <p:nvPr/>
        </p:nvSpPr>
        <p:spPr>
          <a:xfrm>
            <a:off x="2468880" y="2084760"/>
            <a:ext cx="1297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154"/>
          <p:cNvSpPr/>
          <p:nvPr/>
        </p:nvSpPr>
        <p:spPr>
          <a:xfrm>
            <a:off x="379476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155"/>
          <p:cNvSpPr/>
          <p:nvPr/>
        </p:nvSpPr>
        <p:spPr>
          <a:xfrm>
            <a:off x="4160520" y="1874520"/>
            <a:ext cx="1297800" cy="5936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99"/>
          <p:cNvSpPr/>
          <p:nvPr/>
        </p:nvSpPr>
        <p:spPr>
          <a:xfrm>
            <a:off x="4160520" y="2084760"/>
            <a:ext cx="1297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156"/>
          <p:cNvSpPr/>
          <p:nvPr/>
        </p:nvSpPr>
        <p:spPr>
          <a:xfrm>
            <a:off x="548640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157"/>
          <p:cNvSpPr/>
          <p:nvPr/>
        </p:nvSpPr>
        <p:spPr>
          <a:xfrm>
            <a:off x="5852160" y="1874520"/>
            <a:ext cx="1297800" cy="5936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200"/>
          <p:cNvSpPr/>
          <p:nvPr/>
        </p:nvSpPr>
        <p:spPr>
          <a:xfrm>
            <a:off x="5852160" y="2084760"/>
            <a:ext cx="1297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Port-forward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158"/>
          <p:cNvSpPr/>
          <p:nvPr/>
        </p:nvSpPr>
        <p:spPr>
          <a:xfrm>
            <a:off x="717804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159"/>
          <p:cNvSpPr/>
          <p:nvPr/>
        </p:nvSpPr>
        <p:spPr>
          <a:xfrm>
            <a:off x="7543800" y="1874520"/>
            <a:ext cx="1297800" cy="5936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01"/>
          <p:cNvSpPr/>
          <p:nvPr/>
        </p:nvSpPr>
        <p:spPr>
          <a:xfrm>
            <a:off x="7543800" y="2084760"/>
            <a:ext cx="1297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Logs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160"/>
          <p:cNvSpPr/>
          <p:nvPr/>
        </p:nvSpPr>
        <p:spPr>
          <a:xfrm>
            <a:off x="886968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161"/>
          <p:cNvSpPr/>
          <p:nvPr/>
        </p:nvSpPr>
        <p:spPr>
          <a:xfrm>
            <a:off x="9235440" y="1874520"/>
            <a:ext cx="1297800" cy="5936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202"/>
          <p:cNvSpPr/>
          <p:nvPr/>
        </p:nvSpPr>
        <p:spPr>
          <a:xfrm>
            <a:off x="9235440" y="2084760"/>
            <a:ext cx="1297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Events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203"/>
          <p:cNvSpPr/>
          <p:nvPr/>
        </p:nvSpPr>
        <p:spPr>
          <a:xfrm>
            <a:off x="822960" y="3246120"/>
            <a:ext cx="2742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Next application adds: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204"/>
          <p:cNvSpPr/>
          <p:nvPr/>
        </p:nvSpPr>
        <p:spPr>
          <a:xfrm>
            <a:off x="868680" y="3749040"/>
            <a:ext cx="813744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local registry and custom images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ConfigMap and Secret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PostgreSQL and migrations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readiness depending on DB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volumes, limits, quotas and real troubleshooting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62"/>
          <p:cNvSpPr/>
          <p:nvPr/>
        </p:nvSpPr>
        <p:spPr>
          <a:xfrm>
            <a:off x="6446520" y="5559480"/>
            <a:ext cx="4662720" cy="529560"/>
          </a:xfrm>
          <a:prstGeom prst="roundRect">
            <a:avLst>
              <a:gd name="adj" fmla="val 13793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205"/>
          <p:cNvSpPr/>
          <p:nvPr/>
        </p:nvSpPr>
        <p:spPr>
          <a:xfrm>
            <a:off x="6647760" y="5724000"/>
            <a:ext cx="4260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hape 2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3"/>
          <p:cNvSpPr/>
          <p:nvPr/>
        </p:nvSpPr>
        <p:spPr>
          <a:xfrm>
            <a:off x="0" y="0"/>
            <a:ext cx="12189960" cy="1080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24"/>
          <p:cNvSpPr/>
          <p:nvPr/>
        </p:nvSpPr>
        <p:spPr>
          <a:xfrm>
            <a:off x="502920" y="6355080"/>
            <a:ext cx="22842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9"/>
          <p:cNvSpPr/>
          <p:nvPr/>
        </p:nvSpPr>
        <p:spPr>
          <a:xfrm>
            <a:off x="594360" y="1051560"/>
            <a:ext cx="4570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67E8F9"/>
                </a:solidFill>
                <a:effectLst/>
                <a:uFillTx/>
                <a:latin typeface="Aptos"/>
              </a:rPr>
              <a:t>Module 2 Add-on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34"/>
          <p:cNvSpPr/>
          <p:nvPr/>
        </p:nvSpPr>
        <p:spPr>
          <a:xfrm>
            <a:off x="567000" y="1508760"/>
            <a:ext cx="9873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Local Container Registry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39"/>
          <p:cNvSpPr/>
          <p:nvPr/>
        </p:nvSpPr>
        <p:spPr>
          <a:xfrm>
            <a:off x="603360" y="2331720"/>
            <a:ext cx="9690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Build images locally, push to localhost:5000, then let K3s pull from the same VM.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7"/>
          <p:cNvSpPr/>
          <p:nvPr/>
        </p:nvSpPr>
        <p:spPr>
          <a:xfrm>
            <a:off x="914400" y="3794760"/>
            <a:ext cx="1918440" cy="72972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44"/>
          <p:cNvSpPr/>
          <p:nvPr/>
        </p:nvSpPr>
        <p:spPr>
          <a:xfrm>
            <a:off x="987480" y="3940920"/>
            <a:ext cx="17722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20"/>
          <p:cNvSpPr/>
          <p:nvPr/>
        </p:nvSpPr>
        <p:spPr>
          <a:xfrm>
            <a:off x="3063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23"/>
          <p:cNvSpPr/>
          <p:nvPr/>
        </p:nvSpPr>
        <p:spPr>
          <a:xfrm>
            <a:off x="4160520" y="3794760"/>
            <a:ext cx="2101320" cy="72972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45"/>
          <p:cNvSpPr/>
          <p:nvPr/>
        </p:nvSpPr>
        <p:spPr>
          <a:xfrm>
            <a:off x="4233600" y="3940920"/>
            <a:ext cx="19551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localhost:5000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25"/>
          <p:cNvSpPr/>
          <p:nvPr/>
        </p:nvSpPr>
        <p:spPr>
          <a:xfrm>
            <a:off x="6492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26"/>
          <p:cNvSpPr/>
          <p:nvPr/>
        </p:nvSpPr>
        <p:spPr>
          <a:xfrm>
            <a:off x="7589520" y="3794760"/>
            <a:ext cx="2192760" cy="72972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46"/>
          <p:cNvSpPr/>
          <p:nvPr/>
        </p:nvSpPr>
        <p:spPr>
          <a:xfrm>
            <a:off x="7662600" y="3940920"/>
            <a:ext cx="20466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27"/>
          <p:cNvSpPr/>
          <p:nvPr/>
        </p:nvSpPr>
        <p:spPr>
          <a:xfrm>
            <a:off x="9966960" y="4160520"/>
            <a:ext cx="5943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28"/>
          <p:cNvSpPr/>
          <p:nvPr/>
        </p:nvSpPr>
        <p:spPr>
          <a:xfrm>
            <a:off x="10744200" y="3794760"/>
            <a:ext cx="912600" cy="72972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47"/>
          <p:cNvSpPr/>
          <p:nvPr/>
        </p:nvSpPr>
        <p:spPr>
          <a:xfrm>
            <a:off x="10817280" y="3940920"/>
            <a:ext cx="766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Shape 30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31"/>
          <p:cNvSpPr/>
          <p:nvPr/>
        </p:nvSpPr>
        <p:spPr>
          <a:xfrm>
            <a:off x="0" y="0"/>
            <a:ext cx="12189960" cy="1080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48"/>
          <p:cNvSpPr/>
          <p:nvPr/>
        </p:nvSpPr>
        <p:spPr>
          <a:xfrm>
            <a:off x="502920" y="6355080"/>
            <a:ext cx="22842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49"/>
          <p:cNvSpPr/>
          <p:nvPr/>
        </p:nvSpPr>
        <p:spPr>
          <a:xfrm>
            <a:off x="50292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Where does Kubernetes get images from?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50"/>
          <p:cNvSpPr/>
          <p:nvPr/>
        </p:nvSpPr>
        <p:spPr>
          <a:xfrm>
            <a:off x="530280" y="987480"/>
            <a:ext cx="1087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Kubernetes pulls images from a registry; it does not automatically use your local Docker image cache.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32"/>
          <p:cNvSpPr/>
          <p:nvPr/>
        </p:nvSpPr>
        <p:spPr>
          <a:xfrm>
            <a:off x="17190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33"/>
          <p:cNvSpPr/>
          <p:nvPr/>
        </p:nvSpPr>
        <p:spPr>
          <a:xfrm>
            <a:off x="37033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35"/>
          <p:cNvSpPr/>
          <p:nvPr/>
        </p:nvSpPr>
        <p:spPr>
          <a:xfrm>
            <a:off x="5687280" y="2944080"/>
            <a:ext cx="6678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36"/>
          <p:cNvSpPr/>
          <p:nvPr/>
        </p:nvSpPr>
        <p:spPr>
          <a:xfrm>
            <a:off x="76626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37"/>
          <p:cNvSpPr/>
          <p:nvPr/>
        </p:nvSpPr>
        <p:spPr>
          <a:xfrm>
            <a:off x="96469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38"/>
          <p:cNvSpPr/>
          <p:nvPr/>
        </p:nvSpPr>
        <p:spPr>
          <a:xfrm>
            <a:off x="502920" y="2487240"/>
            <a:ext cx="1232640" cy="91260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51"/>
          <p:cNvSpPr/>
          <p:nvPr/>
        </p:nvSpPr>
        <p:spPr>
          <a:xfrm>
            <a:off x="576000" y="2633400"/>
            <a:ext cx="108648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40"/>
          <p:cNvSpPr/>
          <p:nvPr/>
        </p:nvSpPr>
        <p:spPr>
          <a:xfrm>
            <a:off x="2514600" y="2487240"/>
            <a:ext cx="1232640" cy="91260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52"/>
          <p:cNvSpPr/>
          <p:nvPr/>
        </p:nvSpPr>
        <p:spPr>
          <a:xfrm>
            <a:off x="2587680" y="2633400"/>
            <a:ext cx="108648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41"/>
          <p:cNvSpPr/>
          <p:nvPr/>
        </p:nvSpPr>
        <p:spPr>
          <a:xfrm>
            <a:off x="4498920" y="2487240"/>
            <a:ext cx="1232640" cy="91260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53"/>
          <p:cNvSpPr/>
          <p:nvPr/>
        </p:nvSpPr>
        <p:spPr>
          <a:xfrm>
            <a:off x="4572000" y="2633400"/>
            <a:ext cx="108648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42"/>
          <p:cNvSpPr/>
          <p:nvPr/>
        </p:nvSpPr>
        <p:spPr>
          <a:xfrm>
            <a:off x="6473880" y="2487240"/>
            <a:ext cx="1232640" cy="91260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54"/>
          <p:cNvSpPr/>
          <p:nvPr/>
        </p:nvSpPr>
        <p:spPr>
          <a:xfrm>
            <a:off x="6546960" y="2633400"/>
            <a:ext cx="108648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43"/>
          <p:cNvSpPr/>
          <p:nvPr/>
        </p:nvSpPr>
        <p:spPr>
          <a:xfrm>
            <a:off x="8458200" y="2487240"/>
            <a:ext cx="1232640" cy="91260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55"/>
          <p:cNvSpPr/>
          <p:nvPr/>
        </p:nvSpPr>
        <p:spPr>
          <a:xfrm>
            <a:off x="8531280" y="2633400"/>
            <a:ext cx="108648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44"/>
          <p:cNvSpPr/>
          <p:nvPr/>
        </p:nvSpPr>
        <p:spPr>
          <a:xfrm>
            <a:off x="10451520" y="2487240"/>
            <a:ext cx="1232640" cy="91260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56"/>
          <p:cNvSpPr/>
          <p:nvPr/>
        </p:nvSpPr>
        <p:spPr>
          <a:xfrm>
            <a:off x="10524600" y="2633400"/>
            <a:ext cx="108648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57"/>
          <p:cNvSpPr/>
          <p:nvPr/>
        </p:nvSpPr>
        <p:spPr>
          <a:xfrm>
            <a:off x="822960" y="4617720"/>
            <a:ext cx="10605240" cy="114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registry means no pull path for 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Using localhost:5000 keeps the workshop fast and reproducible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Later failures map directly to ImagePullBackOff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Shape 45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46"/>
          <p:cNvSpPr/>
          <p:nvPr/>
        </p:nvSpPr>
        <p:spPr>
          <a:xfrm>
            <a:off x="0" y="0"/>
            <a:ext cx="12189960" cy="1080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58"/>
          <p:cNvSpPr/>
          <p:nvPr/>
        </p:nvSpPr>
        <p:spPr>
          <a:xfrm>
            <a:off x="502920" y="6355080"/>
            <a:ext cx="22842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59"/>
          <p:cNvSpPr/>
          <p:nvPr/>
        </p:nvSpPr>
        <p:spPr>
          <a:xfrm>
            <a:off x="50292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Registry options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60"/>
          <p:cNvSpPr/>
          <p:nvPr/>
        </p:nvSpPr>
        <p:spPr>
          <a:xfrm>
            <a:off x="530280" y="987480"/>
            <a:ext cx="1087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For this workshop we use a local registry on every VM.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47"/>
          <p:cNvSpPr/>
          <p:nvPr/>
        </p:nvSpPr>
        <p:spPr>
          <a:xfrm>
            <a:off x="640080" y="1508760"/>
            <a:ext cx="3152880" cy="388440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61"/>
          <p:cNvSpPr/>
          <p:nvPr/>
        </p:nvSpPr>
        <p:spPr>
          <a:xfrm>
            <a:off x="914400" y="1783080"/>
            <a:ext cx="25585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Public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62"/>
          <p:cNvSpPr/>
          <p:nvPr/>
        </p:nvSpPr>
        <p:spPr>
          <a:xfrm>
            <a:off x="914400" y="2423160"/>
            <a:ext cx="2558520" cy="22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Docker Hub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GHCR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Quay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to start, but depends on Internet and rate limits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48"/>
          <p:cNvSpPr/>
          <p:nvPr/>
        </p:nvSpPr>
        <p:spPr>
          <a:xfrm>
            <a:off x="4526280" y="1508760"/>
            <a:ext cx="3152880" cy="388440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63"/>
          <p:cNvSpPr/>
          <p:nvPr/>
        </p:nvSpPr>
        <p:spPr>
          <a:xfrm>
            <a:off x="4800600" y="1783080"/>
            <a:ext cx="25585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64"/>
          <p:cNvSpPr/>
          <p:nvPr/>
        </p:nvSpPr>
        <p:spPr>
          <a:xfrm>
            <a:off x="4800600" y="2423160"/>
            <a:ext cx="2558520" cy="22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Harbor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Artifactory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ECR / ACR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Production-like, but needs credentials and setup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49"/>
          <p:cNvSpPr/>
          <p:nvPr/>
        </p:nvSpPr>
        <p:spPr>
          <a:xfrm>
            <a:off x="8412480" y="1508760"/>
            <a:ext cx="3152880" cy="388440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65"/>
          <p:cNvSpPr/>
          <p:nvPr/>
        </p:nvSpPr>
        <p:spPr>
          <a:xfrm>
            <a:off x="8686800" y="1783080"/>
            <a:ext cx="25585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66"/>
          <p:cNvSpPr/>
          <p:nvPr/>
        </p:nvSpPr>
        <p:spPr>
          <a:xfrm>
            <a:off x="8686800" y="2423160"/>
            <a:ext cx="2558520" cy="22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localhost:5000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external dependency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Great for labs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Easy to break and fix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50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51"/>
          <p:cNvSpPr/>
          <p:nvPr/>
        </p:nvSpPr>
        <p:spPr>
          <a:xfrm>
            <a:off x="0" y="0"/>
            <a:ext cx="12189960" cy="1080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67"/>
          <p:cNvSpPr/>
          <p:nvPr/>
        </p:nvSpPr>
        <p:spPr>
          <a:xfrm>
            <a:off x="502920" y="6355080"/>
            <a:ext cx="22842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68"/>
          <p:cNvSpPr/>
          <p:nvPr/>
        </p:nvSpPr>
        <p:spPr>
          <a:xfrm>
            <a:off x="50292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Start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69"/>
          <p:cNvSpPr/>
          <p:nvPr/>
        </p:nvSpPr>
        <p:spPr>
          <a:xfrm>
            <a:off x="530280" y="987480"/>
            <a:ext cx="1087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setup script runs a registry container and verifies push/pull before the workshop begins.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52"/>
          <p:cNvSpPr/>
          <p:nvPr/>
        </p:nvSpPr>
        <p:spPr>
          <a:xfrm>
            <a:off x="685800" y="1600200"/>
            <a:ext cx="5576040" cy="2375640"/>
          </a:xfrm>
          <a:prstGeom prst="roundRect">
            <a:avLst>
              <a:gd name="adj" fmla="val 3077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70"/>
          <p:cNvSpPr/>
          <p:nvPr/>
        </p:nvSpPr>
        <p:spPr>
          <a:xfrm>
            <a:off x="822960" y="1719000"/>
            <a:ext cx="5301720" cy="21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run -d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--name local-registry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--restart always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-p 5000:5000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-v /opt/local-registry:/var/lib/registry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registry:2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53"/>
          <p:cNvSpPr/>
          <p:nvPr/>
        </p:nvSpPr>
        <p:spPr>
          <a:xfrm>
            <a:off x="6720840" y="1600200"/>
            <a:ext cx="4707360" cy="2375640"/>
          </a:xfrm>
          <a:prstGeom prst="roundRect">
            <a:avLst>
              <a:gd name="adj" fmla="val 4615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71"/>
          <p:cNvSpPr/>
          <p:nvPr/>
        </p:nvSpPr>
        <p:spPr>
          <a:xfrm>
            <a:off x="7040880" y="1828800"/>
            <a:ext cx="41130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local?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72"/>
          <p:cNvSpPr/>
          <p:nvPr/>
        </p:nvSpPr>
        <p:spPr>
          <a:xfrm>
            <a:off x="7040880" y="2423160"/>
            <a:ext cx="4021560" cy="12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Docker Hub rate limits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shared credentials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Predictable and fast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Each participant owns their environment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54"/>
          <p:cNvSpPr/>
          <p:nvPr/>
        </p:nvSpPr>
        <p:spPr>
          <a:xfrm>
            <a:off x="7040880" y="4069080"/>
            <a:ext cx="1461240" cy="32724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73"/>
          <p:cNvSpPr/>
          <p:nvPr/>
        </p:nvSpPr>
        <p:spPr>
          <a:xfrm>
            <a:off x="7113960" y="4142160"/>
            <a:ext cx="1315080" cy="15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workshop-friendly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55"/>
          <p:cNvSpPr/>
          <p:nvPr/>
        </p:nvSpPr>
        <p:spPr>
          <a:xfrm>
            <a:off x="8641080" y="4069080"/>
            <a:ext cx="1415520" cy="32724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74"/>
          <p:cNvSpPr/>
          <p:nvPr/>
        </p:nvSpPr>
        <p:spPr>
          <a:xfrm>
            <a:off x="8714160" y="4142160"/>
            <a:ext cx="1269360" cy="15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offline-capable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56"/>
          <p:cNvSpPr/>
          <p:nvPr/>
        </p:nvSpPr>
        <p:spPr>
          <a:xfrm>
            <a:off x="10195560" y="4069080"/>
            <a:ext cx="1049760" cy="32724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75"/>
          <p:cNvSpPr/>
          <p:nvPr/>
        </p:nvSpPr>
        <p:spPr>
          <a:xfrm>
            <a:off x="10268640" y="4142160"/>
            <a:ext cx="903600" cy="15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repeatable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57"/>
          <p:cNvSpPr/>
          <p:nvPr/>
        </p:nvSpPr>
        <p:spPr>
          <a:xfrm>
            <a:off x="685800" y="4892040"/>
            <a:ext cx="5576040" cy="592560"/>
          </a:xfrm>
          <a:prstGeom prst="roundRect">
            <a:avLst>
              <a:gd name="adj" fmla="val 1230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76"/>
          <p:cNvSpPr/>
          <p:nvPr/>
        </p:nvSpPr>
        <p:spPr>
          <a:xfrm>
            <a:off x="822960" y="5010840"/>
            <a:ext cx="5301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77"/>
          <p:cNvSpPr/>
          <p:nvPr/>
        </p:nvSpPr>
        <p:spPr>
          <a:xfrm>
            <a:off x="6720840" y="4974480"/>
            <a:ext cx="4753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Expected result: the registry API responds, even before any images are pushed.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58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59"/>
          <p:cNvSpPr/>
          <p:nvPr/>
        </p:nvSpPr>
        <p:spPr>
          <a:xfrm>
            <a:off x="0" y="0"/>
            <a:ext cx="12189960" cy="1080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78"/>
          <p:cNvSpPr/>
          <p:nvPr/>
        </p:nvSpPr>
        <p:spPr>
          <a:xfrm>
            <a:off x="502920" y="6355080"/>
            <a:ext cx="22842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79"/>
          <p:cNvSpPr/>
          <p:nvPr/>
        </p:nvSpPr>
        <p:spPr>
          <a:xfrm>
            <a:off x="50292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Configure K3s to use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80"/>
          <p:cNvSpPr/>
          <p:nvPr/>
        </p:nvSpPr>
        <p:spPr>
          <a:xfrm>
            <a:off x="530280" y="987480"/>
            <a:ext cx="1087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K3s uses containerd, so the Docker daemon configuration alone is not enough.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60"/>
          <p:cNvSpPr/>
          <p:nvPr/>
        </p:nvSpPr>
        <p:spPr>
          <a:xfrm>
            <a:off x="685800" y="1417320"/>
            <a:ext cx="6124680" cy="415872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1"/>
          <p:cNvSpPr/>
          <p:nvPr/>
        </p:nvSpPr>
        <p:spPr>
          <a:xfrm>
            <a:off x="822960" y="1536120"/>
            <a:ext cx="585036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/etc/rancher/k3s/registries.yaml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mirrors: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"http://localhost:5000"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"127.0.0.1:5000":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"http://127.0.0.1:5000"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configs: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tls: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insecure_skip_verify: 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61"/>
          <p:cNvSpPr/>
          <p:nvPr/>
        </p:nvSpPr>
        <p:spPr>
          <a:xfrm>
            <a:off x="7315200" y="1600200"/>
            <a:ext cx="4295880" cy="3564360"/>
          </a:xfrm>
          <a:prstGeom prst="roundRect">
            <a:avLst>
              <a:gd name="adj" fmla="val 3077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82"/>
          <p:cNvSpPr/>
          <p:nvPr/>
        </p:nvSpPr>
        <p:spPr>
          <a:xfrm>
            <a:off x="7589520" y="1874520"/>
            <a:ext cx="37472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After changing it: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62"/>
          <p:cNvSpPr/>
          <p:nvPr/>
        </p:nvSpPr>
        <p:spPr>
          <a:xfrm>
            <a:off x="7589520" y="2514600"/>
            <a:ext cx="3472920" cy="1004040"/>
          </a:xfrm>
          <a:prstGeom prst="roundRect">
            <a:avLst>
              <a:gd name="adj" fmla="val 727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83"/>
          <p:cNvSpPr/>
          <p:nvPr/>
        </p:nvSpPr>
        <p:spPr>
          <a:xfrm>
            <a:off x="7726680" y="2633400"/>
            <a:ext cx="3198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sudo systemctl restart k3s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nodes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84"/>
          <p:cNvSpPr/>
          <p:nvPr/>
        </p:nvSpPr>
        <p:spPr>
          <a:xfrm>
            <a:off x="7589520" y="3931920"/>
            <a:ext cx="36558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reloads containerd registry configuration used by K3s.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Shape 63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64"/>
          <p:cNvSpPr/>
          <p:nvPr/>
        </p:nvSpPr>
        <p:spPr>
          <a:xfrm>
            <a:off x="0" y="0"/>
            <a:ext cx="12189960" cy="1080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85"/>
          <p:cNvSpPr/>
          <p:nvPr/>
        </p:nvSpPr>
        <p:spPr>
          <a:xfrm>
            <a:off x="502920" y="6355080"/>
            <a:ext cx="22842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86"/>
          <p:cNvSpPr/>
          <p:nvPr/>
        </p:nvSpPr>
        <p:spPr>
          <a:xfrm>
            <a:off x="50292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Build workshop images with registry tags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87"/>
          <p:cNvSpPr/>
          <p:nvPr/>
        </p:nvSpPr>
        <p:spPr>
          <a:xfrm>
            <a:off x="530280" y="987480"/>
            <a:ext cx="1087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Tag images with localhost:5000 from the beginning.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65"/>
          <p:cNvSpPr/>
          <p:nvPr/>
        </p:nvSpPr>
        <p:spPr>
          <a:xfrm>
            <a:off x="685800" y="1600200"/>
            <a:ext cx="10833840" cy="2787120"/>
          </a:xfrm>
          <a:prstGeom prst="roundRect">
            <a:avLst>
              <a:gd name="adj" fmla="val 262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88"/>
          <p:cNvSpPr/>
          <p:nvPr/>
        </p:nvSpPr>
        <p:spPr>
          <a:xfrm>
            <a:off x="822960" y="1719000"/>
            <a:ext cx="10559520" cy="26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docker/Dockerfile.debug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docker/Dockerfile.broken_migration -t localhost:5000/k8s-workshop-migration:broken .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66"/>
          <p:cNvSpPr/>
          <p:nvPr/>
        </p:nvSpPr>
        <p:spPr>
          <a:xfrm>
            <a:off x="685800" y="4892040"/>
            <a:ext cx="10833840" cy="775440"/>
          </a:xfrm>
          <a:prstGeom prst="roundRect">
            <a:avLst>
              <a:gd name="adj" fmla="val 14118"/>
            </a:avLst>
          </a:prstGeom>
          <a:solidFill>
            <a:srgbClr val="0B2740"/>
          </a:solidFill>
          <a:ln w="13970">
            <a:solidFill>
              <a:srgbClr val="FACC1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89"/>
          <p:cNvSpPr/>
          <p:nvPr/>
        </p:nvSpPr>
        <p:spPr>
          <a:xfrm>
            <a:off x="960120" y="5102280"/>
            <a:ext cx="10239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point: k8s-workshop-app:debug is only a local Docker tag. localhost:5000/k8s-workshop-app:debug is a pullable registry reference.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Shape 67"/>
          <p:cNvSpPr/>
          <p:nvPr/>
        </p:nvSpPr>
        <p:spPr>
          <a:xfrm>
            <a:off x="-74160" y="1144800"/>
            <a:ext cx="12189960" cy="68562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68"/>
          <p:cNvSpPr/>
          <p:nvPr/>
        </p:nvSpPr>
        <p:spPr>
          <a:xfrm>
            <a:off x="0" y="0"/>
            <a:ext cx="12189960" cy="1080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90"/>
          <p:cNvSpPr/>
          <p:nvPr/>
        </p:nvSpPr>
        <p:spPr>
          <a:xfrm>
            <a:off x="502920" y="6355080"/>
            <a:ext cx="22842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91"/>
          <p:cNvSpPr/>
          <p:nvPr/>
        </p:nvSpPr>
        <p:spPr>
          <a:xfrm>
            <a:off x="50292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Push and verify images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92"/>
          <p:cNvSpPr/>
          <p:nvPr/>
        </p:nvSpPr>
        <p:spPr>
          <a:xfrm>
            <a:off x="530280" y="987480"/>
            <a:ext cx="1087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Pushing images makes them available for K3s/containerd to pull.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69"/>
          <p:cNvSpPr/>
          <p:nvPr/>
        </p:nvSpPr>
        <p:spPr>
          <a:xfrm>
            <a:off x="685800" y="1508760"/>
            <a:ext cx="5484600" cy="260604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93"/>
          <p:cNvSpPr/>
          <p:nvPr/>
        </p:nvSpPr>
        <p:spPr>
          <a:xfrm>
            <a:off x="822960" y="1627560"/>
            <a:ext cx="5210280" cy="225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localhost:5000/k8s-workshop-app:distroless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localhost:5000/k8s-workshop-migration:repair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70"/>
          <p:cNvSpPr/>
          <p:nvPr/>
        </p:nvSpPr>
        <p:spPr>
          <a:xfrm>
            <a:off x="6583680" y="1508760"/>
            <a:ext cx="5073840" cy="182700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94"/>
          <p:cNvSpPr/>
          <p:nvPr/>
        </p:nvSpPr>
        <p:spPr>
          <a:xfrm>
            <a:off x="6720840" y="1627560"/>
            <a:ext cx="4936680" cy="16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localhost:5000/v2/k8s-workshop-app/tags/list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localhost:5000/v2/k8s-workshop-migration/tags/list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71"/>
          <p:cNvSpPr/>
          <p:nvPr/>
        </p:nvSpPr>
        <p:spPr>
          <a:xfrm>
            <a:off x="1097280" y="4434840"/>
            <a:ext cx="1186920" cy="68400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95"/>
          <p:cNvSpPr/>
          <p:nvPr/>
        </p:nvSpPr>
        <p:spPr>
          <a:xfrm>
            <a:off x="1170360" y="4581000"/>
            <a:ext cx="1040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72"/>
          <p:cNvSpPr/>
          <p:nvPr/>
        </p:nvSpPr>
        <p:spPr>
          <a:xfrm>
            <a:off x="248688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73"/>
          <p:cNvSpPr/>
          <p:nvPr/>
        </p:nvSpPr>
        <p:spPr>
          <a:xfrm>
            <a:off x="3520440" y="4434840"/>
            <a:ext cx="1186920" cy="68400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96"/>
          <p:cNvSpPr/>
          <p:nvPr/>
        </p:nvSpPr>
        <p:spPr>
          <a:xfrm>
            <a:off x="3593520" y="4581000"/>
            <a:ext cx="1040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74"/>
          <p:cNvSpPr/>
          <p:nvPr/>
        </p:nvSpPr>
        <p:spPr>
          <a:xfrm>
            <a:off x="48920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75"/>
          <p:cNvSpPr/>
          <p:nvPr/>
        </p:nvSpPr>
        <p:spPr>
          <a:xfrm>
            <a:off x="5925240" y="4434840"/>
            <a:ext cx="1186920" cy="68400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97"/>
          <p:cNvSpPr/>
          <p:nvPr/>
        </p:nvSpPr>
        <p:spPr>
          <a:xfrm>
            <a:off x="5998320" y="4581000"/>
            <a:ext cx="1040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verify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76"/>
          <p:cNvSpPr/>
          <p:nvPr/>
        </p:nvSpPr>
        <p:spPr>
          <a:xfrm>
            <a:off x="72968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77"/>
          <p:cNvSpPr/>
          <p:nvPr/>
        </p:nvSpPr>
        <p:spPr>
          <a:xfrm>
            <a:off x="8321040" y="4434840"/>
            <a:ext cx="1186920" cy="68400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98"/>
          <p:cNvSpPr/>
          <p:nvPr/>
        </p:nvSpPr>
        <p:spPr>
          <a:xfrm>
            <a:off x="8394120" y="4581000"/>
            <a:ext cx="1040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78"/>
          <p:cNvSpPr/>
          <p:nvPr/>
        </p:nvSpPr>
        <p:spPr>
          <a:xfrm>
            <a:off x="97106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79"/>
          <p:cNvSpPr/>
          <p:nvPr/>
        </p:nvSpPr>
        <p:spPr>
          <a:xfrm>
            <a:off x="10744200" y="4434840"/>
            <a:ext cx="1141200" cy="68400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99"/>
          <p:cNvSpPr/>
          <p:nvPr/>
        </p:nvSpPr>
        <p:spPr>
          <a:xfrm>
            <a:off x="10817280" y="4581000"/>
            <a:ext cx="995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Shape 80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81"/>
          <p:cNvSpPr/>
          <p:nvPr/>
        </p:nvSpPr>
        <p:spPr>
          <a:xfrm>
            <a:off x="0" y="0"/>
            <a:ext cx="12189960" cy="1080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00"/>
          <p:cNvSpPr/>
          <p:nvPr/>
        </p:nvSpPr>
        <p:spPr>
          <a:xfrm>
            <a:off x="502920" y="6355080"/>
            <a:ext cx="22842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01"/>
          <p:cNvSpPr/>
          <p:nvPr/>
        </p:nvSpPr>
        <p:spPr>
          <a:xfrm>
            <a:off x="50292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Use registry references in Kubernetes manifests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02"/>
          <p:cNvSpPr/>
          <p:nvPr/>
        </p:nvSpPr>
        <p:spPr>
          <a:xfrm>
            <a:off x="530280" y="987480"/>
            <a:ext cx="1087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Deployment should point to the local registry image.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Shape 82"/>
          <p:cNvSpPr/>
          <p:nvPr/>
        </p:nvSpPr>
        <p:spPr>
          <a:xfrm>
            <a:off x="685800" y="1417320"/>
            <a:ext cx="5804640" cy="415872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03"/>
          <p:cNvSpPr/>
          <p:nvPr/>
        </p:nvSpPr>
        <p:spPr>
          <a:xfrm>
            <a:off x="822960" y="1536120"/>
            <a:ext cx="553032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apiVersion: apps/v1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kind: 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metadata: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template: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containers: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-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image: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imagePullPolicy: IfNotPresent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83"/>
          <p:cNvSpPr/>
          <p:nvPr/>
        </p:nvSpPr>
        <p:spPr>
          <a:xfrm>
            <a:off x="6949440" y="1645920"/>
            <a:ext cx="4478760" cy="3290040"/>
          </a:xfrm>
          <a:prstGeom prst="roundRect">
            <a:avLst>
              <a:gd name="adj" fmla="val 3333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04"/>
          <p:cNvSpPr/>
          <p:nvPr/>
        </p:nvSpPr>
        <p:spPr>
          <a:xfrm>
            <a:off x="7223760" y="1920240"/>
            <a:ext cx="3930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for labs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05"/>
          <p:cNvSpPr/>
          <p:nvPr/>
        </p:nvSpPr>
        <p:spPr>
          <a:xfrm>
            <a:off x="7223760" y="2560320"/>
            <a:ext cx="3792960" cy="16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imagePullPolicy: IfNotPresent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local pulls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change tag when you want a new image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Always when teaching pull behavior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Shape 84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Shape 85"/>
          <p:cNvSpPr/>
          <p:nvPr/>
        </p:nvSpPr>
        <p:spPr>
          <a:xfrm>
            <a:off x="0" y="0"/>
            <a:ext cx="12189960" cy="1080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106"/>
          <p:cNvSpPr/>
          <p:nvPr/>
        </p:nvSpPr>
        <p:spPr>
          <a:xfrm>
            <a:off x="502920" y="6355080"/>
            <a:ext cx="22842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07"/>
          <p:cNvSpPr/>
          <p:nvPr/>
        </p:nvSpPr>
        <p:spPr>
          <a:xfrm>
            <a:off x="50292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Troubleshooting preview: ImagePullBackOff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108"/>
          <p:cNvSpPr/>
          <p:nvPr/>
        </p:nvSpPr>
        <p:spPr>
          <a:xfrm>
            <a:off x="530280" y="987480"/>
            <a:ext cx="1087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A registry flow makes image problems visible and easy to diagnose.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86"/>
          <p:cNvSpPr/>
          <p:nvPr/>
        </p:nvSpPr>
        <p:spPr>
          <a:xfrm>
            <a:off x="685800" y="1508760"/>
            <a:ext cx="5301720" cy="182700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09"/>
          <p:cNvSpPr/>
          <p:nvPr/>
        </p:nvSpPr>
        <p:spPr>
          <a:xfrm>
            <a:off x="822960" y="1627560"/>
            <a:ext cx="5027400" cy="16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typo in tag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image: localhost:5000/k8s-workshop-app:debgu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expected status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ImagePullBackOff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Shape 87"/>
          <p:cNvSpPr/>
          <p:nvPr/>
        </p:nvSpPr>
        <p:spPr>
          <a:xfrm>
            <a:off x="6446520" y="1508760"/>
            <a:ext cx="5073120" cy="1827000"/>
          </a:xfrm>
          <a:prstGeom prst="roundRect">
            <a:avLst>
              <a:gd name="adj" fmla="val 6000"/>
            </a:avLst>
          </a:prstGeom>
          <a:solidFill>
            <a:srgbClr val="0B2740"/>
          </a:solidFill>
          <a:ln w="1397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110"/>
          <p:cNvSpPr/>
          <p:nvPr/>
        </p:nvSpPr>
        <p:spPr>
          <a:xfrm>
            <a:off x="6720840" y="1783080"/>
            <a:ext cx="4387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checks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88"/>
          <p:cNvSpPr/>
          <p:nvPr/>
        </p:nvSpPr>
        <p:spPr>
          <a:xfrm>
            <a:off x="6720840" y="2331720"/>
            <a:ext cx="4341600" cy="775440"/>
          </a:xfrm>
          <a:prstGeom prst="roundRect">
            <a:avLst>
              <a:gd name="adj" fmla="val 9412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111"/>
          <p:cNvSpPr/>
          <p:nvPr/>
        </p:nvSpPr>
        <p:spPr>
          <a:xfrm>
            <a:off x="6858000" y="2450520"/>
            <a:ext cx="40672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112"/>
          <p:cNvSpPr/>
          <p:nvPr/>
        </p:nvSpPr>
        <p:spPr>
          <a:xfrm>
            <a:off x="685800" y="3794760"/>
            <a:ext cx="2101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Mental model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89"/>
          <p:cNvSpPr/>
          <p:nvPr/>
        </p:nvSpPr>
        <p:spPr>
          <a:xfrm>
            <a:off x="2971800" y="4069080"/>
            <a:ext cx="2009880" cy="71136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113"/>
          <p:cNvSpPr/>
          <p:nvPr/>
        </p:nvSpPr>
        <p:spPr>
          <a:xfrm>
            <a:off x="3044880" y="4215240"/>
            <a:ext cx="1863720" cy="4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found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90"/>
          <p:cNvSpPr/>
          <p:nvPr/>
        </p:nvSpPr>
        <p:spPr>
          <a:xfrm>
            <a:off x="5166360" y="4425480"/>
            <a:ext cx="6400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91"/>
          <p:cNvSpPr/>
          <p:nvPr/>
        </p:nvSpPr>
        <p:spPr>
          <a:xfrm>
            <a:off x="5989320" y="4069080"/>
            <a:ext cx="2009880" cy="711360"/>
          </a:xfrm>
          <a:prstGeom prst="roundRect">
            <a:avLst>
              <a:gd name="adj" fmla="val 15385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14"/>
          <p:cNvSpPr/>
          <p:nvPr/>
        </p:nvSpPr>
        <p:spPr>
          <a:xfrm>
            <a:off x="6062400" y="4215240"/>
            <a:ext cx="1863720" cy="4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never starts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92"/>
          <p:cNvSpPr/>
          <p:nvPr/>
        </p:nvSpPr>
        <p:spPr>
          <a:xfrm>
            <a:off x="8183880" y="4425480"/>
            <a:ext cx="8686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93"/>
          <p:cNvSpPr/>
          <p:nvPr/>
        </p:nvSpPr>
        <p:spPr>
          <a:xfrm>
            <a:off x="9235440" y="4069080"/>
            <a:ext cx="2009880" cy="71136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115"/>
          <p:cNvSpPr/>
          <p:nvPr/>
        </p:nvSpPr>
        <p:spPr>
          <a:xfrm>
            <a:off x="9308520" y="4215240"/>
            <a:ext cx="1863720" cy="4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app logs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Shape 94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95"/>
          <p:cNvSpPr/>
          <p:nvPr/>
        </p:nvSpPr>
        <p:spPr>
          <a:xfrm>
            <a:off x="0" y="0"/>
            <a:ext cx="12189960" cy="1080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116"/>
          <p:cNvSpPr/>
          <p:nvPr/>
        </p:nvSpPr>
        <p:spPr>
          <a:xfrm>
            <a:off x="502920" y="6355080"/>
            <a:ext cx="22842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117"/>
          <p:cNvSpPr/>
          <p:nvPr/>
        </p:nvSpPr>
        <p:spPr>
          <a:xfrm>
            <a:off x="50292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Lab: Build, push, deploy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118"/>
          <p:cNvSpPr/>
          <p:nvPr/>
        </p:nvSpPr>
        <p:spPr>
          <a:xfrm>
            <a:off x="530280" y="987480"/>
            <a:ext cx="1087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lab becomes the foundation for the rest of the workshop.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96"/>
          <p:cNvSpPr/>
          <p:nvPr/>
        </p:nvSpPr>
        <p:spPr>
          <a:xfrm>
            <a:off x="685800" y="1463040"/>
            <a:ext cx="10971000" cy="4250160"/>
          </a:xfrm>
          <a:prstGeom prst="roundRect">
            <a:avLst>
              <a:gd name="adj" fmla="val 2581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119"/>
          <p:cNvSpPr/>
          <p:nvPr/>
        </p:nvSpPr>
        <p:spPr>
          <a:xfrm>
            <a:off x="1005840" y="1783080"/>
            <a:ext cx="2741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120"/>
          <p:cNvSpPr/>
          <p:nvPr/>
        </p:nvSpPr>
        <p:spPr>
          <a:xfrm>
            <a:off x="1005840" y="2331720"/>
            <a:ext cx="10239480" cy="24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Run setup-local-registry.sh and confirm the test passes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Build app, distroless, and migration images with localhost:5000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Push all images to the local registry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Verify registry catalog and image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localhost:5000/... image references in Kubernetes manifests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Deploy the app in Module 3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97"/>
          <p:cNvSpPr/>
          <p:nvPr/>
        </p:nvSpPr>
        <p:spPr>
          <a:xfrm>
            <a:off x="1005840" y="5074920"/>
            <a:ext cx="821160" cy="32724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121"/>
          <p:cNvSpPr/>
          <p:nvPr/>
        </p:nvSpPr>
        <p:spPr>
          <a:xfrm>
            <a:off x="1078920" y="5148000"/>
            <a:ext cx="675000" cy="15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Shape 98"/>
          <p:cNvSpPr/>
          <p:nvPr/>
        </p:nvSpPr>
        <p:spPr>
          <a:xfrm>
            <a:off x="1965960" y="5074920"/>
            <a:ext cx="775440" cy="32724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122"/>
          <p:cNvSpPr/>
          <p:nvPr/>
        </p:nvSpPr>
        <p:spPr>
          <a:xfrm>
            <a:off x="2039040" y="5148000"/>
            <a:ext cx="629280" cy="15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Shape 99"/>
          <p:cNvSpPr/>
          <p:nvPr/>
        </p:nvSpPr>
        <p:spPr>
          <a:xfrm>
            <a:off x="2880360" y="5074920"/>
            <a:ext cx="729720" cy="32724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123"/>
          <p:cNvSpPr/>
          <p:nvPr/>
        </p:nvSpPr>
        <p:spPr>
          <a:xfrm>
            <a:off x="2953440" y="5148000"/>
            <a:ext cx="583560" cy="15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100"/>
          <p:cNvSpPr/>
          <p:nvPr/>
        </p:nvSpPr>
        <p:spPr>
          <a:xfrm>
            <a:off x="3749040" y="5074920"/>
            <a:ext cx="912600" cy="327240"/>
          </a:xfrm>
          <a:prstGeom prst="roundRect">
            <a:avLst>
              <a:gd name="adj" fmla="val 33333"/>
            </a:avLst>
          </a:prstGeom>
          <a:solidFill>
            <a:srgbClr val="FB923C">
              <a:alpha val="85000"/>
            </a:srgbClr>
          </a:solidFill>
          <a:ln w="1016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124"/>
          <p:cNvSpPr/>
          <p:nvPr/>
        </p:nvSpPr>
        <p:spPr>
          <a:xfrm>
            <a:off x="3822120" y="5148000"/>
            <a:ext cx="766440" cy="15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101"/>
          <p:cNvSpPr/>
          <p:nvPr/>
        </p:nvSpPr>
        <p:spPr>
          <a:xfrm>
            <a:off x="4800600" y="5074920"/>
            <a:ext cx="1415520" cy="327240"/>
          </a:xfrm>
          <a:prstGeom prst="roundRect">
            <a:avLst>
              <a:gd name="adj" fmla="val 33333"/>
            </a:avLst>
          </a:prstGeom>
          <a:solidFill>
            <a:srgbClr val="F87171">
              <a:alpha val="85000"/>
            </a:srgbClr>
          </a:solidFill>
          <a:ln w="1016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125"/>
          <p:cNvSpPr/>
          <p:nvPr/>
        </p:nvSpPr>
        <p:spPr>
          <a:xfrm>
            <a:off x="4873680" y="5148000"/>
            <a:ext cx="1269360" cy="15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2"/>
          <p:cNvSpPr/>
          <p:nvPr/>
        </p:nvSpPr>
        <p:spPr>
          <a:xfrm>
            <a:off x="658440" y="2148840"/>
            <a:ext cx="1060452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3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3"/>
          <p:cNvSpPr/>
          <p:nvPr/>
        </p:nvSpPr>
        <p:spPr>
          <a:xfrm>
            <a:off x="676800" y="2953440"/>
            <a:ext cx="9598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Containers, images and local application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image mental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is not a VM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contains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Image does not contain by default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Entrypoint and command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environment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Filesystem layers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Cluster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Service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Secrets from the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 guarantee that shell exists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build flow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Multi-stage builds separate build-time and runtime concerns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4"/>
          <p:cNvSpPr/>
          <p:nvPr/>
        </p:nvSpPr>
        <p:spPr>
          <a:xfrm>
            <a:off x="50292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5"/>
          <p:cNvSpPr/>
          <p:nvPr/>
        </p:nvSpPr>
        <p:spPr>
          <a:xfrm>
            <a:off x="54864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Source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6"/>
          <p:cNvSpPr/>
          <p:nvPr/>
        </p:nvSpPr>
        <p:spPr>
          <a:xfrm>
            <a:off x="177408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7"/>
          <p:cNvSpPr/>
          <p:nvPr/>
        </p:nvSpPr>
        <p:spPr>
          <a:xfrm>
            <a:off x="200268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8"/>
          <p:cNvSpPr/>
          <p:nvPr/>
        </p:nvSpPr>
        <p:spPr>
          <a:xfrm>
            <a:off x="204840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9"/>
          <p:cNvSpPr/>
          <p:nvPr/>
        </p:nvSpPr>
        <p:spPr>
          <a:xfrm>
            <a:off x="327348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10"/>
          <p:cNvSpPr/>
          <p:nvPr/>
        </p:nvSpPr>
        <p:spPr>
          <a:xfrm>
            <a:off x="350208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11"/>
          <p:cNvSpPr/>
          <p:nvPr/>
        </p:nvSpPr>
        <p:spPr>
          <a:xfrm>
            <a:off x="354780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12"/>
          <p:cNvSpPr/>
          <p:nvPr/>
        </p:nvSpPr>
        <p:spPr>
          <a:xfrm>
            <a:off x="477324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13"/>
          <p:cNvSpPr/>
          <p:nvPr/>
        </p:nvSpPr>
        <p:spPr>
          <a:xfrm>
            <a:off x="500184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 14"/>
          <p:cNvSpPr/>
          <p:nvPr/>
        </p:nvSpPr>
        <p:spPr>
          <a:xfrm>
            <a:off x="504756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Runtime image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15"/>
          <p:cNvSpPr/>
          <p:nvPr/>
        </p:nvSpPr>
        <p:spPr>
          <a:xfrm>
            <a:off x="627264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16"/>
          <p:cNvSpPr/>
          <p:nvPr/>
        </p:nvSpPr>
        <p:spPr>
          <a:xfrm>
            <a:off x="650124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17"/>
          <p:cNvSpPr/>
          <p:nvPr/>
        </p:nvSpPr>
        <p:spPr>
          <a:xfrm>
            <a:off x="654696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Registry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18"/>
          <p:cNvSpPr/>
          <p:nvPr/>
        </p:nvSpPr>
        <p:spPr>
          <a:xfrm>
            <a:off x="777240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Shape 19"/>
          <p:cNvSpPr/>
          <p:nvPr/>
        </p:nvSpPr>
        <p:spPr>
          <a:xfrm>
            <a:off x="800100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 20"/>
          <p:cNvSpPr/>
          <p:nvPr/>
        </p:nvSpPr>
        <p:spPr>
          <a:xfrm>
            <a:off x="804672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Kubernetes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image vs distroless image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Both are useful, for different reasons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Debug-friendly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Distroless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Based on python:slim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Contains shell and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Easier kubectl exec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Larger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for labs and diagnosis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better logs/probes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kubectl debug when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used in the repository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docker/Dockerfile.debug    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docker/Dockerfile.broken_migration -t localhost:5000/k8s-workshop-migration:broken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image ls | grep k8s-workshop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 locally with Docker Compose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Prove the app before Kubernetes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cd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compose up --build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</a:t>
            </a:r>
            <a:r>
              <a:rPr lang="en-US" sz="1400" b="0" u="none" strike="noStrike">
                <a:solidFill>
                  <a:srgbClr val="0563C1"/>
                </a:solidFill>
                <a:effectLst/>
                <a:uFillTx/>
                <a:latin typeface="Aptos Mono"/>
                <a:ea typeface="Aptos Mono"/>
                <a:hlinkClick r:id="rId1"/>
              </a:rPr>
              <a:t>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-X POST http://localhost:8080/items -H 'Content-Type: application/json' -d '{"name":"demo"}'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endpoints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app is designed to create useful signals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Operational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Training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/healthz - process is alive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/readyz - DB dependency is 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/version - image/config visible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/file-log - last file log lines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/items - DB-backed data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/stress/cpu - CPU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/stress/memory -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 writer - restart visibility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"/>
          <p:cNvSpPr/>
          <p:nvPr/>
        </p:nvSpPr>
        <p:spPr>
          <a:xfrm>
            <a:off x="658440" y="2148840"/>
            <a:ext cx="1060452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4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3"/>
          <p:cNvSpPr/>
          <p:nvPr/>
        </p:nvSpPr>
        <p:spPr>
          <a:xfrm>
            <a:off x="676800" y="2953440"/>
            <a:ext cx="9598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First deployment to Kubernetes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Deployment, Pod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Three objects, three jobs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Service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Declarative desired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Creates ReplicaSets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Recreates failed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Supports rollout and rollback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 default for stateless app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virtual IP and DNS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Selects 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Routes to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Decouples clients from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with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-f k8s/base/01-namespace.yaml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k8s/base/02-configmap.yaml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k8s/base/07-app-service.yaml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 first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fix before observing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rollout is a controlled state transition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4"/>
          <p:cNvSpPr/>
          <p:nvPr/>
        </p:nvSpPr>
        <p:spPr>
          <a:xfrm>
            <a:off x="50292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5"/>
          <p:cNvSpPr/>
          <p:nvPr/>
        </p:nvSpPr>
        <p:spPr>
          <a:xfrm>
            <a:off x="54864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6"/>
          <p:cNvSpPr/>
          <p:nvPr/>
        </p:nvSpPr>
        <p:spPr>
          <a:xfrm>
            <a:off x="177408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Shape 7"/>
          <p:cNvSpPr/>
          <p:nvPr/>
        </p:nvSpPr>
        <p:spPr>
          <a:xfrm>
            <a:off x="200268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8"/>
          <p:cNvSpPr/>
          <p:nvPr/>
        </p:nvSpPr>
        <p:spPr>
          <a:xfrm>
            <a:off x="204840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ReplicaSet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9"/>
          <p:cNvSpPr/>
          <p:nvPr/>
        </p:nvSpPr>
        <p:spPr>
          <a:xfrm>
            <a:off x="327348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10"/>
          <p:cNvSpPr/>
          <p:nvPr/>
        </p:nvSpPr>
        <p:spPr>
          <a:xfrm>
            <a:off x="350208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11"/>
          <p:cNvSpPr/>
          <p:nvPr/>
        </p:nvSpPr>
        <p:spPr>
          <a:xfrm>
            <a:off x="354780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template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12"/>
          <p:cNvSpPr/>
          <p:nvPr/>
        </p:nvSpPr>
        <p:spPr>
          <a:xfrm>
            <a:off x="477324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3"/>
          <p:cNvSpPr/>
          <p:nvPr/>
        </p:nvSpPr>
        <p:spPr>
          <a:xfrm>
            <a:off x="500184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14"/>
          <p:cNvSpPr/>
          <p:nvPr/>
        </p:nvSpPr>
        <p:spPr>
          <a:xfrm>
            <a:off x="504756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New Pods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5"/>
          <p:cNvSpPr/>
          <p:nvPr/>
        </p:nvSpPr>
        <p:spPr>
          <a:xfrm>
            <a:off x="627264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Shape 16"/>
          <p:cNvSpPr/>
          <p:nvPr/>
        </p:nvSpPr>
        <p:spPr>
          <a:xfrm>
            <a:off x="650124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17"/>
          <p:cNvSpPr/>
          <p:nvPr/>
        </p:nvSpPr>
        <p:spPr>
          <a:xfrm>
            <a:off x="654696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Readiness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18"/>
          <p:cNvSpPr/>
          <p:nvPr/>
        </p:nvSpPr>
        <p:spPr>
          <a:xfrm>
            <a:off x="777240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9"/>
          <p:cNvSpPr/>
          <p:nvPr/>
        </p:nvSpPr>
        <p:spPr>
          <a:xfrm>
            <a:off x="800100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20"/>
          <p:cNvSpPr/>
          <p:nvPr/>
        </p:nvSpPr>
        <p:spPr>
          <a:xfrm>
            <a:off x="804672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Traffic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commands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in almost every lab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history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undo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set image deploy/flask-app flask-app=localhost:5000/k8s-workshop-app:debug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 2"/>
          <p:cNvSpPr/>
          <p:nvPr/>
        </p:nvSpPr>
        <p:spPr>
          <a:xfrm>
            <a:off x="658440" y="2148840"/>
            <a:ext cx="1060452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5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3"/>
          <p:cNvSpPr/>
          <p:nvPr/>
        </p:nvSpPr>
        <p:spPr>
          <a:xfrm>
            <a:off x="676800" y="2953440"/>
            <a:ext cx="9598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Fast failure diagnosis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classification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Classify the state before reading random logs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4"/>
          <p:cNvSpPr/>
          <p:nvPr/>
        </p:nvSpPr>
        <p:spPr>
          <a:xfrm>
            <a:off x="685800" y="1325880"/>
            <a:ext cx="10833120" cy="4730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5"/>
          <p:cNvSpPr/>
          <p:nvPr/>
        </p:nvSpPr>
        <p:spPr>
          <a:xfrm>
            <a:off x="758880" y="147204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6"/>
          <p:cNvSpPr/>
          <p:nvPr/>
        </p:nvSpPr>
        <p:spPr>
          <a:xfrm>
            <a:off x="2862000" y="14720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Likely phase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7"/>
          <p:cNvSpPr/>
          <p:nvPr/>
        </p:nvSpPr>
        <p:spPr>
          <a:xfrm>
            <a:off x="5239440" y="14720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8"/>
          <p:cNvSpPr/>
          <p:nvPr/>
        </p:nvSpPr>
        <p:spPr>
          <a:xfrm>
            <a:off x="7616880" y="147204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Typical root cause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9"/>
          <p:cNvSpPr/>
          <p:nvPr/>
        </p:nvSpPr>
        <p:spPr>
          <a:xfrm>
            <a:off x="685800" y="1856160"/>
            <a:ext cx="10833120" cy="4730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0"/>
          <p:cNvSpPr/>
          <p:nvPr/>
        </p:nvSpPr>
        <p:spPr>
          <a:xfrm>
            <a:off x="758880" y="200268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Pending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1"/>
          <p:cNvSpPr/>
          <p:nvPr/>
        </p:nvSpPr>
        <p:spPr>
          <a:xfrm>
            <a:off x="2862000" y="200268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Scheduling/admission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2"/>
          <p:cNvSpPr/>
          <p:nvPr/>
        </p:nvSpPr>
        <p:spPr>
          <a:xfrm>
            <a:off x="5239440" y="200268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3"/>
          <p:cNvSpPr/>
          <p:nvPr/>
        </p:nvSpPr>
        <p:spPr>
          <a:xfrm>
            <a:off x="7616880" y="200268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quota, capacity, PVC, node selector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14"/>
          <p:cNvSpPr/>
          <p:nvPr/>
        </p:nvSpPr>
        <p:spPr>
          <a:xfrm>
            <a:off x="685800" y="2386440"/>
            <a:ext cx="10833120" cy="4730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5"/>
          <p:cNvSpPr/>
          <p:nvPr/>
        </p:nvSpPr>
        <p:spPr>
          <a:xfrm>
            <a:off x="758880" y="253296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6"/>
          <p:cNvSpPr/>
          <p:nvPr/>
        </p:nvSpPr>
        <p:spPr>
          <a:xfrm>
            <a:off x="2862000" y="253296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pull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7"/>
          <p:cNvSpPr/>
          <p:nvPr/>
        </p:nvSpPr>
        <p:spPr>
          <a:xfrm>
            <a:off x="5239440" y="253296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18"/>
          <p:cNvSpPr/>
          <p:nvPr/>
        </p:nvSpPr>
        <p:spPr>
          <a:xfrm>
            <a:off x="7616880" y="253296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tag, registry auth,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19"/>
          <p:cNvSpPr/>
          <p:nvPr/>
        </p:nvSpPr>
        <p:spPr>
          <a:xfrm>
            <a:off x="685800" y="2917080"/>
            <a:ext cx="10833120" cy="4730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20"/>
          <p:cNvSpPr/>
          <p:nvPr/>
        </p:nvSpPr>
        <p:spPr>
          <a:xfrm>
            <a:off x="758880" y="306324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 21"/>
          <p:cNvSpPr/>
          <p:nvPr/>
        </p:nvSpPr>
        <p:spPr>
          <a:xfrm>
            <a:off x="2862000" y="30632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crash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5239440" y="30632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23"/>
          <p:cNvSpPr/>
          <p:nvPr/>
        </p:nvSpPr>
        <p:spPr>
          <a:xfrm>
            <a:off x="7616880" y="306324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command, config, app error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Shape 24"/>
          <p:cNvSpPr/>
          <p:nvPr/>
        </p:nvSpPr>
        <p:spPr>
          <a:xfrm>
            <a:off x="685800" y="3447360"/>
            <a:ext cx="10833120" cy="4730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25"/>
          <p:cNvSpPr/>
          <p:nvPr/>
        </p:nvSpPr>
        <p:spPr>
          <a:xfrm>
            <a:off x="758880" y="359352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26"/>
          <p:cNvSpPr/>
          <p:nvPr/>
        </p:nvSpPr>
        <p:spPr>
          <a:xfrm>
            <a:off x="2862000" y="359352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27"/>
          <p:cNvSpPr/>
          <p:nvPr/>
        </p:nvSpPr>
        <p:spPr>
          <a:xfrm>
            <a:off x="5239440" y="359352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28"/>
          <p:cNvSpPr/>
          <p:nvPr/>
        </p:nvSpPr>
        <p:spPr>
          <a:xfrm>
            <a:off x="7616880" y="359352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path, dependency down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29"/>
          <p:cNvSpPr/>
          <p:nvPr/>
        </p:nvSpPr>
        <p:spPr>
          <a:xfrm>
            <a:off x="685800" y="3977640"/>
            <a:ext cx="10833120" cy="4730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30"/>
          <p:cNvSpPr/>
          <p:nvPr/>
        </p:nvSpPr>
        <p:spPr>
          <a:xfrm>
            <a:off x="758880" y="412380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31"/>
          <p:cNvSpPr/>
          <p:nvPr/>
        </p:nvSpPr>
        <p:spPr>
          <a:xfrm>
            <a:off x="2862000" y="412380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limit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32"/>
          <p:cNvSpPr/>
          <p:nvPr/>
        </p:nvSpPr>
        <p:spPr>
          <a:xfrm>
            <a:off x="5239440" y="412380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33"/>
          <p:cNvSpPr/>
          <p:nvPr/>
        </p:nvSpPr>
        <p:spPr>
          <a:xfrm>
            <a:off x="7616880" y="412380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exceeded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34"/>
          <p:cNvSpPr/>
          <p:nvPr/>
        </p:nvSpPr>
        <p:spPr>
          <a:xfrm>
            <a:off x="685800" y="4507920"/>
            <a:ext cx="10833120" cy="4730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35"/>
          <p:cNvSpPr/>
          <p:nvPr/>
        </p:nvSpPr>
        <p:spPr>
          <a:xfrm>
            <a:off x="758880" y="465444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36"/>
          <p:cNvSpPr/>
          <p:nvPr/>
        </p:nvSpPr>
        <p:spPr>
          <a:xfrm>
            <a:off x="2862000" y="46544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routing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37"/>
          <p:cNvSpPr/>
          <p:nvPr/>
        </p:nvSpPr>
        <p:spPr>
          <a:xfrm>
            <a:off x="5239440" y="46544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38"/>
          <p:cNvSpPr/>
          <p:nvPr/>
        </p:nvSpPr>
        <p:spPr>
          <a:xfrm>
            <a:off x="7616880" y="465444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 or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container never started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Kubelet tried to pull the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 failed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Retry delay increases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There are no app logs yet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 contain the clue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Typo in image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 registry without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Proxy/certificate/DNS issue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ImagePullPolicy surprises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1: 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Break and diagnose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3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challenges/challenge-01-imagepullbackoff/broken.yaml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challenges/challenge-01-imagepullbackoff/solution.yaml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image starts, then the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 these signals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was pulled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started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Main process exited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restarted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Backoff delay increased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 --previous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exit code in describe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variables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 and args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2: 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key command is logs --previous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challenges/challenge-02-crashloopbackoff/broken.yaml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but not Ready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Running is not the same as receiving traffic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Readiness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process is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asked the app if it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app said no or did not respond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endpoints exclude the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Traffic should not be routed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readiness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port or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Dependency unavailable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DB credentials wrong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 takes longer to start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3: Readiness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 runs, Service has no ready endpoint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challenges/challenge-03-readiness/broken.yaml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2"/>
          <p:cNvSpPr/>
          <p:nvPr/>
        </p:nvSpPr>
        <p:spPr>
          <a:xfrm>
            <a:off x="658440" y="2148840"/>
            <a:ext cx="1060452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6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3"/>
          <p:cNvSpPr/>
          <p:nvPr/>
        </p:nvSpPr>
        <p:spPr>
          <a:xfrm>
            <a:off x="676800" y="2953440"/>
            <a:ext cx="9598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PostgreSQL and database migrations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Adding PostgreSQL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the app more realistic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objects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Operational questions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Headless or normal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for credentials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via 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depends on DB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Where is data stored?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When is DB ready?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do we migrate schema?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fails if Secret is wrong?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should restart automatically?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 PostgreSQL and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DB becomes part of the application lifecycle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 vs initContainer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the right mechanism for the risk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Migration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initContainer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once per release step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Easy to inspect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fail before app rollout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Avoids N replicas running migration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teaching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before each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local setup/waiting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duplicate migration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Tightly coupled with Pod startup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but risky for schema changes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4: DB connection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Wrong Secret or wrong Service DNS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challenges/challenge-04-db-connection/broken.yaml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challenges/challenge-04-db-connection/solution.yaml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5: Broken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Completed vs Failed matters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challenges/challenge-05-migration-job/broken.yaml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jobs,pods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job 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with a valid migration or fixed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challenges/challenge-05-migration-job/solution.yaml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2"/>
          <p:cNvSpPr/>
          <p:nvPr/>
        </p:nvSpPr>
        <p:spPr>
          <a:xfrm>
            <a:off x="658440" y="2148840"/>
            <a:ext cx="1060452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7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3"/>
          <p:cNvSpPr/>
          <p:nvPr/>
        </p:nvSpPr>
        <p:spPr>
          <a:xfrm>
            <a:off x="676800" y="2953440"/>
            <a:ext cx="9598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Volumes and persistence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 types in this workshop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we can and cannot demonstrate on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1" name="Shape 4"/>
          <p:cNvSpPr/>
          <p:nvPr/>
        </p:nvSpPr>
        <p:spPr>
          <a:xfrm>
            <a:off x="685800" y="1325880"/>
            <a:ext cx="10833120" cy="4730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5"/>
          <p:cNvSpPr/>
          <p:nvPr/>
        </p:nvSpPr>
        <p:spPr>
          <a:xfrm>
            <a:off x="758880" y="147204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 6"/>
          <p:cNvSpPr/>
          <p:nvPr/>
        </p:nvSpPr>
        <p:spPr>
          <a:xfrm>
            <a:off x="2862000" y="14720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Access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7"/>
          <p:cNvSpPr/>
          <p:nvPr/>
        </p:nvSpPr>
        <p:spPr>
          <a:xfrm>
            <a:off x="5239440" y="14720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Survives Pod recreation?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 8"/>
          <p:cNvSpPr/>
          <p:nvPr/>
        </p:nvSpPr>
        <p:spPr>
          <a:xfrm>
            <a:off x="7616880" y="147204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6" name="Shape 9"/>
          <p:cNvSpPr/>
          <p:nvPr/>
        </p:nvSpPr>
        <p:spPr>
          <a:xfrm>
            <a:off x="685800" y="1856160"/>
            <a:ext cx="10833120" cy="4730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10"/>
          <p:cNvSpPr/>
          <p:nvPr/>
        </p:nvSpPr>
        <p:spPr>
          <a:xfrm>
            <a:off x="758880" y="200268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11"/>
          <p:cNvSpPr/>
          <p:nvPr/>
        </p:nvSpPr>
        <p:spPr>
          <a:xfrm>
            <a:off x="2862000" y="200268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Pod-local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12"/>
          <p:cNvSpPr/>
          <p:nvPr/>
        </p:nvSpPr>
        <p:spPr>
          <a:xfrm>
            <a:off x="5239440" y="200268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13"/>
          <p:cNvSpPr/>
          <p:nvPr/>
        </p:nvSpPr>
        <p:spPr>
          <a:xfrm>
            <a:off x="7616880" y="200268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file log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4"/>
          <p:cNvSpPr/>
          <p:nvPr/>
        </p:nvSpPr>
        <p:spPr>
          <a:xfrm>
            <a:off x="685800" y="2386440"/>
            <a:ext cx="10833120" cy="4730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 15"/>
          <p:cNvSpPr/>
          <p:nvPr/>
        </p:nvSpPr>
        <p:spPr>
          <a:xfrm>
            <a:off x="758880" y="253296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6"/>
          <p:cNvSpPr/>
          <p:nvPr/>
        </p:nvSpPr>
        <p:spPr>
          <a:xfrm>
            <a:off x="2862000" y="253296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 17"/>
          <p:cNvSpPr/>
          <p:nvPr/>
        </p:nvSpPr>
        <p:spPr>
          <a:xfrm>
            <a:off x="5239440" y="253296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18"/>
          <p:cNvSpPr/>
          <p:nvPr/>
        </p:nvSpPr>
        <p:spPr>
          <a:xfrm>
            <a:off x="7616880" y="253296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configuration as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Shape 19"/>
          <p:cNvSpPr/>
          <p:nvPr/>
        </p:nvSpPr>
        <p:spPr>
          <a:xfrm>
            <a:off x="685800" y="2917080"/>
            <a:ext cx="10833120" cy="4730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Text 20"/>
          <p:cNvSpPr/>
          <p:nvPr/>
        </p:nvSpPr>
        <p:spPr>
          <a:xfrm>
            <a:off x="758880" y="306324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 21"/>
          <p:cNvSpPr/>
          <p:nvPr/>
        </p:nvSpPr>
        <p:spPr>
          <a:xfrm>
            <a:off x="2862000" y="30632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22"/>
          <p:cNvSpPr/>
          <p:nvPr/>
        </p:nvSpPr>
        <p:spPr>
          <a:xfrm>
            <a:off x="5239440" y="30632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 23"/>
          <p:cNvSpPr/>
          <p:nvPr/>
        </p:nvSpPr>
        <p:spPr>
          <a:xfrm>
            <a:off x="7616880" y="306324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Credential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1" name="Shape 24"/>
          <p:cNvSpPr/>
          <p:nvPr/>
        </p:nvSpPr>
        <p:spPr>
          <a:xfrm>
            <a:off x="685800" y="3447360"/>
            <a:ext cx="10833120" cy="4730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5"/>
          <p:cNvSpPr/>
          <p:nvPr/>
        </p:nvSpPr>
        <p:spPr>
          <a:xfrm>
            <a:off x="758880" y="359352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6"/>
          <p:cNvSpPr/>
          <p:nvPr/>
        </p:nvSpPr>
        <p:spPr>
          <a:xfrm>
            <a:off x="2862000" y="359352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node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 27"/>
          <p:cNvSpPr/>
          <p:nvPr/>
        </p:nvSpPr>
        <p:spPr>
          <a:xfrm>
            <a:off x="5239440" y="359352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 28"/>
          <p:cNvSpPr/>
          <p:nvPr/>
        </p:nvSpPr>
        <p:spPr>
          <a:xfrm>
            <a:off x="7616880" y="359352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app log and PostgreSQL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Shape 29"/>
          <p:cNvSpPr/>
          <p:nvPr/>
        </p:nvSpPr>
        <p:spPr>
          <a:xfrm>
            <a:off x="685800" y="3977640"/>
            <a:ext cx="10833120" cy="4730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30"/>
          <p:cNvSpPr/>
          <p:nvPr/>
        </p:nvSpPr>
        <p:spPr>
          <a:xfrm>
            <a:off x="758880" y="412380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RWX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31"/>
          <p:cNvSpPr/>
          <p:nvPr/>
        </p:nvSpPr>
        <p:spPr>
          <a:xfrm>
            <a:off x="2862000" y="412380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Many writers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32"/>
          <p:cNvSpPr/>
          <p:nvPr/>
        </p:nvSpPr>
        <p:spPr>
          <a:xfrm>
            <a:off x="5239440" y="412380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33"/>
          <p:cNvSpPr/>
          <p:nvPr/>
        </p:nvSpPr>
        <p:spPr>
          <a:xfrm>
            <a:off x="7616880" y="412380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Slides only: NFS/CephFS/EFS/Azure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Shape 34"/>
          <p:cNvSpPr/>
          <p:nvPr/>
        </p:nvSpPr>
        <p:spPr>
          <a:xfrm>
            <a:off x="685800" y="4507920"/>
            <a:ext cx="10833120" cy="4730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5"/>
          <p:cNvSpPr/>
          <p:nvPr/>
        </p:nvSpPr>
        <p:spPr>
          <a:xfrm>
            <a:off x="758880" y="465444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6"/>
          <p:cNvSpPr/>
          <p:nvPr/>
        </p:nvSpPr>
        <p:spPr>
          <a:xfrm>
            <a:off x="2862000" y="46544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Pod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7"/>
          <p:cNvSpPr/>
          <p:nvPr/>
        </p:nvSpPr>
        <p:spPr>
          <a:xfrm>
            <a:off x="5239440" y="46544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8"/>
          <p:cNvSpPr/>
          <p:nvPr/>
        </p:nvSpPr>
        <p:spPr>
          <a:xfrm>
            <a:off x="7616880" y="465444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Conceptual comparison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8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Good for temporary data, not persistence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Not 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Scratch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caches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Sidecar sharing inside a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Training log disappearance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storage provisioning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Databases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 that must survive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Cross-Pod sharing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failure protection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Shared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6A: 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did my file go?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8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emptydir-writer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emptydir-writer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emptydir-writer -- ls -l /data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with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Persistent volume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RWO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Single-node caveat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ReadWriteOnce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read-write by a single node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 K3s local-path creates local PVs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single-node persistence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the same as shared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7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Two Pods on the same node may appear to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Multi-attach errors need multi-node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overclaim what the lab proves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Teach semantics on slides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StatefulSet for DB pattern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6B: PVC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File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3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pvc-writer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pvc-writer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pvc-writer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pvc,pv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lifecycle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Follow the data, not only the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4"/>
          <p:cNvSpPr/>
          <p:nvPr/>
        </p:nvSpPr>
        <p:spPr>
          <a:xfrm>
            <a:off x="50292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9" name="Text 5"/>
          <p:cNvSpPr/>
          <p:nvPr/>
        </p:nvSpPr>
        <p:spPr>
          <a:xfrm>
            <a:off x="54864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0" name="Shape 6"/>
          <p:cNvSpPr/>
          <p:nvPr/>
        </p:nvSpPr>
        <p:spPr>
          <a:xfrm>
            <a:off x="177408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1" name="Shape 7"/>
          <p:cNvSpPr/>
          <p:nvPr/>
        </p:nvSpPr>
        <p:spPr>
          <a:xfrm>
            <a:off x="200268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8"/>
          <p:cNvSpPr/>
          <p:nvPr/>
        </p:nvSpPr>
        <p:spPr>
          <a:xfrm>
            <a:off x="204840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3" name="Shape 9"/>
          <p:cNvSpPr/>
          <p:nvPr/>
        </p:nvSpPr>
        <p:spPr>
          <a:xfrm>
            <a:off x="327348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Shape 10"/>
          <p:cNvSpPr/>
          <p:nvPr/>
        </p:nvSpPr>
        <p:spPr>
          <a:xfrm>
            <a:off x="350208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11"/>
          <p:cNvSpPr/>
          <p:nvPr/>
        </p:nvSpPr>
        <p:spPr>
          <a:xfrm>
            <a:off x="354780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recreation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12"/>
          <p:cNvSpPr/>
          <p:nvPr/>
        </p:nvSpPr>
        <p:spPr>
          <a:xfrm>
            <a:off x="477324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7" name="Shape 13"/>
          <p:cNvSpPr/>
          <p:nvPr/>
        </p:nvSpPr>
        <p:spPr>
          <a:xfrm>
            <a:off x="500184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 14"/>
          <p:cNvSpPr/>
          <p:nvPr/>
        </p:nvSpPr>
        <p:spPr>
          <a:xfrm>
            <a:off x="504756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PVC remains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Shape 15"/>
          <p:cNvSpPr/>
          <p:nvPr/>
        </p:nvSpPr>
        <p:spPr>
          <a:xfrm>
            <a:off x="627264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6"/>
          <p:cNvSpPr/>
          <p:nvPr/>
        </p:nvSpPr>
        <p:spPr>
          <a:xfrm>
            <a:off x="650124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 17"/>
          <p:cNvSpPr/>
          <p:nvPr/>
        </p:nvSpPr>
        <p:spPr>
          <a:xfrm>
            <a:off x="654696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 backend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2" name="Shape 18"/>
          <p:cNvSpPr/>
          <p:nvPr/>
        </p:nvSpPr>
        <p:spPr>
          <a:xfrm>
            <a:off x="777240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Shape 19"/>
          <p:cNvSpPr/>
          <p:nvPr/>
        </p:nvSpPr>
        <p:spPr>
          <a:xfrm>
            <a:off x="800100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Text 20"/>
          <p:cNvSpPr/>
          <p:nvPr/>
        </p:nvSpPr>
        <p:spPr>
          <a:xfrm>
            <a:off x="804672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Reclaim policy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Configuration can also be mounted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ConfigMap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0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Secret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Plain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as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update files eventually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for sensitive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application properties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Sensitive values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read-only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Base64 in API object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needs RBAC discipline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often needed for env vars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5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 lab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 configuration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8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k8s/storage/03-configmap-secret-volumes.yaml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ls -l /config /secret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/config/application.properties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/secret/password.txt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overview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2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Discuss it, do not force it in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RWX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Examples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ReadWriteMany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Multiple writers/readers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backend support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for shared content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every StorageClass supports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6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CephFS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Amazon EFS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Azure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NetApp / enterprise NAS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 storage pattern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0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Databases need stable identity and storage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1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StatefulSet gives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Teaching 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Pod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Ordered rollout by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network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One PVC per replica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4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HA PostgreSQL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storage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remains after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Deleting StatefulSet does not automatically delete PVCs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what owns the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Text 2"/>
          <p:cNvSpPr/>
          <p:nvPr/>
        </p:nvSpPr>
        <p:spPr>
          <a:xfrm>
            <a:off x="658440" y="2148840"/>
            <a:ext cx="1060452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8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 3"/>
          <p:cNvSpPr/>
          <p:nvPr/>
        </p:nvSpPr>
        <p:spPr>
          <a:xfrm>
            <a:off x="676800" y="2953440"/>
            <a:ext cx="9598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Distroless and no-shell troubleshooting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2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no shell?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Minimal images improve security but change troubleshooting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4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Benefits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Trade-offs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runtime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vulnerable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Less accidental tooling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Closer to immutable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production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exec -- sh fails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curl, ps, nslookup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and probes become critical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good application telemetry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7: Distroless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assume shell exists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challenges/challenge-07-distroless/broken.yaml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-it distroless-demo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Better pattern: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debug -it pod/distroless-demo --image=busybox:1.36 --target=app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6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Debugging without shell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cluster signals before interactive access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4"/>
          <p:cNvSpPr/>
          <p:nvPr/>
        </p:nvSpPr>
        <p:spPr>
          <a:xfrm>
            <a:off x="50292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9" name="Text 5"/>
          <p:cNvSpPr/>
          <p:nvPr/>
        </p:nvSpPr>
        <p:spPr>
          <a:xfrm>
            <a:off x="54864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0" name="Shape 6"/>
          <p:cNvSpPr/>
          <p:nvPr/>
        </p:nvSpPr>
        <p:spPr>
          <a:xfrm>
            <a:off x="177408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Shape 7"/>
          <p:cNvSpPr/>
          <p:nvPr/>
        </p:nvSpPr>
        <p:spPr>
          <a:xfrm>
            <a:off x="200268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Text 8"/>
          <p:cNvSpPr/>
          <p:nvPr/>
        </p:nvSpPr>
        <p:spPr>
          <a:xfrm>
            <a:off x="204840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Describe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3" name="Shape 9"/>
          <p:cNvSpPr/>
          <p:nvPr/>
        </p:nvSpPr>
        <p:spPr>
          <a:xfrm>
            <a:off x="327348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4" name="Shape 10"/>
          <p:cNvSpPr/>
          <p:nvPr/>
        </p:nvSpPr>
        <p:spPr>
          <a:xfrm>
            <a:off x="350208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11"/>
          <p:cNvSpPr/>
          <p:nvPr/>
        </p:nvSpPr>
        <p:spPr>
          <a:xfrm>
            <a:off x="354780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12"/>
          <p:cNvSpPr/>
          <p:nvPr/>
        </p:nvSpPr>
        <p:spPr>
          <a:xfrm>
            <a:off x="477324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7" name="Shape 13"/>
          <p:cNvSpPr/>
          <p:nvPr/>
        </p:nvSpPr>
        <p:spPr>
          <a:xfrm>
            <a:off x="500184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Text 14"/>
          <p:cNvSpPr/>
          <p:nvPr/>
        </p:nvSpPr>
        <p:spPr>
          <a:xfrm>
            <a:off x="504756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Probes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Shape 15"/>
          <p:cNvSpPr/>
          <p:nvPr/>
        </p:nvSpPr>
        <p:spPr>
          <a:xfrm>
            <a:off x="627264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0" name="Shape 16"/>
          <p:cNvSpPr/>
          <p:nvPr/>
        </p:nvSpPr>
        <p:spPr>
          <a:xfrm>
            <a:off x="650124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 17"/>
          <p:cNvSpPr/>
          <p:nvPr/>
        </p:nvSpPr>
        <p:spPr>
          <a:xfrm>
            <a:off x="654696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Metrics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Shape 18"/>
          <p:cNvSpPr/>
          <p:nvPr/>
        </p:nvSpPr>
        <p:spPr>
          <a:xfrm>
            <a:off x="777240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3" name="Shape 19"/>
          <p:cNvSpPr/>
          <p:nvPr/>
        </p:nvSpPr>
        <p:spPr>
          <a:xfrm>
            <a:off x="800100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20"/>
          <p:cNvSpPr/>
          <p:nvPr/>
        </p:nvSpPr>
        <p:spPr>
          <a:xfrm>
            <a:off x="804672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 container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8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 safer operational escape hatch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when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0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Remember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 image has 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network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process namespace insight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quick triage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want to rebuild app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a replacement for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May need RBAC permission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Does not change app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uses same Pod network namespace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carefully in production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4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5" name="Text 2"/>
          <p:cNvSpPr/>
          <p:nvPr/>
        </p:nvSpPr>
        <p:spPr>
          <a:xfrm>
            <a:off x="658440" y="2148840"/>
            <a:ext cx="1060452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9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3"/>
          <p:cNvSpPr/>
          <p:nvPr/>
        </p:nvSpPr>
        <p:spPr>
          <a:xfrm>
            <a:off x="676800" y="2953440"/>
            <a:ext cx="9598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Requests, limits and runtime behavior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vs actual usage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This is the source of many misunderstandings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2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3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Actual usage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by scheduler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Reserve scheduling 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mean process is using it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Help cluster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the process consumes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lower than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higher than request if allowed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Drives performance and cost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9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Runtime guardrails are different from scheduling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0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CPU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Memory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2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CPU is throttled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becomes slower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Usually not 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create latency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 careful with tight CPU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cannot be throttled the same way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Exceeding limit can kill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Seen as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can cause 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Needs app-level understanding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5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6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 classes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7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How Kubernetes classifies Pods from resources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4"/>
          <p:cNvSpPr/>
          <p:nvPr/>
        </p:nvSpPr>
        <p:spPr>
          <a:xfrm>
            <a:off x="685800" y="1325880"/>
            <a:ext cx="10833120" cy="4730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9" name="Text 5"/>
          <p:cNvSpPr/>
          <p:nvPr/>
        </p:nvSpPr>
        <p:spPr>
          <a:xfrm>
            <a:off x="758880" y="147204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6"/>
          <p:cNvSpPr/>
          <p:nvPr/>
        </p:nvSpPr>
        <p:spPr>
          <a:xfrm>
            <a:off x="2862000" y="14720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Condition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7"/>
          <p:cNvSpPr/>
          <p:nvPr/>
        </p:nvSpPr>
        <p:spPr>
          <a:xfrm>
            <a:off x="5239440" y="14720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Operational meaning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Text 8"/>
          <p:cNvSpPr/>
          <p:nvPr/>
        </p:nvSpPr>
        <p:spPr>
          <a:xfrm>
            <a:off x="7616880" y="147204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Example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3" name="Shape 9"/>
          <p:cNvSpPr/>
          <p:nvPr/>
        </p:nvSpPr>
        <p:spPr>
          <a:xfrm>
            <a:off x="685800" y="1856160"/>
            <a:ext cx="10833120" cy="4730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10"/>
          <p:cNvSpPr/>
          <p:nvPr/>
        </p:nvSpPr>
        <p:spPr>
          <a:xfrm>
            <a:off x="758880" y="200268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Guaranteed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1"/>
          <p:cNvSpPr/>
          <p:nvPr/>
        </p:nvSpPr>
        <p:spPr>
          <a:xfrm>
            <a:off x="2862000" y="200268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== limits for all containers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Text 12"/>
          <p:cNvSpPr/>
          <p:nvPr/>
        </p:nvSpPr>
        <p:spPr>
          <a:xfrm>
            <a:off x="5239440" y="200268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Highest eviction priority protection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7" name="Text 13"/>
          <p:cNvSpPr/>
          <p:nvPr/>
        </p:nvSpPr>
        <p:spPr>
          <a:xfrm>
            <a:off x="7616880" y="200268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Critical stable workload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8" name="Shape 14"/>
          <p:cNvSpPr/>
          <p:nvPr/>
        </p:nvSpPr>
        <p:spPr>
          <a:xfrm>
            <a:off x="685800" y="2386440"/>
            <a:ext cx="10833120" cy="4730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5"/>
          <p:cNvSpPr/>
          <p:nvPr/>
        </p:nvSpPr>
        <p:spPr>
          <a:xfrm>
            <a:off x="758880" y="253296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Burstable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Text 16"/>
          <p:cNvSpPr/>
          <p:nvPr/>
        </p:nvSpPr>
        <p:spPr>
          <a:xfrm>
            <a:off x="2862000" y="253296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some requests or limits set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 17"/>
          <p:cNvSpPr/>
          <p:nvPr/>
        </p:nvSpPr>
        <p:spPr>
          <a:xfrm>
            <a:off x="5239440" y="253296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default for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2" name="Text 18"/>
          <p:cNvSpPr/>
          <p:nvPr/>
        </p:nvSpPr>
        <p:spPr>
          <a:xfrm>
            <a:off x="7616880" y="253296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Most workshop app Pods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Shape 19"/>
          <p:cNvSpPr/>
          <p:nvPr/>
        </p:nvSpPr>
        <p:spPr>
          <a:xfrm>
            <a:off x="685800" y="2917080"/>
            <a:ext cx="10833120" cy="4730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Text 20"/>
          <p:cNvSpPr/>
          <p:nvPr/>
        </p:nvSpPr>
        <p:spPr>
          <a:xfrm>
            <a:off x="758880" y="306324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BestEffort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5" name="Text 21"/>
          <p:cNvSpPr/>
          <p:nvPr/>
        </p:nvSpPr>
        <p:spPr>
          <a:xfrm>
            <a:off x="2862000" y="30632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requests or limits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6" name="Text 22"/>
          <p:cNvSpPr/>
          <p:nvPr/>
        </p:nvSpPr>
        <p:spPr>
          <a:xfrm>
            <a:off x="5239440" y="30632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to be evicted under pressure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3"/>
          <p:cNvSpPr/>
          <p:nvPr/>
        </p:nvSpPr>
        <p:spPr>
          <a:xfrm>
            <a:off x="7616880" y="306324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 for important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9: OOMKilled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1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Memory limit becomes visible at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challenges/challenge-09-oomkilled/broken.yaml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oom-demo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oom-demo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Or use app endpoint with a low memory limit: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http://localhost:8080/stress/memory?mib=256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5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6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explain VM comparison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 infra teams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8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VM workload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guide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 control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Actual usage can be much 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may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can be restarted/rescheduled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Flavor/guest memory shapes scheduling/capacity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pressure behaves differently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Platform may overcommit 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Quota/capacity can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Treat as heavier scheduling unit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2"/>
          <p:cNvSpPr/>
          <p:nvPr/>
        </p:nvSpPr>
        <p:spPr>
          <a:xfrm>
            <a:off x="658440" y="2148840"/>
            <a:ext cx="1060452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Text 3"/>
          <p:cNvSpPr/>
          <p:nvPr/>
        </p:nvSpPr>
        <p:spPr>
          <a:xfrm>
            <a:off x="676800" y="2953440"/>
            <a:ext cx="9598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ResourceQuota and LimitRange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0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Namespace-level capacity control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1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it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What it teaches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Aggregate requests and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count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count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Object counts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Admission decisions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4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new Pods may not appear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idle-looking clusters can reject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requests are part of capacity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teams share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Dev/platform contract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8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Defaults and guardrails for a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Can provide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0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it matters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Minimum allowed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Maximum allowed limit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size constraints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Prevents BestEffort by accident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Gives predictable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Protects neighbors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surprise developers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Must be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5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ResourceQuota and 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after the app basics are understood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k8s/resources/01-limitrange.yaml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k8s/resources/02-resourcequota.yaml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limitrange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8: Quota exceeded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Pods can fail before the app has a chance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challenges/challenge-08-quota/broken.yaml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&lt;pending-pod&gt;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message for participants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confuse booked, allowed and used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9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Booked / requested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0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Used / runtime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for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block new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Represents expected need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necessarily used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Measured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Changes over 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exceed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Limited by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cause throttling or OOM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4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2"/>
          <p:cNvSpPr/>
          <p:nvPr/>
        </p:nvSpPr>
        <p:spPr>
          <a:xfrm>
            <a:off x="658440" y="2148840"/>
            <a:ext cx="1060452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3"/>
          <p:cNvSpPr/>
          <p:nvPr/>
        </p:nvSpPr>
        <p:spPr>
          <a:xfrm>
            <a:off x="676800" y="2953440"/>
            <a:ext cx="9598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routing and application availability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9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is label-based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Service does not know your Deployment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selects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failures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4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Only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targetPort on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DNS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Virtual IP inside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Network/proxy confusion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10: Wrong Service selector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 runs, but no traffic reaches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0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--show-labels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svc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selector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3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4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 path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5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to look when traffic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Shape 4"/>
          <p:cNvSpPr/>
          <p:nvPr/>
        </p:nvSpPr>
        <p:spPr>
          <a:xfrm>
            <a:off x="50292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5"/>
          <p:cNvSpPr/>
          <p:nvPr/>
        </p:nvSpPr>
        <p:spPr>
          <a:xfrm>
            <a:off x="54864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Client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8" name="Shape 6"/>
          <p:cNvSpPr/>
          <p:nvPr/>
        </p:nvSpPr>
        <p:spPr>
          <a:xfrm>
            <a:off x="177408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9" name="Shape 7"/>
          <p:cNvSpPr/>
          <p:nvPr/>
        </p:nvSpPr>
        <p:spPr>
          <a:xfrm>
            <a:off x="200268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8"/>
          <p:cNvSpPr/>
          <p:nvPr/>
        </p:nvSpPr>
        <p:spPr>
          <a:xfrm>
            <a:off x="204840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Service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9"/>
          <p:cNvSpPr/>
          <p:nvPr/>
        </p:nvSpPr>
        <p:spPr>
          <a:xfrm>
            <a:off x="327348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2" name="Shape 10"/>
          <p:cNvSpPr/>
          <p:nvPr/>
        </p:nvSpPr>
        <p:spPr>
          <a:xfrm>
            <a:off x="350208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Text 11"/>
          <p:cNvSpPr/>
          <p:nvPr/>
        </p:nvSpPr>
        <p:spPr>
          <a:xfrm>
            <a:off x="354780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Selector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Shape 12"/>
          <p:cNvSpPr/>
          <p:nvPr/>
        </p:nvSpPr>
        <p:spPr>
          <a:xfrm>
            <a:off x="477324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5" name="Shape 13"/>
          <p:cNvSpPr/>
          <p:nvPr/>
        </p:nvSpPr>
        <p:spPr>
          <a:xfrm>
            <a:off x="500184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14"/>
          <p:cNvSpPr/>
          <p:nvPr/>
        </p:nvSpPr>
        <p:spPr>
          <a:xfrm>
            <a:off x="504756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EndpointSlice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Shape 15"/>
          <p:cNvSpPr/>
          <p:nvPr/>
        </p:nvSpPr>
        <p:spPr>
          <a:xfrm>
            <a:off x="627264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8" name="Shape 16"/>
          <p:cNvSpPr/>
          <p:nvPr/>
        </p:nvSpPr>
        <p:spPr>
          <a:xfrm>
            <a:off x="650124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17"/>
          <p:cNvSpPr/>
          <p:nvPr/>
        </p:nvSpPr>
        <p:spPr>
          <a:xfrm>
            <a:off x="654696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IP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18"/>
          <p:cNvSpPr/>
          <p:nvPr/>
        </p:nvSpPr>
        <p:spPr>
          <a:xfrm>
            <a:off x="777240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1" name="Shape 19"/>
          <p:cNvSpPr/>
          <p:nvPr/>
        </p:nvSpPr>
        <p:spPr>
          <a:xfrm>
            <a:off x="800100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20"/>
          <p:cNvSpPr/>
          <p:nvPr/>
        </p:nvSpPr>
        <p:spPr>
          <a:xfrm>
            <a:off x="804672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port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3" name="Shape 21"/>
          <p:cNvSpPr/>
          <p:nvPr/>
        </p:nvSpPr>
        <p:spPr>
          <a:xfrm>
            <a:off x="927216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22"/>
          <p:cNvSpPr/>
          <p:nvPr/>
        </p:nvSpPr>
        <p:spPr>
          <a:xfrm>
            <a:off x="950076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5" name="Text 23"/>
          <p:cNvSpPr/>
          <p:nvPr/>
        </p:nvSpPr>
        <p:spPr>
          <a:xfrm>
            <a:off x="954648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Text 2"/>
          <p:cNvSpPr/>
          <p:nvPr/>
        </p:nvSpPr>
        <p:spPr>
          <a:xfrm>
            <a:off x="658440" y="2148840"/>
            <a:ext cx="1060452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 3"/>
          <p:cNvSpPr/>
          <p:nvPr/>
        </p:nvSpPr>
        <p:spPr>
          <a:xfrm>
            <a:off x="676800" y="2953440"/>
            <a:ext cx="9598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 playbook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0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3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Decision tree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4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this as the final participant cheat sheet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Shape 4"/>
          <p:cNvSpPr/>
          <p:nvPr/>
        </p:nvSpPr>
        <p:spPr>
          <a:xfrm>
            <a:off x="685800" y="1325880"/>
            <a:ext cx="10833120" cy="4730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Text 5"/>
          <p:cNvSpPr/>
          <p:nvPr/>
        </p:nvSpPr>
        <p:spPr>
          <a:xfrm>
            <a:off x="758880" y="147204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Question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Text 6"/>
          <p:cNvSpPr/>
          <p:nvPr/>
        </p:nvSpPr>
        <p:spPr>
          <a:xfrm>
            <a:off x="2862000" y="14720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 means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 7"/>
          <p:cNvSpPr/>
          <p:nvPr/>
        </p:nvSpPr>
        <p:spPr>
          <a:xfrm>
            <a:off x="5239440" y="14720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8"/>
          <p:cNvSpPr/>
          <p:nvPr/>
        </p:nvSpPr>
        <p:spPr>
          <a:xfrm>
            <a:off x="7616880" y="147204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Next step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9"/>
          <p:cNvSpPr/>
          <p:nvPr/>
        </p:nvSpPr>
        <p:spPr>
          <a:xfrm>
            <a:off x="685800" y="1856160"/>
            <a:ext cx="10833120" cy="4730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Text 10"/>
          <p:cNvSpPr/>
          <p:nvPr/>
        </p:nvSpPr>
        <p:spPr>
          <a:xfrm>
            <a:off x="758880" y="200268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created?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2" name="Text 11"/>
          <p:cNvSpPr/>
          <p:nvPr/>
        </p:nvSpPr>
        <p:spPr>
          <a:xfrm>
            <a:off x="2862000" y="200268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Controller/admission issue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12"/>
          <p:cNvSpPr/>
          <p:nvPr/>
        </p:nvSpPr>
        <p:spPr>
          <a:xfrm>
            <a:off x="5239440" y="200268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deploy/rs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 13"/>
          <p:cNvSpPr/>
          <p:nvPr/>
        </p:nvSpPr>
        <p:spPr>
          <a:xfrm>
            <a:off x="7616880" y="200268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5" name="Shape 14"/>
          <p:cNvSpPr/>
          <p:nvPr/>
        </p:nvSpPr>
        <p:spPr>
          <a:xfrm>
            <a:off x="685800" y="2386440"/>
            <a:ext cx="10833120" cy="4730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15"/>
          <p:cNvSpPr/>
          <p:nvPr/>
        </p:nvSpPr>
        <p:spPr>
          <a:xfrm>
            <a:off x="758880" y="253296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Pending?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Text 16"/>
          <p:cNvSpPr/>
          <p:nvPr/>
        </p:nvSpPr>
        <p:spPr>
          <a:xfrm>
            <a:off x="2862000" y="253296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Cannot schedule/start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17"/>
          <p:cNvSpPr/>
          <p:nvPr/>
        </p:nvSpPr>
        <p:spPr>
          <a:xfrm>
            <a:off x="5239440" y="253296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 18"/>
          <p:cNvSpPr/>
          <p:nvPr/>
        </p:nvSpPr>
        <p:spPr>
          <a:xfrm>
            <a:off x="7616880" y="253296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capacity, PVC,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0" name="Shape 19"/>
          <p:cNvSpPr/>
          <p:nvPr/>
        </p:nvSpPr>
        <p:spPr>
          <a:xfrm>
            <a:off x="685800" y="2917080"/>
            <a:ext cx="10833120" cy="4730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1" name="Text 20"/>
          <p:cNvSpPr/>
          <p:nvPr/>
        </p:nvSpPr>
        <p:spPr>
          <a:xfrm>
            <a:off x="758880" y="306324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Text 21"/>
          <p:cNvSpPr/>
          <p:nvPr/>
        </p:nvSpPr>
        <p:spPr>
          <a:xfrm>
            <a:off x="2862000" y="30632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pulled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Text 22"/>
          <p:cNvSpPr/>
          <p:nvPr/>
        </p:nvSpPr>
        <p:spPr>
          <a:xfrm>
            <a:off x="5239440" y="30632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Text 23"/>
          <p:cNvSpPr/>
          <p:nvPr/>
        </p:nvSpPr>
        <p:spPr>
          <a:xfrm>
            <a:off x="7616880" y="306324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tag, registry,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Shape 24"/>
          <p:cNvSpPr/>
          <p:nvPr/>
        </p:nvSpPr>
        <p:spPr>
          <a:xfrm>
            <a:off x="685800" y="3447360"/>
            <a:ext cx="10833120" cy="4730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25"/>
          <p:cNvSpPr/>
          <p:nvPr/>
        </p:nvSpPr>
        <p:spPr>
          <a:xfrm>
            <a:off x="758880" y="359352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Text 26"/>
          <p:cNvSpPr/>
          <p:nvPr/>
        </p:nvSpPr>
        <p:spPr>
          <a:xfrm>
            <a:off x="2862000" y="359352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Process exits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Text 27"/>
          <p:cNvSpPr/>
          <p:nvPr/>
        </p:nvSpPr>
        <p:spPr>
          <a:xfrm>
            <a:off x="5239440" y="359352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9" name="Text 28"/>
          <p:cNvSpPr/>
          <p:nvPr/>
        </p:nvSpPr>
        <p:spPr>
          <a:xfrm>
            <a:off x="7616880" y="359352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command, env, app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Shape 29"/>
          <p:cNvSpPr/>
          <p:nvPr/>
        </p:nvSpPr>
        <p:spPr>
          <a:xfrm>
            <a:off x="685800" y="3977640"/>
            <a:ext cx="10833120" cy="4730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Text 30"/>
          <p:cNvSpPr/>
          <p:nvPr/>
        </p:nvSpPr>
        <p:spPr>
          <a:xfrm>
            <a:off x="758880" y="412380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31"/>
          <p:cNvSpPr/>
          <p:nvPr/>
        </p:nvSpPr>
        <p:spPr>
          <a:xfrm>
            <a:off x="2862000" y="412380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 failed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3" name="Text 32"/>
          <p:cNvSpPr/>
          <p:nvPr/>
        </p:nvSpPr>
        <p:spPr>
          <a:xfrm>
            <a:off x="5239440" y="412380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33"/>
          <p:cNvSpPr/>
          <p:nvPr/>
        </p:nvSpPr>
        <p:spPr>
          <a:xfrm>
            <a:off x="7616880" y="412380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probe/dependency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34"/>
          <p:cNvSpPr/>
          <p:nvPr/>
        </p:nvSpPr>
        <p:spPr>
          <a:xfrm>
            <a:off x="685800" y="4507920"/>
            <a:ext cx="10833120" cy="4730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Text 35"/>
          <p:cNvSpPr/>
          <p:nvPr/>
        </p:nvSpPr>
        <p:spPr>
          <a:xfrm>
            <a:off x="758880" y="465444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7" name="Text 36"/>
          <p:cNvSpPr/>
          <p:nvPr/>
        </p:nvSpPr>
        <p:spPr>
          <a:xfrm>
            <a:off x="2862000" y="46544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hit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37"/>
          <p:cNvSpPr/>
          <p:nvPr/>
        </p:nvSpPr>
        <p:spPr>
          <a:xfrm>
            <a:off x="5239440" y="465444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Text 38"/>
          <p:cNvSpPr/>
          <p:nvPr/>
        </p:nvSpPr>
        <p:spPr>
          <a:xfrm>
            <a:off x="7616880" y="465444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limits/usage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0" name="Shape 39"/>
          <p:cNvSpPr/>
          <p:nvPr/>
        </p:nvSpPr>
        <p:spPr>
          <a:xfrm>
            <a:off x="685800" y="5038200"/>
            <a:ext cx="10833120" cy="4730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1" name="Text 40"/>
          <p:cNvSpPr/>
          <p:nvPr/>
        </p:nvSpPr>
        <p:spPr>
          <a:xfrm>
            <a:off x="758880" y="5184720"/>
            <a:ext cx="19634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41"/>
          <p:cNvSpPr/>
          <p:nvPr/>
        </p:nvSpPr>
        <p:spPr>
          <a:xfrm>
            <a:off x="2862000" y="518472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cannot route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3" name="Text 42"/>
          <p:cNvSpPr/>
          <p:nvPr/>
        </p:nvSpPr>
        <p:spPr>
          <a:xfrm>
            <a:off x="5239440" y="5184720"/>
            <a:ext cx="223776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4" name="Text 43"/>
          <p:cNvSpPr/>
          <p:nvPr/>
        </p:nvSpPr>
        <p:spPr>
          <a:xfrm>
            <a:off x="7616880" y="5184720"/>
            <a:ext cx="333504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selector/readiness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6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Core command set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participants should leave with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9" name="Shape 4"/>
          <p:cNvSpPr/>
          <p:nvPr/>
        </p:nvSpPr>
        <p:spPr>
          <a:xfrm>
            <a:off x="685800" y="1417320"/>
            <a:ext cx="10878840" cy="4569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0" name="Text 5"/>
          <p:cNvSpPr/>
          <p:nvPr/>
        </p:nvSpPr>
        <p:spPr>
          <a:xfrm>
            <a:off x="850320" y="1563480"/>
            <a:ext cx="10558800" cy="42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deploy,rs,pod,svc,endpoints,pvc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rollout status deploy/&lt;name&gt;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debug -it pod/&lt;pod&gt; --image=busybox:1.36 --target=&lt;container&gt;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2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3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run combined cases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Final exercise format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Instructor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Participant output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7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one broken manifest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reveal the failure mode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team to classify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first three commands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root cause and fix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8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Evidence from events/logs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Root cause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Fix command or YAML change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Preventive practice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0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1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Final 2-hour agenda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2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Shape 4"/>
          <p:cNvSpPr/>
          <p:nvPr/>
        </p:nvSpPr>
        <p:spPr>
          <a:xfrm>
            <a:off x="731520" y="1325880"/>
            <a:ext cx="1049040" cy="4363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Text 5"/>
          <p:cNvSpPr/>
          <p:nvPr/>
        </p:nvSpPr>
        <p:spPr>
          <a:xfrm>
            <a:off x="804600" y="1472040"/>
            <a:ext cx="8935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5" name="Text 6"/>
          <p:cNvSpPr/>
          <p:nvPr/>
        </p:nvSpPr>
        <p:spPr>
          <a:xfrm>
            <a:off x="2011680" y="1398960"/>
            <a:ext cx="36550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End-to-end 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6" name="Text 7"/>
          <p:cNvSpPr/>
          <p:nvPr/>
        </p:nvSpPr>
        <p:spPr>
          <a:xfrm>
            <a:off x="5806440" y="1417320"/>
            <a:ext cx="5301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Build -&gt; Deploy -&gt; DB -&gt; Migrate -&gt; Persist -&gt; Limit.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Shape 8"/>
          <p:cNvSpPr/>
          <p:nvPr/>
        </p:nvSpPr>
        <p:spPr>
          <a:xfrm>
            <a:off x="731520" y="1938600"/>
            <a:ext cx="1049040" cy="4363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Text 9"/>
          <p:cNvSpPr/>
          <p:nvPr/>
        </p:nvSpPr>
        <p:spPr>
          <a:xfrm>
            <a:off x="804600" y="2084760"/>
            <a:ext cx="8935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9" name="Text 10"/>
          <p:cNvSpPr/>
          <p:nvPr/>
        </p:nvSpPr>
        <p:spPr>
          <a:xfrm>
            <a:off x="2011680" y="2011680"/>
            <a:ext cx="36550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decision tree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0" name="Text 11"/>
          <p:cNvSpPr/>
          <p:nvPr/>
        </p:nvSpPr>
        <p:spPr>
          <a:xfrm>
            <a:off x="5806440" y="2030040"/>
            <a:ext cx="5301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Classify states and map each to first commands.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Shape 12"/>
          <p:cNvSpPr/>
          <p:nvPr/>
        </p:nvSpPr>
        <p:spPr>
          <a:xfrm>
            <a:off x="731520" y="2551320"/>
            <a:ext cx="1049040" cy="4363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2" name="Text 13"/>
          <p:cNvSpPr/>
          <p:nvPr/>
        </p:nvSpPr>
        <p:spPr>
          <a:xfrm>
            <a:off x="804600" y="2697480"/>
            <a:ext cx="8935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3" name="Text 14"/>
          <p:cNvSpPr/>
          <p:nvPr/>
        </p:nvSpPr>
        <p:spPr>
          <a:xfrm>
            <a:off x="2011680" y="2624400"/>
            <a:ext cx="36550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Combined scenarios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15"/>
          <p:cNvSpPr/>
          <p:nvPr/>
        </p:nvSpPr>
        <p:spPr>
          <a:xfrm>
            <a:off x="5806440" y="2642760"/>
            <a:ext cx="5301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Teams diagnose three broken manifests.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5" name="Shape 16"/>
          <p:cNvSpPr/>
          <p:nvPr/>
        </p:nvSpPr>
        <p:spPr>
          <a:xfrm>
            <a:off x="731520" y="3163680"/>
            <a:ext cx="1049040" cy="4363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17"/>
          <p:cNvSpPr/>
          <p:nvPr/>
        </p:nvSpPr>
        <p:spPr>
          <a:xfrm>
            <a:off x="804600" y="3310200"/>
            <a:ext cx="8935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Text 18"/>
          <p:cNvSpPr/>
          <p:nvPr/>
        </p:nvSpPr>
        <p:spPr>
          <a:xfrm>
            <a:off x="2011680" y="3237120"/>
            <a:ext cx="36550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8" name="Text 19"/>
          <p:cNvSpPr/>
          <p:nvPr/>
        </p:nvSpPr>
        <p:spPr>
          <a:xfrm>
            <a:off x="5806440" y="3255120"/>
            <a:ext cx="5301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Who defines what and what should be standardized.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0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2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responsibilities explicit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expectations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Configuration keys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strategy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Meaningful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6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requests/limits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namespace policy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StorageClass options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 and proxy access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permissions and guardrails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 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0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to take back to real work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1" name="Text 4"/>
          <p:cNvSpPr/>
          <p:nvPr/>
        </p:nvSpPr>
        <p:spPr>
          <a:xfrm>
            <a:off x="68580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5"/>
          <p:cNvSpPr/>
          <p:nvPr/>
        </p:nvSpPr>
        <p:spPr>
          <a:xfrm>
            <a:off x="6419160" y="1334880"/>
            <a:ext cx="5118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Text 6"/>
          <p:cNvSpPr/>
          <p:nvPr/>
        </p:nvSpPr>
        <p:spPr>
          <a:xfrm>
            <a:off x="68580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to stdout/stderr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reflects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secrets in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plan is explicit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requests are tested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4" name="Text 7"/>
          <p:cNvSpPr/>
          <p:nvPr/>
        </p:nvSpPr>
        <p:spPr>
          <a:xfrm>
            <a:off x="6419160" y="1737360"/>
            <a:ext cx="5209560" cy="44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defaults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visible to teams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semantics clear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registry access reliable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access controlled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Shape 0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1"/>
          <p:cNvSpPr/>
          <p:nvPr/>
        </p:nvSpPr>
        <p:spPr>
          <a:xfrm>
            <a:off x="502920" y="6510600"/>
            <a:ext cx="438660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Text 2"/>
          <p:cNvSpPr/>
          <p:nvPr/>
        </p:nvSpPr>
        <p:spPr>
          <a:xfrm>
            <a:off x="567000" y="384120"/>
            <a:ext cx="109702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Closing message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8" name="Text 3"/>
          <p:cNvSpPr/>
          <p:nvPr/>
        </p:nvSpPr>
        <p:spPr>
          <a:xfrm>
            <a:off x="585360" y="868680"/>
            <a:ext cx="10695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is observable when you ask the right questions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9" name="Shape 4"/>
          <p:cNvSpPr/>
          <p:nvPr/>
        </p:nvSpPr>
        <p:spPr>
          <a:xfrm>
            <a:off x="50292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5"/>
          <p:cNvSpPr/>
          <p:nvPr/>
        </p:nvSpPr>
        <p:spPr>
          <a:xfrm>
            <a:off x="54864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Classify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1" name="Shape 6"/>
          <p:cNvSpPr/>
          <p:nvPr/>
        </p:nvSpPr>
        <p:spPr>
          <a:xfrm>
            <a:off x="177408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2" name="Shape 7"/>
          <p:cNvSpPr/>
          <p:nvPr/>
        </p:nvSpPr>
        <p:spPr>
          <a:xfrm>
            <a:off x="200268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8"/>
          <p:cNvSpPr/>
          <p:nvPr/>
        </p:nvSpPr>
        <p:spPr>
          <a:xfrm>
            <a:off x="204840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Inspect 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4" name="Shape 9"/>
          <p:cNvSpPr/>
          <p:nvPr/>
        </p:nvSpPr>
        <p:spPr>
          <a:xfrm>
            <a:off x="327348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Shape 10"/>
          <p:cNvSpPr/>
          <p:nvPr/>
        </p:nvSpPr>
        <p:spPr>
          <a:xfrm>
            <a:off x="350208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Text 11"/>
          <p:cNvSpPr/>
          <p:nvPr/>
        </p:nvSpPr>
        <p:spPr>
          <a:xfrm>
            <a:off x="354780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 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7" name="Shape 12"/>
          <p:cNvSpPr/>
          <p:nvPr/>
        </p:nvSpPr>
        <p:spPr>
          <a:xfrm>
            <a:off x="477324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8" name="Shape 13"/>
          <p:cNvSpPr/>
          <p:nvPr/>
        </p:nvSpPr>
        <p:spPr>
          <a:xfrm>
            <a:off x="500184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9" name="Text 14"/>
          <p:cNvSpPr/>
          <p:nvPr/>
        </p:nvSpPr>
        <p:spPr>
          <a:xfrm>
            <a:off x="504756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Shape 15"/>
          <p:cNvSpPr/>
          <p:nvPr/>
        </p:nvSpPr>
        <p:spPr>
          <a:xfrm>
            <a:off x="627264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Shape 16"/>
          <p:cNvSpPr/>
          <p:nvPr/>
        </p:nvSpPr>
        <p:spPr>
          <a:xfrm>
            <a:off x="650124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2" name="Text 17"/>
          <p:cNvSpPr/>
          <p:nvPr/>
        </p:nvSpPr>
        <p:spPr>
          <a:xfrm>
            <a:off x="654696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resources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Shape 18"/>
          <p:cNvSpPr/>
          <p:nvPr/>
        </p:nvSpPr>
        <p:spPr>
          <a:xfrm>
            <a:off x="777240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Shape 19"/>
          <p:cNvSpPr/>
          <p:nvPr/>
        </p:nvSpPr>
        <p:spPr>
          <a:xfrm>
            <a:off x="800100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20"/>
          <p:cNvSpPr/>
          <p:nvPr/>
        </p:nvSpPr>
        <p:spPr>
          <a:xfrm>
            <a:off x="804672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 safely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Shape 21"/>
          <p:cNvSpPr/>
          <p:nvPr/>
        </p:nvSpPr>
        <p:spPr>
          <a:xfrm>
            <a:off x="9272160" y="2962800"/>
            <a:ext cx="162000" cy="198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000" tIns="45000" rIns="81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22"/>
          <p:cNvSpPr/>
          <p:nvPr/>
        </p:nvSpPr>
        <p:spPr>
          <a:xfrm>
            <a:off x="9500760" y="2743200"/>
            <a:ext cx="1204560" cy="6559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8" name="Text 23"/>
          <p:cNvSpPr/>
          <p:nvPr/>
        </p:nvSpPr>
        <p:spPr>
          <a:xfrm>
            <a:off x="9546480" y="2962800"/>
            <a:ext cx="1113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Document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154</TotalTime>
  <Application>LibreOffice/26.2.3.2$Linux_X86_64 LibreOffice_project/d4d5ed47b6084125f28d269a5650105d54dde034</Application>
  <AppVersion>15.0000</AppVersion>
  <Words>0</Words>
  <Paragraphs>0</Paragraphs>
  <Company>Workshop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2026-06-19T21:54:19Z</dcterms:created>
  <dc:creator>OpenAI</dc:creator>
  <dc:description/>
  <dc:language>en-US</dc:language>
  <cp:lastModifiedBy/>
  <cp:lastPrinted>2026-06-20T23:38:01Z</cp:lastPrinted>
  <dcterms:modified xsi:type="dcterms:W3CDTF">2026-06-21T17:12:19Z</dcterms:modified>
  <cp:revision>29</cp:revision>
  <dc:subject>Hands-on Kubernetes Troubleshooting Workshop</dc:subject>
  <dc:title>Hands-on Kubernetes Troubleshooting for Developers and Infrastructure Teams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81</vt:i4>
  </property>
  <property fmtid="{D5CDD505-2E9C-101B-9397-08002B2CF9AE}" pid="3" name="PresentationFormat">
    <vt:lpwstr>On-screen Show (16:9)</vt:lpwstr>
  </property>
  <property fmtid="{D5CDD505-2E9C-101B-9397-08002B2CF9AE}" pid="4" name="Slides">
    <vt:i4>81</vt:i4>
  </property>
</Properties>
</file>