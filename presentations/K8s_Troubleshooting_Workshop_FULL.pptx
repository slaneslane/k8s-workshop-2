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02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100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2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5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104.xml" ContentType="application/vnd.openxmlformats-officedocument.presentationml.slide+xml"/>
  <Override PartName="/ppt/slides/slide12.xml" ContentType="application/vnd.openxmlformats-officedocument.presentationml.slide+xml"/>
  <Override PartName="/ppt/slides/slide57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24.xml" ContentType="application/vnd.openxmlformats-officedocument.presentationml.slide+xml"/>
  <Override PartName="/ppt/slides/slide103.xml" ContentType="application/vnd.openxmlformats-officedocument.presentationml.slide+xml"/>
  <Override PartName="/ppt/slides/slide83.xml" ContentType="application/vnd.openxmlformats-officedocument.presentationml.slide+xml"/>
  <Override PartName="/ppt/slides/slide20.xml" ContentType="application/vnd.openxmlformats-officedocument.presentationml.slide+xml"/>
  <Override PartName="/ppt/slides/slide48.xml" ContentType="application/vnd.openxmlformats-officedocument.presentationml.slide+xml"/>
  <Override PartName="/ppt/slides/slide9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63.xml" ContentType="application/vnd.openxmlformats-officedocument.presentationml.slide+xml"/>
  <Override PartName="/ppt/slides/slide67.xml" ContentType="application/vnd.openxmlformats-officedocument.presentationml.slide+xml"/>
  <Override PartName="/ppt/slides/slide92.xml" ContentType="application/vnd.openxmlformats-officedocument.presentationml.slide+xml"/>
  <Override PartName="/ppt/slides/slide110.xml" ContentType="application/vnd.openxmlformats-officedocument.presentationml.slide+xml"/>
  <Override PartName="/ppt/slides/slide19.xml" ContentType="application/vnd.openxmlformats-officedocument.presentationml.slide+xml"/>
  <Override PartName="/ppt/slides/slide26.xml" ContentType="application/vnd.openxmlformats-officedocument.presentationml.slide+xml"/>
  <Override PartName="/ppt/slides/slide111.xml" ContentType="application/vnd.openxmlformats-officedocument.presentationml.slide+xml"/>
  <Override PartName="/ppt/slides/slide89.xml" ContentType="application/vnd.openxmlformats-officedocument.presentationml.slide+xml"/>
  <Override PartName="/ppt/slides/slide60.xml" ContentType="application/vnd.openxmlformats-officedocument.presentationml.slide+xml"/>
  <Override PartName="/ppt/slides/slide37.xml" ContentType="application/vnd.openxmlformats-officedocument.presentationml.slide+xml"/>
  <Override PartName="/ppt/slides/slide69.xml" ContentType="application/vnd.openxmlformats-officedocument.presentationml.slide+xml"/>
  <Override PartName="/ppt/slides/slide49.xml" ContentType="application/vnd.openxmlformats-officedocument.presentationml.slide+xml"/>
  <Override PartName="/ppt/slides/slide75.xml" ContentType="application/vnd.openxmlformats-officedocument.presentationml.slide+xml"/>
  <Override PartName="/ppt/slides/slide65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74.xml" ContentType="application/vnd.openxmlformats-officedocument.presentationml.slide+xml"/>
  <Override PartName="/ppt/slides/slide66.xml" ContentType="application/vnd.openxmlformats-officedocument.presentationml.slide+xml"/>
  <Override PartName="/ppt/slides/slide2.xml" ContentType="application/vnd.openxmlformats-officedocument.presentationml.slide+xml"/>
  <Override PartName="/ppt/slides/slide71.xml" ContentType="application/vnd.openxmlformats-officedocument.presentationml.slide+xml"/>
  <Override PartName="/ppt/slides/slide107.xml" ContentType="application/vnd.openxmlformats-officedocument.presentationml.slide+xml"/>
  <Override PartName="/ppt/slides/slide86.xml" ContentType="application/vnd.openxmlformats-officedocument.presentationml.slide+xml"/>
  <Override PartName="/ppt/slides/slide76.xml" ContentType="application/vnd.openxmlformats-officedocument.presentationml.slide+xml"/>
  <Override PartName="/ppt/slides/slide88.xml" ContentType="application/vnd.openxmlformats-officedocument.presentationml.slide+xml"/>
  <Override PartName="/ppt/slides/slide101.xml" ContentType="application/vnd.openxmlformats-officedocument.presentationml.slide+xml"/>
  <Override PartName="/ppt/slides/slide108.xml" ContentType="application/vnd.openxmlformats-officedocument.presentationml.slide+xml"/>
  <Override PartName="/ppt/slides/slide1.xml" ContentType="application/vnd.openxmlformats-officedocument.presentationml.slide+xml"/>
  <Override PartName="/ppt/slides/slide106.xml" ContentType="application/vnd.openxmlformats-officedocument.presentationml.slide+xml"/>
  <Override PartName="/ppt/slides/slide77.xml" ContentType="application/vnd.openxmlformats-officedocument.presentationml.slide+xml"/>
  <Override PartName="/ppt/slides/slide85.xml" ContentType="application/vnd.openxmlformats-officedocument.presentationml.slide+xml"/>
  <Override PartName="/ppt/slides/slide72.xml" ContentType="application/vnd.openxmlformats-officedocument.presentationml.slide+xml"/>
  <Override PartName="/ppt/slides/slide95.xml" ContentType="application/vnd.openxmlformats-officedocument.presentationml.slide+xml"/>
  <Override PartName="/ppt/slides/slide84.xml" ContentType="application/vnd.openxmlformats-officedocument.presentationml.slide+xml"/>
  <Override PartName="/ppt/slides/slide8.xml" ContentType="application/vnd.openxmlformats-officedocument.presentationml.slide+xml"/>
  <Override PartName="/ppt/slides/slide21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87.xml" ContentType="application/vnd.openxmlformats-officedocument.presentationml.slide+xml"/>
  <Override PartName="/ppt/slides/slide41.xml" ContentType="application/vnd.openxmlformats-officedocument.presentationml.slide+xml"/>
  <Override PartName="/ppt/slides/slide23.xml" ContentType="application/vnd.openxmlformats-officedocument.presentationml.slide+xml"/>
  <Override PartName="/ppt/slides/slide98.xml" ContentType="application/vnd.openxmlformats-officedocument.presentationml.slide+xml"/>
  <Override PartName="/ppt/slides/slide78.xml" ContentType="application/vnd.openxmlformats-officedocument.presentationml.slide+xml"/>
  <Override PartName="/ppt/slides/slide62.xml" ContentType="application/vnd.openxmlformats-officedocument.presentationml.slide+xml"/>
  <Override PartName="/ppt/slides/slide51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6.xml" ContentType="application/vnd.openxmlformats-officedocument.presentationml.slide+xml"/>
  <Override PartName="/ppt/slides/slide43.xml" ContentType="application/vnd.openxmlformats-officedocument.presentationml.slide+xml"/>
  <Override PartName="/ppt/slides/slide105.xml" ContentType="application/vnd.openxmlformats-officedocument.presentationml.slide+xml"/>
  <Override PartName="/ppt/slides/slide94.xml" ContentType="application/vnd.openxmlformats-officedocument.presentationml.slide+xml"/>
  <Override PartName="/ppt/slides/slide29.xml" ContentType="application/vnd.openxmlformats-officedocument.presentationml.slide+xml"/>
  <Override PartName="/ppt/slides/slide99.xml" ContentType="application/vnd.openxmlformats-officedocument.presentationml.slide+xml"/>
  <Override PartName="/ppt/slides/slide93.xml" ContentType="application/vnd.openxmlformats-officedocument.presentationml.slide+xml"/>
  <Override PartName="/ppt/slides/slide70.xml" ContentType="application/vnd.openxmlformats-officedocument.presentationml.slide+xml"/>
  <Override PartName="/ppt/slides/slide28.xml" ContentType="application/vnd.openxmlformats-officedocument.presentationml.slide+xml"/>
  <Override PartName="/ppt/slides/slide35.xml" ContentType="application/vnd.openxmlformats-officedocument.presentationml.slide+xml"/>
  <Override PartName="/ppt/slides/slide64.xml" ContentType="application/vnd.openxmlformats-officedocument.presentationml.slide+xml"/>
  <Override PartName="/ppt/slides/slide80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73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79.xml" ContentType="application/vnd.openxmlformats-officedocument.presentationml.slide+xml"/>
  <Override PartName="/ppt/slides/slide61.xml" ContentType="application/vnd.openxmlformats-officedocument.presentationml.slide+xml"/>
  <Override PartName="/ppt/slides/slide96.xml" ContentType="application/vnd.openxmlformats-officedocument.presentationml.slide+xml"/>
  <Override PartName="/ppt/slides/slide91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47.xml" ContentType="application/vnd.openxmlformats-officedocument.presentationml.slide+xml"/>
  <Override PartName="/ppt/slides/slide16.xml" ContentType="application/vnd.openxmlformats-officedocument.presentationml.slide+xml"/>
  <Override PartName="/ppt/slides/slide10.xml" ContentType="application/vnd.openxmlformats-officedocument.presentationml.slide+xml"/>
  <Override PartName="/ppt/slides/slide109.xml" ContentType="application/vnd.openxmlformats-officedocument.presentationml.slide+xml"/>
  <Override PartName="/ppt/slides/slide17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8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3" Type="http://schemas.openxmlformats.org/officeDocument/2006/relationships/slide" Target="slides/slide79.xml"/><Relationship Id="rId84" Type="http://schemas.openxmlformats.org/officeDocument/2006/relationships/slide" Target="slides/slide80.xml"/><Relationship Id="rId85" Type="http://schemas.openxmlformats.org/officeDocument/2006/relationships/slide" Target="slides/slide81.xml"/><Relationship Id="rId86" Type="http://schemas.openxmlformats.org/officeDocument/2006/relationships/slide" Target="slides/slide82.xml"/><Relationship Id="rId87" Type="http://schemas.openxmlformats.org/officeDocument/2006/relationships/slide" Target="slides/slide83.xml"/><Relationship Id="rId88" Type="http://schemas.openxmlformats.org/officeDocument/2006/relationships/slide" Target="slides/slide84.xml"/><Relationship Id="rId89" Type="http://schemas.openxmlformats.org/officeDocument/2006/relationships/slide" Target="slides/slide85.xml"/><Relationship Id="rId90" Type="http://schemas.openxmlformats.org/officeDocument/2006/relationships/slide" Target="slides/slide86.xml"/><Relationship Id="rId91" Type="http://schemas.openxmlformats.org/officeDocument/2006/relationships/slide" Target="slides/slide87.xml"/><Relationship Id="rId92" Type="http://schemas.openxmlformats.org/officeDocument/2006/relationships/slide" Target="slides/slide88.xml"/><Relationship Id="rId93" Type="http://schemas.openxmlformats.org/officeDocument/2006/relationships/slide" Target="slides/slide89.xml"/><Relationship Id="rId94" Type="http://schemas.openxmlformats.org/officeDocument/2006/relationships/slide" Target="slides/slide90.xml"/><Relationship Id="rId95" Type="http://schemas.openxmlformats.org/officeDocument/2006/relationships/slide" Target="slides/slide91.xml"/><Relationship Id="rId96" Type="http://schemas.openxmlformats.org/officeDocument/2006/relationships/slide" Target="slides/slide92.xml"/><Relationship Id="rId97" Type="http://schemas.openxmlformats.org/officeDocument/2006/relationships/slide" Target="slides/slide93.xml"/><Relationship Id="rId98" Type="http://schemas.openxmlformats.org/officeDocument/2006/relationships/slide" Target="slides/slide94.xml"/><Relationship Id="rId99" Type="http://schemas.openxmlformats.org/officeDocument/2006/relationships/slide" Target="slides/slide95.xml"/><Relationship Id="rId100" Type="http://schemas.openxmlformats.org/officeDocument/2006/relationships/slide" Target="slides/slide96.xml"/><Relationship Id="rId101" Type="http://schemas.openxmlformats.org/officeDocument/2006/relationships/slide" Target="slides/slide97.xml"/><Relationship Id="rId102" Type="http://schemas.openxmlformats.org/officeDocument/2006/relationships/slide" Target="slides/slide98.xml"/><Relationship Id="rId103" Type="http://schemas.openxmlformats.org/officeDocument/2006/relationships/slide" Target="slides/slide99.xml"/><Relationship Id="rId104" Type="http://schemas.openxmlformats.org/officeDocument/2006/relationships/slide" Target="slides/slide100.xml"/><Relationship Id="rId105" Type="http://schemas.openxmlformats.org/officeDocument/2006/relationships/slide" Target="slides/slide101.xml"/><Relationship Id="rId106" Type="http://schemas.openxmlformats.org/officeDocument/2006/relationships/slide" Target="slides/slide102.xml"/><Relationship Id="rId107" Type="http://schemas.openxmlformats.org/officeDocument/2006/relationships/slide" Target="slides/slide103.xml"/><Relationship Id="rId108" Type="http://schemas.openxmlformats.org/officeDocument/2006/relationships/slide" Target="slides/slide104.xml"/><Relationship Id="rId109" Type="http://schemas.openxmlformats.org/officeDocument/2006/relationships/slide" Target="slides/slide105.xml"/><Relationship Id="rId110" Type="http://schemas.openxmlformats.org/officeDocument/2006/relationships/slide" Target="slides/slide106.xml"/><Relationship Id="rId111" Type="http://schemas.openxmlformats.org/officeDocument/2006/relationships/slide" Target="slides/slide107.xml"/><Relationship Id="rId112" Type="http://schemas.openxmlformats.org/officeDocument/2006/relationships/slide" Target="slides/slide108.xml"/><Relationship Id="rId113" Type="http://schemas.openxmlformats.org/officeDocument/2006/relationships/slide" Target="slides/slide109.xml"/><Relationship Id="rId114" Type="http://schemas.openxmlformats.org/officeDocument/2006/relationships/slide" Target="slides/slide110.xml"/><Relationship Id="rId115" Type="http://schemas.openxmlformats.org/officeDocument/2006/relationships/slide" Target="slides/slide111.xml"/><Relationship Id="rId1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191B51F-E56A-4A61-B7D6-81D6D5366C4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
</Relationships>
</file>

<file path=ppt/notesSlides/_rels/notesSlide77.xml.rels><?xml version="1.0" encoding="UTF-8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
</Relationships>
</file>

<file path=ppt/notesSlides/_rels/notesSlide78.xml.rels><?xml version="1.0" encoding="UTF-8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
</Relationships>
</file>

<file path=ppt/notesSlides/_rels/notesSlide79.xml.rels><?xml version="1.0" encoding="UTF-8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
</Relationships>
</file>

<file path=ppt/notesSlides/_rels/notesSlide80.xml.rels><?xml version="1.0" encoding="UTF-8"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
</Relationships>
</file>

<file path=ppt/notesSlides/_rels/notesSlide81.xml.rels><?xml version="1.0" encoding="UTF-8"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
</Relationships>
</file>

<file path=ppt/notesSlides/_rels/notesSlide82.xml.rels><?xml version="1.0" encoding="UTF-8"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
</Relationships>
</file>

<file path=ppt/notesSlides/_rels/notesSlide83.xml.rels><?xml version="1.0" encoding="UTF-8"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
</Relationships>
</file>

<file path=ppt/notesSlides/_rels/notesSlide84.xml.rels><?xml version="1.0" encoding="UTF-8"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
</Relationships>
</file>

<file path=ppt/notesSlides/_rels/notesSlide85.xml.rels><?xml version="1.0" encoding="UTF-8"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
</Relationships>
</file>

<file path=ppt/notesSlides/_rels/notesSlide86.xml.rels><?xml version="1.0" encoding="UTF-8"?>
<Relationships xmlns="http://schemas.openxmlformats.org/package/2006/relationships"><Relationship Id="rId1" Type="http://schemas.openxmlformats.org/officeDocument/2006/relationships/slide" Target="../slides/slide86.xml"/><Relationship Id="rId2" Type="http://schemas.openxmlformats.org/officeDocument/2006/relationships/notesMaster" Target="../notesMasters/notesMaster1.xml"/>
</Relationships>
</file>

<file path=ppt/notesSlides/_rels/notesSlide87.xml.rels><?xml version="1.0" encoding="UTF-8"?>
<Relationships xmlns="http://schemas.openxmlformats.org/package/2006/relationships"><Relationship Id="rId1" Type="http://schemas.openxmlformats.org/officeDocument/2006/relationships/slide" Target="../slides/slide87.xml"/><Relationship Id="rId2" Type="http://schemas.openxmlformats.org/officeDocument/2006/relationships/notesMaster" Target="../notesMasters/notesMaster1.xml"/>
</Relationships>
</file>

<file path=ppt/notesSlides/_rels/notesSlide88.xml.rels><?xml version="1.0" encoding="UTF-8"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
</Relationships>
</file>

<file path=ppt/notesSlides/_rels/notesSlide89.xml.rels><?xml version="1.0" encoding="UTF-8"?>
<Relationships xmlns="http://schemas.openxmlformats.org/package/2006/relationships"><Relationship Id="rId1" Type="http://schemas.openxmlformats.org/officeDocument/2006/relationships/slide" Target="../slides/slide89.xml"/><Relationship Id="rId2" Type="http://schemas.openxmlformats.org/officeDocument/2006/relationships/notesMaster" Target="../notesMasters/notesMaster1.xml"/>
</Relationships>
</file>

<file path=ppt/notesSlides/_rels/notesSlide90.xml.rels><?xml version="1.0" encoding="UTF-8"?>
<Relationships xmlns="http://schemas.openxmlformats.org/package/2006/relationships"><Relationship Id="rId1" Type="http://schemas.openxmlformats.org/officeDocument/2006/relationships/slide" Target="../slides/slide90.xml"/><Relationship Id="rId2" Type="http://schemas.openxmlformats.org/officeDocument/2006/relationships/notesMaster" Target="../notesMasters/notesMaster1.xml"/>
</Relationships>
</file>

<file path=ppt/notesSlides/_rels/notesSlide91.xml.rels><?xml version="1.0" encoding="UTF-8"?>
<Relationships xmlns="http://schemas.openxmlformats.org/package/2006/relationships"><Relationship Id="rId1" Type="http://schemas.openxmlformats.org/officeDocument/2006/relationships/slide" Target="../slides/slide91.xml"/><Relationship Id="rId2" Type="http://schemas.openxmlformats.org/officeDocument/2006/relationships/notesMaster" Target="../notesMasters/notesMaster1.xml"/>
</Relationships>
</file>

<file path=ppt/notesSlides/_rels/notesSlide92.xml.rels><?xml version="1.0" encoding="UTF-8"?>
<Relationships xmlns="http://schemas.openxmlformats.org/package/2006/relationships"><Relationship Id="rId1" Type="http://schemas.openxmlformats.org/officeDocument/2006/relationships/slide" Target="../slides/slide92.xml"/><Relationship Id="rId2" Type="http://schemas.openxmlformats.org/officeDocument/2006/relationships/notesMaster" Target="../notesMasters/notesMaster1.xml"/>
</Relationships>
</file>

<file path=ppt/notesSlides/_rels/notesSlide93.xml.rels><?xml version="1.0" encoding="UTF-8"?>
<Relationships xmlns="http://schemas.openxmlformats.org/package/2006/relationships"><Relationship Id="rId1" Type="http://schemas.openxmlformats.org/officeDocument/2006/relationships/slide" Target="../slides/slide93.xml"/><Relationship Id="rId2" Type="http://schemas.openxmlformats.org/officeDocument/2006/relationships/notesMaster" Target="../notesMasters/notesMaster1.xml"/>
</Relationships>
</file>

<file path=ppt/notesSlides/_rels/notesSlide94.xml.rels><?xml version="1.0" encoding="UTF-8"?>
<Relationships xmlns="http://schemas.openxmlformats.org/package/2006/relationships"><Relationship Id="rId1" Type="http://schemas.openxmlformats.org/officeDocument/2006/relationships/slide" Target="../slides/slide94.xml"/><Relationship Id="rId2" Type="http://schemas.openxmlformats.org/officeDocument/2006/relationships/notesMaster" Target="../notesMasters/notesMaster1.xml"/>
</Relationships>
</file>

<file path=ppt/notesSlides/_rels/notesSlide95.xml.rels><?xml version="1.0" encoding="UTF-8"?>
<Relationships xmlns="http://schemas.openxmlformats.org/package/2006/relationships"><Relationship Id="rId1" Type="http://schemas.openxmlformats.org/officeDocument/2006/relationships/slide" Target="../slides/slide95.xml"/><Relationship Id="rId2" Type="http://schemas.openxmlformats.org/officeDocument/2006/relationships/notesMaster" Target="../notesMasters/notesMaster1.xml"/>
</Relationships>
</file>

<file path=ppt/notesSlides/_rels/notesSlide96.xml.rels><?xml version="1.0" encoding="UTF-8"?>
<Relationships xmlns="http://schemas.openxmlformats.org/package/2006/relationships"><Relationship Id="rId1" Type="http://schemas.openxmlformats.org/officeDocument/2006/relationships/slide" Target="../slides/slide96.xml"/><Relationship Id="rId2" Type="http://schemas.openxmlformats.org/officeDocument/2006/relationships/notesMaster" Target="../notesMasters/notesMaster1.xml"/>
</Relationships>
</file>

<file path=ppt/notesSlides/_rels/notesSlide97.xml.rels><?xml version="1.0" encoding="UTF-8"?>
<Relationships xmlns="http://schemas.openxmlformats.org/package/2006/relationships"><Relationship Id="rId1" Type="http://schemas.openxmlformats.org/officeDocument/2006/relationships/slide" Target="../slides/slide97.xml"/><Relationship Id="rId2" Type="http://schemas.openxmlformats.org/officeDocument/2006/relationships/notesMaster" Target="../notesMasters/notesMaster1.xml"/>
</Relationships>
</file>

<file path=ppt/notesSlides/_rels/notesSlide98.xml.rels><?xml version="1.0" encoding="UTF-8"?>
<Relationships xmlns="http://schemas.openxmlformats.org/package/2006/relationships"><Relationship Id="rId1" Type="http://schemas.openxmlformats.org/officeDocument/2006/relationships/slide" Target="../slides/slide98.xml"/><Relationship Id="rId2" Type="http://schemas.openxmlformats.org/officeDocument/2006/relationships/notesMaster" Target="../notesMasters/notesMaster1.xml"/>
</Relationships>
</file>

<file path=ppt/notesSlides/_rels/notesSlide99.xml.rels><?xml version="1.0" encoding="UTF-8"?>
<Relationships xmlns="http://schemas.openxmlformats.org/package/2006/relationships"><Relationship Id="rId1" Type="http://schemas.openxmlformats.org/officeDocument/2006/relationships/slide" Target="../slides/slide99.xml"/><Relationship Id="rId2" Type="http://schemas.openxmlformats.org/officeDocument/2006/relationships/notesMaster" Target="../notesMasters/notesMaster1.xml"/>
</Relationships>
</file>

<file path=ppt/notesSlides/_rels/notesSlide100.xml.rels><?xml version="1.0" encoding="UTF-8"?>
<Relationships xmlns="http://schemas.openxmlformats.org/package/2006/relationships"><Relationship Id="rId1" Type="http://schemas.openxmlformats.org/officeDocument/2006/relationships/slide" Target="../slides/slide100.xml"/><Relationship Id="rId2" Type="http://schemas.openxmlformats.org/officeDocument/2006/relationships/notesMaster" Target="../notesMasters/notesMaster1.xml"/>
</Relationships>
</file>

<file path=ppt/notesSlides/_rels/notesSlide101.xml.rels><?xml version="1.0" encoding="UTF-8"?>
<Relationships xmlns="http://schemas.openxmlformats.org/package/2006/relationships"><Relationship Id="rId1" Type="http://schemas.openxmlformats.org/officeDocument/2006/relationships/slide" Target="../slides/slide101.xml"/><Relationship Id="rId2" Type="http://schemas.openxmlformats.org/officeDocument/2006/relationships/notesMaster" Target="../notesMasters/notesMaster1.xml"/>
</Relationships>
</file>

<file path=ppt/notesSlides/_rels/notesSlide102.xml.rels><?xml version="1.0" encoding="UTF-8"?>
<Relationships xmlns="http://schemas.openxmlformats.org/package/2006/relationships"><Relationship Id="rId1" Type="http://schemas.openxmlformats.org/officeDocument/2006/relationships/slide" Target="../slides/slide102.xml"/><Relationship Id="rId2" Type="http://schemas.openxmlformats.org/officeDocument/2006/relationships/notesMaster" Target="../notesMasters/notesMaster1.xml"/>
</Relationships>
</file>

<file path=ppt/notesSlides/_rels/notesSlide103.xml.rels><?xml version="1.0" encoding="UTF-8"?>
<Relationships xmlns="http://schemas.openxmlformats.org/package/2006/relationships"><Relationship Id="rId1" Type="http://schemas.openxmlformats.org/officeDocument/2006/relationships/slide" Target="../slides/slide103.xml"/><Relationship Id="rId2" Type="http://schemas.openxmlformats.org/officeDocument/2006/relationships/notesMaster" Target="../notesMasters/notesMaster1.xml"/>
</Relationships>
</file>

<file path=ppt/notesSlides/_rels/notesSlide104.xml.rels><?xml version="1.0" encoding="UTF-8"?>
<Relationships xmlns="http://schemas.openxmlformats.org/package/2006/relationships"><Relationship Id="rId1" Type="http://schemas.openxmlformats.org/officeDocument/2006/relationships/slide" Target="../slides/slide104.xml"/><Relationship Id="rId2" Type="http://schemas.openxmlformats.org/officeDocument/2006/relationships/notesMaster" Target="../notesMasters/notesMaster1.xml"/>
</Relationships>
</file>

<file path=ppt/notesSlides/_rels/notesSlide105.xml.rels><?xml version="1.0" encoding="UTF-8"?>
<Relationships xmlns="http://schemas.openxmlformats.org/package/2006/relationships"><Relationship Id="rId1" Type="http://schemas.openxmlformats.org/officeDocument/2006/relationships/slide" Target="../slides/slide105.xml"/><Relationship Id="rId2" Type="http://schemas.openxmlformats.org/officeDocument/2006/relationships/notesMaster" Target="../notesMasters/notesMaster1.xml"/>
</Relationships>
</file>

<file path=ppt/notesSlides/_rels/notesSlide106.xml.rels><?xml version="1.0" encoding="UTF-8"?>
<Relationships xmlns="http://schemas.openxmlformats.org/package/2006/relationships"><Relationship Id="rId1" Type="http://schemas.openxmlformats.org/officeDocument/2006/relationships/slide" Target="../slides/slide106.xml"/><Relationship Id="rId2" Type="http://schemas.openxmlformats.org/officeDocument/2006/relationships/notesMaster" Target="../notesMasters/notesMaster1.xml"/>
</Relationships>
</file>

<file path=ppt/notesSlides/_rels/notesSlide107.xml.rels><?xml version="1.0" encoding="UTF-8"?>
<Relationships xmlns="http://schemas.openxmlformats.org/package/2006/relationships"><Relationship Id="rId1" Type="http://schemas.openxmlformats.org/officeDocument/2006/relationships/slide" Target="../slides/slide107.xml"/><Relationship Id="rId2" Type="http://schemas.openxmlformats.org/officeDocument/2006/relationships/notesMaster" Target="../notesMasters/notesMaster1.xml"/>
</Relationships>
</file>

<file path=ppt/notesSlides/_rels/notesSlide108.xml.rels><?xml version="1.0" encoding="UTF-8"?>
<Relationships xmlns="http://schemas.openxmlformats.org/package/2006/relationships"><Relationship Id="rId1" Type="http://schemas.openxmlformats.org/officeDocument/2006/relationships/slide" Target="../slides/slide108.xml"/><Relationship Id="rId2" Type="http://schemas.openxmlformats.org/officeDocument/2006/relationships/notesMaster" Target="../notesMasters/notesMaster1.xml"/>
</Relationships>
</file>

<file path=ppt/notesSlides/_rels/notesSlide109.xml.rels><?xml version="1.0" encoding="UTF-8"?>
<Relationships xmlns="http://schemas.openxmlformats.org/package/2006/relationships"><Relationship Id="rId1" Type="http://schemas.openxmlformats.org/officeDocument/2006/relationships/slide" Target="../slides/slide109.xml"/><Relationship Id="rId2" Type="http://schemas.openxmlformats.org/officeDocument/2006/relationships/notesMaster" Target="../notesMasters/notesMaster1.xml"/>
</Relationships>
</file>

<file path=ppt/notesSlides/_rels/notesSlide110.xml.rels><?xml version="1.0" encoding="UTF-8"?>
<Relationships xmlns="http://schemas.openxmlformats.org/package/2006/relationships"><Relationship Id="rId1" Type="http://schemas.openxmlformats.org/officeDocument/2006/relationships/slide" Target="../slides/slide110.xml"/><Relationship Id="rId2" Type="http://schemas.openxmlformats.org/officeDocument/2006/relationships/notesMaster" Target="../notesMasters/notesMaster1.xml"/>
</Relationships>
</file>

<file path=ppt/notesSlides/_rels/notesSlide111.xml.rels><?xml version="1.0" encoding="UTF-8"?>
<Relationships xmlns="http://schemas.openxmlformats.org/package/2006/relationships"><Relationship Id="rId1" Type="http://schemas.openxmlformats.org/officeDocument/2006/relationships/slide" Target="../slides/slide1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Opening message: this is not a Kubernetes object catalog. It is a practical operations workshop.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64E10A-19DA-4123-9632-AEB35515BD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670D38D-98F5-4871-9628-4876F9FD27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E77D78-DF4E-409A-9669-511EA67D88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DA15FC-246A-4A7E-946C-2B12F14D57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CA1C60-B2C9-4387-83EC-02DBF1CC25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7E57AB-AC9B-4F5B-BB89-DB0435B0D8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F62226-0236-4D19-8D94-3B443CB9C5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C88452-9E35-4AAB-94E6-F40C037639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6F6A0A5-40F9-4520-85FF-99FDAB9F3A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4023B74-8057-4236-BC15-7A5643A3AE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BFE91D-C308-439B-AF24-8AE73ACC36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E472356-C7CA-4141-8573-1E5D7AD94E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6E72CA-B551-48B2-BFA4-3B43D02C22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B5F555B-6564-4883-9C4F-E12D667DA0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51DDC9B-C916-40BB-92AA-88827C3AAB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535E88-DE19-4CD2-BDB6-12FD3ACA0B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C48C5A-2E31-4605-9D62-865B09FC43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41EEBCC-0553-4242-AA15-144A5403E7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4C405B3-0FFF-48C6-AD0C-A8083A0A36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BE67D39-EA9A-4F1B-92A0-CDA3270919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42BA3F-1770-439B-8A25-F654CA1E8C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3934E9-A131-47CA-97A5-1B6EF5D630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08F4E0-347F-4778-8C97-7DCF343C22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B25589-994E-417A-8550-65FBDB7B11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514140-4D1B-4B35-81C4-F165749D02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253E6AA-CAF1-41EE-ABDB-52E954ADB3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0D3002A-0EA1-4978-831F-1D154F8E49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B97383A-6BA4-4920-B060-F4C4B7EEE2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6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406BB6-FE6C-479B-9077-A9FE296432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35D6CDC-FF71-4640-B0ED-31722EF35E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734181-6E4F-467C-89FF-468EF44002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0EC1568-55A8-4D7C-9950-F2FD35D20E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8331CB8-D660-4132-9D89-1ED5A5A7E2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2B5531-50EB-4FB0-81CD-7BA2052B93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4B5D06-A106-4983-A96F-8976200817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1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6624A2-4653-4E26-BEFA-E0F76A4415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EA3A32-2EA5-4905-9310-14816BEC21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75F6CC0-8CB0-41CA-896A-88F2363646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34CE83-C5BE-40DD-B2A5-8F32606068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8761BC2-A7CB-407C-92CC-F2727B6C92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2E54F8-328C-43A4-BFFE-4A1575DEFA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606FC4-AE92-4366-9C17-E6617BEE80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8C719EC-E934-465A-8D93-8A1F92082E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1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3B91EE-0224-4D55-A8C4-EB079A2DB5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4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C774D69-47F5-41FD-AAF1-9DD7E5AD83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7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A3DB5E-15A8-4D33-84F6-621B373E61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0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24A4A2-5398-43F7-9D08-66FC479B85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3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13ED8D-7C47-4C4F-A120-DE5C0034F5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6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8F0CEEC-8155-4824-A4A3-FC3F7734A9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9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C77728-9F24-40C6-9A6B-F2550A6146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2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B297B8B-5096-4E28-ACEE-D7914F3F1E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5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E12F045-923F-45DB-8A11-BB60891AC2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8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CE323C-B35D-4CB9-9E98-AA494BF1D6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1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6C2B99-E32B-4B82-A986-14C112212E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4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08DA49-80D0-4A73-B342-DB0E6876A3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7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38E394-D905-45B7-AAC2-7D640FC6E1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0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FAC0F5B-E839-4478-A52D-31F25F1FA3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3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E71EDB-A2F1-4348-A62D-2FEF69737F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6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16F8DB7-1D5D-46B6-B7F6-DF60E2567F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C744622-47D6-4FC2-B1CC-2C99C4FC63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2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35508DD-2A27-4C59-A651-664EEFE38A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5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05639E-381F-42D2-A36C-B1B658D957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8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AD96D26-A4D9-4D70-8A38-04044D690B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1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42D1C6-03ED-43B2-90F7-9ABF1A17A7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4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CBD00E-1090-46A6-B7A4-22C1D9D34B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7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B8049F-BE67-41C5-873B-B346581D50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0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AC78ED1-2E6C-4CA4-88D8-CB6269575B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3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475D0A-BB7B-41B5-BF1F-90276268B2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6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ADEC8A-B0A1-4B80-9B6A-110A6C42C1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9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DA4F74E-E2FB-4E28-9BFA-3EF8F54E3A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2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14A87A7-8032-4E72-A13A-3D282A588D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5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945006-4DFB-4AD0-855A-5C2F81F8A9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8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A50C51-7C23-41B1-8DF1-FD23A605FB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1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0267F5-14D8-471A-B02A-9C165A77AD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4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99573A-CA94-4A9D-95BF-7C86680E7C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7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5C1D5B-EA6B-4F15-BE99-512FF8BD1D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0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618ECA-3CE0-472E-8422-081E1CA56C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3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C7CECBF-D299-4DD2-AD48-4B47CFB8DA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6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08BE2C-3A26-4105-A33E-78DAD07DD6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9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BF89D2-5451-478C-A66E-D99BDAC949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2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D7DB2C6-F378-4970-8F12-AA9BBDE889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5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D95FE1-F0FA-4756-8B86-8874FCA7EA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8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A192B32-5691-4CA2-AF2C-BF019383CF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1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A83BBA3-E8D5-4C30-B4A5-9897BE07E7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4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B5E3330-CD9E-400C-B38A-37052F2055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7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9CA3A6A-DDF8-4DB6-8CD3-2D8998D345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0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C663AD-E257-47D0-BFAE-36C1602C9C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3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FA467E-1554-468A-A673-1EF59B14A1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6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F6A9A2-4C0E-41C4-AECE-04C682C436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9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185265-2B6C-410F-89F1-5F022FA50A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2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BA66F7-5682-417C-9425-99CA1CDD1A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5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C789860-2726-4628-BE58-9AB057C1D1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8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1CF829-5F87-4134-857D-AB48DD5FB3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1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73E33B-CA3D-45C5-80FA-94051C5AEE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4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0BAA26-EF5A-4408-B2C5-6485102DAC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7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2AD5B8-2FB5-444D-963F-79FB4C739A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0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6C1735-08C2-42AE-A376-0C3E09BA6E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3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095AF98-2259-4A91-AF5E-B391ED2D7C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6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E82A613-4FFB-4DE7-AAB5-F96F9D78C4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9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F4E0BF-44BA-4C8E-ACD2-3470132088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2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82A825D-3199-4618-A695-5C3A90AC6F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5" name="PlaceHolder 3"/>
          <p:cNvSpPr>
            <a:spLocks noGrp="1"/>
          </p:cNvSpPr>
          <p:nvPr>
            <p:ph type="sldNum" idx="10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4267639-1A50-4077-9343-E2E334DDF7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8" name="PlaceHolder 3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935783D-746A-470E-A69E-BA4472C682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1" name="PlaceHolder 3"/>
          <p:cNvSpPr>
            <a:spLocks noGrp="1"/>
          </p:cNvSpPr>
          <p:nvPr>
            <p:ph type="sldNum" idx="11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69C764-BDB8-495A-B230-7CB4F8815C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4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CED92B8-4967-4BDE-92DD-7BEF2E73DE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794137-E7F7-4470-AB25-A9AE15F118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dt" idx="1"/>
          </p:nvPr>
        </p:nvSpPr>
        <p:spPr>
          <a:xfrm>
            <a:off x="380880" y="5297040"/>
            <a:ext cx="1777680" cy="303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2"/>
          </p:nvPr>
        </p:nvSpPr>
        <p:spPr>
          <a:xfrm>
            <a:off x="2603160" y="5297040"/>
            <a:ext cx="2412720" cy="303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3"/>
          </p:nvPr>
        </p:nvSpPr>
        <p:spPr>
          <a:xfrm>
            <a:off x="5460840" y="5297040"/>
            <a:ext cx="1777680" cy="303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7A3D4F-BACE-4F5B-B9DC-334E08B084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367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36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36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533"/>
              </a:spcBef>
              <a:buClr>
                <a:srgbClr val="000000"/>
              </a:buClr>
              <a:buFont typeface="Arial"/>
              <a:buChar char="•"/>
              <a:defRPr lang="en-US" sz="266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3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3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332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7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33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7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3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7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3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7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6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66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4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3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3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3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33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6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3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6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6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6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hyperlink" Target="http://localhost:8080/healthz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658440" y="1965960"/>
            <a:ext cx="1078668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Hands-on Kubernetes Troubleshooting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676800" y="2816280"/>
            <a:ext cx="9597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Build, Deploy, Break, Observe, Debug, Fix and Learn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685800" y="331920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For Developers and Infrastructure Teams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685800" y="3977640"/>
            <a:ext cx="2922840" cy="865440"/>
          </a:xfrm>
          <a:prstGeom prst="roundRect">
            <a:avLst>
              <a:gd name="adj" fmla="val 7368"/>
            </a:avLst>
          </a:prstGeom>
          <a:solidFill>
            <a:srgbClr val="0B2235"/>
          </a:solidFill>
          <a:ln w="889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822960" y="4096440"/>
            <a:ext cx="26485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Single-node K3s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822960" y="4434840"/>
            <a:ext cx="26485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Each participant works on an isolated VM.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8"/>
          <p:cNvSpPr/>
          <p:nvPr/>
        </p:nvSpPr>
        <p:spPr>
          <a:xfrm>
            <a:off x="3886200" y="3977640"/>
            <a:ext cx="2922840" cy="865440"/>
          </a:xfrm>
          <a:prstGeom prst="roundRect">
            <a:avLst>
              <a:gd name="adj" fmla="val 7368"/>
            </a:avLst>
          </a:prstGeom>
          <a:solidFill>
            <a:srgbClr val="0B2235"/>
          </a:solidFill>
          <a:ln w="889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4023360" y="4096440"/>
            <a:ext cx="26485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Real app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4023360" y="4434840"/>
            <a:ext cx="26485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Flask API, PostgreSQL, migrations and volumes.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1"/>
          <p:cNvSpPr/>
          <p:nvPr/>
        </p:nvSpPr>
        <p:spPr>
          <a:xfrm>
            <a:off x="7086600" y="3977640"/>
            <a:ext cx="3151440" cy="865440"/>
          </a:xfrm>
          <a:prstGeom prst="roundRect">
            <a:avLst>
              <a:gd name="adj" fmla="val 7368"/>
            </a:avLst>
          </a:prstGeom>
          <a:solidFill>
            <a:srgbClr val="0B2235"/>
          </a:solidFill>
          <a:ln w="889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7223760" y="4096440"/>
            <a:ext cx="2877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Troubleshooting-first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7223760" y="4434840"/>
            <a:ext cx="28771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Every concept is attached to a failure mode.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2136240" y="5715000"/>
            <a:ext cx="74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B454"/>
                </a:solidFill>
                <a:effectLst/>
                <a:uFillTx/>
                <a:latin typeface="Aptos"/>
              </a:rPr>
              <a:t>git clone https://github.com/slaneslane/k8s-workshop-2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1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09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10"/>
          <p:cNvSpPr/>
          <p:nvPr/>
        </p:nvSpPr>
        <p:spPr>
          <a:xfrm>
            <a:off x="658440" y="2148840"/>
            <a:ext cx="1060380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Module 0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11"/>
          <p:cNvSpPr/>
          <p:nvPr/>
        </p:nvSpPr>
        <p:spPr>
          <a:xfrm>
            <a:off x="676800" y="2953440"/>
            <a:ext cx="9597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Basic facts 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65"/>
          <p:cNvSpPr/>
          <p:nvPr/>
        </p:nvSpPr>
        <p:spPr>
          <a:xfrm>
            <a:off x="676440" y="3520440"/>
            <a:ext cx="3749040" cy="3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18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71726"/>
          </a:solidFill>
          <a:ln w="12700">
            <a:solidFill>
              <a:srgbClr val="07172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85"/>
          <p:cNvSpPr/>
          <p:nvPr/>
        </p:nvSpPr>
        <p:spPr>
          <a:xfrm>
            <a:off x="0" y="0"/>
            <a:ext cx="12191760" cy="164160"/>
          </a:xfrm>
          <a:prstGeom prst="rect">
            <a:avLst/>
          </a:prstGeom>
          <a:solidFill>
            <a:srgbClr val="27D3F5">
              <a:alpha val="85000"/>
            </a:srgbClr>
          </a:solidFill>
          <a:ln w="12700">
            <a:solidFill>
              <a:srgbClr val="27D3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36"/>
          <p:cNvSpPr/>
          <p:nvPr/>
        </p:nvSpPr>
        <p:spPr>
          <a:xfrm>
            <a:off x="502920" y="393120"/>
            <a:ext cx="8641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4F8FB"/>
                </a:solidFill>
                <a:effectLst/>
                <a:uFillTx/>
                <a:latin typeface="Aptos Display"/>
                <a:ea typeface="Aptos Display"/>
              </a:rPr>
              <a:t>Kubernetes architecture: control plane and workers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37"/>
          <p:cNvSpPr/>
          <p:nvPr/>
        </p:nvSpPr>
        <p:spPr>
          <a:xfrm>
            <a:off x="521280" y="822960"/>
            <a:ext cx="10515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C1D1"/>
                </a:solidFill>
                <a:effectLst/>
                <a:uFillTx/>
                <a:latin typeface="Aptos"/>
              </a:rPr>
              <a:t>The control plane stores desired state. Worker nodes run the actual application Pods.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86"/>
          <p:cNvSpPr/>
          <p:nvPr/>
        </p:nvSpPr>
        <p:spPr>
          <a:xfrm>
            <a:off x="502920" y="1234440"/>
            <a:ext cx="4800240" cy="4983120"/>
          </a:xfrm>
          <a:prstGeom prst="roundRect">
            <a:avLst>
              <a:gd name="adj" fmla="val 1524"/>
            </a:avLst>
          </a:prstGeom>
          <a:solidFill>
            <a:srgbClr val="0C243A"/>
          </a:solidFill>
          <a:ln w="12700">
            <a:solidFill>
              <a:srgbClr val="27D3F5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87"/>
          <p:cNvSpPr/>
          <p:nvPr/>
        </p:nvSpPr>
        <p:spPr>
          <a:xfrm>
            <a:off x="5715000" y="1234440"/>
            <a:ext cx="5988960" cy="4983120"/>
          </a:xfrm>
          <a:prstGeom prst="roundRect">
            <a:avLst>
              <a:gd name="adj" fmla="val 1468"/>
            </a:avLst>
          </a:prstGeom>
          <a:solidFill>
            <a:srgbClr val="0C243A"/>
          </a:solidFill>
          <a:ln w="12700">
            <a:solidFill>
              <a:srgbClr val="3DDC97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88"/>
          <p:cNvSpPr/>
          <p:nvPr/>
        </p:nvSpPr>
        <p:spPr>
          <a:xfrm>
            <a:off x="685800" y="1444680"/>
            <a:ext cx="1325520" cy="255600"/>
          </a:xfrm>
          <a:prstGeom prst="roundRect">
            <a:avLst>
              <a:gd name="adj" fmla="val 28571"/>
            </a:avLst>
          </a:prstGeom>
          <a:solidFill>
            <a:srgbClr val="27D3F5">
              <a:alpha val="93000"/>
            </a:srgbClr>
          </a:solidFill>
          <a:ln w="12700">
            <a:solidFill>
              <a:srgbClr val="27D3F5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38"/>
          <p:cNvSpPr/>
          <p:nvPr/>
        </p:nvSpPr>
        <p:spPr>
          <a:xfrm>
            <a:off x="758880" y="1508760"/>
            <a:ext cx="11793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CONTROL PLANE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89"/>
          <p:cNvSpPr/>
          <p:nvPr/>
        </p:nvSpPr>
        <p:spPr>
          <a:xfrm>
            <a:off x="5925240" y="1444680"/>
            <a:ext cx="1234080" cy="255600"/>
          </a:xfrm>
          <a:prstGeom prst="roundRect">
            <a:avLst>
              <a:gd name="adj" fmla="val 28571"/>
            </a:avLst>
          </a:prstGeom>
          <a:solidFill>
            <a:srgbClr val="3DDC97">
              <a:alpha val="93000"/>
            </a:srgbClr>
          </a:solidFill>
          <a:ln w="12700">
            <a:solidFill>
              <a:srgbClr val="3DDC97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39"/>
          <p:cNvSpPr/>
          <p:nvPr/>
        </p:nvSpPr>
        <p:spPr>
          <a:xfrm>
            <a:off x="5998320" y="1508760"/>
            <a:ext cx="10879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WORKER NODES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90"/>
          <p:cNvSpPr/>
          <p:nvPr/>
        </p:nvSpPr>
        <p:spPr>
          <a:xfrm>
            <a:off x="4846320" y="3246120"/>
            <a:ext cx="987480" cy="360"/>
          </a:xfrm>
          <a:prstGeom prst="line">
            <a:avLst/>
          </a:prstGeom>
          <a:ln w="12700">
            <a:solidFill>
              <a:srgbClr val="27D3F5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91"/>
          <p:cNvSpPr/>
          <p:nvPr/>
        </p:nvSpPr>
        <p:spPr>
          <a:xfrm>
            <a:off x="777240" y="1965960"/>
            <a:ext cx="1919880" cy="840960"/>
          </a:xfrm>
          <a:prstGeom prst="roundRect">
            <a:avLst>
              <a:gd name="adj" fmla="val 8696"/>
            </a:avLst>
          </a:prstGeom>
          <a:solidFill>
            <a:srgbClr val="102A44"/>
          </a:solidFill>
          <a:ln w="12700">
            <a:solidFill>
              <a:srgbClr val="27D3F5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40"/>
          <p:cNvSpPr/>
          <p:nvPr/>
        </p:nvSpPr>
        <p:spPr>
          <a:xfrm>
            <a:off x="887040" y="2075760"/>
            <a:ext cx="17002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API Server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entry point for kubectl and controllers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92"/>
          <p:cNvSpPr/>
          <p:nvPr/>
        </p:nvSpPr>
        <p:spPr>
          <a:xfrm>
            <a:off x="2971800" y="1965960"/>
            <a:ext cx="1599840" cy="840960"/>
          </a:xfrm>
          <a:prstGeom prst="roundRect">
            <a:avLst>
              <a:gd name="adj" fmla="val 8696"/>
            </a:avLst>
          </a:prstGeom>
          <a:solidFill>
            <a:srgbClr val="102A44"/>
          </a:solidFill>
          <a:ln w="12700">
            <a:solidFill>
              <a:srgbClr val="27D3F5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41"/>
          <p:cNvSpPr/>
          <p:nvPr/>
        </p:nvSpPr>
        <p:spPr>
          <a:xfrm>
            <a:off x="3081600" y="2075760"/>
            <a:ext cx="1380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etcd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cluster state database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93"/>
          <p:cNvSpPr/>
          <p:nvPr/>
        </p:nvSpPr>
        <p:spPr>
          <a:xfrm>
            <a:off x="777240" y="3246120"/>
            <a:ext cx="1919880" cy="840960"/>
          </a:xfrm>
          <a:prstGeom prst="roundRect">
            <a:avLst>
              <a:gd name="adj" fmla="val 8696"/>
            </a:avLst>
          </a:prstGeom>
          <a:solidFill>
            <a:srgbClr val="102A44"/>
          </a:solidFill>
          <a:ln w="12700">
            <a:solidFill>
              <a:srgbClr val="27D3F5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42"/>
          <p:cNvSpPr/>
          <p:nvPr/>
        </p:nvSpPr>
        <p:spPr>
          <a:xfrm>
            <a:off x="887040" y="3355920"/>
            <a:ext cx="17002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Scheduler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selects a node for new Pods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94"/>
          <p:cNvSpPr/>
          <p:nvPr/>
        </p:nvSpPr>
        <p:spPr>
          <a:xfrm>
            <a:off x="2971800" y="3246120"/>
            <a:ext cx="1599840" cy="840960"/>
          </a:xfrm>
          <a:prstGeom prst="roundRect">
            <a:avLst>
              <a:gd name="adj" fmla="val 8696"/>
            </a:avLst>
          </a:prstGeom>
          <a:solidFill>
            <a:srgbClr val="102A44"/>
          </a:solidFill>
          <a:ln w="12700">
            <a:solidFill>
              <a:srgbClr val="27D3F5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43"/>
          <p:cNvSpPr/>
          <p:nvPr/>
        </p:nvSpPr>
        <p:spPr>
          <a:xfrm>
            <a:off x="3081600" y="3355920"/>
            <a:ext cx="1380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Controller Manager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keeps desired state reconciled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95"/>
          <p:cNvSpPr/>
          <p:nvPr/>
        </p:nvSpPr>
        <p:spPr>
          <a:xfrm>
            <a:off x="2706480" y="2386440"/>
            <a:ext cx="255960" cy="360"/>
          </a:xfrm>
          <a:prstGeom prst="line">
            <a:avLst/>
          </a:prstGeom>
          <a:ln w="12700">
            <a:solidFill>
              <a:srgbClr val="2A5C82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96"/>
          <p:cNvSpPr/>
          <p:nvPr/>
        </p:nvSpPr>
        <p:spPr>
          <a:xfrm>
            <a:off x="1737360" y="2816280"/>
            <a:ext cx="360" cy="420480"/>
          </a:xfrm>
          <a:prstGeom prst="line">
            <a:avLst/>
          </a:prstGeom>
          <a:ln w="12700">
            <a:solidFill>
              <a:srgbClr val="2A5C82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97"/>
          <p:cNvSpPr/>
          <p:nvPr/>
        </p:nvSpPr>
        <p:spPr>
          <a:xfrm>
            <a:off x="3584160" y="2816280"/>
            <a:ext cx="360" cy="420480"/>
          </a:xfrm>
          <a:prstGeom prst="line">
            <a:avLst/>
          </a:prstGeom>
          <a:ln w="12700">
            <a:solidFill>
              <a:srgbClr val="2A5C82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44"/>
          <p:cNvSpPr/>
          <p:nvPr/>
        </p:nvSpPr>
        <p:spPr>
          <a:xfrm>
            <a:off x="777240" y="4645080"/>
            <a:ext cx="3977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8C1D1"/>
                </a:solidFill>
                <a:effectLst/>
                <a:uFillTx/>
                <a:latin typeface="Aptos"/>
              </a:rPr>
              <a:t>Examples: Deployments, ReplicaSets, Jobs, Services, ConfigMaps, Secrets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98"/>
          <p:cNvSpPr/>
          <p:nvPr/>
        </p:nvSpPr>
        <p:spPr>
          <a:xfrm>
            <a:off x="6053400" y="1938600"/>
            <a:ext cx="2331360" cy="420120"/>
          </a:xfrm>
          <a:prstGeom prst="roundRect">
            <a:avLst>
              <a:gd name="adj" fmla="val 17391"/>
            </a:avLst>
          </a:prstGeom>
          <a:solidFill>
            <a:srgbClr val="12395A"/>
          </a:solidFill>
          <a:ln w="12700">
            <a:solidFill>
              <a:srgbClr val="3DDC97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45"/>
          <p:cNvSpPr/>
          <p:nvPr/>
        </p:nvSpPr>
        <p:spPr>
          <a:xfrm>
            <a:off x="6163200" y="2048400"/>
            <a:ext cx="2111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Worker node 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99"/>
          <p:cNvSpPr/>
          <p:nvPr/>
        </p:nvSpPr>
        <p:spPr>
          <a:xfrm>
            <a:off x="6053400" y="2615040"/>
            <a:ext cx="1023840" cy="658080"/>
          </a:xfrm>
          <a:prstGeom prst="roundRect">
            <a:avLst>
              <a:gd name="adj" fmla="val 11111"/>
            </a:avLst>
          </a:prstGeom>
          <a:solidFill>
            <a:srgbClr val="102A44"/>
          </a:solidFill>
          <a:ln w="12700">
            <a:solidFill>
              <a:srgbClr val="3DDC97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46"/>
          <p:cNvSpPr/>
          <p:nvPr/>
        </p:nvSpPr>
        <p:spPr>
          <a:xfrm>
            <a:off x="6163200" y="2724840"/>
            <a:ext cx="804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kubelet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node agent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00"/>
          <p:cNvSpPr/>
          <p:nvPr/>
        </p:nvSpPr>
        <p:spPr>
          <a:xfrm>
            <a:off x="7287840" y="2615040"/>
            <a:ext cx="1096920" cy="658080"/>
          </a:xfrm>
          <a:prstGeom prst="roundRect">
            <a:avLst>
              <a:gd name="adj" fmla="val 11111"/>
            </a:avLst>
          </a:prstGeom>
          <a:solidFill>
            <a:srgbClr val="102A44"/>
          </a:solidFill>
          <a:ln w="12700">
            <a:solidFill>
              <a:srgbClr val="3DDC97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47"/>
          <p:cNvSpPr/>
          <p:nvPr/>
        </p:nvSpPr>
        <p:spPr>
          <a:xfrm>
            <a:off x="7397640" y="2724840"/>
            <a:ext cx="877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containerd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container runtime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01"/>
          <p:cNvSpPr/>
          <p:nvPr/>
        </p:nvSpPr>
        <p:spPr>
          <a:xfrm>
            <a:off x="6053400" y="3694320"/>
            <a:ext cx="1023840" cy="639720"/>
          </a:xfrm>
          <a:prstGeom prst="roundRect">
            <a:avLst>
              <a:gd name="adj" fmla="val 11429"/>
            </a:avLst>
          </a:prstGeom>
          <a:solidFill>
            <a:srgbClr val="15334D"/>
          </a:solidFill>
          <a:ln w="12700">
            <a:solidFill>
              <a:srgbClr val="2F80ED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48"/>
          <p:cNvSpPr/>
          <p:nvPr/>
        </p:nvSpPr>
        <p:spPr>
          <a:xfrm>
            <a:off x="6163200" y="3803760"/>
            <a:ext cx="8042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Pod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Flask app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02"/>
          <p:cNvSpPr/>
          <p:nvPr/>
        </p:nvSpPr>
        <p:spPr>
          <a:xfrm>
            <a:off x="7287840" y="3694320"/>
            <a:ext cx="1096920" cy="639720"/>
          </a:xfrm>
          <a:prstGeom prst="roundRect">
            <a:avLst>
              <a:gd name="adj" fmla="val 11429"/>
            </a:avLst>
          </a:prstGeom>
          <a:solidFill>
            <a:srgbClr val="15334D"/>
          </a:solidFill>
          <a:ln w="12700">
            <a:solidFill>
              <a:srgbClr val="2F80ED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49"/>
          <p:cNvSpPr/>
          <p:nvPr/>
        </p:nvSpPr>
        <p:spPr>
          <a:xfrm>
            <a:off x="7397640" y="3803760"/>
            <a:ext cx="877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Pod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Postgres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03"/>
          <p:cNvSpPr/>
          <p:nvPr/>
        </p:nvSpPr>
        <p:spPr>
          <a:xfrm>
            <a:off x="6555960" y="3282480"/>
            <a:ext cx="360" cy="402480"/>
          </a:xfrm>
          <a:prstGeom prst="line">
            <a:avLst/>
          </a:prstGeom>
          <a:ln w="12700">
            <a:solidFill>
              <a:srgbClr val="3DDC97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04"/>
          <p:cNvSpPr/>
          <p:nvPr/>
        </p:nvSpPr>
        <p:spPr>
          <a:xfrm>
            <a:off x="7845480" y="3282480"/>
            <a:ext cx="360" cy="402480"/>
          </a:xfrm>
          <a:prstGeom prst="line">
            <a:avLst/>
          </a:prstGeom>
          <a:ln w="12700">
            <a:solidFill>
              <a:srgbClr val="3DDC97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05"/>
          <p:cNvSpPr/>
          <p:nvPr/>
        </p:nvSpPr>
        <p:spPr>
          <a:xfrm>
            <a:off x="8842320" y="1938600"/>
            <a:ext cx="2331360" cy="420120"/>
          </a:xfrm>
          <a:prstGeom prst="roundRect">
            <a:avLst>
              <a:gd name="adj" fmla="val 17391"/>
            </a:avLst>
          </a:prstGeom>
          <a:solidFill>
            <a:srgbClr val="12395A"/>
          </a:solidFill>
          <a:ln w="12700">
            <a:solidFill>
              <a:srgbClr val="3DDC97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50"/>
          <p:cNvSpPr/>
          <p:nvPr/>
        </p:nvSpPr>
        <p:spPr>
          <a:xfrm>
            <a:off x="8952120" y="2048400"/>
            <a:ext cx="2111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Worker node 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06"/>
          <p:cNvSpPr/>
          <p:nvPr/>
        </p:nvSpPr>
        <p:spPr>
          <a:xfrm>
            <a:off x="8842320" y="2615040"/>
            <a:ext cx="1023840" cy="658080"/>
          </a:xfrm>
          <a:prstGeom prst="roundRect">
            <a:avLst>
              <a:gd name="adj" fmla="val 11111"/>
            </a:avLst>
          </a:prstGeom>
          <a:solidFill>
            <a:srgbClr val="102A44"/>
          </a:solidFill>
          <a:ln w="12700">
            <a:solidFill>
              <a:srgbClr val="3DDC97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51"/>
          <p:cNvSpPr/>
          <p:nvPr/>
        </p:nvSpPr>
        <p:spPr>
          <a:xfrm>
            <a:off x="8952120" y="2724840"/>
            <a:ext cx="804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kubelet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node agent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07"/>
          <p:cNvSpPr/>
          <p:nvPr/>
        </p:nvSpPr>
        <p:spPr>
          <a:xfrm>
            <a:off x="10076760" y="2615040"/>
            <a:ext cx="1096920" cy="658080"/>
          </a:xfrm>
          <a:prstGeom prst="roundRect">
            <a:avLst>
              <a:gd name="adj" fmla="val 11111"/>
            </a:avLst>
          </a:prstGeom>
          <a:solidFill>
            <a:srgbClr val="102A44"/>
          </a:solidFill>
          <a:ln w="12700">
            <a:solidFill>
              <a:srgbClr val="3DDC97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52"/>
          <p:cNvSpPr/>
          <p:nvPr/>
        </p:nvSpPr>
        <p:spPr>
          <a:xfrm>
            <a:off x="10186560" y="2724840"/>
            <a:ext cx="877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containerd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container runtime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08"/>
          <p:cNvSpPr/>
          <p:nvPr/>
        </p:nvSpPr>
        <p:spPr>
          <a:xfrm>
            <a:off x="8842320" y="3694320"/>
            <a:ext cx="1023840" cy="639720"/>
          </a:xfrm>
          <a:prstGeom prst="roundRect">
            <a:avLst>
              <a:gd name="adj" fmla="val 11429"/>
            </a:avLst>
          </a:prstGeom>
          <a:solidFill>
            <a:srgbClr val="15334D"/>
          </a:solidFill>
          <a:ln w="12700">
            <a:solidFill>
              <a:srgbClr val="2F80ED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53"/>
          <p:cNvSpPr/>
          <p:nvPr/>
        </p:nvSpPr>
        <p:spPr>
          <a:xfrm>
            <a:off x="8952120" y="3803760"/>
            <a:ext cx="8042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Pod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Flask app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09"/>
          <p:cNvSpPr/>
          <p:nvPr/>
        </p:nvSpPr>
        <p:spPr>
          <a:xfrm>
            <a:off x="10076760" y="3694320"/>
            <a:ext cx="1096920" cy="639720"/>
          </a:xfrm>
          <a:prstGeom prst="roundRect">
            <a:avLst>
              <a:gd name="adj" fmla="val 11429"/>
            </a:avLst>
          </a:prstGeom>
          <a:solidFill>
            <a:srgbClr val="15334D"/>
          </a:solidFill>
          <a:ln w="12700">
            <a:solidFill>
              <a:srgbClr val="2F80ED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54"/>
          <p:cNvSpPr/>
          <p:nvPr/>
        </p:nvSpPr>
        <p:spPr>
          <a:xfrm>
            <a:off x="10186560" y="3803760"/>
            <a:ext cx="877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Pod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Postgres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10"/>
          <p:cNvSpPr/>
          <p:nvPr/>
        </p:nvSpPr>
        <p:spPr>
          <a:xfrm>
            <a:off x="9344880" y="3282480"/>
            <a:ext cx="360" cy="402480"/>
          </a:xfrm>
          <a:prstGeom prst="line">
            <a:avLst/>
          </a:prstGeom>
          <a:ln w="12700">
            <a:solidFill>
              <a:srgbClr val="3DDC97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11"/>
          <p:cNvSpPr/>
          <p:nvPr/>
        </p:nvSpPr>
        <p:spPr>
          <a:xfrm>
            <a:off x="10634400" y="3282480"/>
            <a:ext cx="360" cy="402480"/>
          </a:xfrm>
          <a:prstGeom prst="line">
            <a:avLst/>
          </a:prstGeom>
          <a:ln w="12700">
            <a:solidFill>
              <a:srgbClr val="3DDC97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55"/>
          <p:cNvSpPr/>
          <p:nvPr/>
        </p:nvSpPr>
        <p:spPr>
          <a:xfrm>
            <a:off x="5989320" y="495612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8C1D1"/>
                </a:solidFill>
                <a:effectLst/>
                <a:uFillTx/>
                <a:latin typeface="Aptos"/>
              </a:rPr>
              <a:t>In our lab every VM is a single-node K3s cluster: control plane and worker are on the same machine.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21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71726"/>
          </a:solidFill>
          <a:ln w="12700">
            <a:solidFill>
              <a:srgbClr val="07172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13"/>
          <p:cNvSpPr/>
          <p:nvPr/>
        </p:nvSpPr>
        <p:spPr>
          <a:xfrm>
            <a:off x="0" y="0"/>
            <a:ext cx="12191760" cy="164160"/>
          </a:xfrm>
          <a:prstGeom prst="rect">
            <a:avLst/>
          </a:prstGeom>
          <a:solidFill>
            <a:srgbClr val="27D3F5">
              <a:alpha val="85000"/>
            </a:srgbClr>
          </a:solidFill>
          <a:ln w="12700">
            <a:solidFill>
              <a:srgbClr val="27D3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56"/>
          <p:cNvSpPr/>
          <p:nvPr/>
        </p:nvSpPr>
        <p:spPr>
          <a:xfrm>
            <a:off x="502920" y="393120"/>
            <a:ext cx="7955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4F8FB"/>
                </a:solidFill>
                <a:effectLst/>
                <a:uFillTx/>
                <a:latin typeface="Aptos Display"/>
                <a:ea typeface="Aptos Display"/>
              </a:rPr>
              <a:t>What happens when you create a Pod?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57"/>
          <p:cNvSpPr/>
          <p:nvPr/>
        </p:nvSpPr>
        <p:spPr>
          <a:xfrm>
            <a:off x="521280" y="822960"/>
            <a:ext cx="10515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C1D1"/>
                </a:solidFill>
                <a:effectLst/>
                <a:uFillTx/>
                <a:latin typeface="Aptos"/>
              </a:rPr>
              <a:t>A Deployment request becomes running containers through a series of control-plane and node actions.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14"/>
          <p:cNvSpPr/>
          <p:nvPr/>
        </p:nvSpPr>
        <p:spPr>
          <a:xfrm>
            <a:off x="1947600" y="2743200"/>
            <a:ext cx="457200" cy="360"/>
          </a:xfrm>
          <a:prstGeom prst="line">
            <a:avLst/>
          </a:prstGeom>
          <a:ln w="12700">
            <a:solidFill>
              <a:srgbClr val="27D3F5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15"/>
          <p:cNvSpPr/>
          <p:nvPr/>
        </p:nvSpPr>
        <p:spPr>
          <a:xfrm>
            <a:off x="3749040" y="2743200"/>
            <a:ext cx="457200" cy="360"/>
          </a:xfrm>
          <a:prstGeom prst="line">
            <a:avLst/>
          </a:prstGeom>
          <a:ln w="12700">
            <a:solidFill>
              <a:srgbClr val="27D3F5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16"/>
          <p:cNvSpPr/>
          <p:nvPr/>
        </p:nvSpPr>
        <p:spPr>
          <a:xfrm>
            <a:off x="5550120" y="2743200"/>
            <a:ext cx="576360" cy="360"/>
          </a:xfrm>
          <a:prstGeom prst="line">
            <a:avLst/>
          </a:prstGeom>
          <a:ln w="12700">
            <a:solidFill>
              <a:srgbClr val="27D3F5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17"/>
          <p:cNvSpPr/>
          <p:nvPr/>
        </p:nvSpPr>
        <p:spPr>
          <a:xfrm>
            <a:off x="7470360" y="2743200"/>
            <a:ext cx="631080" cy="360"/>
          </a:xfrm>
          <a:prstGeom prst="line">
            <a:avLst/>
          </a:prstGeom>
          <a:ln w="12700">
            <a:solidFill>
              <a:srgbClr val="27D3F5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18"/>
          <p:cNvSpPr/>
          <p:nvPr/>
        </p:nvSpPr>
        <p:spPr>
          <a:xfrm>
            <a:off x="9445680" y="2743200"/>
            <a:ext cx="594360" cy="360"/>
          </a:xfrm>
          <a:prstGeom prst="line">
            <a:avLst/>
          </a:prstGeom>
          <a:ln w="12700">
            <a:solidFill>
              <a:srgbClr val="27D3F5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19"/>
          <p:cNvSpPr/>
          <p:nvPr/>
        </p:nvSpPr>
        <p:spPr>
          <a:xfrm>
            <a:off x="713160" y="2212920"/>
            <a:ext cx="1325520" cy="1060200"/>
          </a:xfrm>
          <a:prstGeom prst="roundRect">
            <a:avLst>
              <a:gd name="adj" fmla="val 6897"/>
            </a:avLst>
          </a:prstGeom>
          <a:solidFill>
            <a:srgbClr val="102A44"/>
          </a:solidFill>
          <a:ln w="12700">
            <a:solidFill>
              <a:srgbClr val="27D3F5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58"/>
          <p:cNvSpPr/>
          <p:nvPr/>
        </p:nvSpPr>
        <p:spPr>
          <a:xfrm>
            <a:off x="822960" y="2322720"/>
            <a:ext cx="11059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kubectl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send YAML / command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20"/>
          <p:cNvSpPr/>
          <p:nvPr/>
        </p:nvSpPr>
        <p:spPr>
          <a:xfrm>
            <a:off x="2514600" y="2212920"/>
            <a:ext cx="1325520" cy="1060200"/>
          </a:xfrm>
          <a:prstGeom prst="roundRect">
            <a:avLst>
              <a:gd name="adj" fmla="val 6897"/>
            </a:avLst>
          </a:prstGeom>
          <a:solidFill>
            <a:srgbClr val="102A44"/>
          </a:solidFill>
          <a:ln w="12700">
            <a:solidFill>
              <a:srgbClr val="27D3F5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59"/>
          <p:cNvSpPr/>
          <p:nvPr/>
        </p:nvSpPr>
        <p:spPr>
          <a:xfrm>
            <a:off x="2624400" y="2322720"/>
            <a:ext cx="11059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API Server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validate and store desired state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21"/>
          <p:cNvSpPr/>
          <p:nvPr/>
        </p:nvSpPr>
        <p:spPr>
          <a:xfrm>
            <a:off x="4316040" y="2212920"/>
            <a:ext cx="1325520" cy="1060200"/>
          </a:xfrm>
          <a:prstGeom prst="roundRect">
            <a:avLst>
              <a:gd name="adj" fmla="val 6897"/>
            </a:avLst>
          </a:prstGeom>
          <a:solidFill>
            <a:srgbClr val="12395A"/>
          </a:solidFill>
          <a:ln w="12700">
            <a:solidFill>
              <a:srgbClr val="27D3F5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60"/>
          <p:cNvSpPr/>
          <p:nvPr/>
        </p:nvSpPr>
        <p:spPr>
          <a:xfrm>
            <a:off x="4425840" y="2322720"/>
            <a:ext cx="11059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Scheduler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choose a node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22"/>
          <p:cNvSpPr/>
          <p:nvPr/>
        </p:nvSpPr>
        <p:spPr>
          <a:xfrm>
            <a:off x="6236280" y="2212920"/>
            <a:ext cx="1325520" cy="1060200"/>
          </a:xfrm>
          <a:prstGeom prst="roundRect">
            <a:avLst>
              <a:gd name="adj" fmla="val 6897"/>
            </a:avLst>
          </a:prstGeom>
          <a:solidFill>
            <a:srgbClr val="12395A"/>
          </a:solidFill>
          <a:ln w="12700">
            <a:solidFill>
              <a:srgbClr val="3DDC97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61"/>
          <p:cNvSpPr/>
          <p:nvPr/>
        </p:nvSpPr>
        <p:spPr>
          <a:xfrm>
            <a:off x="6346080" y="2322720"/>
            <a:ext cx="11059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kubelet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pull image and create Pod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23"/>
          <p:cNvSpPr/>
          <p:nvPr/>
        </p:nvSpPr>
        <p:spPr>
          <a:xfrm>
            <a:off x="8211240" y="2212920"/>
            <a:ext cx="1325520" cy="1060200"/>
          </a:xfrm>
          <a:prstGeom prst="roundRect">
            <a:avLst>
              <a:gd name="adj" fmla="val 6897"/>
            </a:avLst>
          </a:prstGeom>
          <a:solidFill>
            <a:srgbClr val="12395A"/>
          </a:solidFill>
          <a:ln w="12700">
            <a:solidFill>
              <a:srgbClr val="3DDC97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62"/>
          <p:cNvSpPr/>
          <p:nvPr/>
        </p:nvSpPr>
        <p:spPr>
          <a:xfrm>
            <a:off x="8321040" y="2322720"/>
            <a:ext cx="11059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containerd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run containers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24"/>
          <p:cNvSpPr/>
          <p:nvPr/>
        </p:nvSpPr>
        <p:spPr>
          <a:xfrm>
            <a:off x="10149840" y="2212920"/>
            <a:ext cx="1325520" cy="1060200"/>
          </a:xfrm>
          <a:prstGeom prst="roundRect">
            <a:avLst>
              <a:gd name="adj" fmla="val 6897"/>
            </a:avLst>
          </a:prstGeom>
          <a:solidFill>
            <a:srgbClr val="12395A"/>
          </a:solidFill>
          <a:ln w="12700">
            <a:solidFill>
              <a:srgbClr val="3DDC97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63"/>
          <p:cNvSpPr/>
          <p:nvPr/>
        </p:nvSpPr>
        <p:spPr>
          <a:xfrm>
            <a:off x="10259640" y="2322720"/>
            <a:ext cx="11059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Pod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application is running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64"/>
          <p:cNvSpPr/>
          <p:nvPr/>
        </p:nvSpPr>
        <p:spPr>
          <a:xfrm>
            <a:off x="658440" y="388620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Where common failures show up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25"/>
          <p:cNvSpPr/>
          <p:nvPr/>
        </p:nvSpPr>
        <p:spPr>
          <a:xfrm>
            <a:off x="658440" y="4370760"/>
            <a:ext cx="10808280" cy="402120"/>
          </a:xfrm>
          <a:prstGeom prst="roundRect">
            <a:avLst>
              <a:gd name="adj" fmla="val 13636"/>
            </a:avLst>
          </a:prstGeom>
          <a:solidFill>
            <a:srgbClr val="0D263D"/>
          </a:solidFill>
          <a:ln w="12700">
            <a:solidFill>
              <a:srgbClr val="173E60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65"/>
          <p:cNvSpPr/>
          <p:nvPr/>
        </p:nvSpPr>
        <p:spPr>
          <a:xfrm>
            <a:off x="822960" y="4480560"/>
            <a:ext cx="1828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2C94C"/>
                </a:solidFill>
                <a:effectLst/>
                <a:uFillTx/>
                <a:latin typeface="Aptos"/>
              </a:rPr>
              <a:t>ImagePullBackOff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66"/>
          <p:cNvSpPr/>
          <p:nvPr/>
        </p:nvSpPr>
        <p:spPr>
          <a:xfrm>
            <a:off x="2788920" y="4480560"/>
            <a:ext cx="42516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kubelet/containerd cannot pull image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67"/>
          <p:cNvSpPr/>
          <p:nvPr/>
        </p:nvSpPr>
        <p:spPr>
          <a:xfrm>
            <a:off x="7315200" y="4480560"/>
            <a:ext cx="37486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C1D1"/>
                </a:solidFill>
                <a:effectLst/>
                <a:uFillTx/>
                <a:latin typeface="Aptos"/>
              </a:rPr>
              <a:t>describe pod + events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26"/>
          <p:cNvSpPr/>
          <p:nvPr/>
        </p:nvSpPr>
        <p:spPr>
          <a:xfrm>
            <a:off x="658440" y="4864680"/>
            <a:ext cx="10808280" cy="402120"/>
          </a:xfrm>
          <a:prstGeom prst="roundRect">
            <a:avLst>
              <a:gd name="adj" fmla="val 13636"/>
            </a:avLst>
          </a:prstGeom>
          <a:solidFill>
            <a:srgbClr val="0A2035"/>
          </a:solidFill>
          <a:ln w="12700">
            <a:solidFill>
              <a:srgbClr val="173E60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68"/>
          <p:cNvSpPr/>
          <p:nvPr/>
        </p:nvSpPr>
        <p:spPr>
          <a:xfrm>
            <a:off x="822960" y="4974480"/>
            <a:ext cx="1828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EB5757"/>
                </a:solidFill>
                <a:effectLst/>
                <a:uFillTx/>
                <a:latin typeface="Aptos"/>
              </a:rPr>
              <a:t>CrashLoopBackOff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69"/>
          <p:cNvSpPr/>
          <p:nvPr/>
        </p:nvSpPr>
        <p:spPr>
          <a:xfrm>
            <a:off x="2788920" y="4974480"/>
            <a:ext cx="42516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image was pulled, process exits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70"/>
          <p:cNvSpPr/>
          <p:nvPr/>
        </p:nvSpPr>
        <p:spPr>
          <a:xfrm>
            <a:off x="7315200" y="4974480"/>
            <a:ext cx="37486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C1D1"/>
                </a:solidFill>
                <a:effectLst/>
                <a:uFillTx/>
                <a:latin typeface="Aptos"/>
              </a:rPr>
              <a:t>logs --previous + describe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27"/>
          <p:cNvSpPr/>
          <p:nvPr/>
        </p:nvSpPr>
        <p:spPr>
          <a:xfrm>
            <a:off x="658440" y="5358240"/>
            <a:ext cx="10808280" cy="402120"/>
          </a:xfrm>
          <a:prstGeom prst="roundRect">
            <a:avLst>
              <a:gd name="adj" fmla="val 13636"/>
            </a:avLst>
          </a:prstGeom>
          <a:solidFill>
            <a:srgbClr val="0D263D"/>
          </a:solidFill>
          <a:ln w="12700">
            <a:solidFill>
              <a:srgbClr val="173E60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71"/>
          <p:cNvSpPr/>
          <p:nvPr/>
        </p:nvSpPr>
        <p:spPr>
          <a:xfrm>
            <a:off x="822960" y="5468040"/>
            <a:ext cx="1828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7D3F5"/>
                </a:solidFill>
                <a:effectLst/>
                <a:uFillTx/>
                <a:latin typeface="Aptos"/>
              </a:rPr>
              <a:t>Running but not Ready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72"/>
          <p:cNvSpPr/>
          <p:nvPr/>
        </p:nvSpPr>
        <p:spPr>
          <a:xfrm>
            <a:off x="2788920" y="5468040"/>
            <a:ext cx="42516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process runs, readiness check fails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73"/>
          <p:cNvSpPr/>
          <p:nvPr/>
        </p:nvSpPr>
        <p:spPr>
          <a:xfrm>
            <a:off x="7315200" y="5468040"/>
            <a:ext cx="37486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C1D1"/>
                </a:solidFill>
                <a:effectLst/>
                <a:uFillTx/>
                <a:latin typeface="Aptos"/>
              </a:rPr>
              <a:t>describe pod + endpoints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28"/>
          <p:cNvSpPr/>
          <p:nvPr/>
        </p:nvSpPr>
        <p:spPr>
          <a:xfrm>
            <a:off x="658440" y="5852160"/>
            <a:ext cx="10808280" cy="402120"/>
          </a:xfrm>
          <a:prstGeom prst="roundRect">
            <a:avLst>
              <a:gd name="adj" fmla="val 13636"/>
            </a:avLst>
          </a:prstGeom>
          <a:solidFill>
            <a:srgbClr val="0A2035"/>
          </a:solidFill>
          <a:ln w="12700">
            <a:solidFill>
              <a:srgbClr val="173E60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74"/>
          <p:cNvSpPr/>
          <p:nvPr/>
        </p:nvSpPr>
        <p:spPr>
          <a:xfrm>
            <a:off x="822960" y="5961960"/>
            <a:ext cx="1828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3DDC97"/>
                </a:solidFill>
                <a:effectLst/>
                <a:uFillTx/>
                <a:latin typeface="Aptos"/>
              </a:rPr>
              <a:t>Pending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75"/>
          <p:cNvSpPr/>
          <p:nvPr/>
        </p:nvSpPr>
        <p:spPr>
          <a:xfrm>
            <a:off x="2788920" y="5961960"/>
            <a:ext cx="42516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scheduler or admission cannot place/create Pod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76"/>
          <p:cNvSpPr/>
          <p:nvPr/>
        </p:nvSpPr>
        <p:spPr>
          <a:xfrm>
            <a:off x="7315200" y="5961960"/>
            <a:ext cx="37486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C1D1"/>
                </a:solidFill>
                <a:effectLst/>
                <a:uFillTx/>
                <a:latin typeface="Aptos"/>
              </a:rPr>
              <a:t>describe pod + quota/events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77"/>
          <p:cNvSpPr/>
          <p:nvPr/>
        </p:nvSpPr>
        <p:spPr>
          <a:xfrm>
            <a:off x="658440" y="6382440"/>
            <a:ext cx="9601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8C1D1"/>
                </a:solidFill>
                <a:effectLst/>
                <a:uFillTx/>
                <a:latin typeface="Aptos"/>
              </a:rPr>
              <a:t>Mental model: first classify the failure stage, then choose the command. Do not debug blindly.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6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71726"/>
          </a:solidFill>
          <a:ln w="12700">
            <a:solidFill>
              <a:srgbClr val="07172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67"/>
          <p:cNvSpPr/>
          <p:nvPr/>
        </p:nvSpPr>
        <p:spPr>
          <a:xfrm>
            <a:off x="0" y="0"/>
            <a:ext cx="12191760" cy="164160"/>
          </a:xfrm>
          <a:prstGeom prst="rect">
            <a:avLst/>
          </a:prstGeom>
          <a:solidFill>
            <a:srgbClr val="27D3F5">
              <a:alpha val="85000"/>
            </a:srgbClr>
          </a:solidFill>
          <a:ln w="12700">
            <a:solidFill>
              <a:srgbClr val="27D3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12"/>
          <p:cNvSpPr/>
          <p:nvPr/>
        </p:nvSpPr>
        <p:spPr>
          <a:xfrm>
            <a:off x="502920" y="393120"/>
            <a:ext cx="7955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4F8FB"/>
                </a:solidFill>
                <a:effectLst/>
                <a:uFillTx/>
                <a:latin typeface="Aptos Display"/>
                <a:ea typeface="Aptos Display"/>
              </a:rPr>
              <a:t>VM vs Docker vs Kubernetes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13"/>
          <p:cNvSpPr/>
          <p:nvPr/>
        </p:nvSpPr>
        <p:spPr>
          <a:xfrm>
            <a:off x="521280" y="822960"/>
            <a:ext cx="10515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C1D1"/>
                </a:solidFill>
                <a:effectLst/>
                <a:uFillTx/>
                <a:latin typeface="Aptos"/>
              </a:rPr>
              <a:t>Three different layers of abstraction, often used together.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68"/>
          <p:cNvSpPr/>
          <p:nvPr/>
        </p:nvSpPr>
        <p:spPr>
          <a:xfrm>
            <a:off x="658440" y="1207080"/>
            <a:ext cx="3154320" cy="4525920"/>
          </a:xfrm>
          <a:prstGeom prst="roundRect">
            <a:avLst>
              <a:gd name="adj" fmla="val 2899"/>
            </a:avLst>
          </a:prstGeom>
          <a:solidFill>
            <a:srgbClr val="0F2A43"/>
          </a:solidFill>
          <a:ln w="12700">
            <a:solidFill>
              <a:srgbClr val="2F80ED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14"/>
          <p:cNvSpPr/>
          <p:nvPr/>
        </p:nvSpPr>
        <p:spPr>
          <a:xfrm>
            <a:off x="859680" y="144468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Virtual Machine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15"/>
          <p:cNvSpPr/>
          <p:nvPr/>
        </p:nvSpPr>
        <p:spPr>
          <a:xfrm>
            <a:off x="859680" y="175572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C1D1"/>
                </a:solidFill>
                <a:effectLst/>
                <a:uFillTx/>
                <a:latin typeface="Aptos"/>
              </a:rPr>
              <a:t>Full OS boundary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69"/>
          <p:cNvSpPr/>
          <p:nvPr/>
        </p:nvSpPr>
        <p:spPr>
          <a:xfrm>
            <a:off x="4224600" y="1207080"/>
            <a:ext cx="3154320" cy="4525920"/>
          </a:xfrm>
          <a:prstGeom prst="roundRect">
            <a:avLst>
              <a:gd name="adj" fmla="val 2899"/>
            </a:avLst>
          </a:prstGeom>
          <a:solidFill>
            <a:srgbClr val="0D334A"/>
          </a:solidFill>
          <a:ln w="12700">
            <a:solidFill>
              <a:srgbClr val="27D3F5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16"/>
          <p:cNvSpPr/>
          <p:nvPr/>
        </p:nvSpPr>
        <p:spPr>
          <a:xfrm>
            <a:off x="4425840" y="144468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Docker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17"/>
          <p:cNvSpPr/>
          <p:nvPr/>
        </p:nvSpPr>
        <p:spPr>
          <a:xfrm>
            <a:off x="4425840" y="175572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C1D1"/>
                </a:solidFill>
                <a:effectLst/>
                <a:uFillTx/>
                <a:latin typeface="Aptos"/>
              </a:rPr>
              <a:t>Single-container runtime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70"/>
          <p:cNvSpPr/>
          <p:nvPr/>
        </p:nvSpPr>
        <p:spPr>
          <a:xfrm>
            <a:off x="7790760" y="1207080"/>
            <a:ext cx="3154320" cy="4525920"/>
          </a:xfrm>
          <a:prstGeom prst="roundRect">
            <a:avLst>
              <a:gd name="adj" fmla="val 2899"/>
            </a:avLst>
          </a:prstGeom>
          <a:solidFill>
            <a:srgbClr val="102A44"/>
          </a:solidFill>
          <a:ln w="12700">
            <a:solidFill>
              <a:srgbClr val="3DDC97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18"/>
          <p:cNvSpPr/>
          <p:nvPr/>
        </p:nvSpPr>
        <p:spPr>
          <a:xfrm>
            <a:off x="7992000" y="144468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Kubernetes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19"/>
          <p:cNvSpPr/>
          <p:nvPr/>
        </p:nvSpPr>
        <p:spPr>
          <a:xfrm>
            <a:off x="7992000" y="175572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C1D1"/>
                </a:solidFill>
                <a:effectLst/>
                <a:uFillTx/>
                <a:latin typeface="Aptos"/>
              </a:rPr>
              <a:t>Application platform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71"/>
          <p:cNvSpPr/>
          <p:nvPr/>
        </p:nvSpPr>
        <p:spPr>
          <a:xfrm>
            <a:off x="1097280" y="2331720"/>
            <a:ext cx="2239920" cy="411120"/>
          </a:xfrm>
          <a:prstGeom prst="roundRect">
            <a:avLst>
              <a:gd name="adj" fmla="val 17778"/>
            </a:avLst>
          </a:prstGeom>
          <a:solidFill>
            <a:srgbClr val="143854"/>
          </a:solidFill>
          <a:ln w="12700">
            <a:solidFill>
              <a:srgbClr val="2F80ED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20"/>
          <p:cNvSpPr/>
          <p:nvPr/>
        </p:nvSpPr>
        <p:spPr>
          <a:xfrm>
            <a:off x="1207080" y="2441520"/>
            <a:ext cx="20203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App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72"/>
          <p:cNvSpPr/>
          <p:nvPr/>
        </p:nvSpPr>
        <p:spPr>
          <a:xfrm>
            <a:off x="1097280" y="2880360"/>
            <a:ext cx="2239920" cy="411120"/>
          </a:xfrm>
          <a:prstGeom prst="roundRect">
            <a:avLst>
              <a:gd name="adj" fmla="val 17778"/>
            </a:avLst>
          </a:prstGeom>
          <a:solidFill>
            <a:srgbClr val="143854"/>
          </a:solidFill>
          <a:ln w="12700">
            <a:solidFill>
              <a:srgbClr val="2F80ED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21"/>
          <p:cNvSpPr/>
          <p:nvPr/>
        </p:nvSpPr>
        <p:spPr>
          <a:xfrm>
            <a:off x="1207080" y="2990160"/>
            <a:ext cx="20203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Guest OS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73"/>
          <p:cNvSpPr/>
          <p:nvPr/>
        </p:nvSpPr>
        <p:spPr>
          <a:xfrm>
            <a:off x="1097280" y="3429000"/>
            <a:ext cx="2239920" cy="411120"/>
          </a:xfrm>
          <a:prstGeom prst="roundRect">
            <a:avLst>
              <a:gd name="adj" fmla="val 17778"/>
            </a:avLst>
          </a:prstGeom>
          <a:solidFill>
            <a:srgbClr val="143854"/>
          </a:solidFill>
          <a:ln w="12700">
            <a:solidFill>
              <a:srgbClr val="2F80ED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22"/>
          <p:cNvSpPr/>
          <p:nvPr/>
        </p:nvSpPr>
        <p:spPr>
          <a:xfrm>
            <a:off x="1207080" y="3538800"/>
            <a:ext cx="20203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Virtual hardware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74"/>
          <p:cNvSpPr/>
          <p:nvPr/>
        </p:nvSpPr>
        <p:spPr>
          <a:xfrm>
            <a:off x="1097280" y="3977640"/>
            <a:ext cx="2239920" cy="411120"/>
          </a:xfrm>
          <a:prstGeom prst="roundRect">
            <a:avLst>
              <a:gd name="adj" fmla="val 17778"/>
            </a:avLst>
          </a:prstGeom>
          <a:solidFill>
            <a:srgbClr val="143854"/>
          </a:solidFill>
          <a:ln w="12700">
            <a:solidFill>
              <a:srgbClr val="2F80ED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23"/>
          <p:cNvSpPr/>
          <p:nvPr/>
        </p:nvSpPr>
        <p:spPr>
          <a:xfrm>
            <a:off x="1207080" y="4087440"/>
            <a:ext cx="20203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Hypervisor / cloud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24"/>
          <p:cNvSpPr/>
          <p:nvPr/>
        </p:nvSpPr>
        <p:spPr>
          <a:xfrm>
            <a:off x="914400" y="4864680"/>
            <a:ext cx="2605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8C1D1"/>
                </a:solidFill>
                <a:effectLst/>
                <a:uFillTx/>
                <a:latin typeface="Aptos"/>
              </a:rPr>
              <a:t>Best for strong isolation, legacy workloads, and OS-level control.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75"/>
          <p:cNvSpPr/>
          <p:nvPr/>
        </p:nvSpPr>
        <p:spPr>
          <a:xfrm>
            <a:off x="4663440" y="2331720"/>
            <a:ext cx="2239920" cy="411120"/>
          </a:xfrm>
          <a:prstGeom prst="roundRect">
            <a:avLst>
              <a:gd name="adj" fmla="val 17778"/>
            </a:avLst>
          </a:prstGeom>
          <a:solidFill>
            <a:srgbClr val="123B54"/>
          </a:solidFill>
          <a:ln w="12700">
            <a:solidFill>
              <a:srgbClr val="27D3F5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25"/>
          <p:cNvSpPr/>
          <p:nvPr/>
        </p:nvSpPr>
        <p:spPr>
          <a:xfrm>
            <a:off x="4773240" y="2441520"/>
            <a:ext cx="20203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Container image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76"/>
          <p:cNvSpPr/>
          <p:nvPr/>
        </p:nvSpPr>
        <p:spPr>
          <a:xfrm>
            <a:off x="4663440" y="2880360"/>
            <a:ext cx="2239920" cy="411120"/>
          </a:xfrm>
          <a:prstGeom prst="roundRect">
            <a:avLst>
              <a:gd name="adj" fmla="val 17778"/>
            </a:avLst>
          </a:prstGeom>
          <a:solidFill>
            <a:srgbClr val="123B54"/>
          </a:solidFill>
          <a:ln w="12700">
            <a:solidFill>
              <a:srgbClr val="27D3F5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26"/>
          <p:cNvSpPr/>
          <p:nvPr/>
        </p:nvSpPr>
        <p:spPr>
          <a:xfrm>
            <a:off x="4773240" y="2990160"/>
            <a:ext cx="20203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Container process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77"/>
          <p:cNvSpPr/>
          <p:nvPr/>
        </p:nvSpPr>
        <p:spPr>
          <a:xfrm>
            <a:off x="4663440" y="3429000"/>
            <a:ext cx="2239920" cy="411120"/>
          </a:xfrm>
          <a:prstGeom prst="roundRect">
            <a:avLst>
              <a:gd name="adj" fmla="val 17778"/>
            </a:avLst>
          </a:prstGeom>
          <a:solidFill>
            <a:srgbClr val="123B54"/>
          </a:solidFill>
          <a:ln w="12700">
            <a:solidFill>
              <a:srgbClr val="27D3F5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27"/>
          <p:cNvSpPr/>
          <p:nvPr/>
        </p:nvSpPr>
        <p:spPr>
          <a:xfrm>
            <a:off x="4773240" y="3538800"/>
            <a:ext cx="20203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Docker daemon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78"/>
          <p:cNvSpPr/>
          <p:nvPr/>
        </p:nvSpPr>
        <p:spPr>
          <a:xfrm>
            <a:off x="4663440" y="3977640"/>
            <a:ext cx="2239920" cy="411120"/>
          </a:xfrm>
          <a:prstGeom prst="roundRect">
            <a:avLst>
              <a:gd name="adj" fmla="val 17778"/>
            </a:avLst>
          </a:prstGeom>
          <a:solidFill>
            <a:srgbClr val="123B54"/>
          </a:solidFill>
          <a:ln w="12700">
            <a:solidFill>
              <a:srgbClr val="27D3F5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28"/>
          <p:cNvSpPr/>
          <p:nvPr/>
        </p:nvSpPr>
        <p:spPr>
          <a:xfrm>
            <a:off x="4773240" y="4087440"/>
            <a:ext cx="20203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Host OS kernel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29"/>
          <p:cNvSpPr/>
          <p:nvPr/>
        </p:nvSpPr>
        <p:spPr>
          <a:xfrm>
            <a:off x="4480560" y="4864680"/>
            <a:ext cx="2605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8C1D1"/>
                </a:solidFill>
                <a:effectLst/>
                <a:uFillTx/>
                <a:latin typeface="Aptos"/>
              </a:rPr>
              <a:t>Best for packaging and running a single container locally.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79"/>
          <p:cNvSpPr/>
          <p:nvPr/>
        </p:nvSpPr>
        <p:spPr>
          <a:xfrm>
            <a:off x="8229600" y="2240280"/>
            <a:ext cx="2239920" cy="411120"/>
          </a:xfrm>
          <a:prstGeom prst="roundRect">
            <a:avLst>
              <a:gd name="adj" fmla="val 17778"/>
            </a:avLst>
          </a:prstGeom>
          <a:solidFill>
            <a:srgbClr val="163B43"/>
          </a:solidFill>
          <a:ln w="12700">
            <a:solidFill>
              <a:srgbClr val="3DDC97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30"/>
          <p:cNvSpPr/>
          <p:nvPr/>
        </p:nvSpPr>
        <p:spPr>
          <a:xfrm>
            <a:off x="8339400" y="2350080"/>
            <a:ext cx="20203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Deployment / Service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80"/>
          <p:cNvSpPr/>
          <p:nvPr/>
        </p:nvSpPr>
        <p:spPr>
          <a:xfrm>
            <a:off x="8229600" y="2788920"/>
            <a:ext cx="2239920" cy="411120"/>
          </a:xfrm>
          <a:prstGeom prst="roundRect">
            <a:avLst>
              <a:gd name="adj" fmla="val 17778"/>
            </a:avLst>
          </a:prstGeom>
          <a:solidFill>
            <a:srgbClr val="163B43"/>
          </a:solidFill>
          <a:ln w="12700">
            <a:solidFill>
              <a:srgbClr val="3DDC97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31"/>
          <p:cNvSpPr/>
          <p:nvPr/>
        </p:nvSpPr>
        <p:spPr>
          <a:xfrm>
            <a:off x="8339400" y="2898720"/>
            <a:ext cx="20203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Pods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81"/>
          <p:cNvSpPr/>
          <p:nvPr/>
        </p:nvSpPr>
        <p:spPr>
          <a:xfrm>
            <a:off x="8229600" y="3337560"/>
            <a:ext cx="2239920" cy="411120"/>
          </a:xfrm>
          <a:prstGeom prst="roundRect">
            <a:avLst>
              <a:gd name="adj" fmla="val 17778"/>
            </a:avLst>
          </a:prstGeom>
          <a:solidFill>
            <a:srgbClr val="163B43"/>
          </a:solidFill>
          <a:ln w="12700">
            <a:solidFill>
              <a:srgbClr val="3DDC97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32"/>
          <p:cNvSpPr/>
          <p:nvPr/>
        </p:nvSpPr>
        <p:spPr>
          <a:xfrm>
            <a:off x="8339400" y="3447360"/>
            <a:ext cx="20203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Scheduler + controllers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82"/>
          <p:cNvSpPr/>
          <p:nvPr/>
        </p:nvSpPr>
        <p:spPr>
          <a:xfrm>
            <a:off x="8229600" y="3886200"/>
            <a:ext cx="2239920" cy="411120"/>
          </a:xfrm>
          <a:prstGeom prst="roundRect">
            <a:avLst>
              <a:gd name="adj" fmla="val 17778"/>
            </a:avLst>
          </a:prstGeom>
          <a:solidFill>
            <a:srgbClr val="163B43"/>
          </a:solidFill>
          <a:ln w="12700">
            <a:solidFill>
              <a:srgbClr val="3DDC97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33"/>
          <p:cNvSpPr/>
          <p:nvPr/>
        </p:nvSpPr>
        <p:spPr>
          <a:xfrm>
            <a:off x="8339400" y="3996000"/>
            <a:ext cx="20203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Nodes + container runtime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34"/>
          <p:cNvSpPr/>
          <p:nvPr/>
        </p:nvSpPr>
        <p:spPr>
          <a:xfrm>
            <a:off x="8046720" y="4864680"/>
            <a:ext cx="2605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8C1D1"/>
                </a:solidFill>
                <a:effectLst/>
                <a:uFillTx/>
                <a:latin typeface="Aptos"/>
              </a:rPr>
              <a:t>Best for operating many containers with desired state and self-healing.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83"/>
          <p:cNvSpPr/>
          <p:nvPr/>
        </p:nvSpPr>
        <p:spPr>
          <a:xfrm>
            <a:off x="1325880" y="5989320"/>
            <a:ext cx="9555480" cy="438480"/>
          </a:xfrm>
          <a:prstGeom prst="roundRect">
            <a:avLst>
              <a:gd name="adj" fmla="val 16667"/>
            </a:avLst>
          </a:prstGeom>
          <a:solidFill>
            <a:srgbClr val="0D263D"/>
          </a:solidFill>
          <a:ln w="12700">
            <a:solidFill>
              <a:srgbClr val="27D3F5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35"/>
          <p:cNvSpPr/>
          <p:nvPr/>
        </p:nvSpPr>
        <p:spPr>
          <a:xfrm>
            <a:off x="1572840" y="6117480"/>
            <a:ext cx="9052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F4F8FB"/>
                </a:solidFill>
                <a:effectLst/>
                <a:uFillTx/>
                <a:latin typeface="Aptos"/>
              </a:rPr>
              <a:t>In this workshop: VM provides the lab machine → Docker builds images → Kubernetes runs and operates the application.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3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06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07"/>
          <p:cNvSpPr/>
          <p:nvPr/>
        </p:nvSpPr>
        <p:spPr>
          <a:xfrm>
            <a:off x="658440" y="2148840"/>
            <a:ext cx="1060380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Module 1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08"/>
          <p:cNvSpPr/>
          <p:nvPr/>
        </p:nvSpPr>
        <p:spPr>
          <a:xfrm>
            <a:off x="676800" y="2953440"/>
            <a:ext cx="9597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Workshop architecture and operating model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64"/>
          <p:cNvSpPr/>
          <p:nvPr/>
        </p:nvSpPr>
        <p:spPr>
          <a:xfrm>
            <a:off x="676440" y="3520440"/>
            <a:ext cx="3749040" cy="3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Workshop story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Every topic appears because the application needs it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4"/>
          <p:cNvSpPr/>
          <p:nvPr/>
        </p:nvSpPr>
        <p:spPr>
          <a:xfrm>
            <a:off x="50292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2D46"/>
          </a:solidFill>
          <a:ln w="12700">
            <a:solidFill>
              <a:srgbClr val="0E2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54864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Build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6"/>
          <p:cNvSpPr/>
          <p:nvPr/>
        </p:nvSpPr>
        <p:spPr>
          <a:xfrm>
            <a:off x="177408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7"/>
          <p:cNvSpPr/>
          <p:nvPr/>
        </p:nvSpPr>
        <p:spPr>
          <a:xfrm>
            <a:off x="200268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8"/>
          <p:cNvSpPr/>
          <p:nvPr/>
        </p:nvSpPr>
        <p:spPr>
          <a:xfrm>
            <a:off x="204840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Deploy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9"/>
          <p:cNvSpPr/>
          <p:nvPr/>
        </p:nvSpPr>
        <p:spPr>
          <a:xfrm>
            <a:off x="327348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0"/>
          <p:cNvSpPr/>
          <p:nvPr/>
        </p:nvSpPr>
        <p:spPr>
          <a:xfrm>
            <a:off x="350208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1"/>
          <p:cNvSpPr/>
          <p:nvPr/>
        </p:nvSpPr>
        <p:spPr>
          <a:xfrm>
            <a:off x="354780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Break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2"/>
          <p:cNvSpPr/>
          <p:nvPr/>
        </p:nvSpPr>
        <p:spPr>
          <a:xfrm>
            <a:off x="477324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3"/>
          <p:cNvSpPr/>
          <p:nvPr/>
        </p:nvSpPr>
        <p:spPr>
          <a:xfrm>
            <a:off x="500184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4"/>
          <p:cNvSpPr/>
          <p:nvPr/>
        </p:nvSpPr>
        <p:spPr>
          <a:xfrm>
            <a:off x="504756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Observe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5"/>
          <p:cNvSpPr/>
          <p:nvPr/>
        </p:nvSpPr>
        <p:spPr>
          <a:xfrm>
            <a:off x="627264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6"/>
          <p:cNvSpPr/>
          <p:nvPr/>
        </p:nvSpPr>
        <p:spPr>
          <a:xfrm>
            <a:off x="650124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7"/>
          <p:cNvSpPr/>
          <p:nvPr/>
        </p:nvSpPr>
        <p:spPr>
          <a:xfrm>
            <a:off x="654696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Debug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8"/>
          <p:cNvSpPr/>
          <p:nvPr/>
        </p:nvSpPr>
        <p:spPr>
          <a:xfrm>
            <a:off x="777240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9"/>
          <p:cNvSpPr/>
          <p:nvPr/>
        </p:nvSpPr>
        <p:spPr>
          <a:xfrm>
            <a:off x="800100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0"/>
          <p:cNvSpPr/>
          <p:nvPr/>
        </p:nvSpPr>
        <p:spPr>
          <a:xfrm>
            <a:off x="804672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Fix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1"/>
          <p:cNvSpPr/>
          <p:nvPr/>
        </p:nvSpPr>
        <p:spPr>
          <a:xfrm>
            <a:off x="927216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2"/>
          <p:cNvSpPr/>
          <p:nvPr/>
        </p:nvSpPr>
        <p:spPr>
          <a:xfrm>
            <a:off x="950076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2D46"/>
          </a:solidFill>
          <a:ln w="12700">
            <a:solidFill>
              <a:srgbClr val="0E2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3"/>
          <p:cNvSpPr/>
          <p:nvPr/>
        </p:nvSpPr>
        <p:spPr>
          <a:xfrm>
            <a:off x="954648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Learn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Who is this for?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Same lab, different responsibilities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Developers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Infrastructure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Build images safely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Understand runtime configuration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Read logs and health endpoints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Know when the app is the problem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Design for debuggability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Understand workload impact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Diagnose scheduling and storage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Enforce quotas and defaults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Support minimal images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Provide reliable cluster signals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What we will build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One application, many failure modes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Application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Kubernetes pieces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Flask API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PostgreSQL dependency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Migration Job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Health and readiness endpoints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Cyclic logs and file logs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Deployment and Service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ConfigMap and Secret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PVC and StatefulSet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ResourceQuota and LimitRange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Ephemeral debug containers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Lab rhythm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Repeat this pattern in every module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4"/>
          <p:cNvSpPr/>
          <p:nvPr/>
        </p:nvSpPr>
        <p:spPr>
          <a:xfrm>
            <a:off x="50292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2D46"/>
          </a:solidFill>
          <a:ln w="12700">
            <a:solidFill>
              <a:srgbClr val="0E2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54864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Desired state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6"/>
          <p:cNvSpPr/>
          <p:nvPr/>
        </p:nvSpPr>
        <p:spPr>
          <a:xfrm>
            <a:off x="177408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7"/>
          <p:cNvSpPr/>
          <p:nvPr/>
        </p:nvSpPr>
        <p:spPr>
          <a:xfrm>
            <a:off x="200268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8"/>
          <p:cNvSpPr/>
          <p:nvPr/>
        </p:nvSpPr>
        <p:spPr>
          <a:xfrm>
            <a:off x="204840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Apply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9"/>
          <p:cNvSpPr/>
          <p:nvPr/>
        </p:nvSpPr>
        <p:spPr>
          <a:xfrm>
            <a:off x="327348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0"/>
          <p:cNvSpPr/>
          <p:nvPr/>
        </p:nvSpPr>
        <p:spPr>
          <a:xfrm>
            <a:off x="350208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1"/>
          <p:cNvSpPr/>
          <p:nvPr/>
        </p:nvSpPr>
        <p:spPr>
          <a:xfrm>
            <a:off x="354780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Observe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2"/>
          <p:cNvSpPr/>
          <p:nvPr/>
        </p:nvSpPr>
        <p:spPr>
          <a:xfrm>
            <a:off x="477324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3"/>
          <p:cNvSpPr/>
          <p:nvPr/>
        </p:nvSpPr>
        <p:spPr>
          <a:xfrm>
            <a:off x="500184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4"/>
          <p:cNvSpPr/>
          <p:nvPr/>
        </p:nvSpPr>
        <p:spPr>
          <a:xfrm>
            <a:off x="504756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Break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5"/>
          <p:cNvSpPr/>
          <p:nvPr/>
        </p:nvSpPr>
        <p:spPr>
          <a:xfrm>
            <a:off x="627264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6"/>
          <p:cNvSpPr/>
          <p:nvPr/>
        </p:nvSpPr>
        <p:spPr>
          <a:xfrm>
            <a:off x="650124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7"/>
          <p:cNvSpPr/>
          <p:nvPr/>
        </p:nvSpPr>
        <p:spPr>
          <a:xfrm>
            <a:off x="654696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Diagnose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8"/>
          <p:cNvSpPr/>
          <p:nvPr/>
        </p:nvSpPr>
        <p:spPr>
          <a:xfrm>
            <a:off x="777240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9"/>
          <p:cNvSpPr/>
          <p:nvPr/>
        </p:nvSpPr>
        <p:spPr>
          <a:xfrm>
            <a:off x="800100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0"/>
          <p:cNvSpPr/>
          <p:nvPr/>
        </p:nvSpPr>
        <p:spPr>
          <a:xfrm>
            <a:off x="804672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Fix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1"/>
          <p:cNvSpPr/>
          <p:nvPr/>
        </p:nvSpPr>
        <p:spPr>
          <a:xfrm>
            <a:off x="927216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2"/>
          <p:cNvSpPr/>
          <p:nvPr/>
        </p:nvSpPr>
        <p:spPr>
          <a:xfrm>
            <a:off x="950076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2D46"/>
          </a:solidFill>
          <a:ln w="12700">
            <a:solidFill>
              <a:srgbClr val="0E2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3"/>
          <p:cNvSpPr/>
          <p:nvPr/>
        </p:nvSpPr>
        <p:spPr>
          <a:xfrm>
            <a:off x="954648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Takeaway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Single-node K3s assumption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Designing exercises for the real lab environment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We can demonstrate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We discuss, not lab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Pod lifecycle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ImagePullBackOff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CrashLoopBackOff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Readiness failures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emptyDir and RWO PVC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Quota and OOMKilled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Multi-node RWO attach conflicts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RWX storage implementation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Production-grade PostgreSQL HA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NetworkPolicy deep dive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Full CI/CD pipeline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Recommended schedule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Timing and workshop flow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4"/>
          <p:cNvSpPr/>
          <p:nvPr/>
        </p:nvSpPr>
        <p:spPr>
          <a:xfrm>
            <a:off x="731520" y="1325880"/>
            <a:ext cx="1048320" cy="435600"/>
          </a:xfrm>
          <a:prstGeom prst="roundRect">
            <a:avLst>
              <a:gd name="adj" fmla="val 10417"/>
            </a:avLst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5"/>
          <p:cNvSpPr/>
          <p:nvPr/>
        </p:nvSpPr>
        <p:spPr>
          <a:xfrm>
            <a:off x="804600" y="1472040"/>
            <a:ext cx="8928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Day 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6"/>
          <p:cNvSpPr/>
          <p:nvPr/>
        </p:nvSpPr>
        <p:spPr>
          <a:xfrm>
            <a:off x="2011680" y="1398960"/>
            <a:ext cx="36543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Build and first failures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7"/>
          <p:cNvSpPr/>
          <p:nvPr/>
        </p:nvSpPr>
        <p:spPr>
          <a:xfrm>
            <a:off x="5806440" y="1417320"/>
            <a:ext cx="53002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Images, Deployment, Service, ImagePullBackOff, CrashLoopBackOff, readiness.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8"/>
          <p:cNvSpPr/>
          <p:nvPr/>
        </p:nvSpPr>
        <p:spPr>
          <a:xfrm>
            <a:off x="731520" y="1938600"/>
            <a:ext cx="1048320" cy="435600"/>
          </a:xfrm>
          <a:prstGeom prst="roundRect">
            <a:avLst>
              <a:gd name="adj" fmla="val 10417"/>
            </a:avLst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9"/>
          <p:cNvSpPr/>
          <p:nvPr/>
        </p:nvSpPr>
        <p:spPr>
          <a:xfrm>
            <a:off x="804600" y="2084760"/>
            <a:ext cx="8928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Day 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0"/>
          <p:cNvSpPr/>
          <p:nvPr/>
        </p:nvSpPr>
        <p:spPr>
          <a:xfrm>
            <a:off x="2011680" y="2011680"/>
            <a:ext cx="36543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Production-like application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1"/>
          <p:cNvSpPr/>
          <p:nvPr/>
        </p:nvSpPr>
        <p:spPr>
          <a:xfrm>
            <a:off x="5806440" y="2030040"/>
            <a:ext cx="53002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PostgreSQL, migration Job, volumes, distroless, resources, quotas, OOMKilled.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2"/>
          <p:cNvSpPr/>
          <p:nvPr/>
        </p:nvSpPr>
        <p:spPr>
          <a:xfrm>
            <a:off x="731520" y="2551320"/>
            <a:ext cx="1048320" cy="435600"/>
          </a:xfrm>
          <a:prstGeom prst="roundRect">
            <a:avLst>
              <a:gd name="adj" fmla="val 10417"/>
            </a:avLst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3"/>
          <p:cNvSpPr/>
          <p:nvPr/>
        </p:nvSpPr>
        <p:spPr>
          <a:xfrm>
            <a:off x="804600" y="2697480"/>
            <a:ext cx="8928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Day 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4"/>
          <p:cNvSpPr/>
          <p:nvPr/>
        </p:nvSpPr>
        <p:spPr>
          <a:xfrm>
            <a:off x="2011680" y="2624400"/>
            <a:ext cx="36543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Playbook and combined cases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5"/>
          <p:cNvSpPr/>
          <p:nvPr/>
        </p:nvSpPr>
        <p:spPr>
          <a:xfrm>
            <a:off x="5806440" y="2642760"/>
            <a:ext cx="53002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Decision tree, team exercise, dev/platform responsibility split.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"/>
          <p:cNvSpPr/>
          <p:nvPr/>
        </p:nvSpPr>
        <p:spPr>
          <a:xfrm>
            <a:off x="658440" y="2148840"/>
            <a:ext cx="1060380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Module 2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676800" y="2953440"/>
            <a:ext cx="9597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VM setup and K3s installation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4"/>
          <p:cNvSpPr/>
          <p:nvPr/>
        </p:nvSpPr>
        <p:spPr>
          <a:xfrm>
            <a:off x="676440" y="3520440"/>
            <a:ext cx="3749040" cy="3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Recommended lab VM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One VM per participant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VM shape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Why this shape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4 vCPU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8 GB RAM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40 GB disk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Ubuntu 24.04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Single-node K3s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Enough room for K3s + Docker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PostgreSQL and several Pods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Build cache without immediate disk pressure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Room for OOMKilled lab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Predictable participant experience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Install K3s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Basic single-node installation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curl -sfL https://get.k3s.io | sh -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sudo systemctl status k3s --no-pager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sudo kubectl get nodes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# For the workshop user: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sudo mkdir -p /home/k8s/.kube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sudo cp /etc/rancher/k3s/k3s.yaml /home/k8s/.kube/config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sudo chown -R k8s:k8s /home/k8s/.kube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Install K3s behind a proxy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Export proxy variables before running the installer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export HTTP_PROXY=http://proxy.example.com:3128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export HTTPS_PROXY=http://proxy.example.com:3128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export NO_PROXY=localhost,127.0.0.1,10.42.0.0/16,10.43.0.0/16,.svc,.cluster.local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curl -sfL https://get.k3s.io | sh -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sudo cat /etc/systemd/system/k3s.service.env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sudo systemctl restart k3s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Docker proxy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Docker daemon and Docker build need proxy separately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sudo mkdir -p </a:t>
            </a: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/etc/systemd/system/docker.service.d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sudo tee </a:t>
            </a: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/etc/systemd/system/docker.service.d/http-</a:t>
            </a: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proxy.conf &lt;&lt;EOF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[Service]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Environment="HTTP_PROXY=http://</a:t>
            </a: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proxy.example.com:3128"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Environment="HTTPS_PROXY=http://</a:t>
            </a: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proxy.example.com:3128"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Environment="NO_PROXY=localhost,127.0.0.1,.svc,.</a:t>
            </a: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cluster.local,10.42.0.0/16,10.43.0.0/16"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EOF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sudo systemctl daemon-reload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sudo systemctl restart docker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docker info | grep -i proxy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Environment validation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Run before the workshop starts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Commands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Expected result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kubectl get nodes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kubectl get pods -A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docker ps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docker compose version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df -h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free -h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Node is Ready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K3s system Pods are Running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Docker command works without sudo or after newgrp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Enough disk space left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Proxy pulls images successfully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102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071626"/>
          </a:solidFill>
          <a:ln w="12700">
            <a:solidFill>
              <a:srgbClr val="071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03"/>
          <p:cNvSpPr/>
          <p:nvPr/>
        </p:nvSpPr>
        <p:spPr>
          <a:xfrm>
            <a:off x="502920" y="6327360"/>
            <a:ext cx="11201400" cy="360"/>
          </a:xfrm>
          <a:prstGeom prst="line">
            <a:avLst/>
          </a:prstGeom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26"/>
          <p:cNvSpPr/>
          <p:nvPr/>
        </p:nvSpPr>
        <p:spPr>
          <a:xfrm>
            <a:off x="548640" y="6419160"/>
            <a:ext cx="411300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7C3D7"/>
                </a:solidFill>
                <a:effectLst/>
                <a:uFillTx/>
                <a:latin typeface="Aptos"/>
                <a:ea typeface="Aptos"/>
              </a:rPr>
              <a:t>Module 3/4 bridge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27"/>
          <p:cNvSpPr/>
          <p:nvPr/>
        </p:nvSpPr>
        <p:spPr>
          <a:xfrm>
            <a:off x="567000" y="960120"/>
            <a:ext cx="7496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Nginx quick start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28"/>
          <p:cNvSpPr/>
          <p:nvPr/>
        </p:nvSpPr>
        <p:spPr>
          <a:xfrm>
            <a:off x="594360" y="1682640"/>
            <a:ext cx="80449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7C3D7"/>
                </a:solidFill>
                <a:effectLst/>
                <a:uFillTx/>
                <a:latin typeface="Aptos"/>
              </a:rPr>
              <a:t>A small hands-on warm-up before the Flask workshop application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04"/>
          <p:cNvSpPr/>
          <p:nvPr/>
        </p:nvSpPr>
        <p:spPr>
          <a:xfrm>
            <a:off x="658440" y="2331720"/>
            <a:ext cx="1415520" cy="382320"/>
          </a:xfrm>
          <a:prstGeom prst="roundRect">
            <a:avLst>
              <a:gd name="adj" fmla="val 42857"/>
            </a:avLst>
          </a:prstGeom>
          <a:solidFill>
            <a:srgbClr val="102F47"/>
          </a:solidFill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29"/>
          <p:cNvSpPr/>
          <p:nvPr/>
        </p:nvSpPr>
        <p:spPr>
          <a:xfrm>
            <a:off x="658440" y="2414160"/>
            <a:ext cx="14155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5E6FF"/>
                </a:solidFill>
                <a:effectLst/>
                <a:uFillTx/>
                <a:latin typeface="Aptos"/>
              </a:rPr>
              <a:t>Docker run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05"/>
          <p:cNvSpPr/>
          <p:nvPr/>
        </p:nvSpPr>
        <p:spPr>
          <a:xfrm>
            <a:off x="2240280" y="2331720"/>
            <a:ext cx="1689840" cy="382320"/>
          </a:xfrm>
          <a:prstGeom prst="roundRect">
            <a:avLst>
              <a:gd name="adj" fmla="val 42857"/>
            </a:avLst>
          </a:prstGeom>
          <a:solidFill>
            <a:srgbClr val="102F47"/>
          </a:solidFill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30"/>
          <p:cNvSpPr/>
          <p:nvPr/>
        </p:nvSpPr>
        <p:spPr>
          <a:xfrm>
            <a:off x="2240280" y="2414160"/>
            <a:ext cx="168984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5E6FF"/>
                </a:solidFill>
                <a:effectLst/>
                <a:uFillTx/>
                <a:latin typeface="Aptos"/>
              </a:rPr>
              <a:t>K3s namespace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06"/>
          <p:cNvSpPr/>
          <p:nvPr/>
        </p:nvSpPr>
        <p:spPr>
          <a:xfrm>
            <a:off x="4096440" y="2331720"/>
            <a:ext cx="821160" cy="382320"/>
          </a:xfrm>
          <a:prstGeom prst="roundRect">
            <a:avLst>
              <a:gd name="adj" fmla="val 42857"/>
            </a:avLst>
          </a:prstGeom>
          <a:solidFill>
            <a:srgbClr val="102F47"/>
          </a:solidFill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31"/>
          <p:cNvSpPr/>
          <p:nvPr/>
        </p:nvSpPr>
        <p:spPr>
          <a:xfrm>
            <a:off x="4096440" y="2414160"/>
            <a:ext cx="8211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5E6FF"/>
                </a:solidFill>
                <a:effectLst/>
                <a:uFillTx/>
                <a:latin typeface="Aptos"/>
              </a:rPr>
              <a:t>Pod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07"/>
          <p:cNvSpPr/>
          <p:nvPr/>
        </p:nvSpPr>
        <p:spPr>
          <a:xfrm>
            <a:off x="5102280" y="2331720"/>
            <a:ext cx="958320" cy="382320"/>
          </a:xfrm>
          <a:prstGeom prst="roundRect">
            <a:avLst>
              <a:gd name="adj" fmla="val 42857"/>
            </a:avLst>
          </a:prstGeom>
          <a:solidFill>
            <a:srgbClr val="102F47"/>
          </a:solidFill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32"/>
          <p:cNvSpPr/>
          <p:nvPr/>
        </p:nvSpPr>
        <p:spPr>
          <a:xfrm>
            <a:off x="5102280" y="2414160"/>
            <a:ext cx="958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5E6FF"/>
                </a:solidFill>
                <a:effectLst/>
                <a:uFillTx/>
                <a:latin typeface="Aptos"/>
              </a:rPr>
              <a:t>Service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08"/>
          <p:cNvSpPr/>
          <p:nvPr/>
        </p:nvSpPr>
        <p:spPr>
          <a:xfrm>
            <a:off x="6272640" y="2331720"/>
            <a:ext cx="1506960" cy="382320"/>
          </a:xfrm>
          <a:prstGeom prst="roundRect">
            <a:avLst>
              <a:gd name="adj" fmla="val 42857"/>
            </a:avLst>
          </a:prstGeom>
          <a:solidFill>
            <a:srgbClr val="102F47"/>
          </a:solidFill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33"/>
          <p:cNvSpPr/>
          <p:nvPr/>
        </p:nvSpPr>
        <p:spPr>
          <a:xfrm>
            <a:off x="6272640" y="2414160"/>
            <a:ext cx="15069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5E6FF"/>
                </a:solidFill>
                <a:effectLst/>
                <a:uFillTx/>
                <a:latin typeface="Aptos"/>
              </a:rPr>
              <a:t>Port-forward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09"/>
          <p:cNvSpPr/>
          <p:nvPr/>
        </p:nvSpPr>
        <p:spPr>
          <a:xfrm>
            <a:off x="731520" y="3063240"/>
            <a:ext cx="10742400" cy="1735560"/>
          </a:xfrm>
          <a:prstGeom prst="roundRect">
            <a:avLst>
              <a:gd name="adj" fmla="val 4211"/>
            </a:avLst>
          </a:prstGeom>
          <a:solidFill>
            <a:srgbClr val="06111D"/>
          </a:solidFill>
          <a:ln w="1397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34"/>
          <p:cNvSpPr/>
          <p:nvPr/>
        </p:nvSpPr>
        <p:spPr>
          <a:xfrm>
            <a:off x="932760" y="3227760"/>
            <a:ext cx="10339920" cy="14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docker run -d --name nginx-demo -p 8080:80 nginx:latest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kubectl create namespace nginx-demo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kubectl -n nginx-demo run nginx --image=nginx --port=80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35"/>
          <p:cNvSpPr/>
          <p:nvPr/>
        </p:nvSpPr>
        <p:spPr>
          <a:xfrm>
            <a:off x="749880" y="5166360"/>
            <a:ext cx="969084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Goal: prove that participants can start a container locally and then run the same image in Kubernetes.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110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071626"/>
          </a:solidFill>
          <a:ln w="12700">
            <a:solidFill>
              <a:srgbClr val="071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11"/>
          <p:cNvSpPr/>
          <p:nvPr/>
        </p:nvSpPr>
        <p:spPr>
          <a:xfrm>
            <a:off x="502920" y="6327360"/>
            <a:ext cx="11201400" cy="360"/>
          </a:xfrm>
          <a:prstGeom prst="line">
            <a:avLst/>
          </a:prstGeom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36"/>
          <p:cNvSpPr/>
          <p:nvPr/>
        </p:nvSpPr>
        <p:spPr>
          <a:xfrm>
            <a:off x="548640" y="6419160"/>
            <a:ext cx="411300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7C3D7"/>
                </a:solidFill>
                <a:effectLst/>
                <a:uFillTx/>
                <a:latin typeface="Aptos"/>
                <a:ea typeface="Aptos"/>
              </a:rPr>
              <a:t>Docker warm-up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37"/>
          <p:cNvSpPr/>
          <p:nvPr/>
        </p:nvSpPr>
        <p:spPr>
          <a:xfrm>
            <a:off x="548640" y="411480"/>
            <a:ext cx="1106244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Run nginx with Docker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38"/>
          <p:cNvSpPr/>
          <p:nvPr/>
        </p:nvSpPr>
        <p:spPr>
          <a:xfrm>
            <a:off x="567000" y="987480"/>
            <a:ext cx="106052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7C3D7"/>
                </a:solidFill>
                <a:effectLst/>
                <a:uFillTx/>
                <a:latin typeface="Aptos"/>
              </a:rPr>
              <a:t>A minimal local container run: image, container, port mapping.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12"/>
          <p:cNvSpPr/>
          <p:nvPr/>
        </p:nvSpPr>
        <p:spPr>
          <a:xfrm>
            <a:off x="658440" y="1600200"/>
            <a:ext cx="6883920" cy="1918440"/>
          </a:xfrm>
          <a:prstGeom prst="roundRect">
            <a:avLst>
              <a:gd name="adj" fmla="val 3810"/>
            </a:avLst>
          </a:prstGeom>
          <a:solidFill>
            <a:srgbClr val="06111D"/>
          </a:solidFill>
          <a:ln w="1397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39"/>
          <p:cNvSpPr/>
          <p:nvPr/>
        </p:nvSpPr>
        <p:spPr>
          <a:xfrm>
            <a:off x="859680" y="1764720"/>
            <a:ext cx="6225480" cy="166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docker run -d --name nginx-demo -p 8080:80 nginx:latest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13"/>
          <p:cNvSpPr/>
          <p:nvPr/>
        </p:nvSpPr>
        <p:spPr>
          <a:xfrm>
            <a:off x="7772400" y="1600200"/>
            <a:ext cx="3747240" cy="1918440"/>
          </a:xfrm>
          <a:prstGeom prst="roundRect">
            <a:avLst>
              <a:gd name="adj" fmla="val 3810"/>
            </a:avLst>
          </a:prstGeom>
          <a:solidFill>
            <a:srgbClr val="06111D"/>
          </a:solidFill>
          <a:ln w="1397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40"/>
          <p:cNvSpPr/>
          <p:nvPr/>
        </p:nvSpPr>
        <p:spPr>
          <a:xfrm>
            <a:off x="8229600" y="1764720"/>
            <a:ext cx="3088800" cy="166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curl http://localhost:8080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docker ps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docker logs nginx-demo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docker rm -f nginx-demo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41"/>
          <p:cNvSpPr/>
          <p:nvPr/>
        </p:nvSpPr>
        <p:spPr>
          <a:xfrm>
            <a:off x="685800" y="3977640"/>
            <a:ext cx="27414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55E6FF"/>
                </a:solidFill>
                <a:effectLst/>
                <a:uFillTx/>
                <a:latin typeface="Aptos"/>
              </a:rPr>
              <a:t>What this demonstrates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42"/>
          <p:cNvSpPr/>
          <p:nvPr/>
        </p:nvSpPr>
        <p:spPr>
          <a:xfrm>
            <a:off x="822960" y="4462200"/>
            <a:ext cx="566748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1  Image is pulled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2  Container starts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3  Host port maps to container port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4  HTTP responds on localhost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14"/>
          <p:cNvSpPr/>
          <p:nvPr/>
        </p:nvSpPr>
        <p:spPr>
          <a:xfrm>
            <a:off x="6995160" y="4343400"/>
            <a:ext cx="4067280" cy="958320"/>
          </a:xfrm>
          <a:prstGeom prst="roundRect">
            <a:avLst>
              <a:gd name="adj" fmla="val 11429"/>
            </a:avLst>
          </a:prstGeom>
          <a:solidFill>
            <a:srgbClr val="102F47"/>
          </a:solidFill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43"/>
          <p:cNvSpPr/>
          <p:nvPr/>
        </p:nvSpPr>
        <p:spPr>
          <a:xfrm>
            <a:off x="7269480" y="4681800"/>
            <a:ext cx="34729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DDC97"/>
                </a:solidFill>
                <a:effectLst/>
                <a:uFillTx/>
                <a:latin typeface="Aptos"/>
              </a:rPr>
              <a:t>Local success before Kubernetes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115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626"/>
          </a:solidFill>
          <a:ln w="12700">
            <a:solidFill>
              <a:srgbClr val="071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16"/>
          <p:cNvSpPr/>
          <p:nvPr/>
        </p:nvSpPr>
        <p:spPr>
          <a:xfrm>
            <a:off x="502920" y="6327360"/>
            <a:ext cx="11201400" cy="360"/>
          </a:xfrm>
          <a:prstGeom prst="line">
            <a:avLst/>
          </a:prstGeom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44"/>
          <p:cNvSpPr/>
          <p:nvPr/>
        </p:nvSpPr>
        <p:spPr>
          <a:xfrm>
            <a:off x="548640" y="6419160"/>
            <a:ext cx="4113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7C3D7"/>
                </a:solidFill>
                <a:effectLst/>
                <a:uFillTx/>
                <a:latin typeface="Aptos"/>
                <a:ea typeface="Aptos"/>
              </a:rPr>
              <a:t>Docker warm-up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45"/>
          <p:cNvSpPr/>
          <p:nvPr/>
        </p:nvSpPr>
        <p:spPr>
          <a:xfrm>
            <a:off x="548640" y="411480"/>
            <a:ext cx="11062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Docker command anatomy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46"/>
          <p:cNvSpPr/>
          <p:nvPr/>
        </p:nvSpPr>
        <p:spPr>
          <a:xfrm>
            <a:off x="567000" y="987480"/>
            <a:ext cx="10605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7C3D7"/>
                </a:solidFill>
                <a:effectLst/>
                <a:uFillTx/>
                <a:latin typeface="Aptos"/>
              </a:rPr>
              <a:t>Keep the mental model simple before moving to Kubernetes.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17"/>
          <p:cNvSpPr/>
          <p:nvPr/>
        </p:nvSpPr>
        <p:spPr>
          <a:xfrm>
            <a:off x="685800" y="1463040"/>
            <a:ext cx="10788480" cy="711720"/>
          </a:xfrm>
          <a:prstGeom prst="roundRect">
            <a:avLst>
              <a:gd name="adj" fmla="val 10256"/>
            </a:avLst>
          </a:prstGeom>
          <a:solidFill>
            <a:srgbClr val="06111D"/>
          </a:solidFill>
          <a:ln w="13970">
            <a:solidFill>
              <a:srgbClr val="32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47"/>
          <p:cNvSpPr/>
          <p:nvPr/>
        </p:nvSpPr>
        <p:spPr>
          <a:xfrm>
            <a:off x="887040" y="1627560"/>
            <a:ext cx="103860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docker run -d --name nginx-demo -p 8080:80 nginx:latest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118"/>
          <p:cNvSpPr/>
          <p:nvPr/>
        </p:nvSpPr>
        <p:spPr>
          <a:xfrm>
            <a:off x="822960" y="2788920"/>
            <a:ext cx="2833200" cy="437400"/>
          </a:xfrm>
          <a:prstGeom prst="roundRect">
            <a:avLst>
              <a:gd name="adj" fmla="val 25000"/>
            </a:avLst>
          </a:prstGeom>
          <a:solidFill>
            <a:srgbClr val="102F47"/>
          </a:solidFill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48"/>
          <p:cNvSpPr/>
          <p:nvPr/>
        </p:nvSpPr>
        <p:spPr>
          <a:xfrm>
            <a:off x="969120" y="2898720"/>
            <a:ext cx="25588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5E6FF"/>
                </a:solidFill>
                <a:effectLst/>
                <a:uFillTx/>
                <a:latin typeface="Aptos Mono"/>
                <a:ea typeface="Aptos Mono"/>
              </a:rPr>
              <a:t>-d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49"/>
          <p:cNvSpPr/>
          <p:nvPr/>
        </p:nvSpPr>
        <p:spPr>
          <a:xfrm>
            <a:off x="3977640" y="2880360"/>
            <a:ext cx="621648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Run in the background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19"/>
          <p:cNvSpPr/>
          <p:nvPr/>
        </p:nvSpPr>
        <p:spPr>
          <a:xfrm>
            <a:off x="822960" y="3474720"/>
            <a:ext cx="2833200" cy="437400"/>
          </a:xfrm>
          <a:prstGeom prst="roundRect">
            <a:avLst>
              <a:gd name="adj" fmla="val 25000"/>
            </a:avLst>
          </a:prstGeom>
          <a:solidFill>
            <a:srgbClr val="102F47"/>
          </a:solidFill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50"/>
          <p:cNvSpPr/>
          <p:nvPr/>
        </p:nvSpPr>
        <p:spPr>
          <a:xfrm>
            <a:off x="969120" y="3584520"/>
            <a:ext cx="25588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5E6FF"/>
                </a:solidFill>
                <a:effectLst/>
                <a:uFillTx/>
                <a:latin typeface="Aptos Mono"/>
                <a:ea typeface="Aptos Mono"/>
              </a:rPr>
              <a:t>--name nginx-demo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51"/>
          <p:cNvSpPr/>
          <p:nvPr/>
        </p:nvSpPr>
        <p:spPr>
          <a:xfrm>
            <a:off x="3977640" y="3566160"/>
            <a:ext cx="621648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Give the container a human-readable name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20"/>
          <p:cNvSpPr/>
          <p:nvPr/>
        </p:nvSpPr>
        <p:spPr>
          <a:xfrm>
            <a:off x="822960" y="4160520"/>
            <a:ext cx="2833200" cy="437400"/>
          </a:xfrm>
          <a:prstGeom prst="roundRect">
            <a:avLst>
              <a:gd name="adj" fmla="val 25000"/>
            </a:avLst>
          </a:prstGeom>
          <a:solidFill>
            <a:srgbClr val="102F47"/>
          </a:solidFill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52"/>
          <p:cNvSpPr/>
          <p:nvPr/>
        </p:nvSpPr>
        <p:spPr>
          <a:xfrm>
            <a:off x="969120" y="4270320"/>
            <a:ext cx="25588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5E6FF"/>
                </a:solidFill>
                <a:effectLst/>
                <a:uFillTx/>
                <a:latin typeface="Aptos Mono"/>
                <a:ea typeface="Aptos Mono"/>
              </a:rPr>
              <a:t>-p 8080:80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53"/>
          <p:cNvSpPr/>
          <p:nvPr/>
        </p:nvSpPr>
        <p:spPr>
          <a:xfrm>
            <a:off x="3977640" y="4251960"/>
            <a:ext cx="621648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Host port 8080 → container port 80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121"/>
          <p:cNvSpPr/>
          <p:nvPr/>
        </p:nvSpPr>
        <p:spPr>
          <a:xfrm>
            <a:off x="822960" y="4846320"/>
            <a:ext cx="2833200" cy="437400"/>
          </a:xfrm>
          <a:prstGeom prst="roundRect">
            <a:avLst>
              <a:gd name="adj" fmla="val 25000"/>
            </a:avLst>
          </a:prstGeom>
          <a:solidFill>
            <a:srgbClr val="102F47"/>
          </a:solidFill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54"/>
          <p:cNvSpPr/>
          <p:nvPr/>
        </p:nvSpPr>
        <p:spPr>
          <a:xfrm>
            <a:off x="969120" y="4956120"/>
            <a:ext cx="25588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5E6FF"/>
                </a:solidFill>
                <a:effectLst/>
                <a:uFillTx/>
                <a:latin typeface="Aptos Mono"/>
                <a:ea typeface="Aptos Mono"/>
              </a:rPr>
              <a:t>nginx:latest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55"/>
          <p:cNvSpPr/>
          <p:nvPr/>
        </p:nvSpPr>
        <p:spPr>
          <a:xfrm>
            <a:off x="3977640" y="4937760"/>
            <a:ext cx="621648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Image name and tag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56"/>
          <p:cNvSpPr/>
          <p:nvPr/>
        </p:nvSpPr>
        <p:spPr>
          <a:xfrm>
            <a:off x="749880" y="5806440"/>
            <a:ext cx="9782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B454"/>
                </a:solidFill>
                <a:effectLst/>
                <a:uFillTx/>
                <a:latin typeface="Aptos"/>
              </a:rPr>
              <a:t>Next: Kubernetes will run the same image, but the objects are different.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122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626"/>
          </a:solidFill>
          <a:ln w="12700">
            <a:solidFill>
              <a:srgbClr val="071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23"/>
          <p:cNvSpPr/>
          <p:nvPr/>
        </p:nvSpPr>
        <p:spPr>
          <a:xfrm>
            <a:off x="502920" y="6327360"/>
            <a:ext cx="11201400" cy="360"/>
          </a:xfrm>
          <a:prstGeom prst="line">
            <a:avLst/>
          </a:prstGeom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57"/>
          <p:cNvSpPr/>
          <p:nvPr/>
        </p:nvSpPr>
        <p:spPr>
          <a:xfrm>
            <a:off x="548640" y="6419160"/>
            <a:ext cx="4113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7C3D7"/>
                </a:solidFill>
                <a:effectLst/>
                <a:uFillTx/>
                <a:latin typeface="Aptos"/>
                <a:ea typeface="Aptos"/>
              </a:rPr>
              <a:t>K3s smoke test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58"/>
          <p:cNvSpPr/>
          <p:nvPr/>
        </p:nvSpPr>
        <p:spPr>
          <a:xfrm>
            <a:off x="548640" y="411480"/>
            <a:ext cx="11062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K8S – quick: Step 1 — Create a namespace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59"/>
          <p:cNvSpPr/>
          <p:nvPr/>
        </p:nvSpPr>
        <p:spPr>
          <a:xfrm>
            <a:off x="567000" y="987480"/>
            <a:ext cx="10605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7C3D7"/>
                </a:solidFill>
                <a:effectLst/>
                <a:uFillTx/>
                <a:latin typeface="Aptos"/>
              </a:rPr>
              <a:t>Use a small isolated namespace for the nginx warm-up.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24"/>
          <p:cNvSpPr/>
          <p:nvPr/>
        </p:nvSpPr>
        <p:spPr>
          <a:xfrm>
            <a:off x="731520" y="1554480"/>
            <a:ext cx="10468800" cy="1827360"/>
          </a:xfrm>
          <a:prstGeom prst="roundRect">
            <a:avLst>
              <a:gd name="adj" fmla="val 4000"/>
            </a:avLst>
          </a:prstGeom>
          <a:solidFill>
            <a:srgbClr val="06111D"/>
          </a:solidFill>
          <a:ln w="1397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60"/>
          <p:cNvSpPr/>
          <p:nvPr/>
        </p:nvSpPr>
        <p:spPr>
          <a:xfrm>
            <a:off x="932760" y="1719000"/>
            <a:ext cx="10038960" cy="15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kubectl create namespace nginx-demo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kubectl get namespaces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kubectl config set-context --current --namespace=nginx-demo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61"/>
          <p:cNvSpPr/>
          <p:nvPr/>
        </p:nvSpPr>
        <p:spPr>
          <a:xfrm>
            <a:off x="6629400" y="3657600"/>
            <a:ext cx="43876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55E6FF"/>
                </a:solidFill>
                <a:effectLst/>
                <a:uFillTx/>
                <a:latin typeface="Aptos"/>
              </a:rPr>
              <a:t>Why namespace first?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62"/>
          <p:cNvSpPr/>
          <p:nvPr/>
        </p:nvSpPr>
        <p:spPr>
          <a:xfrm>
            <a:off x="6629400" y="4298040"/>
            <a:ext cx="466200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• keeps lab objects separate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• makes cleanup easy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• avoids touching the main workshop namespace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25"/>
          <p:cNvSpPr/>
          <p:nvPr/>
        </p:nvSpPr>
        <p:spPr>
          <a:xfrm>
            <a:off x="914400" y="4251960"/>
            <a:ext cx="5210640" cy="1095840"/>
          </a:xfrm>
          <a:prstGeom prst="roundRect">
            <a:avLst>
              <a:gd name="adj" fmla="val 6667"/>
            </a:avLst>
          </a:prstGeom>
          <a:solidFill>
            <a:srgbClr val="0B1D2B"/>
          </a:solidFill>
          <a:ln w="1397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63"/>
          <p:cNvSpPr/>
          <p:nvPr/>
        </p:nvSpPr>
        <p:spPr>
          <a:xfrm>
            <a:off x="1115640" y="4416480"/>
            <a:ext cx="480816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Cleanup later: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kubectl delete namespace nginx-demo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126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626"/>
          </a:solidFill>
          <a:ln w="12700">
            <a:solidFill>
              <a:srgbClr val="071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27"/>
          <p:cNvSpPr/>
          <p:nvPr/>
        </p:nvSpPr>
        <p:spPr>
          <a:xfrm>
            <a:off x="502920" y="6327360"/>
            <a:ext cx="11201400" cy="360"/>
          </a:xfrm>
          <a:prstGeom prst="line">
            <a:avLst/>
          </a:prstGeom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64"/>
          <p:cNvSpPr/>
          <p:nvPr/>
        </p:nvSpPr>
        <p:spPr>
          <a:xfrm>
            <a:off x="548640" y="6419160"/>
            <a:ext cx="4113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7C3D7"/>
                </a:solidFill>
                <a:effectLst/>
                <a:uFillTx/>
                <a:latin typeface="Aptos"/>
                <a:ea typeface="Aptos"/>
              </a:rPr>
              <a:t>K3s smoke test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65"/>
          <p:cNvSpPr/>
          <p:nvPr/>
        </p:nvSpPr>
        <p:spPr>
          <a:xfrm>
            <a:off x="548640" y="411480"/>
            <a:ext cx="11062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K8S - quick: Step 2 — Run nginx as a Pod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66"/>
          <p:cNvSpPr/>
          <p:nvPr/>
        </p:nvSpPr>
        <p:spPr>
          <a:xfrm>
            <a:off x="567000" y="987480"/>
            <a:ext cx="10605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7C3D7"/>
                </a:solidFill>
                <a:effectLst/>
                <a:uFillTx/>
                <a:latin typeface="Aptos"/>
              </a:rPr>
              <a:t>This is intentionally simple: one Pod, no Deployment yet.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28"/>
          <p:cNvSpPr/>
          <p:nvPr/>
        </p:nvSpPr>
        <p:spPr>
          <a:xfrm>
            <a:off x="685800" y="1536120"/>
            <a:ext cx="9828720" cy="748800"/>
          </a:xfrm>
          <a:prstGeom prst="roundRect">
            <a:avLst>
              <a:gd name="adj" fmla="val 5161"/>
            </a:avLst>
          </a:prstGeom>
          <a:solidFill>
            <a:srgbClr val="06111D"/>
          </a:solidFill>
          <a:ln w="1397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67"/>
          <p:cNvSpPr/>
          <p:nvPr/>
        </p:nvSpPr>
        <p:spPr>
          <a:xfrm>
            <a:off x="887040" y="1600200"/>
            <a:ext cx="93988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kubectl -n nginx-demo run nginx --image=nginx:latest --port=80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29"/>
          <p:cNvSpPr/>
          <p:nvPr/>
        </p:nvSpPr>
        <p:spPr>
          <a:xfrm flipV="1">
            <a:off x="6602040" y="2512080"/>
            <a:ext cx="4936320" cy="1599120"/>
          </a:xfrm>
          <a:prstGeom prst="roundRect">
            <a:avLst>
              <a:gd name="adj" fmla="val 4324"/>
            </a:avLst>
          </a:prstGeom>
          <a:solidFill>
            <a:srgbClr val="06111D"/>
          </a:solidFill>
          <a:ln w="1397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68"/>
          <p:cNvSpPr/>
          <p:nvPr/>
        </p:nvSpPr>
        <p:spPr>
          <a:xfrm>
            <a:off x="6803280" y="2514600"/>
            <a:ext cx="4533840" cy="15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kubectl -n nginx-demo get pods -w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kubectl -n nginx-demo describe pod nginx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kubectl -n nginx-demo logs nginx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69"/>
          <p:cNvSpPr/>
          <p:nvPr/>
        </p:nvSpPr>
        <p:spPr>
          <a:xfrm>
            <a:off x="749880" y="3794760"/>
            <a:ext cx="255888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55E6FF"/>
                </a:solidFill>
                <a:effectLst/>
                <a:uFillTx/>
                <a:latin typeface="Aptos"/>
              </a:rPr>
              <a:t>What to observe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30"/>
          <p:cNvSpPr/>
          <p:nvPr/>
        </p:nvSpPr>
        <p:spPr>
          <a:xfrm>
            <a:off x="841320" y="4370760"/>
            <a:ext cx="382680" cy="382680"/>
          </a:xfrm>
          <a:prstGeom prst="ellipse">
            <a:avLst/>
          </a:prstGeom>
          <a:solidFill>
            <a:srgbClr val="32A8FF"/>
          </a:solidFill>
          <a:ln w="12700">
            <a:solidFill>
              <a:srgbClr val="32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70"/>
          <p:cNvSpPr/>
          <p:nvPr/>
        </p:nvSpPr>
        <p:spPr>
          <a:xfrm>
            <a:off x="841320" y="4457880"/>
            <a:ext cx="38268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111D"/>
                </a:solidFill>
                <a:effectLst/>
                <a:uFillTx/>
                <a:latin typeface="Aptos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71"/>
          <p:cNvSpPr/>
          <p:nvPr/>
        </p:nvSpPr>
        <p:spPr>
          <a:xfrm>
            <a:off x="1344240" y="4407480"/>
            <a:ext cx="246744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ContainerCreating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31"/>
          <p:cNvSpPr/>
          <p:nvPr/>
        </p:nvSpPr>
        <p:spPr>
          <a:xfrm>
            <a:off x="2989800" y="4562640"/>
            <a:ext cx="667800" cy="360"/>
          </a:xfrm>
          <a:prstGeom prst="line">
            <a:avLst/>
          </a:prstGeom>
          <a:ln w="25400">
            <a:solidFill>
              <a:srgbClr val="32A8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32"/>
          <p:cNvSpPr/>
          <p:nvPr/>
        </p:nvSpPr>
        <p:spPr>
          <a:xfrm>
            <a:off x="3822120" y="4370760"/>
            <a:ext cx="382680" cy="382680"/>
          </a:xfrm>
          <a:prstGeom prst="ellipse">
            <a:avLst/>
          </a:prstGeom>
          <a:solidFill>
            <a:srgbClr val="32A8FF"/>
          </a:solidFill>
          <a:ln w="12700">
            <a:solidFill>
              <a:srgbClr val="32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72"/>
          <p:cNvSpPr/>
          <p:nvPr/>
        </p:nvSpPr>
        <p:spPr>
          <a:xfrm>
            <a:off x="3822120" y="4457880"/>
            <a:ext cx="38268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111D"/>
                </a:solidFill>
                <a:effectLst/>
                <a:uFillTx/>
                <a:latin typeface="Aptos"/>
              </a:rPr>
              <a:t>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73"/>
          <p:cNvSpPr/>
          <p:nvPr/>
        </p:nvSpPr>
        <p:spPr>
          <a:xfrm>
            <a:off x="4325040" y="4407480"/>
            <a:ext cx="18273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Running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33"/>
          <p:cNvSpPr/>
          <p:nvPr/>
        </p:nvSpPr>
        <p:spPr>
          <a:xfrm>
            <a:off x="5394960" y="4562640"/>
            <a:ext cx="640080" cy="360"/>
          </a:xfrm>
          <a:prstGeom prst="line">
            <a:avLst/>
          </a:prstGeom>
          <a:ln w="25400">
            <a:solidFill>
              <a:srgbClr val="32A8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34"/>
          <p:cNvSpPr/>
          <p:nvPr/>
        </p:nvSpPr>
        <p:spPr>
          <a:xfrm>
            <a:off x="6199560" y="4370760"/>
            <a:ext cx="382680" cy="382680"/>
          </a:xfrm>
          <a:prstGeom prst="ellipse">
            <a:avLst/>
          </a:prstGeom>
          <a:solidFill>
            <a:srgbClr val="32A8FF"/>
          </a:solidFill>
          <a:ln w="12700">
            <a:solidFill>
              <a:srgbClr val="32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74"/>
          <p:cNvSpPr/>
          <p:nvPr/>
        </p:nvSpPr>
        <p:spPr>
          <a:xfrm>
            <a:off x="6199560" y="4457880"/>
            <a:ext cx="38268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111D"/>
                </a:solidFill>
                <a:effectLst/>
                <a:uFillTx/>
                <a:latin typeface="Aptos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75"/>
          <p:cNvSpPr/>
          <p:nvPr/>
        </p:nvSpPr>
        <p:spPr>
          <a:xfrm>
            <a:off x="6702480" y="4407480"/>
            <a:ext cx="1598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Ready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76"/>
          <p:cNvSpPr/>
          <p:nvPr/>
        </p:nvSpPr>
        <p:spPr>
          <a:xfrm>
            <a:off x="786240" y="5532120"/>
            <a:ext cx="104227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This is a smoke test of image pulling, scheduling, container start and basic logging.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135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626"/>
          </a:solidFill>
          <a:ln w="12700">
            <a:solidFill>
              <a:srgbClr val="071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36"/>
          <p:cNvSpPr/>
          <p:nvPr/>
        </p:nvSpPr>
        <p:spPr>
          <a:xfrm>
            <a:off x="502920" y="6327360"/>
            <a:ext cx="11201400" cy="360"/>
          </a:xfrm>
          <a:prstGeom prst="line">
            <a:avLst/>
          </a:prstGeom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77"/>
          <p:cNvSpPr/>
          <p:nvPr/>
        </p:nvSpPr>
        <p:spPr>
          <a:xfrm>
            <a:off x="548640" y="6419160"/>
            <a:ext cx="4113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7C3D7"/>
                </a:solidFill>
                <a:effectLst/>
                <a:uFillTx/>
                <a:latin typeface="Aptos"/>
                <a:ea typeface="Aptos"/>
              </a:rPr>
              <a:t>K3s smoke test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78"/>
          <p:cNvSpPr/>
          <p:nvPr/>
        </p:nvSpPr>
        <p:spPr>
          <a:xfrm>
            <a:off x="548640" y="411480"/>
            <a:ext cx="11062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K8S – quick: Step 3 — Expose the Pod with a Service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79"/>
          <p:cNvSpPr/>
          <p:nvPr/>
        </p:nvSpPr>
        <p:spPr>
          <a:xfrm>
            <a:off x="567000" y="987480"/>
            <a:ext cx="10605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7C3D7"/>
                </a:solidFill>
                <a:effectLst/>
                <a:uFillTx/>
                <a:latin typeface="Aptos"/>
              </a:rPr>
              <a:t>A Service gives the Pod a stable network entry point.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37"/>
          <p:cNvSpPr/>
          <p:nvPr/>
        </p:nvSpPr>
        <p:spPr>
          <a:xfrm>
            <a:off x="713160" y="1508760"/>
            <a:ext cx="8886960" cy="547560"/>
          </a:xfrm>
          <a:prstGeom prst="roundRect">
            <a:avLst>
              <a:gd name="adj" fmla="val 4651"/>
            </a:avLst>
          </a:prstGeom>
          <a:solidFill>
            <a:srgbClr val="06111D"/>
          </a:solidFill>
          <a:ln w="1397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80"/>
          <p:cNvSpPr/>
          <p:nvPr/>
        </p:nvSpPr>
        <p:spPr>
          <a:xfrm>
            <a:off x="914400" y="1508760"/>
            <a:ext cx="9371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kubectl -n nginx-demo expose pod nginx --name=nginx --port=80 --target-port=80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38"/>
          <p:cNvSpPr/>
          <p:nvPr/>
        </p:nvSpPr>
        <p:spPr>
          <a:xfrm>
            <a:off x="6537960" y="2286000"/>
            <a:ext cx="5073480" cy="1370520"/>
          </a:xfrm>
          <a:prstGeom prst="roundRect">
            <a:avLst>
              <a:gd name="adj" fmla="val 4651"/>
            </a:avLst>
          </a:prstGeom>
          <a:solidFill>
            <a:srgbClr val="06111D"/>
          </a:solidFill>
          <a:ln w="1397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81"/>
          <p:cNvSpPr/>
          <p:nvPr/>
        </p:nvSpPr>
        <p:spPr>
          <a:xfrm>
            <a:off x="6739200" y="2286000"/>
            <a:ext cx="467100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kubectl -n nginx-demo get svc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kubectl -n nginx-demo get endpoints nginx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kubectl -n nginx-demo describe svc nginx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39"/>
          <p:cNvSpPr/>
          <p:nvPr/>
        </p:nvSpPr>
        <p:spPr>
          <a:xfrm>
            <a:off x="960120" y="4005000"/>
            <a:ext cx="1461600" cy="821520"/>
          </a:xfrm>
          <a:prstGeom prst="roundRect">
            <a:avLst>
              <a:gd name="adj" fmla="val 11111"/>
            </a:avLst>
          </a:prstGeom>
          <a:solidFill>
            <a:srgbClr val="102F47"/>
          </a:solidFill>
          <a:ln w="19050">
            <a:solidFill>
              <a:srgbClr val="32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82"/>
          <p:cNvSpPr/>
          <p:nvPr/>
        </p:nvSpPr>
        <p:spPr>
          <a:xfrm>
            <a:off x="1234440" y="4325040"/>
            <a:ext cx="9129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Pod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40"/>
          <p:cNvSpPr/>
          <p:nvPr/>
        </p:nvSpPr>
        <p:spPr>
          <a:xfrm>
            <a:off x="2514600" y="4416480"/>
            <a:ext cx="1645920" cy="360"/>
          </a:xfrm>
          <a:prstGeom prst="line">
            <a:avLst/>
          </a:prstGeom>
          <a:ln w="25400">
            <a:solidFill>
              <a:srgbClr val="32A8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41"/>
          <p:cNvSpPr/>
          <p:nvPr/>
        </p:nvSpPr>
        <p:spPr>
          <a:xfrm>
            <a:off x="4251960" y="4005000"/>
            <a:ext cx="1644480" cy="821520"/>
          </a:xfrm>
          <a:prstGeom prst="roundRect">
            <a:avLst>
              <a:gd name="adj" fmla="val 11111"/>
            </a:avLst>
          </a:prstGeom>
          <a:solidFill>
            <a:srgbClr val="102F47"/>
          </a:solidFill>
          <a:ln w="19050">
            <a:solidFill>
              <a:srgbClr val="55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83"/>
          <p:cNvSpPr/>
          <p:nvPr/>
        </p:nvSpPr>
        <p:spPr>
          <a:xfrm>
            <a:off x="4462200" y="4325040"/>
            <a:ext cx="12330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Service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42"/>
          <p:cNvSpPr/>
          <p:nvPr/>
        </p:nvSpPr>
        <p:spPr>
          <a:xfrm>
            <a:off x="5989320" y="4416480"/>
            <a:ext cx="1508760" cy="360"/>
          </a:xfrm>
          <a:prstGeom prst="line">
            <a:avLst/>
          </a:prstGeom>
          <a:ln w="25400">
            <a:solidFill>
              <a:srgbClr val="32A8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43"/>
          <p:cNvSpPr/>
          <p:nvPr/>
        </p:nvSpPr>
        <p:spPr>
          <a:xfrm>
            <a:off x="7589520" y="4005000"/>
            <a:ext cx="1735920" cy="821520"/>
          </a:xfrm>
          <a:prstGeom prst="roundRect">
            <a:avLst>
              <a:gd name="adj" fmla="val 11111"/>
            </a:avLst>
          </a:prstGeom>
          <a:solidFill>
            <a:srgbClr val="102F47"/>
          </a:solidFill>
          <a:ln w="1905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84"/>
          <p:cNvSpPr/>
          <p:nvPr/>
        </p:nvSpPr>
        <p:spPr>
          <a:xfrm>
            <a:off x="7927920" y="4325040"/>
            <a:ext cx="10044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Client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85"/>
          <p:cNvSpPr/>
          <p:nvPr/>
        </p:nvSpPr>
        <p:spPr>
          <a:xfrm>
            <a:off x="868680" y="5596200"/>
            <a:ext cx="8228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FB454"/>
                </a:solidFill>
                <a:effectLst/>
                <a:uFillTx/>
                <a:latin typeface="Aptos"/>
              </a:rPr>
              <a:t>Without endpoints, Service has nowhere to send traffic.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Shape 144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626"/>
          </a:solidFill>
          <a:ln w="12700">
            <a:solidFill>
              <a:srgbClr val="071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145"/>
          <p:cNvSpPr/>
          <p:nvPr/>
        </p:nvSpPr>
        <p:spPr>
          <a:xfrm>
            <a:off x="502920" y="6327360"/>
            <a:ext cx="11201400" cy="360"/>
          </a:xfrm>
          <a:prstGeom prst="line">
            <a:avLst/>
          </a:prstGeom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86"/>
          <p:cNvSpPr/>
          <p:nvPr/>
        </p:nvSpPr>
        <p:spPr>
          <a:xfrm>
            <a:off x="548640" y="6419160"/>
            <a:ext cx="4113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7C3D7"/>
                </a:solidFill>
                <a:effectLst/>
                <a:uFillTx/>
                <a:latin typeface="Aptos"/>
                <a:ea typeface="Aptos"/>
              </a:rPr>
              <a:t>K3s smoke test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87"/>
          <p:cNvSpPr/>
          <p:nvPr/>
        </p:nvSpPr>
        <p:spPr>
          <a:xfrm>
            <a:off x="548640" y="411480"/>
            <a:ext cx="11062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K8S – quick: Step 4 — Port-forward and test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88"/>
          <p:cNvSpPr/>
          <p:nvPr/>
        </p:nvSpPr>
        <p:spPr>
          <a:xfrm>
            <a:off x="567000" y="987480"/>
            <a:ext cx="10605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7C3D7"/>
                </a:solidFill>
                <a:effectLst/>
                <a:uFillTx/>
                <a:latin typeface="Aptos"/>
              </a:rPr>
              <a:t>Forward traffic from your local machine to the Service.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46"/>
          <p:cNvSpPr/>
          <p:nvPr/>
        </p:nvSpPr>
        <p:spPr>
          <a:xfrm>
            <a:off x="749880" y="1536120"/>
            <a:ext cx="10422720" cy="711720"/>
          </a:xfrm>
          <a:prstGeom prst="roundRect">
            <a:avLst>
              <a:gd name="adj" fmla="val 10256"/>
            </a:avLst>
          </a:prstGeom>
          <a:solidFill>
            <a:srgbClr val="06111D"/>
          </a:solidFill>
          <a:ln w="1397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89"/>
          <p:cNvSpPr/>
          <p:nvPr/>
        </p:nvSpPr>
        <p:spPr>
          <a:xfrm>
            <a:off x="951120" y="1700640"/>
            <a:ext cx="1002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kubectl -n nginx-demo port-forward svc/nginx 8080:80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47"/>
          <p:cNvSpPr/>
          <p:nvPr/>
        </p:nvSpPr>
        <p:spPr>
          <a:xfrm>
            <a:off x="804600" y="2743200"/>
            <a:ext cx="5393520" cy="1415880"/>
          </a:xfrm>
          <a:prstGeom prst="roundRect">
            <a:avLst>
              <a:gd name="adj" fmla="val 5161"/>
            </a:avLst>
          </a:prstGeom>
          <a:solidFill>
            <a:srgbClr val="06111D"/>
          </a:solidFill>
          <a:ln w="1397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90"/>
          <p:cNvSpPr/>
          <p:nvPr/>
        </p:nvSpPr>
        <p:spPr>
          <a:xfrm>
            <a:off x="1005840" y="2907720"/>
            <a:ext cx="4991040" cy="11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curl http://localhost:8080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# or open in a browser: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# http://localhost:8080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91"/>
          <p:cNvSpPr/>
          <p:nvPr/>
        </p:nvSpPr>
        <p:spPr>
          <a:xfrm>
            <a:off x="6720840" y="276156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55E6FF"/>
                </a:solidFill>
                <a:effectLst/>
                <a:uFillTx/>
                <a:latin typeface="Aptos"/>
              </a:rPr>
              <a:t>Troubleshooting checks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92"/>
          <p:cNvSpPr/>
          <p:nvPr/>
        </p:nvSpPr>
        <p:spPr>
          <a:xfrm>
            <a:off x="6729840" y="3273480"/>
            <a:ext cx="447912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7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• Is the Pod Running?</a:t>
            </a:r>
            <a:endParaRPr lang="en-US" sz="14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7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• Does the Service have endpoints?</a:t>
            </a:r>
            <a:endParaRPr lang="en-US" sz="14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7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• Is the targetPort correct?</a:t>
            </a:r>
            <a:endParaRPr lang="en-US" sz="14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7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• Is another process using local port 8080?</a:t>
            </a:r>
            <a:endParaRPr lang="en-US" sz="14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48"/>
          <p:cNvSpPr/>
          <p:nvPr/>
        </p:nvSpPr>
        <p:spPr>
          <a:xfrm>
            <a:off x="822960" y="4937760"/>
            <a:ext cx="7313760" cy="592920"/>
          </a:xfrm>
          <a:prstGeom prst="roundRect">
            <a:avLst>
              <a:gd name="adj" fmla="val 12308"/>
            </a:avLst>
          </a:prstGeom>
          <a:solidFill>
            <a:srgbClr val="0B1D2B"/>
          </a:solidFill>
          <a:ln w="1397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93"/>
          <p:cNvSpPr/>
          <p:nvPr/>
        </p:nvSpPr>
        <p:spPr>
          <a:xfrm>
            <a:off x="1024200" y="5102280"/>
            <a:ext cx="691128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kubectl -n nginx-demo get pod,svc,endpoints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149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626"/>
          </a:solidFill>
          <a:ln w="12700">
            <a:solidFill>
              <a:srgbClr val="071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150"/>
          <p:cNvSpPr/>
          <p:nvPr/>
        </p:nvSpPr>
        <p:spPr>
          <a:xfrm>
            <a:off x="502920" y="6327360"/>
            <a:ext cx="11201400" cy="360"/>
          </a:xfrm>
          <a:prstGeom prst="line">
            <a:avLst/>
          </a:prstGeom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94"/>
          <p:cNvSpPr/>
          <p:nvPr/>
        </p:nvSpPr>
        <p:spPr>
          <a:xfrm>
            <a:off x="548640" y="6419160"/>
            <a:ext cx="4113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7C3D7"/>
                </a:solidFill>
                <a:effectLst/>
                <a:uFillTx/>
                <a:latin typeface="Aptos"/>
                <a:ea typeface="Aptos"/>
              </a:rPr>
              <a:t>Transition to workshop app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95"/>
          <p:cNvSpPr/>
          <p:nvPr/>
        </p:nvSpPr>
        <p:spPr>
          <a:xfrm>
            <a:off x="548640" y="411480"/>
            <a:ext cx="11062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K8S – quick: From nginx to the workshop </a:t>
            </a:r>
            <a:r>
              <a:rPr lang="en-US" sz="30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application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96"/>
          <p:cNvSpPr/>
          <p:nvPr/>
        </p:nvSpPr>
        <p:spPr>
          <a:xfrm>
            <a:off x="567000" y="987480"/>
            <a:ext cx="10605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7C3D7"/>
                </a:solidFill>
                <a:effectLst/>
                <a:uFillTx/>
                <a:latin typeface="Aptos"/>
              </a:rPr>
              <a:t>The warm-up introduces the mechanics; the Flask app introduces real dependencies and failure modes.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51"/>
          <p:cNvSpPr/>
          <p:nvPr/>
        </p:nvSpPr>
        <p:spPr>
          <a:xfrm>
            <a:off x="777240" y="1874520"/>
            <a:ext cx="1297080" cy="592920"/>
          </a:xfrm>
          <a:prstGeom prst="roundRect">
            <a:avLst>
              <a:gd name="adj" fmla="val 18462"/>
            </a:avLst>
          </a:prstGeom>
          <a:solidFill>
            <a:srgbClr val="102F47"/>
          </a:solidFill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97"/>
          <p:cNvSpPr/>
          <p:nvPr/>
        </p:nvSpPr>
        <p:spPr>
          <a:xfrm>
            <a:off x="777240" y="2084760"/>
            <a:ext cx="12970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Image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52"/>
          <p:cNvSpPr/>
          <p:nvPr/>
        </p:nvSpPr>
        <p:spPr>
          <a:xfrm>
            <a:off x="2103120" y="2166840"/>
            <a:ext cx="255960" cy="360"/>
          </a:xfrm>
          <a:prstGeom prst="line">
            <a:avLst/>
          </a:prstGeom>
          <a:ln w="25400">
            <a:solidFill>
              <a:srgbClr val="32A8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153"/>
          <p:cNvSpPr/>
          <p:nvPr/>
        </p:nvSpPr>
        <p:spPr>
          <a:xfrm>
            <a:off x="2468880" y="1874520"/>
            <a:ext cx="1297080" cy="592920"/>
          </a:xfrm>
          <a:prstGeom prst="roundRect">
            <a:avLst>
              <a:gd name="adj" fmla="val 18462"/>
            </a:avLst>
          </a:prstGeom>
          <a:solidFill>
            <a:srgbClr val="102F47"/>
          </a:solidFill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98"/>
          <p:cNvSpPr/>
          <p:nvPr/>
        </p:nvSpPr>
        <p:spPr>
          <a:xfrm>
            <a:off x="2468880" y="2084760"/>
            <a:ext cx="12970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Pod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54"/>
          <p:cNvSpPr/>
          <p:nvPr/>
        </p:nvSpPr>
        <p:spPr>
          <a:xfrm>
            <a:off x="3794760" y="2166840"/>
            <a:ext cx="255960" cy="360"/>
          </a:xfrm>
          <a:prstGeom prst="line">
            <a:avLst/>
          </a:prstGeom>
          <a:ln w="25400">
            <a:solidFill>
              <a:srgbClr val="32A8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55"/>
          <p:cNvSpPr/>
          <p:nvPr/>
        </p:nvSpPr>
        <p:spPr>
          <a:xfrm>
            <a:off x="4160520" y="1874520"/>
            <a:ext cx="1297080" cy="592920"/>
          </a:xfrm>
          <a:prstGeom prst="roundRect">
            <a:avLst>
              <a:gd name="adj" fmla="val 18462"/>
            </a:avLst>
          </a:prstGeom>
          <a:solidFill>
            <a:srgbClr val="102F47"/>
          </a:solidFill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99"/>
          <p:cNvSpPr/>
          <p:nvPr/>
        </p:nvSpPr>
        <p:spPr>
          <a:xfrm>
            <a:off x="4160520" y="2084760"/>
            <a:ext cx="12970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Service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156"/>
          <p:cNvSpPr/>
          <p:nvPr/>
        </p:nvSpPr>
        <p:spPr>
          <a:xfrm>
            <a:off x="5486400" y="2166840"/>
            <a:ext cx="255960" cy="360"/>
          </a:xfrm>
          <a:prstGeom prst="line">
            <a:avLst/>
          </a:prstGeom>
          <a:ln w="25400">
            <a:solidFill>
              <a:srgbClr val="32A8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57"/>
          <p:cNvSpPr/>
          <p:nvPr/>
        </p:nvSpPr>
        <p:spPr>
          <a:xfrm>
            <a:off x="5852160" y="1874520"/>
            <a:ext cx="1297080" cy="592920"/>
          </a:xfrm>
          <a:prstGeom prst="roundRect">
            <a:avLst>
              <a:gd name="adj" fmla="val 18462"/>
            </a:avLst>
          </a:prstGeom>
          <a:solidFill>
            <a:srgbClr val="102F47"/>
          </a:solidFill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200"/>
          <p:cNvSpPr/>
          <p:nvPr/>
        </p:nvSpPr>
        <p:spPr>
          <a:xfrm>
            <a:off x="5852160" y="2084760"/>
            <a:ext cx="12970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Port-forward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58"/>
          <p:cNvSpPr/>
          <p:nvPr/>
        </p:nvSpPr>
        <p:spPr>
          <a:xfrm>
            <a:off x="7178040" y="2166840"/>
            <a:ext cx="255960" cy="360"/>
          </a:xfrm>
          <a:prstGeom prst="line">
            <a:avLst/>
          </a:prstGeom>
          <a:ln w="25400">
            <a:solidFill>
              <a:srgbClr val="32A8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159"/>
          <p:cNvSpPr/>
          <p:nvPr/>
        </p:nvSpPr>
        <p:spPr>
          <a:xfrm>
            <a:off x="7543800" y="1874520"/>
            <a:ext cx="1297080" cy="592920"/>
          </a:xfrm>
          <a:prstGeom prst="roundRect">
            <a:avLst>
              <a:gd name="adj" fmla="val 18462"/>
            </a:avLst>
          </a:prstGeom>
          <a:solidFill>
            <a:srgbClr val="102F47"/>
          </a:solidFill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201"/>
          <p:cNvSpPr/>
          <p:nvPr/>
        </p:nvSpPr>
        <p:spPr>
          <a:xfrm>
            <a:off x="7543800" y="2084760"/>
            <a:ext cx="12970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Logs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60"/>
          <p:cNvSpPr/>
          <p:nvPr/>
        </p:nvSpPr>
        <p:spPr>
          <a:xfrm>
            <a:off x="8869680" y="2166840"/>
            <a:ext cx="255960" cy="360"/>
          </a:xfrm>
          <a:prstGeom prst="line">
            <a:avLst/>
          </a:prstGeom>
          <a:ln w="25400">
            <a:solidFill>
              <a:srgbClr val="32A8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61"/>
          <p:cNvSpPr/>
          <p:nvPr/>
        </p:nvSpPr>
        <p:spPr>
          <a:xfrm>
            <a:off x="9235440" y="1874520"/>
            <a:ext cx="1297080" cy="592920"/>
          </a:xfrm>
          <a:prstGeom prst="roundRect">
            <a:avLst>
              <a:gd name="adj" fmla="val 18462"/>
            </a:avLst>
          </a:prstGeom>
          <a:solidFill>
            <a:srgbClr val="102F47"/>
          </a:solidFill>
          <a:ln w="1270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202"/>
          <p:cNvSpPr/>
          <p:nvPr/>
        </p:nvSpPr>
        <p:spPr>
          <a:xfrm>
            <a:off x="9235440" y="2084760"/>
            <a:ext cx="12970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Events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203"/>
          <p:cNvSpPr/>
          <p:nvPr/>
        </p:nvSpPr>
        <p:spPr>
          <a:xfrm>
            <a:off x="822960" y="3246120"/>
            <a:ext cx="2741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55E6FF"/>
                </a:solidFill>
                <a:effectLst/>
                <a:uFillTx/>
                <a:latin typeface="Aptos"/>
              </a:rPr>
              <a:t>Next application adds: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204"/>
          <p:cNvSpPr/>
          <p:nvPr/>
        </p:nvSpPr>
        <p:spPr>
          <a:xfrm>
            <a:off x="868680" y="3749040"/>
            <a:ext cx="8136720" cy="14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• local registry and custom images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• ConfigMap and Secret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• PostgreSQL and migrations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• readiness depending on DB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• volumes, limits, quotas and real troubleshooting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62"/>
          <p:cNvSpPr/>
          <p:nvPr/>
        </p:nvSpPr>
        <p:spPr>
          <a:xfrm>
            <a:off x="6446520" y="5559480"/>
            <a:ext cx="4662000" cy="528840"/>
          </a:xfrm>
          <a:prstGeom prst="roundRect">
            <a:avLst>
              <a:gd name="adj" fmla="val 13793"/>
            </a:avLst>
          </a:prstGeom>
          <a:solidFill>
            <a:srgbClr val="0B1D2B"/>
          </a:solidFill>
          <a:ln w="13970">
            <a:solidFill>
              <a:srgbClr val="2E5D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205"/>
          <p:cNvSpPr/>
          <p:nvPr/>
        </p:nvSpPr>
        <p:spPr>
          <a:xfrm>
            <a:off x="6647760" y="5724000"/>
            <a:ext cx="4259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4FAFF"/>
                </a:solidFill>
                <a:effectLst/>
                <a:uFillTx/>
                <a:latin typeface="Aptos Mono"/>
                <a:ea typeface="Aptos Mono"/>
              </a:rPr>
              <a:t>kubectl delete namespace nginx-demo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2"/>
          <p:cNvSpPr/>
          <p:nvPr/>
        </p:nvSpPr>
        <p:spPr>
          <a:xfrm>
            <a:off x="0" y="0"/>
            <a:ext cx="12189240" cy="6855480"/>
          </a:xfrm>
          <a:prstGeom prst="rect">
            <a:avLst/>
          </a:prstGeom>
          <a:solidFill>
            <a:srgbClr val="061A2B"/>
          </a:solidFill>
          <a:ln w="12700">
            <a:solidFill>
              <a:srgbClr val="061A2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3"/>
          <p:cNvSpPr/>
          <p:nvPr/>
        </p:nvSpPr>
        <p:spPr>
          <a:xfrm>
            <a:off x="0" y="0"/>
            <a:ext cx="12189240" cy="107280"/>
          </a:xfrm>
          <a:prstGeom prst="rect">
            <a:avLst/>
          </a:prstGeom>
          <a:solidFill>
            <a:srgbClr val="28A8FF"/>
          </a:solidFill>
          <a:ln w="12700">
            <a:solidFill>
              <a:srgbClr val="28A8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24"/>
          <p:cNvSpPr/>
          <p:nvPr/>
        </p:nvSpPr>
        <p:spPr>
          <a:xfrm>
            <a:off x="502920" y="6355080"/>
            <a:ext cx="2283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7B7C7"/>
                </a:solidFill>
                <a:effectLst/>
                <a:uFillTx/>
                <a:latin typeface="Aptos"/>
                <a:ea typeface="Aptos"/>
              </a:rPr>
              <a:t>Module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29"/>
          <p:cNvSpPr/>
          <p:nvPr/>
        </p:nvSpPr>
        <p:spPr>
          <a:xfrm>
            <a:off x="594360" y="1051560"/>
            <a:ext cx="45694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67E8F9"/>
                </a:solidFill>
                <a:effectLst/>
                <a:uFillTx/>
                <a:latin typeface="Aptos"/>
              </a:rPr>
              <a:t>Module 2 Add-on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34"/>
          <p:cNvSpPr/>
          <p:nvPr/>
        </p:nvSpPr>
        <p:spPr>
          <a:xfrm>
            <a:off x="567000" y="1508760"/>
            <a:ext cx="98730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Local Container Registry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39"/>
          <p:cNvSpPr/>
          <p:nvPr/>
        </p:nvSpPr>
        <p:spPr>
          <a:xfrm>
            <a:off x="603360" y="2331720"/>
            <a:ext cx="96901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A7B7C7"/>
                </a:solidFill>
                <a:effectLst/>
                <a:uFillTx/>
                <a:latin typeface="Aptos"/>
              </a:rPr>
              <a:t>Build images locally, push to localhost:5000, then let K3s pull from the same VM.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7"/>
          <p:cNvSpPr/>
          <p:nvPr/>
        </p:nvSpPr>
        <p:spPr>
          <a:xfrm>
            <a:off x="914400" y="3794760"/>
            <a:ext cx="1917720" cy="729000"/>
          </a:xfrm>
          <a:prstGeom prst="roundRect">
            <a:avLst>
              <a:gd name="adj" fmla="val 15000"/>
            </a:avLst>
          </a:prstGeom>
          <a:solidFill>
            <a:srgbClr val="102D49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44"/>
          <p:cNvSpPr/>
          <p:nvPr/>
        </p:nvSpPr>
        <p:spPr>
          <a:xfrm>
            <a:off x="987480" y="3940920"/>
            <a:ext cx="177156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Docker build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20"/>
          <p:cNvSpPr/>
          <p:nvPr/>
        </p:nvSpPr>
        <p:spPr>
          <a:xfrm>
            <a:off x="3063240" y="4160520"/>
            <a:ext cx="914400" cy="360"/>
          </a:xfrm>
          <a:prstGeom prst="line">
            <a:avLst/>
          </a:prstGeom>
          <a:ln w="27940">
            <a:solidFill>
              <a:srgbClr val="67E8F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23"/>
          <p:cNvSpPr/>
          <p:nvPr/>
        </p:nvSpPr>
        <p:spPr>
          <a:xfrm>
            <a:off x="4160520" y="3794760"/>
            <a:ext cx="2100600" cy="729000"/>
          </a:xfrm>
          <a:prstGeom prst="roundRect">
            <a:avLst>
              <a:gd name="adj" fmla="val 15000"/>
            </a:avLst>
          </a:prstGeom>
          <a:solidFill>
            <a:srgbClr val="0B2740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45"/>
          <p:cNvSpPr/>
          <p:nvPr/>
        </p:nvSpPr>
        <p:spPr>
          <a:xfrm>
            <a:off x="4233600" y="3940920"/>
            <a:ext cx="19544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localhost:5000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25"/>
          <p:cNvSpPr/>
          <p:nvPr/>
        </p:nvSpPr>
        <p:spPr>
          <a:xfrm>
            <a:off x="6492240" y="4160520"/>
            <a:ext cx="914400" cy="360"/>
          </a:xfrm>
          <a:prstGeom prst="line">
            <a:avLst/>
          </a:prstGeom>
          <a:ln w="27940">
            <a:solidFill>
              <a:srgbClr val="67E8F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26"/>
          <p:cNvSpPr/>
          <p:nvPr/>
        </p:nvSpPr>
        <p:spPr>
          <a:xfrm>
            <a:off x="7589520" y="3794760"/>
            <a:ext cx="2192040" cy="729000"/>
          </a:xfrm>
          <a:prstGeom prst="roundRect">
            <a:avLst>
              <a:gd name="adj" fmla="val 15000"/>
            </a:avLst>
          </a:prstGeom>
          <a:solidFill>
            <a:srgbClr val="102D49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46"/>
          <p:cNvSpPr/>
          <p:nvPr/>
        </p:nvSpPr>
        <p:spPr>
          <a:xfrm>
            <a:off x="7662600" y="3940920"/>
            <a:ext cx="204588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K3s containerd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27"/>
          <p:cNvSpPr/>
          <p:nvPr/>
        </p:nvSpPr>
        <p:spPr>
          <a:xfrm>
            <a:off x="9966960" y="4160520"/>
            <a:ext cx="594360" cy="360"/>
          </a:xfrm>
          <a:prstGeom prst="line">
            <a:avLst/>
          </a:prstGeom>
          <a:ln w="27940">
            <a:solidFill>
              <a:srgbClr val="67E8F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28"/>
          <p:cNvSpPr/>
          <p:nvPr/>
        </p:nvSpPr>
        <p:spPr>
          <a:xfrm>
            <a:off x="10744200" y="3794760"/>
            <a:ext cx="911880" cy="729000"/>
          </a:xfrm>
          <a:prstGeom prst="roundRect">
            <a:avLst>
              <a:gd name="adj" fmla="val 15000"/>
            </a:avLst>
          </a:prstGeom>
          <a:solidFill>
            <a:srgbClr val="0B2740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47"/>
          <p:cNvSpPr/>
          <p:nvPr/>
        </p:nvSpPr>
        <p:spPr>
          <a:xfrm>
            <a:off x="10817280" y="3940920"/>
            <a:ext cx="7657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Pod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30"/>
          <p:cNvSpPr/>
          <p:nvPr/>
        </p:nvSpPr>
        <p:spPr>
          <a:xfrm>
            <a:off x="0" y="0"/>
            <a:ext cx="12189240" cy="6855480"/>
          </a:xfrm>
          <a:prstGeom prst="rect">
            <a:avLst/>
          </a:prstGeom>
          <a:solidFill>
            <a:srgbClr val="061A2B"/>
          </a:solidFill>
          <a:ln w="12700">
            <a:solidFill>
              <a:srgbClr val="061A2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31"/>
          <p:cNvSpPr/>
          <p:nvPr/>
        </p:nvSpPr>
        <p:spPr>
          <a:xfrm>
            <a:off x="0" y="0"/>
            <a:ext cx="12189240" cy="107280"/>
          </a:xfrm>
          <a:prstGeom prst="rect">
            <a:avLst/>
          </a:prstGeom>
          <a:solidFill>
            <a:srgbClr val="28A8FF"/>
          </a:solidFill>
          <a:ln w="12700">
            <a:solidFill>
              <a:srgbClr val="28A8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48"/>
          <p:cNvSpPr/>
          <p:nvPr/>
        </p:nvSpPr>
        <p:spPr>
          <a:xfrm>
            <a:off x="502920" y="6355080"/>
            <a:ext cx="2283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7B7C7"/>
                </a:solidFill>
                <a:effectLst/>
                <a:uFillTx/>
                <a:latin typeface="Aptos"/>
                <a:ea typeface="Aptos"/>
              </a:rPr>
              <a:t>Module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49"/>
          <p:cNvSpPr/>
          <p:nvPr/>
        </p:nvSpPr>
        <p:spPr>
          <a:xfrm>
            <a:off x="502920" y="411480"/>
            <a:ext cx="110617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Where does Kubernetes get images from?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50"/>
          <p:cNvSpPr/>
          <p:nvPr/>
        </p:nvSpPr>
        <p:spPr>
          <a:xfrm>
            <a:off x="530280" y="987480"/>
            <a:ext cx="10878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7B7C7"/>
                </a:solidFill>
                <a:effectLst/>
                <a:uFillTx/>
                <a:latin typeface="Aptos"/>
              </a:rPr>
              <a:t>Kubernetes pulls images from a registry; it does not automatically use your local Docker image cache.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32"/>
          <p:cNvSpPr/>
          <p:nvPr/>
        </p:nvSpPr>
        <p:spPr>
          <a:xfrm>
            <a:off x="1719000" y="2944080"/>
            <a:ext cx="676440" cy="360"/>
          </a:xfrm>
          <a:prstGeom prst="line">
            <a:avLst/>
          </a:prstGeom>
          <a:ln w="27940">
            <a:solidFill>
              <a:srgbClr val="67E8F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33"/>
          <p:cNvSpPr/>
          <p:nvPr/>
        </p:nvSpPr>
        <p:spPr>
          <a:xfrm>
            <a:off x="3703320" y="2944080"/>
            <a:ext cx="667440" cy="360"/>
          </a:xfrm>
          <a:prstGeom prst="line">
            <a:avLst/>
          </a:prstGeom>
          <a:ln w="27940">
            <a:solidFill>
              <a:srgbClr val="67E8F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35"/>
          <p:cNvSpPr/>
          <p:nvPr/>
        </p:nvSpPr>
        <p:spPr>
          <a:xfrm>
            <a:off x="5687280" y="2944080"/>
            <a:ext cx="667800" cy="360"/>
          </a:xfrm>
          <a:prstGeom prst="line">
            <a:avLst/>
          </a:prstGeom>
          <a:ln w="27940">
            <a:solidFill>
              <a:srgbClr val="67E8F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36"/>
          <p:cNvSpPr/>
          <p:nvPr/>
        </p:nvSpPr>
        <p:spPr>
          <a:xfrm>
            <a:off x="7662600" y="2944080"/>
            <a:ext cx="676440" cy="360"/>
          </a:xfrm>
          <a:prstGeom prst="line">
            <a:avLst/>
          </a:prstGeom>
          <a:ln w="27940">
            <a:solidFill>
              <a:srgbClr val="67E8F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37"/>
          <p:cNvSpPr/>
          <p:nvPr/>
        </p:nvSpPr>
        <p:spPr>
          <a:xfrm>
            <a:off x="9646920" y="2944080"/>
            <a:ext cx="667440" cy="360"/>
          </a:xfrm>
          <a:prstGeom prst="line">
            <a:avLst/>
          </a:prstGeom>
          <a:ln w="27940">
            <a:solidFill>
              <a:srgbClr val="67E8F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38"/>
          <p:cNvSpPr/>
          <p:nvPr/>
        </p:nvSpPr>
        <p:spPr>
          <a:xfrm>
            <a:off x="502920" y="2487240"/>
            <a:ext cx="1231920" cy="911880"/>
          </a:xfrm>
          <a:prstGeom prst="roundRect">
            <a:avLst>
              <a:gd name="adj" fmla="val 12000"/>
            </a:avLst>
          </a:prstGeom>
          <a:solidFill>
            <a:srgbClr val="0B2740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51"/>
          <p:cNvSpPr/>
          <p:nvPr/>
        </p:nvSpPr>
        <p:spPr>
          <a:xfrm>
            <a:off x="576000" y="2633400"/>
            <a:ext cx="108576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Dockerfile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40"/>
          <p:cNvSpPr/>
          <p:nvPr/>
        </p:nvSpPr>
        <p:spPr>
          <a:xfrm>
            <a:off x="2514600" y="2487240"/>
            <a:ext cx="1231920" cy="91188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52"/>
          <p:cNvSpPr/>
          <p:nvPr/>
        </p:nvSpPr>
        <p:spPr>
          <a:xfrm>
            <a:off x="2587680" y="2633400"/>
            <a:ext cx="108576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docker build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41"/>
          <p:cNvSpPr/>
          <p:nvPr/>
        </p:nvSpPr>
        <p:spPr>
          <a:xfrm>
            <a:off x="4498920" y="2487240"/>
            <a:ext cx="1231920" cy="911880"/>
          </a:xfrm>
          <a:prstGeom prst="roundRect">
            <a:avLst>
              <a:gd name="adj" fmla="val 12000"/>
            </a:avLst>
          </a:prstGeom>
          <a:solidFill>
            <a:srgbClr val="0B2740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53"/>
          <p:cNvSpPr/>
          <p:nvPr/>
        </p:nvSpPr>
        <p:spPr>
          <a:xfrm>
            <a:off x="4572000" y="2633400"/>
            <a:ext cx="108576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Image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42"/>
          <p:cNvSpPr/>
          <p:nvPr/>
        </p:nvSpPr>
        <p:spPr>
          <a:xfrm>
            <a:off x="6473880" y="2487240"/>
            <a:ext cx="1231920" cy="91188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54"/>
          <p:cNvSpPr/>
          <p:nvPr/>
        </p:nvSpPr>
        <p:spPr>
          <a:xfrm>
            <a:off x="6546960" y="2633400"/>
            <a:ext cx="108576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Registry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43"/>
          <p:cNvSpPr/>
          <p:nvPr/>
        </p:nvSpPr>
        <p:spPr>
          <a:xfrm>
            <a:off x="8458200" y="2487240"/>
            <a:ext cx="1231920" cy="911880"/>
          </a:xfrm>
          <a:prstGeom prst="roundRect">
            <a:avLst>
              <a:gd name="adj" fmla="val 12000"/>
            </a:avLst>
          </a:prstGeom>
          <a:solidFill>
            <a:srgbClr val="0B2740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55"/>
          <p:cNvSpPr/>
          <p:nvPr/>
        </p:nvSpPr>
        <p:spPr>
          <a:xfrm>
            <a:off x="8531280" y="2633400"/>
            <a:ext cx="108576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containerd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44"/>
          <p:cNvSpPr/>
          <p:nvPr/>
        </p:nvSpPr>
        <p:spPr>
          <a:xfrm>
            <a:off x="10451520" y="2487240"/>
            <a:ext cx="1231920" cy="91188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56"/>
          <p:cNvSpPr/>
          <p:nvPr/>
        </p:nvSpPr>
        <p:spPr>
          <a:xfrm>
            <a:off x="10524600" y="2633400"/>
            <a:ext cx="108576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Pod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57"/>
          <p:cNvSpPr/>
          <p:nvPr/>
        </p:nvSpPr>
        <p:spPr>
          <a:xfrm>
            <a:off x="822960" y="4617720"/>
            <a:ext cx="10604520" cy="11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No registry means no pull path for Kubernetes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Using localhost:5000 keeps the workshop fast and reproducible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Later failures map directly to ImagePullBackOff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Shape 45"/>
          <p:cNvSpPr/>
          <p:nvPr/>
        </p:nvSpPr>
        <p:spPr>
          <a:xfrm>
            <a:off x="0" y="0"/>
            <a:ext cx="12189240" cy="6855480"/>
          </a:xfrm>
          <a:prstGeom prst="rect">
            <a:avLst/>
          </a:prstGeom>
          <a:solidFill>
            <a:srgbClr val="061A2B"/>
          </a:solidFill>
          <a:ln w="12700">
            <a:solidFill>
              <a:srgbClr val="061A2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46"/>
          <p:cNvSpPr/>
          <p:nvPr/>
        </p:nvSpPr>
        <p:spPr>
          <a:xfrm>
            <a:off x="0" y="0"/>
            <a:ext cx="12189240" cy="107280"/>
          </a:xfrm>
          <a:prstGeom prst="rect">
            <a:avLst/>
          </a:prstGeom>
          <a:solidFill>
            <a:srgbClr val="28A8FF"/>
          </a:solidFill>
          <a:ln w="12700">
            <a:solidFill>
              <a:srgbClr val="28A8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58"/>
          <p:cNvSpPr/>
          <p:nvPr/>
        </p:nvSpPr>
        <p:spPr>
          <a:xfrm>
            <a:off x="502920" y="6355080"/>
            <a:ext cx="2283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7B7C7"/>
                </a:solidFill>
                <a:effectLst/>
                <a:uFillTx/>
                <a:latin typeface="Aptos"/>
                <a:ea typeface="Aptos"/>
              </a:rPr>
              <a:t>Module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59"/>
          <p:cNvSpPr/>
          <p:nvPr/>
        </p:nvSpPr>
        <p:spPr>
          <a:xfrm>
            <a:off x="502920" y="411480"/>
            <a:ext cx="110617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Registry options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60"/>
          <p:cNvSpPr/>
          <p:nvPr/>
        </p:nvSpPr>
        <p:spPr>
          <a:xfrm>
            <a:off x="530280" y="987480"/>
            <a:ext cx="10878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7B7C7"/>
                </a:solidFill>
                <a:effectLst/>
                <a:uFillTx/>
                <a:latin typeface="Aptos"/>
              </a:rPr>
              <a:t>For this workshop we use a local registry on every VM.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47"/>
          <p:cNvSpPr/>
          <p:nvPr/>
        </p:nvSpPr>
        <p:spPr>
          <a:xfrm>
            <a:off x="640080" y="1508760"/>
            <a:ext cx="3152160" cy="3883680"/>
          </a:xfrm>
          <a:prstGeom prst="roundRect">
            <a:avLst>
              <a:gd name="adj" fmla="val 3478"/>
            </a:avLst>
          </a:prstGeom>
          <a:solidFill>
            <a:srgbClr val="0B2740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61"/>
          <p:cNvSpPr/>
          <p:nvPr/>
        </p:nvSpPr>
        <p:spPr>
          <a:xfrm>
            <a:off x="914400" y="1783080"/>
            <a:ext cx="25578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Public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62"/>
          <p:cNvSpPr/>
          <p:nvPr/>
        </p:nvSpPr>
        <p:spPr>
          <a:xfrm>
            <a:off x="914400" y="2423160"/>
            <a:ext cx="2557800" cy="22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>
              <a:lnSpc>
                <a:spcPct val="100000"/>
              </a:lnSpc>
            </a:pPr>
            <a:r>
              <a:rPr lang="en-US" sz="14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Docker Hub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GHCR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Quay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Fast to start, but depends on Internet and rate limits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48"/>
          <p:cNvSpPr/>
          <p:nvPr/>
        </p:nvSpPr>
        <p:spPr>
          <a:xfrm>
            <a:off x="4526280" y="1508760"/>
            <a:ext cx="3152160" cy="3883680"/>
          </a:xfrm>
          <a:prstGeom prst="roundRect">
            <a:avLst>
              <a:gd name="adj" fmla="val 3478"/>
            </a:avLst>
          </a:prstGeom>
          <a:solidFill>
            <a:srgbClr val="0B2740"/>
          </a:solidFill>
          <a:ln w="1397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63"/>
          <p:cNvSpPr/>
          <p:nvPr/>
        </p:nvSpPr>
        <p:spPr>
          <a:xfrm>
            <a:off x="4800600" y="1783080"/>
            <a:ext cx="25578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Private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64"/>
          <p:cNvSpPr/>
          <p:nvPr/>
        </p:nvSpPr>
        <p:spPr>
          <a:xfrm>
            <a:off x="4800600" y="2423160"/>
            <a:ext cx="2557800" cy="22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>
              <a:lnSpc>
                <a:spcPct val="100000"/>
              </a:lnSpc>
            </a:pPr>
            <a:r>
              <a:rPr lang="en-US" sz="14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Harbor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Artifactory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ECR / ACR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Production-like, but needs credentials </a:t>
            </a:r>
            <a:r>
              <a:rPr lang="en-US" sz="14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and setup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49"/>
          <p:cNvSpPr/>
          <p:nvPr/>
        </p:nvSpPr>
        <p:spPr>
          <a:xfrm>
            <a:off x="8412480" y="1508760"/>
            <a:ext cx="3152160" cy="3883680"/>
          </a:xfrm>
          <a:prstGeom prst="roundRect">
            <a:avLst>
              <a:gd name="adj" fmla="val 3478"/>
            </a:avLst>
          </a:prstGeom>
          <a:solidFill>
            <a:srgbClr val="0B2740"/>
          </a:solidFill>
          <a:ln w="1397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65"/>
          <p:cNvSpPr/>
          <p:nvPr/>
        </p:nvSpPr>
        <p:spPr>
          <a:xfrm>
            <a:off x="8686800" y="1783080"/>
            <a:ext cx="25578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Local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66"/>
          <p:cNvSpPr/>
          <p:nvPr/>
        </p:nvSpPr>
        <p:spPr>
          <a:xfrm>
            <a:off x="8686800" y="2423160"/>
            <a:ext cx="2557800" cy="22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>
              <a:lnSpc>
                <a:spcPct val="100000"/>
              </a:lnSpc>
            </a:pPr>
            <a:r>
              <a:rPr lang="en-US" sz="14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localhost:5000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No external dependency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Great for labs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Easy to break and fix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50"/>
          <p:cNvSpPr/>
          <p:nvPr/>
        </p:nvSpPr>
        <p:spPr>
          <a:xfrm>
            <a:off x="0" y="0"/>
            <a:ext cx="12189240" cy="6855480"/>
          </a:xfrm>
          <a:prstGeom prst="rect">
            <a:avLst/>
          </a:prstGeom>
          <a:solidFill>
            <a:srgbClr val="061A2B"/>
          </a:solidFill>
          <a:ln w="12700">
            <a:solidFill>
              <a:srgbClr val="061A2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51"/>
          <p:cNvSpPr/>
          <p:nvPr/>
        </p:nvSpPr>
        <p:spPr>
          <a:xfrm>
            <a:off x="0" y="0"/>
            <a:ext cx="12189240" cy="107280"/>
          </a:xfrm>
          <a:prstGeom prst="rect">
            <a:avLst/>
          </a:prstGeom>
          <a:solidFill>
            <a:srgbClr val="28A8FF"/>
          </a:solidFill>
          <a:ln w="12700">
            <a:solidFill>
              <a:srgbClr val="28A8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67"/>
          <p:cNvSpPr/>
          <p:nvPr/>
        </p:nvSpPr>
        <p:spPr>
          <a:xfrm>
            <a:off x="502920" y="6355080"/>
            <a:ext cx="2283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7B7C7"/>
                </a:solidFill>
                <a:effectLst/>
                <a:uFillTx/>
                <a:latin typeface="Aptos"/>
                <a:ea typeface="Aptos"/>
              </a:rPr>
              <a:t>Module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68"/>
          <p:cNvSpPr/>
          <p:nvPr/>
        </p:nvSpPr>
        <p:spPr>
          <a:xfrm>
            <a:off x="502920" y="411480"/>
            <a:ext cx="110617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Start the local registry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69"/>
          <p:cNvSpPr/>
          <p:nvPr/>
        </p:nvSpPr>
        <p:spPr>
          <a:xfrm>
            <a:off x="530280" y="987480"/>
            <a:ext cx="10878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7B7C7"/>
                </a:solidFill>
                <a:effectLst/>
                <a:uFillTx/>
                <a:latin typeface="Aptos"/>
              </a:rPr>
              <a:t>The setup script runs a registry container and verifies push/pull before the workshop begins.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52"/>
          <p:cNvSpPr/>
          <p:nvPr/>
        </p:nvSpPr>
        <p:spPr>
          <a:xfrm>
            <a:off x="685800" y="1600200"/>
            <a:ext cx="5575320" cy="2374920"/>
          </a:xfrm>
          <a:prstGeom prst="roundRect">
            <a:avLst>
              <a:gd name="adj" fmla="val 3077"/>
            </a:avLst>
          </a:prstGeom>
          <a:solidFill>
            <a:srgbClr val="0A1420"/>
          </a:solidFill>
          <a:ln w="8890">
            <a:solidFill>
              <a:srgbClr val="1F3B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70"/>
          <p:cNvSpPr/>
          <p:nvPr/>
        </p:nvSpPr>
        <p:spPr>
          <a:xfrm>
            <a:off x="822960" y="1719000"/>
            <a:ext cx="5301000" cy="21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docker run -d \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--name local-registry \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--restart always \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-p 5000:5000 \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-v /opt/local-registry:/var/lib/registry \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registry:2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53"/>
          <p:cNvSpPr/>
          <p:nvPr/>
        </p:nvSpPr>
        <p:spPr>
          <a:xfrm>
            <a:off x="6720840" y="1600200"/>
            <a:ext cx="4706640" cy="2374920"/>
          </a:xfrm>
          <a:prstGeom prst="roundRect">
            <a:avLst>
              <a:gd name="adj" fmla="val 4615"/>
            </a:avLst>
          </a:prstGeom>
          <a:solidFill>
            <a:srgbClr val="0B2740"/>
          </a:solidFill>
          <a:ln w="1397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71"/>
          <p:cNvSpPr/>
          <p:nvPr/>
        </p:nvSpPr>
        <p:spPr>
          <a:xfrm>
            <a:off x="7040880" y="1828800"/>
            <a:ext cx="4112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Why local?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72"/>
          <p:cNvSpPr/>
          <p:nvPr/>
        </p:nvSpPr>
        <p:spPr>
          <a:xfrm>
            <a:off x="7040880" y="2423160"/>
            <a:ext cx="4020840" cy="12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No Docker Hub rate limits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No shared credentials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Predictable and fast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Each participant owns their environment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54"/>
          <p:cNvSpPr/>
          <p:nvPr/>
        </p:nvSpPr>
        <p:spPr>
          <a:xfrm>
            <a:off x="7040880" y="4069080"/>
            <a:ext cx="1460520" cy="326520"/>
          </a:xfrm>
          <a:prstGeom prst="roundRect">
            <a:avLst>
              <a:gd name="adj" fmla="val 33333"/>
            </a:avLst>
          </a:prstGeom>
          <a:solidFill>
            <a:srgbClr val="22C55E">
              <a:alpha val="85000"/>
            </a:srgbClr>
          </a:solidFill>
          <a:ln w="1016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73"/>
          <p:cNvSpPr/>
          <p:nvPr/>
        </p:nvSpPr>
        <p:spPr>
          <a:xfrm>
            <a:off x="7113960" y="4142160"/>
            <a:ext cx="13143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workshop-friendly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55"/>
          <p:cNvSpPr/>
          <p:nvPr/>
        </p:nvSpPr>
        <p:spPr>
          <a:xfrm>
            <a:off x="8641080" y="4069080"/>
            <a:ext cx="1414800" cy="326520"/>
          </a:xfrm>
          <a:prstGeom prst="roundRect">
            <a:avLst>
              <a:gd name="adj" fmla="val 33333"/>
            </a:avLst>
          </a:prstGeom>
          <a:solidFill>
            <a:srgbClr val="28A8FF">
              <a:alpha val="85000"/>
            </a:srgbClr>
          </a:solidFill>
          <a:ln w="1016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74"/>
          <p:cNvSpPr/>
          <p:nvPr/>
        </p:nvSpPr>
        <p:spPr>
          <a:xfrm>
            <a:off x="8714160" y="4142160"/>
            <a:ext cx="1268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offline-capable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56"/>
          <p:cNvSpPr/>
          <p:nvPr/>
        </p:nvSpPr>
        <p:spPr>
          <a:xfrm>
            <a:off x="10195560" y="4069080"/>
            <a:ext cx="1049040" cy="326520"/>
          </a:xfrm>
          <a:prstGeom prst="roundRect">
            <a:avLst>
              <a:gd name="adj" fmla="val 33333"/>
            </a:avLst>
          </a:prstGeom>
          <a:solidFill>
            <a:srgbClr val="A78BFA">
              <a:alpha val="85000"/>
            </a:srgbClr>
          </a:solidFill>
          <a:ln w="1016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75"/>
          <p:cNvSpPr/>
          <p:nvPr/>
        </p:nvSpPr>
        <p:spPr>
          <a:xfrm>
            <a:off x="10268640" y="4142160"/>
            <a:ext cx="9028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repeatable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57"/>
          <p:cNvSpPr/>
          <p:nvPr/>
        </p:nvSpPr>
        <p:spPr>
          <a:xfrm>
            <a:off x="685800" y="4892040"/>
            <a:ext cx="5575320" cy="591840"/>
          </a:xfrm>
          <a:prstGeom prst="roundRect">
            <a:avLst>
              <a:gd name="adj" fmla="val 12308"/>
            </a:avLst>
          </a:prstGeom>
          <a:solidFill>
            <a:srgbClr val="0A1420"/>
          </a:solidFill>
          <a:ln w="8890">
            <a:solidFill>
              <a:srgbClr val="1F3B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76"/>
          <p:cNvSpPr/>
          <p:nvPr/>
        </p:nvSpPr>
        <p:spPr>
          <a:xfrm>
            <a:off x="822960" y="5010840"/>
            <a:ext cx="530100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curl localhost:5000/v2/_catalog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77"/>
          <p:cNvSpPr/>
          <p:nvPr/>
        </p:nvSpPr>
        <p:spPr>
          <a:xfrm>
            <a:off x="6720840" y="4974480"/>
            <a:ext cx="475236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7B7C7"/>
                </a:solidFill>
                <a:effectLst/>
                <a:uFillTx/>
                <a:latin typeface="Aptos"/>
              </a:rPr>
              <a:t>Expected result: the registry API responds, even before any images are pushed.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Shape 58"/>
          <p:cNvSpPr/>
          <p:nvPr/>
        </p:nvSpPr>
        <p:spPr>
          <a:xfrm>
            <a:off x="0" y="0"/>
            <a:ext cx="12189240" cy="6855480"/>
          </a:xfrm>
          <a:prstGeom prst="rect">
            <a:avLst/>
          </a:prstGeom>
          <a:solidFill>
            <a:srgbClr val="061A2B"/>
          </a:solidFill>
          <a:ln w="12700">
            <a:solidFill>
              <a:srgbClr val="061A2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59"/>
          <p:cNvSpPr/>
          <p:nvPr/>
        </p:nvSpPr>
        <p:spPr>
          <a:xfrm>
            <a:off x="0" y="0"/>
            <a:ext cx="12189240" cy="107280"/>
          </a:xfrm>
          <a:prstGeom prst="rect">
            <a:avLst/>
          </a:prstGeom>
          <a:solidFill>
            <a:srgbClr val="28A8FF"/>
          </a:solidFill>
          <a:ln w="12700">
            <a:solidFill>
              <a:srgbClr val="28A8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78"/>
          <p:cNvSpPr/>
          <p:nvPr/>
        </p:nvSpPr>
        <p:spPr>
          <a:xfrm>
            <a:off x="502920" y="6355080"/>
            <a:ext cx="2283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7B7C7"/>
                </a:solidFill>
                <a:effectLst/>
                <a:uFillTx/>
                <a:latin typeface="Aptos"/>
                <a:ea typeface="Aptos"/>
              </a:rPr>
              <a:t>Module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79"/>
          <p:cNvSpPr/>
          <p:nvPr/>
        </p:nvSpPr>
        <p:spPr>
          <a:xfrm>
            <a:off x="502920" y="411480"/>
            <a:ext cx="110617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Configure K3s to use the local registry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80"/>
          <p:cNvSpPr/>
          <p:nvPr/>
        </p:nvSpPr>
        <p:spPr>
          <a:xfrm>
            <a:off x="530280" y="987480"/>
            <a:ext cx="10878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7B7C7"/>
                </a:solidFill>
                <a:effectLst/>
                <a:uFillTx/>
                <a:latin typeface="Aptos"/>
              </a:rPr>
              <a:t>K3s uses containerd, so the Docker daemon configuration alone is not enough.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60"/>
          <p:cNvSpPr/>
          <p:nvPr/>
        </p:nvSpPr>
        <p:spPr>
          <a:xfrm>
            <a:off x="685800" y="1417320"/>
            <a:ext cx="6123960" cy="4158000"/>
          </a:xfrm>
          <a:prstGeom prst="roundRect">
            <a:avLst>
              <a:gd name="adj" fmla="val 1758"/>
            </a:avLst>
          </a:prstGeom>
          <a:solidFill>
            <a:srgbClr val="0A1420"/>
          </a:solidFill>
          <a:ln w="8890">
            <a:solidFill>
              <a:srgbClr val="1F3B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81"/>
          <p:cNvSpPr/>
          <p:nvPr/>
        </p:nvSpPr>
        <p:spPr>
          <a:xfrm>
            <a:off x="822960" y="1536120"/>
            <a:ext cx="5849640" cy="39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# /etc/rancher/k3s/registries.yaml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mirrors: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"localhost:5000":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  endpoint: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    - "http://localhost:5000"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"127.0.0.1:5000":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  endpoint: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    - "http://127.0.0.1:5000"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configs: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"localhost:5000":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  tls: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    insecure_skip_verify: true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61"/>
          <p:cNvSpPr/>
          <p:nvPr/>
        </p:nvSpPr>
        <p:spPr>
          <a:xfrm>
            <a:off x="7315200" y="1600200"/>
            <a:ext cx="4295160" cy="3563640"/>
          </a:xfrm>
          <a:prstGeom prst="roundRect">
            <a:avLst>
              <a:gd name="adj" fmla="val 3077"/>
            </a:avLst>
          </a:prstGeom>
          <a:solidFill>
            <a:srgbClr val="0B2740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82"/>
          <p:cNvSpPr/>
          <p:nvPr/>
        </p:nvSpPr>
        <p:spPr>
          <a:xfrm>
            <a:off x="7589520" y="1874520"/>
            <a:ext cx="374652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After changing it: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62"/>
          <p:cNvSpPr/>
          <p:nvPr/>
        </p:nvSpPr>
        <p:spPr>
          <a:xfrm>
            <a:off x="7589520" y="2514600"/>
            <a:ext cx="3472200" cy="1003320"/>
          </a:xfrm>
          <a:prstGeom prst="roundRect">
            <a:avLst>
              <a:gd name="adj" fmla="val 7273"/>
            </a:avLst>
          </a:prstGeom>
          <a:solidFill>
            <a:srgbClr val="0A1420"/>
          </a:solidFill>
          <a:ln w="8890">
            <a:solidFill>
              <a:srgbClr val="1F3B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83"/>
          <p:cNvSpPr/>
          <p:nvPr/>
        </p:nvSpPr>
        <p:spPr>
          <a:xfrm>
            <a:off x="7726680" y="2633400"/>
            <a:ext cx="319788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sudo systemctl restart k3s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kubectl get nodes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84"/>
          <p:cNvSpPr/>
          <p:nvPr/>
        </p:nvSpPr>
        <p:spPr>
          <a:xfrm>
            <a:off x="7589520" y="3931920"/>
            <a:ext cx="365508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7B7C7"/>
                </a:solidFill>
                <a:effectLst/>
                <a:uFillTx/>
                <a:latin typeface="Aptos"/>
              </a:rPr>
              <a:t>This reloads containerd registry configuration used by K3s.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63"/>
          <p:cNvSpPr/>
          <p:nvPr/>
        </p:nvSpPr>
        <p:spPr>
          <a:xfrm>
            <a:off x="0" y="0"/>
            <a:ext cx="12189240" cy="6855480"/>
          </a:xfrm>
          <a:prstGeom prst="rect">
            <a:avLst/>
          </a:prstGeom>
          <a:solidFill>
            <a:srgbClr val="061A2B"/>
          </a:solidFill>
          <a:ln w="12700">
            <a:solidFill>
              <a:srgbClr val="061A2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64"/>
          <p:cNvSpPr/>
          <p:nvPr/>
        </p:nvSpPr>
        <p:spPr>
          <a:xfrm>
            <a:off x="0" y="0"/>
            <a:ext cx="12189240" cy="107280"/>
          </a:xfrm>
          <a:prstGeom prst="rect">
            <a:avLst/>
          </a:prstGeom>
          <a:solidFill>
            <a:srgbClr val="28A8FF"/>
          </a:solidFill>
          <a:ln w="12700">
            <a:solidFill>
              <a:srgbClr val="28A8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85"/>
          <p:cNvSpPr/>
          <p:nvPr/>
        </p:nvSpPr>
        <p:spPr>
          <a:xfrm>
            <a:off x="502920" y="6355080"/>
            <a:ext cx="2283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7B7C7"/>
                </a:solidFill>
                <a:effectLst/>
                <a:uFillTx/>
                <a:latin typeface="Aptos"/>
                <a:ea typeface="Aptos"/>
              </a:rPr>
              <a:t>Module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86"/>
          <p:cNvSpPr/>
          <p:nvPr/>
        </p:nvSpPr>
        <p:spPr>
          <a:xfrm>
            <a:off x="502920" y="411480"/>
            <a:ext cx="110617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Build workshop images with registry tags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87"/>
          <p:cNvSpPr/>
          <p:nvPr/>
        </p:nvSpPr>
        <p:spPr>
          <a:xfrm>
            <a:off x="530280" y="987480"/>
            <a:ext cx="10878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7B7C7"/>
                </a:solidFill>
                <a:effectLst/>
                <a:uFillTx/>
                <a:latin typeface="Aptos"/>
              </a:rPr>
              <a:t>Tag images with localhost:5000 from the beginning.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65"/>
          <p:cNvSpPr/>
          <p:nvPr/>
        </p:nvSpPr>
        <p:spPr>
          <a:xfrm>
            <a:off x="685800" y="1600200"/>
            <a:ext cx="10833120" cy="2786400"/>
          </a:xfrm>
          <a:prstGeom prst="roundRect">
            <a:avLst>
              <a:gd name="adj" fmla="val 2623"/>
            </a:avLst>
          </a:prstGeom>
          <a:solidFill>
            <a:srgbClr val="0A1420"/>
          </a:solidFill>
          <a:ln w="8890">
            <a:solidFill>
              <a:srgbClr val="1F3B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88"/>
          <p:cNvSpPr/>
          <p:nvPr/>
        </p:nvSpPr>
        <p:spPr>
          <a:xfrm>
            <a:off x="822960" y="1719000"/>
            <a:ext cx="10558800" cy="26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docker build -f docker/Dockerfile.debug -t localhost:5000/k8s-workshop-app:debug 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docker build -f docker/Dockerfile.distroless -t localhost:5000/k8s-workshop-app:distroless 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docker build -f docker/Dockerfile.migration -t localhost:5000/k8s-workshop-migration:debug 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docker build -f docker/Dockerfile.broken_migration -t localhost:5000/k8s-workshop-migration:broken .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docker build -f docker/Dockerfile.repair_migration -t localhost:5000/k8s-workshop-migration:repair 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66"/>
          <p:cNvSpPr/>
          <p:nvPr/>
        </p:nvSpPr>
        <p:spPr>
          <a:xfrm>
            <a:off x="685800" y="4892040"/>
            <a:ext cx="10833120" cy="774720"/>
          </a:xfrm>
          <a:prstGeom prst="roundRect">
            <a:avLst>
              <a:gd name="adj" fmla="val 14118"/>
            </a:avLst>
          </a:prstGeom>
          <a:solidFill>
            <a:srgbClr val="0B2740"/>
          </a:solidFill>
          <a:ln w="13970">
            <a:solidFill>
              <a:srgbClr val="FACC1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89"/>
          <p:cNvSpPr/>
          <p:nvPr/>
        </p:nvSpPr>
        <p:spPr>
          <a:xfrm>
            <a:off x="960120" y="5102280"/>
            <a:ext cx="102387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Key point: k8s-workshop-app:debug is only a local Docker tag. localhost:5000/k8s-workshop-app:debug is a </a:t>
            </a:r>
            <a:r>
              <a:rPr lang="en-US" sz="155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pullable registry reference.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67"/>
          <p:cNvSpPr/>
          <p:nvPr/>
        </p:nvSpPr>
        <p:spPr>
          <a:xfrm>
            <a:off x="-74160" y="1144800"/>
            <a:ext cx="12189240" cy="6855480"/>
          </a:xfrm>
          <a:prstGeom prst="rect">
            <a:avLst/>
          </a:prstGeom>
          <a:solidFill>
            <a:srgbClr val="061A2B"/>
          </a:solidFill>
          <a:ln w="12700">
            <a:solidFill>
              <a:srgbClr val="061A2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68"/>
          <p:cNvSpPr/>
          <p:nvPr/>
        </p:nvSpPr>
        <p:spPr>
          <a:xfrm>
            <a:off x="0" y="0"/>
            <a:ext cx="12189240" cy="107280"/>
          </a:xfrm>
          <a:prstGeom prst="rect">
            <a:avLst/>
          </a:prstGeom>
          <a:solidFill>
            <a:srgbClr val="28A8FF"/>
          </a:solidFill>
          <a:ln w="12700">
            <a:solidFill>
              <a:srgbClr val="28A8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90"/>
          <p:cNvSpPr/>
          <p:nvPr/>
        </p:nvSpPr>
        <p:spPr>
          <a:xfrm>
            <a:off x="502920" y="6355080"/>
            <a:ext cx="2283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7B7C7"/>
                </a:solidFill>
                <a:effectLst/>
                <a:uFillTx/>
                <a:latin typeface="Aptos"/>
                <a:ea typeface="Aptos"/>
              </a:rPr>
              <a:t>Module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91"/>
          <p:cNvSpPr/>
          <p:nvPr/>
        </p:nvSpPr>
        <p:spPr>
          <a:xfrm>
            <a:off x="502920" y="411480"/>
            <a:ext cx="110617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Push and verify images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92"/>
          <p:cNvSpPr/>
          <p:nvPr/>
        </p:nvSpPr>
        <p:spPr>
          <a:xfrm>
            <a:off x="530280" y="987480"/>
            <a:ext cx="10878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7B7C7"/>
                </a:solidFill>
                <a:effectLst/>
                <a:uFillTx/>
                <a:latin typeface="Aptos"/>
              </a:rPr>
              <a:t>Pushing images makes them available for </a:t>
            </a:r>
            <a:r>
              <a:rPr lang="en-US" sz="1350" b="0" u="none" strike="noStrike">
                <a:solidFill>
                  <a:srgbClr val="A7B7C7"/>
                </a:solidFill>
                <a:effectLst/>
                <a:uFillTx/>
                <a:latin typeface="Aptos"/>
              </a:rPr>
              <a:t>K3s/containerd to pull.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69"/>
          <p:cNvSpPr/>
          <p:nvPr/>
        </p:nvSpPr>
        <p:spPr>
          <a:xfrm>
            <a:off x="685800" y="1508760"/>
            <a:ext cx="5483880" cy="2605320"/>
          </a:xfrm>
          <a:prstGeom prst="roundRect">
            <a:avLst>
              <a:gd name="adj" fmla="val 4000"/>
            </a:avLst>
          </a:prstGeom>
          <a:solidFill>
            <a:srgbClr val="0A1420"/>
          </a:solidFill>
          <a:ln w="8890">
            <a:solidFill>
              <a:srgbClr val="1F3B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93"/>
          <p:cNvSpPr/>
          <p:nvPr/>
        </p:nvSpPr>
        <p:spPr>
          <a:xfrm>
            <a:off x="822960" y="1627560"/>
            <a:ext cx="5209560" cy="22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docker push localhost:5000/k8s-workshop-app:debug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docker push localhost:5000/k8s-workshop-app:distroless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docker push localhost:5000/k8s-workshop-migration:debug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docker push localhost:5000/k8s-workshop-migration:broken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docker push localhost:5000/k8s-workshop-migration:repair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70"/>
          <p:cNvSpPr/>
          <p:nvPr/>
        </p:nvSpPr>
        <p:spPr>
          <a:xfrm>
            <a:off x="6583680" y="1508760"/>
            <a:ext cx="5073120" cy="1826280"/>
          </a:xfrm>
          <a:prstGeom prst="roundRect">
            <a:avLst>
              <a:gd name="adj" fmla="val 4000"/>
            </a:avLst>
          </a:prstGeom>
          <a:solidFill>
            <a:srgbClr val="0A1420"/>
          </a:solidFill>
          <a:ln w="8890">
            <a:solidFill>
              <a:srgbClr val="1F3B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94"/>
          <p:cNvSpPr/>
          <p:nvPr/>
        </p:nvSpPr>
        <p:spPr>
          <a:xfrm>
            <a:off x="6720840" y="1627560"/>
            <a:ext cx="4935960" cy="16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curl localhost:5000/v2/_catalog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curl localhost:5000/v2/k8s-workshop-app/tags/list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curl localhost:5000/v2/k8s-workshop-migration/tags/list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71"/>
          <p:cNvSpPr/>
          <p:nvPr/>
        </p:nvSpPr>
        <p:spPr>
          <a:xfrm>
            <a:off x="1097280" y="4434840"/>
            <a:ext cx="1186200" cy="683280"/>
          </a:xfrm>
          <a:prstGeom prst="roundRect">
            <a:avLst>
              <a:gd name="adj" fmla="val 16000"/>
            </a:avLst>
          </a:prstGeom>
          <a:solidFill>
            <a:srgbClr val="0B2740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95"/>
          <p:cNvSpPr/>
          <p:nvPr/>
        </p:nvSpPr>
        <p:spPr>
          <a:xfrm>
            <a:off x="1170360" y="4581000"/>
            <a:ext cx="10400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build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72"/>
          <p:cNvSpPr/>
          <p:nvPr/>
        </p:nvSpPr>
        <p:spPr>
          <a:xfrm>
            <a:off x="2486880" y="4772880"/>
            <a:ext cx="822960" cy="360"/>
          </a:xfrm>
          <a:prstGeom prst="line">
            <a:avLst/>
          </a:prstGeom>
          <a:ln w="27940">
            <a:solidFill>
              <a:srgbClr val="67E8F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73"/>
          <p:cNvSpPr/>
          <p:nvPr/>
        </p:nvSpPr>
        <p:spPr>
          <a:xfrm>
            <a:off x="3520440" y="4434840"/>
            <a:ext cx="1186200" cy="683280"/>
          </a:xfrm>
          <a:prstGeom prst="roundRect">
            <a:avLst>
              <a:gd name="adj" fmla="val 16000"/>
            </a:avLst>
          </a:prstGeom>
          <a:solidFill>
            <a:srgbClr val="102D49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96"/>
          <p:cNvSpPr/>
          <p:nvPr/>
        </p:nvSpPr>
        <p:spPr>
          <a:xfrm>
            <a:off x="3593520" y="4581000"/>
            <a:ext cx="10400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push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74"/>
          <p:cNvSpPr/>
          <p:nvPr/>
        </p:nvSpPr>
        <p:spPr>
          <a:xfrm>
            <a:off x="4892040" y="4772880"/>
            <a:ext cx="822960" cy="360"/>
          </a:xfrm>
          <a:prstGeom prst="line">
            <a:avLst/>
          </a:prstGeom>
          <a:ln w="27940">
            <a:solidFill>
              <a:srgbClr val="67E8F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75"/>
          <p:cNvSpPr/>
          <p:nvPr/>
        </p:nvSpPr>
        <p:spPr>
          <a:xfrm>
            <a:off x="5925240" y="4434840"/>
            <a:ext cx="1186200" cy="683280"/>
          </a:xfrm>
          <a:prstGeom prst="roundRect">
            <a:avLst>
              <a:gd name="adj" fmla="val 16000"/>
            </a:avLst>
          </a:prstGeom>
          <a:solidFill>
            <a:srgbClr val="0B2740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97"/>
          <p:cNvSpPr/>
          <p:nvPr/>
        </p:nvSpPr>
        <p:spPr>
          <a:xfrm>
            <a:off x="5998320" y="4581000"/>
            <a:ext cx="10400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verify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76"/>
          <p:cNvSpPr/>
          <p:nvPr/>
        </p:nvSpPr>
        <p:spPr>
          <a:xfrm>
            <a:off x="7296840" y="4772880"/>
            <a:ext cx="822960" cy="360"/>
          </a:xfrm>
          <a:prstGeom prst="line">
            <a:avLst/>
          </a:prstGeom>
          <a:ln w="27940">
            <a:solidFill>
              <a:srgbClr val="67E8F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77"/>
          <p:cNvSpPr/>
          <p:nvPr/>
        </p:nvSpPr>
        <p:spPr>
          <a:xfrm>
            <a:off x="8321040" y="4434840"/>
            <a:ext cx="1186200" cy="683280"/>
          </a:xfrm>
          <a:prstGeom prst="roundRect">
            <a:avLst>
              <a:gd name="adj" fmla="val 16000"/>
            </a:avLst>
          </a:prstGeom>
          <a:solidFill>
            <a:srgbClr val="102D49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98"/>
          <p:cNvSpPr/>
          <p:nvPr/>
        </p:nvSpPr>
        <p:spPr>
          <a:xfrm>
            <a:off x="8394120" y="4581000"/>
            <a:ext cx="10400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deploy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78"/>
          <p:cNvSpPr/>
          <p:nvPr/>
        </p:nvSpPr>
        <p:spPr>
          <a:xfrm>
            <a:off x="9710640" y="4772880"/>
            <a:ext cx="822960" cy="360"/>
          </a:xfrm>
          <a:prstGeom prst="line">
            <a:avLst/>
          </a:prstGeom>
          <a:ln w="27940">
            <a:solidFill>
              <a:srgbClr val="67E8F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79"/>
          <p:cNvSpPr/>
          <p:nvPr/>
        </p:nvSpPr>
        <p:spPr>
          <a:xfrm>
            <a:off x="10744200" y="4434840"/>
            <a:ext cx="1140480" cy="683280"/>
          </a:xfrm>
          <a:prstGeom prst="roundRect">
            <a:avLst>
              <a:gd name="adj" fmla="val 16000"/>
            </a:avLst>
          </a:prstGeom>
          <a:solidFill>
            <a:srgbClr val="0B2740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99"/>
          <p:cNvSpPr/>
          <p:nvPr/>
        </p:nvSpPr>
        <p:spPr>
          <a:xfrm>
            <a:off x="10817280" y="4581000"/>
            <a:ext cx="9943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observe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Shape 80"/>
          <p:cNvSpPr/>
          <p:nvPr/>
        </p:nvSpPr>
        <p:spPr>
          <a:xfrm>
            <a:off x="0" y="0"/>
            <a:ext cx="12189240" cy="6855480"/>
          </a:xfrm>
          <a:prstGeom prst="rect">
            <a:avLst/>
          </a:prstGeom>
          <a:solidFill>
            <a:srgbClr val="061A2B"/>
          </a:solidFill>
          <a:ln w="12700">
            <a:solidFill>
              <a:srgbClr val="061A2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81"/>
          <p:cNvSpPr/>
          <p:nvPr/>
        </p:nvSpPr>
        <p:spPr>
          <a:xfrm>
            <a:off x="0" y="0"/>
            <a:ext cx="12189240" cy="107280"/>
          </a:xfrm>
          <a:prstGeom prst="rect">
            <a:avLst/>
          </a:prstGeom>
          <a:solidFill>
            <a:srgbClr val="28A8FF"/>
          </a:solidFill>
          <a:ln w="12700">
            <a:solidFill>
              <a:srgbClr val="28A8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100"/>
          <p:cNvSpPr/>
          <p:nvPr/>
        </p:nvSpPr>
        <p:spPr>
          <a:xfrm>
            <a:off x="502920" y="6355080"/>
            <a:ext cx="2283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7B7C7"/>
                </a:solidFill>
                <a:effectLst/>
                <a:uFillTx/>
                <a:latin typeface="Aptos"/>
                <a:ea typeface="Aptos"/>
              </a:rPr>
              <a:t>Module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01"/>
          <p:cNvSpPr/>
          <p:nvPr/>
        </p:nvSpPr>
        <p:spPr>
          <a:xfrm>
            <a:off x="502920" y="411480"/>
            <a:ext cx="110617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Use registry references in Kubernetes manifests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02"/>
          <p:cNvSpPr/>
          <p:nvPr/>
        </p:nvSpPr>
        <p:spPr>
          <a:xfrm>
            <a:off x="530280" y="987480"/>
            <a:ext cx="10878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7B7C7"/>
                </a:solidFill>
                <a:effectLst/>
                <a:uFillTx/>
                <a:latin typeface="Aptos"/>
              </a:rPr>
              <a:t>The Deployment should point to the local registry image.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82"/>
          <p:cNvSpPr/>
          <p:nvPr/>
        </p:nvSpPr>
        <p:spPr>
          <a:xfrm>
            <a:off x="685800" y="1417320"/>
            <a:ext cx="5803920" cy="4158000"/>
          </a:xfrm>
          <a:prstGeom prst="roundRect">
            <a:avLst>
              <a:gd name="adj" fmla="val 1758"/>
            </a:avLst>
          </a:prstGeom>
          <a:solidFill>
            <a:srgbClr val="0A1420"/>
          </a:solidFill>
          <a:ln w="8890">
            <a:solidFill>
              <a:srgbClr val="1F3B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103"/>
          <p:cNvSpPr/>
          <p:nvPr/>
        </p:nvSpPr>
        <p:spPr>
          <a:xfrm>
            <a:off x="822960" y="1536120"/>
            <a:ext cx="5529600" cy="39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apiVersion: apps/v1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kind: Deployment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metadata: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name: flask-app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spec: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template: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  spec: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    containers: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      - name: flask-app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        image: localhost:5000/k8s-workshop-app:debug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          imagePullPolicy: IfNotPresent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83"/>
          <p:cNvSpPr/>
          <p:nvPr/>
        </p:nvSpPr>
        <p:spPr>
          <a:xfrm>
            <a:off x="6949440" y="1645920"/>
            <a:ext cx="4478040" cy="3289320"/>
          </a:xfrm>
          <a:prstGeom prst="roundRect">
            <a:avLst>
              <a:gd name="adj" fmla="val 3333"/>
            </a:avLst>
          </a:prstGeom>
          <a:solidFill>
            <a:srgbClr val="0B2740"/>
          </a:solidFill>
          <a:ln w="1397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04"/>
          <p:cNvSpPr/>
          <p:nvPr/>
        </p:nvSpPr>
        <p:spPr>
          <a:xfrm>
            <a:off x="7223760" y="1920240"/>
            <a:ext cx="39294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Recommended for labs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105"/>
          <p:cNvSpPr/>
          <p:nvPr/>
        </p:nvSpPr>
        <p:spPr>
          <a:xfrm>
            <a:off x="7223760" y="2560320"/>
            <a:ext cx="3792240" cy="16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imagePullPolicy: IfNotPresent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fast local pulls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change tag when you want a new image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use Always when teaching pull behavior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Shape 84"/>
          <p:cNvSpPr/>
          <p:nvPr/>
        </p:nvSpPr>
        <p:spPr>
          <a:xfrm>
            <a:off x="0" y="0"/>
            <a:ext cx="12189240" cy="6855480"/>
          </a:xfrm>
          <a:prstGeom prst="rect">
            <a:avLst/>
          </a:prstGeom>
          <a:solidFill>
            <a:srgbClr val="061A2B"/>
          </a:solidFill>
          <a:ln w="12700">
            <a:solidFill>
              <a:srgbClr val="061A2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85"/>
          <p:cNvSpPr/>
          <p:nvPr/>
        </p:nvSpPr>
        <p:spPr>
          <a:xfrm>
            <a:off x="0" y="0"/>
            <a:ext cx="12189240" cy="107280"/>
          </a:xfrm>
          <a:prstGeom prst="rect">
            <a:avLst/>
          </a:prstGeom>
          <a:solidFill>
            <a:srgbClr val="28A8FF"/>
          </a:solidFill>
          <a:ln w="12700">
            <a:solidFill>
              <a:srgbClr val="28A8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106"/>
          <p:cNvSpPr/>
          <p:nvPr/>
        </p:nvSpPr>
        <p:spPr>
          <a:xfrm>
            <a:off x="502920" y="6355080"/>
            <a:ext cx="2283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7B7C7"/>
                </a:solidFill>
                <a:effectLst/>
                <a:uFillTx/>
                <a:latin typeface="Aptos"/>
                <a:ea typeface="Aptos"/>
              </a:rPr>
              <a:t>Module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107"/>
          <p:cNvSpPr/>
          <p:nvPr/>
        </p:nvSpPr>
        <p:spPr>
          <a:xfrm>
            <a:off x="502920" y="411480"/>
            <a:ext cx="110617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Troubleshooting preview: ImagePullBackOff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108"/>
          <p:cNvSpPr/>
          <p:nvPr/>
        </p:nvSpPr>
        <p:spPr>
          <a:xfrm>
            <a:off x="530280" y="987480"/>
            <a:ext cx="10878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7B7C7"/>
                </a:solidFill>
                <a:effectLst/>
                <a:uFillTx/>
                <a:latin typeface="Aptos"/>
              </a:rPr>
              <a:t>A registry flow makes image problems visible and easy to diagnose.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86"/>
          <p:cNvSpPr/>
          <p:nvPr/>
        </p:nvSpPr>
        <p:spPr>
          <a:xfrm>
            <a:off x="685800" y="1508760"/>
            <a:ext cx="5301000" cy="1826280"/>
          </a:xfrm>
          <a:prstGeom prst="roundRect">
            <a:avLst>
              <a:gd name="adj" fmla="val 4000"/>
            </a:avLst>
          </a:prstGeom>
          <a:solidFill>
            <a:srgbClr val="0A1420"/>
          </a:solidFill>
          <a:ln w="8890">
            <a:solidFill>
              <a:srgbClr val="1F3B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109"/>
          <p:cNvSpPr/>
          <p:nvPr/>
        </p:nvSpPr>
        <p:spPr>
          <a:xfrm>
            <a:off x="822960" y="1627560"/>
            <a:ext cx="5026680" cy="16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# typo in tag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image: localhost:5000/k8s-workshop-app:debgu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# expected status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ImagePullBackOff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87"/>
          <p:cNvSpPr/>
          <p:nvPr/>
        </p:nvSpPr>
        <p:spPr>
          <a:xfrm>
            <a:off x="6446520" y="1508760"/>
            <a:ext cx="5072400" cy="1826280"/>
          </a:xfrm>
          <a:prstGeom prst="roundRect">
            <a:avLst>
              <a:gd name="adj" fmla="val 6000"/>
            </a:avLst>
          </a:prstGeom>
          <a:solidFill>
            <a:srgbClr val="0B2740"/>
          </a:solidFill>
          <a:ln w="1397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110"/>
          <p:cNvSpPr/>
          <p:nvPr/>
        </p:nvSpPr>
        <p:spPr>
          <a:xfrm>
            <a:off x="6720840" y="1783080"/>
            <a:ext cx="43866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First checks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88"/>
          <p:cNvSpPr/>
          <p:nvPr/>
        </p:nvSpPr>
        <p:spPr>
          <a:xfrm>
            <a:off x="6720840" y="2331720"/>
            <a:ext cx="4340880" cy="774720"/>
          </a:xfrm>
          <a:prstGeom prst="roundRect">
            <a:avLst>
              <a:gd name="adj" fmla="val 9412"/>
            </a:avLst>
          </a:prstGeom>
          <a:solidFill>
            <a:srgbClr val="0A1420"/>
          </a:solidFill>
          <a:ln w="8890">
            <a:solidFill>
              <a:srgbClr val="1F3B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11"/>
          <p:cNvSpPr/>
          <p:nvPr/>
        </p:nvSpPr>
        <p:spPr>
          <a:xfrm>
            <a:off x="6858000" y="2450520"/>
            <a:ext cx="40665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kubectl describe pod &lt;pod&gt;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kubectl get events --sort-by=.lastTimestamp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scadia Mono"/>
                <a:ea typeface="Cascadia Mono"/>
              </a:rPr>
              <a:t>curl localhost:5000/v2/_catalog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12"/>
          <p:cNvSpPr/>
          <p:nvPr/>
        </p:nvSpPr>
        <p:spPr>
          <a:xfrm>
            <a:off x="685800" y="3794760"/>
            <a:ext cx="21006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Mental model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89"/>
          <p:cNvSpPr/>
          <p:nvPr/>
        </p:nvSpPr>
        <p:spPr>
          <a:xfrm>
            <a:off x="2971800" y="4069080"/>
            <a:ext cx="2009160" cy="710640"/>
          </a:xfrm>
          <a:prstGeom prst="roundRect">
            <a:avLst>
              <a:gd name="adj" fmla="val 15385"/>
            </a:avLst>
          </a:prstGeom>
          <a:solidFill>
            <a:srgbClr val="0B2740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113"/>
          <p:cNvSpPr/>
          <p:nvPr/>
        </p:nvSpPr>
        <p:spPr>
          <a:xfrm>
            <a:off x="3044880" y="4215240"/>
            <a:ext cx="1863000" cy="48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Image not found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90"/>
          <p:cNvSpPr/>
          <p:nvPr/>
        </p:nvSpPr>
        <p:spPr>
          <a:xfrm>
            <a:off x="5166360" y="4425480"/>
            <a:ext cx="640080" cy="360"/>
          </a:xfrm>
          <a:prstGeom prst="line">
            <a:avLst/>
          </a:prstGeom>
          <a:ln w="27940">
            <a:solidFill>
              <a:srgbClr val="F8717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91"/>
          <p:cNvSpPr/>
          <p:nvPr/>
        </p:nvSpPr>
        <p:spPr>
          <a:xfrm>
            <a:off x="5989320" y="4069080"/>
            <a:ext cx="2009160" cy="710640"/>
          </a:xfrm>
          <a:prstGeom prst="roundRect">
            <a:avLst>
              <a:gd name="adj" fmla="val 15385"/>
            </a:avLst>
          </a:prstGeom>
          <a:solidFill>
            <a:srgbClr val="102D49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114"/>
          <p:cNvSpPr/>
          <p:nvPr/>
        </p:nvSpPr>
        <p:spPr>
          <a:xfrm>
            <a:off x="6062400" y="4215240"/>
            <a:ext cx="1863000" cy="48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Pod never starts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92"/>
          <p:cNvSpPr/>
          <p:nvPr/>
        </p:nvSpPr>
        <p:spPr>
          <a:xfrm>
            <a:off x="8183880" y="4425480"/>
            <a:ext cx="868680" cy="360"/>
          </a:xfrm>
          <a:prstGeom prst="line">
            <a:avLst/>
          </a:prstGeom>
          <a:ln w="27940">
            <a:solidFill>
              <a:srgbClr val="F8717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93"/>
          <p:cNvSpPr/>
          <p:nvPr/>
        </p:nvSpPr>
        <p:spPr>
          <a:xfrm>
            <a:off x="9235440" y="4069080"/>
            <a:ext cx="2009160" cy="710640"/>
          </a:xfrm>
          <a:prstGeom prst="roundRect">
            <a:avLst>
              <a:gd name="adj" fmla="val 15385"/>
            </a:avLst>
          </a:prstGeom>
          <a:solidFill>
            <a:srgbClr val="0B2740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115"/>
          <p:cNvSpPr/>
          <p:nvPr/>
        </p:nvSpPr>
        <p:spPr>
          <a:xfrm>
            <a:off x="9308520" y="4215240"/>
            <a:ext cx="1863000" cy="48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No app logs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Shape 94"/>
          <p:cNvSpPr/>
          <p:nvPr/>
        </p:nvSpPr>
        <p:spPr>
          <a:xfrm>
            <a:off x="0" y="0"/>
            <a:ext cx="12189240" cy="6855480"/>
          </a:xfrm>
          <a:prstGeom prst="rect">
            <a:avLst/>
          </a:prstGeom>
          <a:solidFill>
            <a:srgbClr val="061A2B"/>
          </a:solidFill>
          <a:ln w="12700">
            <a:solidFill>
              <a:srgbClr val="061A2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95"/>
          <p:cNvSpPr/>
          <p:nvPr/>
        </p:nvSpPr>
        <p:spPr>
          <a:xfrm>
            <a:off x="0" y="0"/>
            <a:ext cx="12189240" cy="107280"/>
          </a:xfrm>
          <a:prstGeom prst="rect">
            <a:avLst/>
          </a:prstGeom>
          <a:solidFill>
            <a:srgbClr val="28A8FF"/>
          </a:solidFill>
          <a:ln w="12700">
            <a:solidFill>
              <a:srgbClr val="28A8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116"/>
          <p:cNvSpPr/>
          <p:nvPr/>
        </p:nvSpPr>
        <p:spPr>
          <a:xfrm>
            <a:off x="502920" y="6355080"/>
            <a:ext cx="2283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7B7C7"/>
                </a:solidFill>
                <a:effectLst/>
                <a:uFillTx/>
                <a:latin typeface="Aptos"/>
                <a:ea typeface="Aptos"/>
              </a:rPr>
              <a:t>Module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117"/>
          <p:cNvSpPr/>
          <p:nvPr/>
        </p:nvSpPr>
        <p:spPr>
          <a:xfrm>
            <a:off x="502920" y="411480"/>
            <a:ext cx="110617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Lab: Build, push, deploy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118"/>
          <p:cNvSpPr/>
          <p:nvPr/>
        </p:nvSpPr>
        <p:spPr>
          <a:xfrm>
            <a:off x="530280" y="987480"/>
            <a:ext cx="10878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A7B7C7"/>
                </a:solidFill>
                <a:effectLst/>
                <a:uFillTx/>
                <a:latin typeface="Aptos"/>
              </a:rPr>
              <a:t>This lab becomes the foundation for the rest of the workshop.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96"/>
          <p:cNvSpPr/>
          <p:nvPr/>
        </p:nvSpPr>
        <p:spPr>
          <a:xfrm>
            <a:off x="685800" y="1463040"/>
            <a:ext cx="10970280" cy="4249440"/>
          </a:xfrm>
          <a:prstGeom prst="roundRect">
            <a:avLst>
              <a:gd name="adj" fmla="val 2581"/>
            </a:avLst>
          </a:prstGeom>
          <a:solidFill>
            <a:srgbClr val="0B2740"/>
          </a:solidFill>
          <a:ln w="1397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119"/>
          <p:cNvSpPr/>
          <p:nvPr/>
        </p:nvSpPr>
        <p:spPr>
          <a:xfrm>
            <a:off x="1005840" y="1783080"/>
            <a:ext cx="27406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Checklist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120"/>
          <p:cNvSpPr/>
          <p:nvPr/>
        </p:nvSpPr>
        <p:spPr>
          <a:xfrm>
            <a:off x="1005840" y="2331720"/>
            <a:ext cx="10238760" cy="24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Run setup-local-registry.sh and confirm the test passes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Build app, distroless, and migration images with localhost:5000 tags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Push all images to the local registry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Verify registry catalog and image tags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Use localhost:5000/... image references in Kubernetes manifests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• Deploy the app in Module 3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97"/>
          <p:cNvSpPr/>
          <p:nvPr/>
        </p:nvSpPr>
        <p:spPr>
          <a:xfrm>
            <a:off x="1005840" y="5074920"/>
            <a:ext cx="820440" cy="326520"/>
          </a:xfrm>
          <a:prstGeom prst="roundRect">
            <a:avLst>
              <a:gd name="adj" fmla="val 33333"/>
            </a:avLst>
          </a:prstGeom>
          <a:solidFill>
            <a:srgbClr val="28A8FF">
              <a:alpha val="85000"/>
            </a:srgbClr>
          </a:solidFill>
          <a:ln w="10160">
            <a:solidFill>
              <a:srgbClr val="28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121"/>
          <p:cNvSpPr/>
          <p:nvPr/>
        </p:nvSpPr>
        <p:spPr>
          <a:xfrm>
            <a:off x="1078920" y="5148000"/>
            <a:ext cx="6742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Build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98"/>
          <p:cNvSpPr/>
          <p:nvPr/>
        </p:nvSpPr>
        <p:spPr>
          <a:xfrm>
            <a:off x="1965960" y="5074920"/>
            <a:ext cx="774720" cy="326520"/>
          </a:xfrm>
          <a:prstGeom prst="roundRect">
            <a:avLst>
              <a:gd name="adj" fmla="val 33333"/>
            </a:avLst>
          </a:prstGeom>
          <a:solidFill>
            <a:srgbClr val="22C55E">
              <a:alpha val="85000"/>
            </a:srgbClr>
          </a:solidFill>
          <a:ln w="1016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22"/>
          <p:cNvSpPr/>
          <p:nvPr/>
        </p:nvSpPr>
        <p:spPr>
          <a:xfrm>
            <a:off x="2039040" y="5148000"/>
            <a:ext cx="6285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Push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99"/>
          <p:cNvSpPr/>
          <p:nvPr/>
        </p:nvSpPr>
        <p:spPr>
          <a:xfrm>
            <a:off x="2880360" y="5074920"/>
            <a:ext cx="729000" cy="326520"/>
          </a:xfrm>
          <a:prstGeom prst="roundRect">
            <a:avLst>
              <a:gd name="adj" fmla="val 33333"/>
            </a:avLst>
          </a:prstGeom>
          <a:solidFill>
            <a:srgbClr val="A78BFA">
              <a:alpha val="85000"/>
            </a:srgbClr>
          </a:solidFill>
          <a:ln w="1016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123"/>
          <p:cNvSpPr/>
          <p:nvPr/>
        </p:nvSpPr>
        <p:spPr>
          <a:xfrm>
            <a:off x="2953440" y="5148000"/>
            <a:ext cx="5828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Pull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100"/>
          <p:cNvSpPr/>
          <p:nvPr/>
        </p:nvSpPr>
        <p:spPr>
          <a:xfrm>
            <a:off x="3749040" y="5074920"/>
            <a:ext cx="911880" cy="326520"/>
          </a:xfrm>
          <a:prstGeom prst="roundRect">
            <a:avLst>
              <a:gd name="adj" fmla="val 33333"/>
            </a:avLst>
          </a:prstGeom>
          <a:solidFill>
            <a:srgbClr val="FB923C">
              <a:alpha val="85000"/>
            </a:srgbClr>
          </a:solidFill>
          <a:ln w="1016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124"/>
          <p:cNvSpPr/>
          <p:nvPr/>
        </p:nvSpPr>
        <p:spPr>
          <a:xfrm>
            <a:off x="3822120" y="5148000"/>
            <a:ext cx="7657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Deploy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101"/>
          <p:cNvSpPr/>
          <p:nvPr/>
        </p:nvSpPr>
        <p:spPr>
          <a:xfrm>
            <a:off x="4800600" y="5074920"/>
            <a:ext cx="1414800" cy="326520"/>
          </a:xfrm>
          <a:prstGeom prst="roundRect">
            <a:avLst>
              <a:gd name="adj" fmla="val 33333"/>
            </a:avLst>
          </a:prstGeom>
          <a:solidFill>
            <a:srgbClr val="F87171">
              <a:alpha val="85000"/>
            </a:srgbClr>
          </a:solidFill>
          <a:ln w="1016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125"/>
          <p:cNvSpPr/>
          <p:nvPr/>
        </p:nvSpPr>
        <p:spPr>
          <a:xfrm>
            <a:off x="4873680" y="5148000"/>
            <a:ext cx="1268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Troubleshoot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2"/>
          <p:cNvSpPr/>
          <p:nvPr/>
        </p:nvSpPr>
        <p:spPr>
          <a:xfrm>
            <a:off x="658440" y="2148840"/>
            <a:ext cx="1060380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Module 3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3"/>
          <p:cNvSpPr/>
          <p:nvPr/>
        </p:nvSpPr>
        <p:spPr>
          <a:xfrm>
            <a:off x="676800" y="2953440"/>
            <a:ext cx="9597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Containers, images and local application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4"/>
          <p:cNvSpPr/>
          <p:nvPr/>
        </p:nvSpPr>
        <p:spPr>
          <a:xfrm>
            <a:off x="676440" y="3520440"/>
            <a:ext cx="3749040" cy="3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Container image mental model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Image is not a VM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Image contains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Image does not contain by default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Application code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Runtime dependencies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Entrypoint and command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Default environment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Filesystem layers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Persistent data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Cluster configuration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Kubernetes Service identity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Secrets from the cluster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 guarantee that shell exists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Image build flow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Multi-stage builds separate build-time and runtime concerns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4"/>
          <p:cNvSpPr/>
          <p:nvPr/>
        </p:nvSpPr>
        <p:spPr>
          <a:xfrm>
            <a:off x="50292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2D46"/>
          </a:solidFill>
          <a:ln w="12700">
            <a:solidFill>
              <a:srgbClr val="0E2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5"/>
          <p:cNvSpPr/>
          <p:nvPr/>
        </p:nvSpPr>
        <p:spPr>
          <a:xfrm>
            <a:off x="54864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Source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6"/>
          <p:cNvSpPr/>
          <p:nvPr/>
        </p:nvSpPr>
        <p:spPr>
          <a:xfrm>
            <a:off x="177408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7"/>
          <p:cNvSpPr/>
          <p:nvPr/>
        </p:nvSpPr>
        <p:spPr>
          <a:xfrm>
            <a:off x="200268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8"/>
          <p:cNvSpPr/>
          <p:nvPr/>
        </p:nvSpPr>
        <p:spPr>
          <a:xfrm>
            <a:off x="204840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Builder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9"/>
          <p:cNvSpPr/>
          <p:nvPr/>
        </p:nvSpPr>
        <p:spPr>
          <a:xfrm>
            <a:off x="327348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10"/>
          <p:cNvSpPr/>
          <p:nvPr/>
        </p:nvSpPr>
        <p:spPr>
          <a:xfrm>
            <a:off x="350208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11"/>
          <p:cNvSpPr/>
          <p:nvPr/>
        </p:nvSpPr>
        <p:spPr>
          <a:xfrm>
            <a:off x="354780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Dependencies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12"/>
          <p:cNvSpPr/>
          <p:nvPr/>
        </p:nvSpPr>
        <p:spPr>
          <a:xfrm>
            <a:off x="477324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13"/>
          <p:cNvSpPr/>
          <p:nvPr/>
        </p:nvSpPr>
        <p:spPr>
          <a:xfrm>
            <a:off x="500184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14"/>
          <p:cNvSpPr/>
          <p:nvPr/>
        </p:nvSpPr>
        <p:spPr>
          <a:xfrm>
            <a:off x="504756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Runtime image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15"/>
          <p:cNvSpPr/>
          <p:nvPr/>
        </p:nvSpPr>
        <p:spPr>
          <a:xfrm>
            <a:off x="627264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16"/>
          <p:cNvSpPr/>
          <p:nvPr/>
        </p:nvSpPr>
        <p:spPr>
          <a:xfrm>
            <a:off x="650124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17"/>
          <p:cNvSpPr/>
          <p:nvPr/>
        </p:nvSpPr>
        <p:spPr>
          <a:xfrm>
            <a:off x="654696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Registry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18"/>
          <p:cNvSpPr/>
          <p:nvPr/>
        </p:nvSpPr>
        <p:spPr>
          <a:xfrm>
            <a:off x="777240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19"/>
          <p:cNvSpPr/>
          <p:nvPr/>
        </p:nvSpPr>
        <p:spPr>
          <a:xfrm>
            <a:off x="800100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20"/>
          <p:cNvSpPr/>
          <p:nvPr/>
        </p:nvSpPr>
        <p:spPr>
          <a:xfrm>
            <a:off x="804672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Kubernetes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Debug image vs distroless image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Both are useful, for different reasons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Debug-friendly image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Distroless image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Based on python:slim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Contains shell and tools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Easier kubectl exec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Larger attack surface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Useful for labs and diagnosis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No shell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Fewer packages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Smaller attack surface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Requires better logs/probes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Use kubectl debug when needed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Build images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Commands used in the repository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docker build -f docker/Dockerfile.debug     -t localhost:5000/k8s-workshop-app:debug 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docker build -f docker/Dockerfile.distroless -t localhost:5000/k8s-workshop-app:distroless 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docker build -f docker/Dockerfile.migration -t localhost:5000/k8s-workshop-migration:debug 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docker build -f docker/Dockerfile.broken_migration -t localhost:5000/k8s-workshop-migration:broken 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docker build -f docker/Dockerfile.repair_migration -t localhost:5000/k8s-workshop-migration:repair 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docker image ls | grep k8s-workshop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Run locally with Docker Compose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Prove the app before Kubernetes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cd docker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docker compose up --build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curl http://localhost:8080/items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curl http://localhost:8080/healthz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curl http://localhost:8080/readyz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curl http://localhost:8080/version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curl -X POST http://localhost:8080/items -H 'Content-Type: application/json' -d '{"name":"demo"}'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Application endpoints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The app is designed to create useful signals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Operational endpoints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Training endpoints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/healthz - process is alive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/readyz - DB dependency is available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/version - image/config visible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/file-log - last file log lines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/items - DB-backed data path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/stress/cpu - CPU behavior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/stress/memory - OOMKilled lab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cyclic log writer - restart visibility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2"/>
          <p:cNvSpPr/>
          <p:nvPr/>
        </p:nvSpPr>
        <p:spPr>
          <a:xfrm>
            <a:off x="658440" y="2148840"/>
            <a:ext cx="1060380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Module 4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3"/>
          <p:cNvSpPr/>
          <p:nvPr/>
        </p:nvSpPr>
        <p:spPr>
          <a:xfrm>
            <a:off x="676800" y="2953440"/>
            <a:ext cx="9597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First deployment to Kubernetes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4"/>
          <p:cNvSpPr/>
          <p:nvPr/>
        </p:nvSpPr>
        <p:spPr>
          <a:xfrm>
            <a:off x="676440" y="3520440"/>
            <a:ext cx="3749040" cy="3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Deployment, Pod and Service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Three objects, three jobs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Deployment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Service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Declarative desired state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Creates ReplicaSets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Recreates failed Pods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Supports rollout and rollback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Best default for stateless app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Stable virtual IP and DNS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Selects Pods by labels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Routes to ready endpoints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Decouples clients from Pods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Debug with endpoints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First deploy – dependencies and DB migration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Apply manifests in order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-f k8s/base/01-namespace.yaml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k8s/base/02-configmap.yaml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k8s/base/03-secret.yaml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k8s/base/04-postgres-statefulset.yaml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rollout status statefulset/postgres --timeout=180s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delete job db-migration -n k8s-workshop --ignore-not-found=true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k8s/base/05-migration-job.yaml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wait --for=condition=complete job/db-migration --timeout=120s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logs job/db-migration 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deploy,rs,pod,svc,endpoints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Shape 229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278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279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First deploy – application and </a:t>
            </a: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service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280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Apply manifests in order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230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281"/>
          <p:cNvSpPr/>
          <p:nvPr/>
        </p:nvSpPr>
        <p:spPr>
          <a:xfrm>
            <a:off x="850320" y="1527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k8s/base/06-app-deployment.yaml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k8s/base/07-app-service.yaml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rollout status deployment/flask-app --timeout=120s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# Verify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deploy,rs,pod,svc,endpoints,jobs,pvc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port-forward svc/flask-app 8080:80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# And in the second terminal: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curl </a:t>
            </a: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  <a:hlinkClick r:id="rId1"/>
              </a:rPr>
              <a:t>http://localhost:8080/healthz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curl http://localhost:8080/readyz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curl http://localhost:8080/version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Observe first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Do not fix before observing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pods -o wide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describe pod &lt;pod-name&gt;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logs &lt;pod-name&gt;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events --sort-by=.lastTimestamp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port-forward svc/flask-app 8080:80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Rollout model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Every rollout is a controlled state transition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4"/>
          <p:cNvSpPr/>
          <p:nvPr/>
        </p:nvSpPr>
        <p:spPr>
          <a:xfrm>
            <a:off x="50292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2D46"/>
          </a:solidFill>
          <a:ln w="12700">
            <a:solidFill>
              <a:srgbClr val="0E2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5"/>
          <p:cNvSpPr/>
          <p:nvPr/>
        </p:nvSpPr>
        <p:spPr>
          <a:xfrm>
            <a:off x="54864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Deployment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6"/>
          <p:cNvSpPr/>
          <p:nvPr/>
        </p:nvSpPr>
        <p:spPr>
          <a:xfrm>
            <a:off x="177408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7"/>
          <p:cNvSpPr/>
          <p:nvPr/>
        </p:nvSpPr>
        <p:spPr>
          <a:xfrm>
            <a:off x="200268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8"/>
          <p:cNvSpPr/>
          <p:nvPr/>
        </p:nvSpPr>
        <p:spPr>
          <a:xfrm>
            <a:off x="204840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ReplicaSet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Shape 9"/>
          <p:cNvSpPr/>
          <p:nvPr/>
        </p:nvSpPr>
        <p:spPr>
          <a:xfrm>
            <a:off x="327348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10"/>
          <p:cNvSpPr/>
          <p:nvPr/>
        </p:nvSpPr>
        <p:spPr>
          <a:xfrm>
            <a:off x="350208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11"/>
          <p:cNvSpPr/>
          <p:nvPr/>
        </p:nvSpPr>
        <p:spPr>
          <a:xfrm>
            <a:off x="354780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Pod template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12"/>
          <p:cNvSpPr/>
          <p:nvPr/>
        </p:nvSpPr>
        <p:spPr>
          <a:xfrm>
            <a:off x="477324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13"/>
          <p:cNvSpPr/>
          <p:nvPr/>
        </p:nvSpPr>
        <p:spPr>
          <a:xfrm>
            <a:off x="500184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14"/>
          <p:cNvSpPr/>
          <p:nvPr/>
        </p:nvSpPr>
        <p:spPr>
          <a:xfrm>
            <a:off x="504756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New Pods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15"/>
          <p:cNvSpPr/>
          <p:nvPr/>
        </p:nvSpPr>
        <p:spPr>
          <a:xfrm>
            <a:off x="627264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16"/>
          <p:cNvSpPr/>
          <p:nvPr/>
        </p:nvSpPr>
        <p:spPr>
          <a:xfrm>
            <a:off x="650124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17"/>
          <p:cNvSpPr/>
          <p:nvPr/>
        </p:nvSpPr>
        <p:spPr>
          <a:xfrm>
            <a:off x="654696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Readiness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18"/>
          <p:cNvSpPr/>
          <p:nvPr/>
        </p:nvSpPr>
        <p:spPr>
          <a:xfrm>
            <a:off x="777240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19"/>
          <p:cNvSpPr/>
          <p:nvPr/>
        </p:nvSpPr>
        <p:spPr>
          <a:xfrm>
            <a:off x="800100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20"/>
          <p:cNvSpPr/>
          <p:nvPr/>
        </p:nvSpPr>
        <p:spPr>
          <a:xfrm>
            <a:off x="804672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Traffic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Rollout commands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Useful in almost every lab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rollout status deploy/flask-app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rollout history deploy/flask-app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rollout restart deploy/flask-app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rollout undo deploy/flask-app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set image deploy/flask-app flask-app=localhost:5000/k8s-workshop-app:debug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2"/>
          <p:cNvSpPr/>
          <p:nvPr/>
        </p:nvSpPr>
        <p:spPr>
          <a:xfrm>
            <a:off x="658440" y="2148840"/>
            <a:ext cx="1060380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Module 5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3"/>
          <p:cNvSpPr/>
          <p:nvPr/>
        </p:nvSpPr>
        <p:spPr>
          <a:xfrm>
            <a:off x="676800" y="2953440"/>
            <a:ext cx="9597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Fast failure diagnosis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4"/>
          <p:cNvSpPr/>
          <p:nvPr/>
        </p:nvSpPr>
        <p:spPr>
          <a:xfrm>
            <a:off x="676440" y="3520440"/>
            <a:ext cx="3749040" cy="3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First classification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Classify the state before reading random logs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4"/>
          <p:cNvSpPr/>
          <p:nvPr/>
        </p:nvSpPr>
        <p:spPr>
          <a:xfrm>
            <a:off x="685800" y="1325880"/>
            <a:ext cx="10832400" cy="472320"/>
          </a:xfrm>
          <a:prstGeom prst="rect">
            <a:avLst/>
          </a:prstGeom>
          <a:solidFill>
            <a:srgbClr val="0EA5E9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5"/>
          <p:cNvSpPr/>
          <p:nvPr/>
        </p:nvSpPr>
        <p:spPr>
          <a:xfrm>
            <a:off x="758880" y="147204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State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6"/>
          <p:cNvSpPr/>
          <p:nvPr/>
        </p:nvSpPr>
        <p:spPr>
          <a:xfrm>
            <a:off x="2862000" y="14720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Likely phase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7"/>
          <p:cNvSpPr/>
          <p:nvPr/>
        </p:nvSpPr>
        <p:spPr>
          <a:xfrm>
            <a:off x="5239440" y="14720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First command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8"/>
          <p:cNvSpPr/>
          <p:nvPr/>
        </p:nvSpPr>
        <p:spPr>
          <a:xfrm>
            <a:off x="7616880" y="147204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Typical root cause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9"/>
          <p:cNvSpPr/>
          <p:nvPr/>
        </p:nvSpPr>
        <p:spPr>
          <a:xfrm>
            <a:off x="685800" y="1856160"/>
            <a:ext cx="10832400" cy="472320"/>
          </a:xfrm>
          <a:prstGeom prst="rect">
            <a:avLst/>
          </a:prstGeom>
          <a:solidFill>
            <a:srgbClr val="0E2D46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 10"/>
          <p:cNvSpPr/>
          <p:nvPr/>
        </p:nvSpPr>
        <p:spPr>
          <a:xfrm>
            <a:off x="758880" y="200268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Pending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11"/>
          <p:cNvSpPr/>
          <p:nvPr/>
        </p:nvSpPr>
        <p:spPr>
          <a:xfrm>
            <a:off x="2862000" y="200268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Scheduling/admission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12"/>
          <p:cNvSpPr/>
          <p:nvPr/>
        </p:nvSpPr>
        <p:spPr>
          <a:xfrm>
            <a:off x="5239440" y="200268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kubectl describe pod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13"/>
          <p:cNvSpPr/>
          <p:nvPr/>
        </p:nvSpPr>
        <p:spPr>
          <a:xfrm>
            <a:off x="7616880" y="200268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quota, capacity, PVC, node selector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14"/>
          <p:cNvSpPr/>
          <p:nvPr/>
        </p:nvSpPr>
        <p:spPr>
          <a:xfrm>
            <a:off x="685800" y="2386440"/>
            <a:ext cx="10832400" cy="472320"/>
          </a:xfrm>
          <a:prstGeom prst="rect">
            <a:avLst/>
          </a:prstGeom>
          <a:solidFill>
            <a:srgbClr val="0B2235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15"/>
          <p:cNvSpPr/>
          <p:nvPr/>
        </p:nvSpPr>
        <p:spPr>
          <a:xfrm>
            <a:off x="758880" y="253296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ImagePullBackOff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16"/>
          <p:cNvSpPr/>
          <p:nvPr/>
        </p:nvSpPr>
        <p:spPr>
          <a:xfrm>
            <a:off x="2862000" y="253296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Image pull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17"/>
          <p:cNvSpPr/>
          <p:nvPr/>
        </p:nvSpPr>
        <p:spPr>
          <a:xfrm>
            <a:off x="5239440" y="253296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kubectl describe pod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18"/>
          <p:cNvSpPr/>
          <p:nvPr/>
        </p:nvSpPr>
        <p:spPr>
          <a:xfrm>
            <a:off x="7616880" y="253296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bad tag, registry auth, proxy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19"/>
          <p:cNvSpPr/>
          <p:nvPr/>
        </p:nvSpPr>
        <p:spPr>
          <a:xfrm>
            <a:off x="685800" y="2917080"/>
            <a:ext cx="10832400" cy="472320"/>
          </a:xfrm>
          <a:prstGeom prst="rect">
            <a:avLst/>
          </a:prstGeom>
          <a:solidFill>
            <a:srgbClr val="0E2D46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20"/>
          <p:cNvSpPr/>
          <p:nvPr/>
        </p:nvSpPr>
        <p:spPr>
          <a:xfrm>
            <a:off x="758880" y="306324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CrashLoopBackOff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21"/>
          <p:cNvSpPr/>
          <p:nvPr/>
        </p:nvSpPr>
        <p:spPr>
          <a:xfrm>
            <a:off x="2862000" y="30632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Runtime crash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22"/>
          <p:cNvSpPr/>
          <p:nvPr/>
        </p:nvSpPr>
        <p:spPr>
          <a:xfrm>
            <a:off x="5239440" y="30632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kubectl logs --previous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23"/>
          <p:cNvSpPr/>
          <p:nvPr/>
        </p:nvSpPr>
        <p:spPr>
          <a:xfrm>
            <a:off x="7616880" y="306324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bad command, config, app error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24"/>
          <p:cNvSpPr/>
          <p:nvPr/>
        </p:nvSpPr>
        <p:spPr>
          <a:xfrm>
            <a:off x="685800" y="3447360"/>
            <a:ext cx="10832400" cy="472320"/>
          </a:xfrm>
          <a:prstGeom prst="rect">
            <a:avLst/>
          </a:prstGeom>
          <a:solidFill>
            <a:srgbClr val="0B2235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25"/>
          <p:cNvSpPr/>
          <p:nvPr/>
        </p:nvSpPr>
        <p:spPr>
          <a:xfrm>
            <a:off x="758880" y="359352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Running not Ready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26"/>
          <p:cNvSpPr/>
          <p:nvPr/>
        </p:nvSpPr>
        <p:spPr>
          <a:xfrm>
            <a:off x="2862000" y="359352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Health gate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27"/>
          <p:cNvSpPr/>
          <p:nvPr/>
        </p:nvSpPr>
        <p:spPr>
          <a:xfrm>
            <a:off x="5239440" y="359352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describe + logs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28"/>
          <p:cNvSpPr/>
          <p:nvPr/>
        </p:nvSpPr>
        <p:spPr>
          <a:xfrm>
            <a:off x="7616880" y="359352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readiness path, dependency down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29"/>
          <p:cNvSpPr/>
          <p:nvPr/>
        </p:nvSpPr>
        <p:spPr>
          <a:xfrm>
            <a:off x="685800" y="3977640"/>
            <a:ext cx="10832400" cy="472320"/>
          </a:xfrm>
          <a:prstGeom prst="rect">
            <a:avLst/>
          </a:prstGeom>
          <a:solidFill>
            <a:srgbClr val="0E2D46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30"/>
          <p:cNvSpPr/>
          <p:nvPr/>
        </p:nvSpPr>
        <p:spPr>
          <a:xfrm>
            <a:off x="758880" y="412380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OOMKilled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 31"/>
          <p:cNvSpPr/>
          <p:nvPr/>
        </p:nvSpPr>
        <p:spPr>
          <a:xfrm>
            <a:off x="2862000" y="412380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Runtime limit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32"/>
          <p:cNvSpPr/>
          <p:nvPr/>
        </p:nvSpPr>
        <p:spPr>
          <a:xfrm>
            <a:off x="5239440" y="412380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describe pod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33"/>
          <p:cNvSpPr/>
          <p:nvPr/>
        </p:nvSpPr>
        <p:spPr>
          <a:xfrm>
            <a:off x="7616880" y="412380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memory limit exceeded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Shape 34"/>
          <p:cNvSpPr/>
          <p:nvPr/>
        </p:nvSpPr>
        <p:spPr>
          <a:xfrm>
            <a:off x="685800" y="4507920"/>
            <a:ext cx="10832400" cy="472320"/>
          </a:xfrm>
          <a:prstGeom prst="rect">
            <a:avLst/>
          </a:prstGeom>
          <a:solidFill>
            <a:srgbClr val="0B2235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35"/>
          <p:cNvSpPr/>
          <p:nvPr/>
        </p:nvSpPr>
        <p:spPr>
          <a:xfrm>
            <a:off x="758880" y="465444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No endpoints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36"/>
          <p:cNvSpPr/>
          <p:nvPr/>
        </p:nvSpPr>
        <p:spPr>
          <a:xfrm>
            <a:off x="2862000" y="46544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Service routing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37"/>
          <p:cNvSpPr/>
          <p:nvPr/>
        </p:nvSpPr>
        <p:spPr>
          <a:xfrm>
            <a:off x="5239440" y="46544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kubectl get endpoints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38"/>
          <p:cNvSpPr/>
          <p:nvPr/>
        </p:nvSpPr>
        <p:spPr>
          <a:xfrm>
            <a:off x="7616880" y="465444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selector mismatch or not ready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Rectangle 1"/>
          <p:cNvSpPr/>
          <p:nvPr/>
        </p:nvSpPr>
        <p:spPr>
          <a:xfrm>
            <a:off x="0" y="0"/>
            <a:ext cx="12192120" cy="6857640"/>
          </a:xfrm>
          <a:prstGeom prst="rect">
            <a:avLst/>
          </a:prstGeom>
          <a:solidFill>
            <a:srgbClr val="0712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7" name="Rectangle 3"/>
          <p:cNvSpPr/>
          <p:nvPr/>
        </p:nvSpPr>
        <p:spPr>
          <a:xfrm>
            <a:off x="0" y="0"/>
            <a:ext cx="12192120" cy="60840"/>
          </a:xfrm>
          <a:prstGeom prst="rect">
            <a:avLst/>
          </a:prstGeom>
          <a:solidFill>
            <a:srgbClr val="00AE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6200" rIns="90000" bIns="16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8" name="TextBox 1"/>
          <p:cNvSpPr/>
          <p:nvPr/>
        </p:nvSpPr>
        <p:spPr>
          <a:xfrm>
            <a:off x="571320" y="342720"/>
            <a:ext cx="48844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Fast Failure Diagnosis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Box 2"/>
          <p:cNvSpPr/>
          <p:nvPr/>
        </p:nvSpPr>
        <p:spPr>
          <a:xfrm>
            <a:off x="594360" y="876240"/>
            <a:ext cx="6188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A4BAD0"/>
                </a:solidFill>
                <a:effectLst/>
                <a:uFillTx/>
                <a:latin typeface="Calibri"/>
              </a:rPr>
              <a:t>Use module-local manifests, not old challenges/solutions paths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Box 6"/>
          <p:cNvSpPr/>
          <p:nvPr/>
        </p:nvSpPr>
        <p:spPr>
          <a:xfrm>
            <a:off x="761760" y="1447560"/>
            <a:ext cx="10668240" cy="18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Start from a healthy Module 4 baseline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Apply one faulty manifest from modules/module-05-fast-failure-diagnosis/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Observe the symptom before fixing anything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Recover from the reference manifest in k8s/base/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Rounded Rectangle 1"/>
          <p:cNvSpPr/>
          <p:nvPr/>
        </p:nvSpPr>
        <p:spPr>
          <a:xfrm>
            <a:off x="5486400" y="3429000"/>
            <a:ext cx="6172200" cy="1371600"/>
          </a:xfrm>
          <a:prstGeom prst="roundRect">
            <a:avLst>
              <a:gd name="adj" fmla="val 16667"/>
            </a:avLst>
          </a:prstGeom>
          <a:solidFill>
            <a:srgbClr val="0C1F36"/>
          </a:solidFill>
          <a:ln w="15240">
            <a:solidFill>
              <a:srgbClr val="1F5B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2" name="TextBox 8"/>
          <p:cNvSpPr/>
          <p:nvPr/>
        </p:nvSpPr>
        <p:spPr>
          <a:xfrm>
            <a:off x="5715000" y="3429000"/>
            <a:ext cx="5918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cd ~/k8s-workshop-2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ls </a:t>
            </a:r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modules/module-05-</a:t>
            </a:r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fast-failure-</a:t>
            </a:r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diagnosis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# Working </a:t>
            </a:r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reference: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k8s/base/06-app-</a:t>
            </a:r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deployment.yaml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Rounded Rectangle 2"/>
          <p:cNvSpPr/>
          <p:nvPr/>
        </p:nvSpPr>
        <p:spPr>
          <a:xfrm>
            <a:off x="3276360" y="5105160"/>
            <a:ext cx="5638680" cy="418680"/>
          </a:xfrm>
          <a:prstGeom prst="roundRect">
            <a:avLst>
              <a:gd name="adj" fmla="val 16667"/>
            </a:avLst>
          </a:prstGeom>
          <a:solidFill>
            <a:srgbClr val="4DD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4" name="TextBox 10"/>
          <p:cNvSpPr/>
          <p:nvPr/>
        </p:nvSpPr>
        <p:spPr>
          <a:xfrm>
            <a:off x="3428280" y="5144400"/>
            <a:ext cx="53344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20C19"/>
                </a:solidFill>
                <a:effectLst/>
                <a:uFillTx/>
                <a:latin typeface="Calibri"/>
              </a:rPr>
              <a:t>Observe → Describe → Logs/Events → Recover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ImagePullBackOff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The container never started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What happened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Common causes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Kubelet tried to pull the image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Pull failed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Retry delay increases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There are no app logs yet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Events contain the clue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Typo in image name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Wrong tag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Private registry without secret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Proxy/certificate/DNS issue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ImagePullPolicy surprises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Challenge 1: ImagePullBackOff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Break and diagnose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Shape 4"/>
          <p:cNvSpPr/>
          <p:nvPr/>
        </p:nvSpPr>
        <p:spPr>
          <a:xfrm>
            <a:off x="685800" y="1417320"/>
            <a:ext cx="10878120" cy="224028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delete -n k8s-workshop -f k8s/base/06-app-deployment.yaml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modules/module-05-fast-failure-diagnosis/01-imagepullbackoff.yaml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pods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describe pod &lt;pod-name&gt;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events --sort-by=.lastTimestamp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Box 7"/>
          <p:cNvSpPr/>
          <p:nvPr/>
        </p:nvSpPr>
        <p:spPr>
          <a:xfrm>
            <a:off x="685800" y="3886200"/>
            <a:ext cx="10287000" cy="13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Expected: ErrImagePull → ImagePullBackOff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There are no application logs yet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The clue is in Pod events and image name/tag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Rounded Rectangle 8"/>
          <p:cNvSpPr/>
          <p:nvPr/>
        </p:nvSpPr>
        <p:spPr>
          <a:xfrm>
            <a:off x="5943600" y="5623920"/>
            <a:ext cx="4754520" cy="548280"/>
          </a:xfrm>
          <a:prstGeom prst="roundRect">
            <a:avLst>
              <a:gd name="adj" fmla="val 16667"/>
            </a:avLst>
          </a:prstGeom>
          <a:solidFill>
            <a:srgbClr val="FFD5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1" name="TextBox 9"/>
          <p:cNvSpPr/>
          <p:nvPr/>
        </p:nvSpPr>
        <p:spPr>
          <a:xfrm>
            <a:off x="6172200" y="5715000"/>
            <a:ext cx="413352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20C19"/>
                </a:solidFill>
                <a:effectLst/>
                <a:uFillTx/>
                <a:latin typeface="Calibri"/>
              </a:rPr>
              <a:t>Question: did the process ever start?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Rectangle 10"/>
          <p:cNvSpPr/>
          <p:nvPr/>
        </p:nvSpPr>
        <p:spPr>
          <a:xfrm>
            <a:off x="0" y="0"/>
            <a:ext cx="12192120" cy="6857640"/>
          </a:xfrm>
          <a:prstGeom prst="rect">
            <a:avLst/>
          </a:prstGeom>
          <a:solidFill>
            <a:srgbClr val="0712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3" name="Rectangle 11"/>
          <p:cNvSpPr/>
          <p:nvPr/>
        </p:nvSpPr>
        <p:spPr>
          <a:xfrm>
            <a:off x="0" y="0"/>
            <a:ext cx="12192120" cy="60840"/>
          </a:xfrm>
          <a:prstGeom prst="rect">
            <a:avLst/>
          </a:prstGeom>
          <a:solidFill>
            <a:srgbClr val="00AE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6200" rIns="90000" bIns="16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4" name="TextBox 23"/>
          <p:cNvSpPr/>
          <p:nvPr/>
        </p:nvSpPr>
        <p:spPr>
          <a:xfrm>
            <a:off x="571320" y="342720"/>
            <a:ext cx="53204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Quick fix — kubectl edit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Box 24"/>
          <p:cNvSpPr/>
          <p:nvPr/>
        </p:nvSpPr>
        <p:spPr>
          <a:xfrm>
            <a:off x="594000" y="876240"/>
            <a:ext cx="8846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A4BAD0"/>
                </a:solidFill>
                <a:effectLst/>
                <a:uFillTx/>
                <a:latin typeface="Calibri"/>
              </a:rPr>
              <a:t>Use only for quick investigation or emergency edits — keep Git/YAML as the source of truth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Rounded Rectangle 9"/>
          <p:cNvSpPr/>
          <p:nvPr/>
        </p:nvSpPr>
        <p:spPr>
          <a:xfrm>
            <a:off x="457200" y="1333080"/>
            <a:ext cx="6858000" cy="3276360"/>
          </a:xfrm>
          <a:prstGeom prst="roundRect">
            <a:avLst>
              <a:gd name="adj" fmla="val 16667"/>
            </a:avLst>
          </a:prstGeom>
          <a:solidFill>
            <a:srgbClr val="0C1F36"/>
          </a:solidFill>
          <a:ln w="15240">
            <a:solidFill>
              <a:srgbClr val="1F5B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7" name="TextBox 25"/>
          <p:cNvSpPr/>
          <p:nvPr/>
        </p:nvSpPr>
        <p:spPr>
          <a:xfrm>
            <a:off x="713160" y="1510560"/>
            <a:ext cx="637344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# ImagePullBackOff example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kubectl -n k8s-workshop edit deploy/flask-app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# Find the container image: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image: localhost:5000/k8s-workshop-app:debgu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# Fix the tag: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image: localhost:5000/k8s-workshop-app:debug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# Save and exit editor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Box 26"/>
          <p:cNvSpPr/>
          <p:nvPr/>
        </p:nvSpPr>
        <p:spPr>
          <a:xfrm>
            <a:off x="7353360" y="1523880"/>
            <a:ext cx="6722640" cy="18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Good for showing live object editing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Creates a new Deployment revision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Then watch the rollout status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Do not use as the normal workshop recovery path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Rounded Rectangle 11"/>
          <p:cNvSpPr/>
          <p:nvPr/>
        </p:nvSpPr>
        <p:spPr>
          <a:xfrm>
            <a:off x="3200400" y="4572000"/>
            <a:ext cx="8001000" cy="914400"/>
          </a:xfrm>
          <a:prstGeom prst="roundRect">
            <a:avLst>
              <a:gd name="adj" fmla="val 16667"/>
            </a:avLst>
          </a:prstGeom>
          <a:solidFill>
            <a:srgbClr val="0C1F36"/>
          </a:solidFill>
          <a:ln w="15240">
            <a:solidFill>
              <a:srgbClr val="1F5B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0" name="TextBox 27"/>
          <p:cNvSpPr/>
          <p:nvPr/>
        </p:nvSpPr>
        <p:spPr>
          <a:xfrm>
            <a:off x="3200400" y="4680720"/>
            <a:ext cx="6892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kubectl -n k8s-workshop rollout status deploy/flask-app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kubectl -n k8s-workshop get pods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Rounded Rectangle 12"/>
          <p:cNvSpPr/>
          <p:nvPr/>
        </p:nvSpPr>
        <p:spPr>
          <a:xfrm>
            <a:off x="685800" y="5677200"/>
            <a:ext cx="10972800" cy="495000"/>
          </a:xfrm>
          <a:prstGeom prst="roundRect">
            <a:avLst>
              <a:gd name="adj" fmla="val 16667"/>
            </a:avLst>
          </a:prstGeom>
          <a:solidFill>
            <a:srgbClr val="FFD5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2" name="TextBox 28"/>
          <p:cNvSpPr/>
          <p:nvPr/>
        </p:nvSpPr>
        <p:spPr>
          <a:xfrm>
            <a:off x="932760" y="5715000"/>
            <a:ext cx="102686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20C19"/>
                </a:solidFill>
                <a:effectLst/>
                <a:uFillTx/>
                <a:latin typeface="Calibri"/>
              </a:rPr>
              <a:t>After the demo, restore from k8s/base/06-app-deployment.yaml to keep the lab deterministic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Rectangle 4"/>
          <p:cNvSpPr/>
          <p:nvPr/>
        </p:nvSpPr>
        <p:spPr>
          <a:xfrm>
            <a:off x="0" y="0"/>
            <a:ext cx="12192120" cy="6857640"/>
          </a:xfrm>
          <a:prstGeom prst="rect">
            <a:avLst/>
          </a:prstGeom>
          <a:solidFill>
            <a:srgbClr val="0712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4" name="Rectangle 5"/>
          <p:cNvSpPr/>
          <p:nvPr/>
        </p:nvSpPr>
        <p:spPr>
          <a:xfrm>
            <a:off x="0" y="0"/>
            <a:ext cx="12192120" cy="60840"/>
          </a:xfrm>
          <a:prstGeom prst="rect">
            <a:avLst/>
          </a:prstGeom>
          <a:solidFill>
            <a:srgbClr val="00AE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6200" rIns="90000" bIns="16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5" name="TextBox 5"/>
          <p:cNvSpPr/>
          <p:nvPr/>
        </p:nvSpPr>
        <p:spPr>
          <a:xfrm>
            <a:off x="571320" y="342720"/>
            <a:ext cx="8148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Recovery reveal — ImagePullBackOff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Box 11"/>
          <p:cNvSpPr/>
          <p:nvPr/>
        </p:nvSpPr>
        <p:spPr>
          <a:xfrm>
            <a:off x="594360" y="876240"/>
            <a:ext cx="4946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A4BAD0"/>
                </a:solidFill>
                <a:effectLst/>
                <a:uFillTx/>
                <a:latin typeface="Calibri"/>
              </a:rPr>
              <a:t>Show after participants identify the bad image tag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Rounded Rectangle 3"/>
          <p:cNvSpPr/>
          <p:nvPr/>
        </p:nvSpPr>
        <p:spPr>
          <a:xfrm>
            <a:off x="730080" y="1828800"/>
            <a:ext cx="10699920" cy="2743200"/>
          </a:xfrm>
          <a:prstGeom prst="roundRect">
            <a:avLst>
              <a:gd name="adj" fmla="val 16667"/>
            </a:avLst>
          </a:prstGeom>
          <a:solidFill>
            <a:srgbClr val="0C1F36"/>
          </a:solidFill>
          <a:ln w="15240">
            <a:solidFill>
              <a:srgbClr val="1F5B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8" name="TextBox 12"/>
          <p:cNvSpPr/>
          <p:nvPr/>
        </p:nvSpPr>
        <p:spPr>
          <a:xfrm>
            <a:off x="914400" y="2057040"/>
            <a:ext cx="101851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kubectl delete -n k8s-workshop \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-f modules/module-05-fast-failure-diagnosis/01-imagepullbackoff.yaml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kubectl apply -n k8s-workshop -f k8s/base/06-app-deployment.yaml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kubectl -n k8s-workshop rollout status deployment/flask-app --timeout=120s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kubectl -n k8s-workshop get pods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Box 13"/>
          <p:cNvSpPr/>
          <p:nvPr/>
        </p:nvSpPr>
        <p:spPr>
          <a:xfrm>
            <a:off x="1600200" y="4822200"/>
            <a:ext cx="8001000" cy="13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We do not keep a separate solution YAML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The working source of truth is k8s/base/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This also avoids old challenges/solutions paths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CrashLoopBackOff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The image starts, then the process exits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What happened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Use these signals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Image was pulled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Container started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Main process exited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Kubernetes restarted it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Backoff delay increased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kubectl logs &lt;pod&gt;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kubectl logs &lt;pod&gt; --previous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exit code in describe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environment variables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command and args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Challenge 2: CrashLoopBackOff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The key command is logs --previous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Shape 4"/>
          <p:cNvSpPr/>
          <p:nvPr/>
        </p:nvSpPr>
        <p:spPr>
          <a:xfrm>
            <a:off x="685800" y="1417320"/>
            <a:ext cx="10878120" cy="269748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delete -n k8s-workshop -f k8s/base/06-app-deployment.yaml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modules/module-05-fast-failure-diagnosis/02-crashloopbackoff.yaml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pods -w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logs &lt;pod-name&gt;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logs &lt;pod-name&gt; --previous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describe pod &lt;pod-name&gt;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Box 3"/>
          <p:cNvSpPr/>
          <p:nvPr/>
        </p:nvSpPr>
        <p:spPr>
          <a:xfrm>
            <a:off x="731880" y="4114800"/>
            <a:ext cx="9326520" cy="13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Expected: CrashLoopBackOff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Use --previous for the last failed container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Check command, args, env and exit code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5" name="Rounded Rectangle 4"/>
          <p:cNvSpPr/>
          <p:nvPr/>
        </p:nvSpPr>
        <p:spPr>
          <a:xfrm>
            <a:off x="6629400" y="5623920"/>
            <a:ext cx="4388760" cy="548280"/>
          </a:xfrm>
          <a:prstGeom prst="roundRect">
            <a:avLst>
              <a:gd name="adj" fmla="val 16667"/>
            </a:avLst>
          </a:prstGeom>
          <a:solidFill>
            <a:srgbClr val="00AE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7086600" y="5715000"/>
            <a:ext cx="3393000" cy="386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1" u="none" strike="noStrike">
                <a:solidFill>
                  <a:srgbClr val="020C19"/>
                </a:solidFill>
                <a:effectLst/>
                <a:uFillTx/>
                <a:latin typeface="Calibri"/>
              </a:rPr>
              <a:t>Key command: logs --previous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Rectangle 6"/>
          <p:cNvSpPr/>
          <p:nvPr/>
        </p:nvSpPr>
        <p:spPr>
          <a:xfrm>
            <a:off x="0" y="0"/>
            <a:ext cx="12192120" cy="6857640"/>
          </a:xfrm>
          <a:prstGeom prst="rect">
            <a:avLst/>
          </a:prstGeom>
          <a:solidFill>
            <a:srgbClr val="0712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8" name="Rectangle 7"/>
          <p:cNvSpPr/>
          <p:nvPr/>
        </p:nvSpPr>
        <p:spPr>
          <a:xfrm>
            <a:off x="0" y="0"/>
            <a:ext cx="12192120" cy="60840"/>
          </a:xfrm>
          <a:prstGeom prst="rect">
            <a:avLst/>
          </a:prstGeom>
          <a:solidFill>
            <a:srgbClr val="00AE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6200" rIns="90000" bIns="16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9" name="TextBox 14"/>
          <p:cNvSpPr/>
          <p:nvPr/>
        </p:nvSpPr>
        <p:spPr>
          <a:xfrm>
            <a:off x="571320" y="342720"/>
            <a:ext cx="82220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Recovery reveal — CrashLoopBackOff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Box 15"/>
          <p:cNvSpPr/>
          <p:nvPr/>
        </p:nvSpPr>
        <p:spPr>
          <a:xfrm>
            <a:off x="594000" y="876240"/>
            <a:ext cx="4136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A4BAD0"/>
                </a:solidFill>
                <a:effectLst/>
                <a:uFillTx/>
                <a:latin typeface="Calibri"/>
              </a:rPr>
              <a:t>Restore the normal Deployment template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Rounded Rectangle 6"/>
          <p:cNvSpPr/>
          <p:nvPr/>
        </p:nvSpPr>
        <p:spPr>
          <a:xfrm>
            <a:off x="685800" y="1600200"/>
            <a:ext cx="10667880" cy="2514600"/>
          </a:xfrm>
          <a:prstGeom prst="roundRect">
            <a:avLst>
              <a:gd name="adj" fmla="val 16667"/>
            </a:avLst>
          </a:prstGeom>
          <a:solidFill>
            <a:srgbClr val="0C1F36"/>
          </a:solidFill>
          <a:ln w="15240">
            <a:solidFill>
              <a:srgbClr val="1F5B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2" name="TextBox 16"/>
          <p:cNvSpPr/>
          <p:nvPr/>
        </p:nvSpPr>
        <p:spPr>
          <a:xfrm>
            <a:off x="914400" y="1828440"/>
            <a:ext cx="101851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kubectl delete -n k8s-workshop \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-f modules/module-05-fast-failure-diagnosis/02-crashloopbackoff.yaml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kubectl apply -n k8s-workshop -f k8s/base/06-app-deployment.yaml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kubectl -n k8s-workshop rollout status deployment/flask-app --timeout=120s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kubectl -n k8s-workshop logs deployment/flask-app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Box 17"/>
          <p:cNvSpPr/>
          <p:nvPr/>
        </p:nvSpPr>
        <p:spPr>
          <a:xfrm>
            <a:off x="838440" y="4343400"/>
            <a:ext cx="8991360" cy="13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The faulty manifest overrides command/args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The base Deployment restores the real app startup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Verify the rollout, then move 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Running but not Ready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Running is not the same as receiving traffic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Readiness means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Common causes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The process is running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Kubernetes asked the app if it is ready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The app said no or did not respond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Service endpoints exclude the Pod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Traffic should not be routed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Wrong readiness path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Wrong port or targetPort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Dependency unavailable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DB credentials wrong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App takes longer to start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Challenge 3: Readiness failure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Pod runs, Service has no ready endpoint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4"/>
          <p:cNvSpPr/>
          <p:nvPr/>
        </p:nvSpPr>
        <p:spPr>
          <a:xfrm>
            <a:off x="685800" y="1417320"/>
            <a:ext cx="10878120" cy="269748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delete -n k8s-workshop -f k8s/base/06-app-deployment.yaml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modules/module-05-fast-failure-diagnosis/03-readiness-failure.yaml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pods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describe pod &lt;pod-name&gt;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endpoints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logs &lt;pod-name&gt;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Box 4"/>
          <p:cNvSpPr/>
          <p:nvPr/>
        </p:nvSpPr>
        <p:spPr>
          <a:xfrm>
            <a:off x="731880" y="4343400"/>
            <a:ext cx="9555120" cy="13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Expected: Running, but 0/1 Ready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Readiness probe uses the wrong path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Service endpoints exclude unready Pods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Rounded Rectangle 5"/>
          <p:cNvSpPr/>
          <p:nvPr/>
        </p:nvSpPr>
        <p:spPr>
          <a:xfrm>
            <a:off x="7909920" y="5715000"/>
            <a:ext cx="3291480" cy="548280"/>
          </a:xfrm>
          <a:prstGeom prst="roundRect">
            <a:avLst>
              <a:gd name="adj" fmla="val 16667"/>
            </a:avLst>
          </a:prstGeom>
          <a:solidFill>
            <a:srgbClr val="FFD5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0" name="TextBox 18"/>
          <p:cNvSpPr/>
          <p:nvPr/>
        </p:nvSpPr>
        <p:spPr>
          <a:xfrm>
            <a:off x="8461080" y="5822280"/>
            <a:ext cx="211572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20C19"/>
                </a:solidFill>
                <a:effectLst/>
                <a:uFillTx/>
                <a:latin typeface="Calibri"/>
              </a:rPr>
              <a:t>Running ≠= Ready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Rectangle 8"/>
          <p:cNvSpPr/>
          <p:nvPr/>
        </p:nvSpPr>
        <p:spPr>
          <a:xfrm>
            <a:off x="0" y="0"/>
            <a:ext cx="12192120" cy="6857640"/>
          </a:xfrm>
          <a:prstGeom prst="rect">
            <a:avLst/>
          </a:prstGeom>
          <a:solidFill>
            <a:srgbClr val="0712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2" name="Rectangle 9"/>
          <p:cNvSpPr/>
          <p:nvPr/>
        </p:nvSpPr>
        <p:spPr>
          <a:xfrm>
            <a:off x="0" y="0"/>
            <a:ext cx="12192120" cy="60840"/>
          </a:xfrm>
          <a:prstGeom prst="rect">
            <a:avLst/>
          </a:prstGeom>
          <a:solidFill>
            <a:srgbClr val="00AE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6200" rIns="90000" bIns="16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3" name="TextBox 19"/>
          <p:cNvSpPr/>
          <p:nvPr/>
        </p:nvSpPr>
        <p:spPr>
          <a:xfrm>
            <a:off x="571320" y="342720"/>
            <a:ext cx="79340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Recovery reveal — Readiness failure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Box 20"/>
          <p:cNvSpPr/>
          <p:nvPr/>
        </p:nvSpPr>
        <p:spPr>
          <a:xfrm>
            <a:off x="594360" y="876240"/>
            <a:ext cx="4766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A4BAD0"/>
                </a:solidFill>
                <a:effectLst/>
                <a:uFillTx/>
                <a:latin typeface="Calibri"/>
              </a:rPr>
              <a:t>Restore readiness probe from the base manifest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Rounded Rectangle 7"/>
          <p:cNvSpPr/>
          <p:nvPr/>
        </p:nvSpPr>
        <p:spPr>
          <a:xfrm>
            <a:off x="762120" y="1828800"/>
            <a:ext cx="10667880" cy="2514600"/>
          </a:xfrm>
          <a:prstGeom prst="roundRect">
            <a:avLst>
              <a:gd name="adj" fmla="val 16667"/>
            </a:avLst>
          </a:prstGeom>
          <a:solidFill>
            <a:srgbClr val="0C1F36"/>
          </a:solidFill>
          <a:ln w="15240">
            <a:solidFill>
              <a:srgbClr val="1F5B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6" name="TextBox 21"/>
          <p:cNvSpPr/>
          <p:nvPr/>
        </p:nvSpPr>
        <p:spPr>
          <a:xfrm>
            <a:off x="914400" y="2057040"/>
            <a:ext cx="101851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kubectl delete -n k8s-workshop \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-f modules/module-05-fast-failure-diagnosis/03-readiness-failure.yaml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kubectl apply -n k8s-workshop -f k8s/base/06-app-deployment.yaml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kubectl -n k8s-workshop rollout status deployment/flask-app --timeout=120s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kubectl -n k8s-workshop get endpoints flask-app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Box 22"/>
          <p:cNvSpPr/>
          <p:nvPr/>
        </p:nvSpPr>
        <p:spPr>
          <a:xfrm>
            <a:off x="914400" y="4593600"/>
            <a:ext cx="9144000" cy="13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The app was running, but excluded from traffic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Fix readiness before testing Service routing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2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Use endpoints as a quick Service readiness check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 2"/>
          <p:cNvSpPr/>
          <p:nvPr/>
        </p:nvSpPr>
        <p:spPr>
          <a:xfrm>
            <a:off x="658440" y="2148840"/>
            <a:ext cx="1060380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Module 6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3"/>
          <p:cNvSpPr/>
          <p:nvPr/>
        </p:nvSpPr>
        <p:spPr>
          <a:xfrm>
            <a:off x="676800" y="2953440"/>
            <a:ext cx="9597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PostgreSQL and database migrations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2" name="Shape 4"/>
          <p:cNvSpPr/>
          <p:nvPr/>
        </p:nvSpPr>
        <p:spPr>
          <a:xfrm>
            <a:off x="676440" y="3520440"/>
            <a:ext cx="3749040" cy="3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Adding PostgreSQL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Make the app more realistic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Kubernetes objects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Operational questions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StatefulSet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Headless or normal Service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Secret for credentials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PVC via volumeClaimTemplates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Readiness depends on DB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Where is data stored?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When is DB ready?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How do we migrate schema?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What fails if Secret is wrong?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What should restart automatically?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Rectangle 12"/>
          <p:cNvSpPr/>
          <p:nvPr/>
        </p:nvSpPr>
        <p:spPr>
          <a:xfrm>
            <a:off x="0" y="0"/>
            <a:ext cx="12192120" cy="6857640"/>
          </a:xfrm>
          <a:prstGeom prst="rect">
            <a:avLst/>
          </a:prstGeom>
          <a:solidFill>
            <a:srgbClr val="0712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2" name="Rectangle 13"/>
          <p:cNvSpPr/>
          <p:nvPr/>
        </p:nvSpPr>
        <p:spPr>
          <a:xfrm>
            <a:off x="0" y="0"/>
            <a:ext cx="12192120" cy="60840"/>
          </a:xfrm>
          <a:prstGeom prst="rect">
            <a:avLst/>
          </a:prstGeom>
          <a:solidFill>
            <a:srgbClr val="00AE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6200" rIns="90000" bIns="16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3" name="TextBox 30"/>
          <p:cNvSpPr/>
          <p:nvPr/>
        </p:nvSpPr>
        <p:spPr>
          <a:xfrm>
            <a:off x="571320" y="342720"/>
            <a:ext cx="32446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300" b="1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Recovery rules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TextBox 31"/>
          <p:cNvSpPr/>
          <p:nvPr/>
        </p:nvSpPr>
        <p:spPr>
          <a:xfrm>
            <a:off x="594000" y="876240"/>
            <a:ext cx="3749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A4BAD0"/>
                </a:solidFill>
                <a:effectLst/>
                <a:uFillTx/>
                <a:latin typeface="Calibri"/>
              </a:rPr>
              <a:t>Keep the flow short and deterministic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Box 32"/>
          <p:cNvSpPr/>
          <p:nvPr/>
        </p:nvSpPr>
        <p:spPr>
          <a:xfrm>
            <a:off x="761760" y="1447560"/>
            <a:ext cx="7690320" cy="187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3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Never delete PostgreSQL during this module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3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Delete a Job before re-running the same Job name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3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Use k8s/base/ to restore the normal app configuration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3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Use repair Job to clean the controlled broken SQL state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Rounded Rectangle 10"/>
          <p:cNvSpPr/>
          <p:nvPr/>
        </p:nvSpPr>
        <p:spPr>
          <a:xfrm>
            <a:off x="6782040" y="3475080"/>
            <a:ext cx="4876560" cy="2011320"/>
          </a:xfrm>
          <a:prstGeom prst="roundRect">
            <a:avLst>
              <a:gd name="adj" fmla="val 16667"/>
            </a:avLst>
          </a:prstGeom>
          <a:solidFill>
            <a:srgbClr val="0C1F36"/>
          </a:solidFill>
          <a:ln w="15240">
            <a:solidFill>
              <a:srgbClr val="1F5B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7" name="TextBox 33"/>
          <p:cNvSpPr/>
          <p:nvPr/>
        </p:nvSpPr>
        <p:spPr>
          <a:xfrm>
            <a:off x="7356600" y="3475080"/>
            <a:ext cx="3387600" cy="18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r>
              <a:rPr lang="en-US" sz="17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# Cleanup after the module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kubectl delete job \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  db-migration \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  db-migration-broken \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  db-migration-repair \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  -n k8s-workshop \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BF4FF"/>
                </a:solidFill>
                <a:effectLst/>
                <a:uFillTx/>
                <a:latin typeface="Consolas"/>
              </a:rPr>
              <a:t>  --ignore-not-found=true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Rounded Rectangle 13"/>
          <p:cNvSpPr/>
          <p:nvPr/>
        </p:nvSpPr>
        <p:spPr>
          <a:xfrm>
            <a:off x="2171160" y="5715000"/>
            <a:ext cx="7315200" cy="495000"/>
          </a:xfrm>
          <a:prstGeom prst="roundRect">
            <a:avLst>
              <a:gd name="adj" fmla="val 16667"/>
            </a:avLst>
          </a:prstGeom>
          <a:solidFill>
            <a:srgbClr val="4DD6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9" name="TextBox 34"/>
          <p:cNvSpPr/>
          <p:nvPr/>
        </p:nvSpPr>
        <p:spPr>
          <a:xfrm>
            <a:off x="2362320" y="5808600"/>
            <a:ext cx="67816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20C19"/>
                </a:solidFill>
                <a:effectLst/>
                <a:uFillTx/>
                <a:latin typeface="Calibri"/>
              </a:rPr>
              <a:t>Migrations should be atomic, idempotent, and observable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2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Deploy PostgreSQL and migration Job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3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The DB becomes part of the application lifecycle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4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# THIS IS ALREADY DONE !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k8s/base/04-postgres-statefulset.yaml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rollout status statefulset/postgres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pvc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k8s/base/05-migration-job.yaml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logs job/db-migration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jobs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Migration Job vs initContainer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Use the right mechanism for the risk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Migration Job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initContainer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2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Runs once per release step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Easy to inspect logs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Can fail before app rollout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Avoids N replicas running migration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Good teaching default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Runs before each Pod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Good for local setup/waiting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Can duplicate migration work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Tightly coupled with Pod startup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Useful but risky for schema changes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6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Challenge 4: DB connection failure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7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Wrong Secret or wrong Service DNS name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8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kubectl delete job db-migration db-migration-broken db-migration-repair -n k8s-workshop \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--ignore-not-found=true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modules/module-06-postgresql-and-database-migrations/01-wrong-database-secret.yaml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rollout restart deploy/flask-app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pods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logs deploy/flask-app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describe pod &lt;pod-name&gt;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# Fix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k8s/base/03-secret.yaml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k8s/base/06-app-deployment,yaml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rollout status deploy/flask-app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2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Challenge 5: Broken migration Job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Completed vs Failed matters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4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5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kubectl delete job db-migration db-migration-broken db-migration-repair -n k8s-workshop \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--ignore-not-found=true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</a:t>
            </a: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modules/module-06-postgresql-and-database-migrations/02-broken-migration-job.yaml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jobs,pods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logs job/db-migration-broken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describe job db-migration-broken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# Fix with a valid migration or fixed Job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k8s/base/03-secret.yaml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k8s/base/06-app-deployment.yaml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rollout status deploy/flask-app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6" name="TextBox 29"/>
          <p:cNvSpPr/>
          <p:nvPr/>
        </p:nvSpPr>
        <p:spPr>
          <a:xfrm>
            <a:off x="6657480" y="2820240"/>
            <a:ext cx="4772520" cy="17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1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Image: migration:broken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1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Isolated schema: workshop_training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1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Expected: Job Failed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100" b="0" u="none" strike="noStrike">
                <a:solidFill>
                  <a:srgbClr val="EBF4FF"/>
                </a:solidFill>
                <a:effectLst/>
                <a:uFillTx/>
                <a:latin typeface="Calibri"/>
              </a:rPr>
              <a:t>Key idea: partial DB state can remain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Shape 231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Text 282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 283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Challenge 5: Broken migration Job – cleanup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0" name="Text 284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Completed vs Failed matters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1" name="Shape 232"/>
          <p:cNvSpPr/>
          <p:nvPr/>
        </p:nvSpPr>
        <p:spPr>
          <a:xfrm>
            <a:off x="685800" y="1371600"/>
            <a:ext cx="10878120" cy="47973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2" name="Text 285"/>
          <p:cNvSpPr/>
          <p:nvPr/>
        </p:nvSpPr>
        <p:spPr>
          <a:xfrm>
            <a:off x="850320" y="1563480"/>
            <a:ext cx="10558080" cy="46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kubectl delete job db-migration-repair -n k8s-workshop --ignore-not-found=true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kubectl apply -n k8s-workshop -f modules/module-06-postgresql-and-database-migrations/03-repair-migration-job.yaml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kubectl -n k8s-workshop wait --for=condition=complete job/db-migration-repair --timeout=120s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kubectl -n k8s-workshop logs job/db-migration-repair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kubectl -n k8s-workshop exec statefulset/postgres -- \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  psql -U workshop -d workshop -c \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  "SELECT table_schema, table_name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   FROM information_schema.tables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EBF4FF"/>
                </a:solidFill>
                <a:effectLst/>
                <a:uFillTx/>
                <a:latin typeface="Consolas"/>
                <a:ea typeface="Aptos Mono"/>
              </a:rPr>
              <a:t>   WHERE table_schema = 'workshop_training';"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5" name="Text 2"/>
          <p:cNvSpPr/>
          <p:nvPr/>
        </p:nvSpPr>
        <p:spPr>
          <a:xfrm>
            <a:off x="658440" y="2148840"/>
            <a:ext cx="1060380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Module 7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 3"/>
          <p:cNvSpPr/>
          <p:nvPr/>
        </p:nvSpPr>
        <p:spPr>
          <a:xfrm>
            <a:off x="676800" y="2953440"/>
            <a:ext cx="9597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Volumes and persistence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7" name="Shape 4"/>
          <p:cNvSpPr/>
          <p:nvPr/>
        </p:nvSpPr>
        <p:spPr>
          <a:xfrm>
            <a:off x="676440" y="3520440"/>
            <a:ext cx="3749040" cy="3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Volume types in this workshop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1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What we can and cannot demonstrate on single-node K3s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2" name="Shape 4"/>
          <p:cNvSpPr/>
          <p:nvPr/>
        </p:nvSpPr>
        <p:spPr>
          <a:xfrm>
            <a:off x="685800" y="1325880"/>
            <a:ext cx="10832400" cy="472320"/>
          </a:xfrm>
          <a:prstGeom prst="rect">
            <a:avLst/>
          </a:prstGeom>
          <a:solidFill>
            <a:srgbClr val="0EA5E9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 5"/>
          <p:cNvSpPr/>
          <p:nvPr/>
        </p:nvSpPr>
        <p:spPr>
          <a:xfrm>
            <a:off x="758880" y="147204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Type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4" name="Text 6"/>
          <p:cNvSpPr/>
          <p:nvPr/>
        </p:nvSpPr>
        <p:spPr>
          <a:xfrm>
            <a:off x="2862000" y="14720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Access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5" name="Text 7"/>
          <p:cNvSpPr/>
          <p:nvPr/>
        </p:nvSpPr>
        <p:spPr>
          <a:xfrm>
            <a:off x="5239440" y="14720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Survives Pod recreation?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6" name="Text 8"/>
          <p:cNvSpPr/>
          <p:nvPr/>
        </p:nvSpPr>
        <p:spPr>
          <a:xfrm>
            <a:off x="7616880" y="147204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Workshop use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7" name="Shape 9"/>
          <p:cNvSpPr/>
          <p:nvPr/>
        </p:nvSpPr>
        <p:spPr>
          <a:xfrm>
            <a:off x="685800" y="1856160"/>
            <a:ext cx="10832400" cy="472320"/>
          </a:xfrm>
          <a:prstGeom prst="rect">
            <a:avLst/>
          </a:prstGeom>
          <a:solidFill>
            <a:srgbClr val="0E2D46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8" name="Text 10"/>
          <p:cNvSpPr/>
          <p:nvPr/>
        </p:nvSpPr>
        <p:spPr>
          <a:xfrm>
            <a:off x="758880" y="200268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emptyDir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 11"/>
          <p:cNvSpPr/>
          <p:nvPr/>
        </p:nvSpPr>
        <p:spPr>
          <a:xfrm>
            <a:off x="2862000" y="200268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Pod-local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0" name="Text 12"/>
          <p:cNvSpPr/>
          <p:nvPr/>
        </p:nvSpPr>
        <p:spPr>
          <a:xfrm>
            <a:off x="5239440" y="200268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No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1" name="Text 13"/>
          <p:cNvSpPr/>
          <p:nvPr/>
        </p:nvSpPr>
        <p:spPr>
          <a:xfrm>
            <a:off x="7616880" y="200268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Temporary file log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2" name="Shape 14"/>
          <p:cNvSpPr/>
          <p:nvPr/>
        </p:nvSpPr>
        <p:spPr>
          <a:xfrm>
            <a:off x="685800" y="2386440"/>
            <a:ext cx="10832400" cy="472320"/>
          </a:xfrm>
          <a:prstGeom prst="rect">
            <a:avLst/>
          </a:prstGeom>
          <a:solidFill>
            <a:srgbClr val="0B2235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3" name="Text 15"/>
          <p:cNvSpPr/>
          <p:nvPr/>
        </p:nvSpPr>
        <p:spPr>
          <a:xfrm>
            <a:off x="758880" y="253296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ConfigMap volume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 16"/>
          <p:cNvSpPr/>
          <p:nvPr/>
        </p:nvSpPr>
        <p:spPr>
          <a:xfrm>
            <a:off x="2862000" y="253296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Read-only files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5" name="Text 17"/>
          <p:cNvSpPr/>
          <p:nvPr/>
        </p:nvSpPr>
        <p:spPr>
          <a:xfrm>
            <a:off x="5239440" y="253296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N/A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 18"/>
          <p:cNvSpPr/>
          <p:nvPr/>
        </p:nvSpPr>
        <p:spPr>
          <a:xfrm>
            <a:off x="7616880" y="253296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Application configuration as files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7" name="Shape 19"/>
          <p:cNvSpPr/>
          <p:nvPr/>
        </p:nvSpPr>
        <p:spPr>
          <a:xfrm>
            <a:off x="685800" y="2917080"/>
            <a:ext cx="10832400" cy="472320"/>
          </a:xfrm>
          <a:prstGeom prst="rect">
            <a:avLst/>
          </a:prstGeom>
          <a:solidFill>
            <a:srgbClr val="0E2D46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 20"/>
          <p:cNvSpPr/>
          <p:nvPr/>
        </p:nvSpPr>
        <p:spPr>
          <a:xfrm>
            <a:off x="758880" y="306324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Secret volume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9" name="Text 21"/>
          <p:cNvSpPr/>
          <p:nvPr/>
        </p:nvSpPr>
        <p:spPr>
          <a:xfrm>
            <a:off x="2862000" y="30632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Read-only files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0" name="Text 22"/>
          <p:cNvSpPr/>
          <p:nvPr/>
        </p:nvSpPr>
        <p:spPr>
          <a:xfrm>
            <a:off x="5239440" y="30632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N/A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1" name="Text 23"/>
          <p:cNvSpPr/>
          <p:nvPr/>
        </p:nvSpPr>
        <p:spPr>
          <a:xfrm>
            <a:off x="7616880" y="306324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Credential files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2" name="Shape 24"/>
          <p:cNvSpPr/>
          <p:nvPr/>
        </p:nvSpPr>
        <p:spPr>
          <a:xfrm>
            <a:off x="685800" y="3447360"/>
            <a:ext cx="10832400" cy="472320"/>
          </a:xfrm>
          <a:prstGeom prst="rect">
            <a:avLst/>
          </a:prstGeom>
          <a:solidFill>
            <a:srgbClr val="0B2235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3" name="Text 25"/>
          <p:cNvSpPr/>
          <p:nvPr/>
        </p:nvSpPr>
        <p:spPr>
          <a:xfrm>
            <a:off x="758880" y="359352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PVC RWO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4" name="Text 26"/>
          <p:cNvSpPr/>
          <p:nvPr/>
        </p:nvSpPr>
        <p:spPr>
          <a:xfrm>
            <a:off x="2862000" y="359352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Single node write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5" name="Text 27"/>
          <p:cNvSpPr/>
          <p:nvPr/>
        </p:nvSpPr>
        <p:spPr>
          <a:xfrm>
            <a:off x="5239440" y="359352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Yes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 28"/>
          <p:cNvSpPr/>
          <p:nvPr/>
        </p:nvSpPr>
        <p:spPr>
          <a:xfrm>
            <a:off x="7616880" y="359352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Persistent app log and PostgreSQL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7" name="Shape 29"/>
          <p:cNvSpPr/>
          <p:nvPr/>
        </p:nvSpPr>
        <p:spPr>
          <a:xfrm>
            <a:off x="685800" y="3977640"/>
            <a:ext cx="10832400" cy="472320"/>
          </a:xfrm>
          <a:prstGeom prst="rect">
            <a:avLst/>
          </a:prstGeom>
          <a:solidFill>
            <a:srgbClr val="0E2D46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8" name="Text 30"/>
          <p:cNvSpPr/>
          <p:nvPr/>
        </p:nvSpPr>
        <p:spPr>
          <a:xfrm>
            <a:off x="758880" y="412380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PVC RWX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9" name="Text 31"/>
          <p:cNvSpPr/>
          <p:nvPr/>
        </p:nvSpPr>
        <p:spPr>
          <a:xfrm>
            <a:off x="2862000" y="412380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Many writers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0" name="Text 32"/>
          <p:cNvSpPr/>
          <p:nvPr/>
        </p:nvSpPr>
        <p:spPr>
          <a:xfrm>
            <a:off x="5239440" y="412380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Yes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 33"/>
          <p:cNvSpPr/>
          <p:nvPr/>
        </p:nvSpPr>
        <p:spPr>
          <a:xfrm>
            <a:off x="7616880" y="412380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Slides only: NFS/CephFS/EFS/Azure Files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2" name="Shape 34"/>
          <p:cNvSpPr/>
          <p:nvPr/>
        </p:nvSpPr>
        <p:spPr>
          <a:xfrm>
            <a:off x="685800" y="4507920"/>
            <a:ext cx="10832400" cy="472320"/>
          </a:xfrm>
          <a:prstGeom prst="rect">
            <a:avLst/>
          </a:prstGeom>
          <a:solidFill>
            <a:srgbClr val="0B2235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3" name="Text 35"/>
          <p:cNvSpPr/>
          <p:nvPr/>
        </p:nvSpPr>
        <p:spPr>
          <a:xfrm>
            <a:off x="758880" y="465444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PVC RWOP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4" name="Text 36"/>
          <p:cNvSpPr/>
          <p:nvPr/>
        </p:nvSpPr>
        <p:spPr>
          <a:xfrm>
            <a:off x="2862000" y="46544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Single Pod write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5" name="Text 37"/>
          <p:cNvSpPr/>
          <p:nvPr/>
        </p:nvSpPr>
        <p:spPr>
          <a:xfrm>
            <a:off x="5239440" y="46544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Yes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6" name="Text 38"/>
          <p:cNvSpPr/>
          <p:nvPr/>
        </p:nvSpPr>
        <p:spPr>
          <a:xfrm>
            <a:off x="7616880" y="465444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Conceptual comparison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9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emptyDir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0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Good for temporary data, not persistence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1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Useful for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2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Not useful for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3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Scratch files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Temporary caches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Sidecar sharing inside a Pod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Training log disappearance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No storage provisioning needed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4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Databases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Data that must survive Pod recreation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Cross-Pod sharing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Node failure protection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Shared state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7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Challenge 6A: emptyDir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8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Where did my file go?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9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0" name="Text 5"/>
          <p:cNvSpPr/>
          <p:nvPr/>
        </p:nvSpPr>
        <p:spPr>
          <a:xfrm>
            <a:off x="814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k8s/storage/01-emtpydir-app.yaml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exec flask-app-emptydir -- tail /data/events.log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delete pod falsk-app-emptydir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k8s/storage/01-emtpydir-app.yaml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exec flask-app-emptydir -- ls -l /data:w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3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PVC with RWO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4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Persistent volume survives Pod recreation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5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What RWO means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6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Single-node caveat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7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ReadWriteOnce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Mounted read-write by a single node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In K3s local-path creates local PVs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Good for single-node persistence lab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Not the same as shared storage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8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Two Pods on the same node may appear to work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Multi-attach errors need multi-node clusters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Do not overclaim what the lab proves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Teach semantics on slides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Use StatefulSet for DB pattern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1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Challenge 6B: PVC RWO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2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File survives Pod recreation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3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4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challenges/challenge-06-emptydir-vs-pvc/solution.yaml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exec pvc-writer -- tail /data/events.log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delete pod pvc-writer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challenges/challenge-06-emptydir-vs-pvc/solution.yaml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exec pvc-writer -- tail /data/events.log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pvc,pv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7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Storage lifecycle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8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Follow the data, not only the Pod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9" name="Shape 4"/>
          <p:cNvSpPr/>
          <p:nvPr/>
        </p:nvSpPr>
        <p:spPr>
          <a:xfrm>
            <a:off x="50292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2D46"/>
          </a:solidFill>
          <a:ln w="12700">
            <a:solidFill>
              <a:srgbClr val="0E2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0" name="Text 5"/>
          <p:cNvSpPr/>
          <p:nvPr/>
        </p:nvSpPr>
        <p:spPr>
          <a:xfrm>
            <a:off x="54864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Container restart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1" name="Shape 6"/>
          <p:cNvSpPr/>
          <p:nvPr/>
        </p:nvSpPr>
        <p:spPr>
          <a:xfrm>
            <a:off x="177408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2" name="Shape 7"/>
          <p:cNvSpPr/>
          <p:nvPr/>
        </p:nvSpPr>
        <p:spPr>
          <a:xfrm>
            <a:off x="200268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3" name="Text 8"/>
          <p:cNvSpPr/>
          <p:nvPr/>
        </p:nvSpPr>
        <p:spPr>
          <a:xfrm>
            <a:off x="204840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Pod restart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4" name="Shape 9"/>
          <p:cNvSpPr/>
          <p:nvPr/>
        </p:nvSpPr>
        <p:spPr>
          <a:xfrm>
            <a:off x="327348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5" name="Shape 10"/>
          <p:cNvSpPr/>
          <p:nvPr/>
        </p:nvSpPr>
        <p:spPr>
          <a:xfrm>
            <a:off x="350208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6" name="Text 11"/>
          <p:cNvSpPr/>
          <p:nvPr/>
        </p:nvSpPr>
        <p:spPr>
          <a:xfrm>
            <a:off x="354780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Pod recreation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7" name="Shape 12"/>
          <p:cNvSpPr/>
          <p:nvPr/>
        </p:nvSpPr>
        <p:spPr>
          <a:xfrm>
            <a:off x="477324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8" name="Shape 13"/>
          <p:cNvSpPr/>
          <p:nvPr/>
        </p:nvSpPr>
        <p:spPr>
          <a:xfrm>
            <a:off x="500184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Text 14"/>
          <p:cNvSpPr/>
          <p:nvPr/>
        </p:nvSpPr>
        <p:spPr>
          <a:xfrm>
            <a:off x="504756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PVC remains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0" name="Shape 15"/>
          <p:cNvSpPr/>
          <p:nvPr/>
        </p:nvSpPr>
        <p:spPr>
          <a:xfrm>
            <a:off x="627264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1" name="Shape 16"/>
          <p:cNvSpPr/>
          <p:nvPr/>
        </p:nvSpPr>
        <p:spPr>
          <a:xfrm>
            <a:off x="650124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Text 17"/>
          <p:cNvSpPr/>
          <p:nvPr/>
        </p:nvSpPr>
        <p:spPr>
          <a:xfrm>
            <a:off x="654696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PV backend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3" name="Shape 18"/>
          <p:cNvSpPr/>
          <p:nvPr/>
        </p:nvSpPr>
        <p:spPr>
          <a:xfrm>
            <a:off x="777240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4" name="Shape 19"/>
          <p:cNvSpPr/>
          <p:nvPr/>
        </p:nvSpPr>
        <p:spPr>
          <a:xfrm>
            <a:off x="800100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5" name="Text 20"/>
          <p:cNvSpPr/>
          <p:nvPr/>
        </p:nvSpPr>
        <p:spPr>
          <a:xfrm>
            <a:off x="804672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Reclaim policy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8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ConfigMap and Secret volumes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Configuration can also be mounted as files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0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ConfigMap volume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1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Secret volume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2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Plain configuration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Mounted as files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Can update files eventually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Not for sensitive data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Good for application properties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3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Sensitive values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Mounted read-only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Base64 in API object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Still needs RBAC discipline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Restart often needed for env vars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ConfigMap and Secret volume lab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Read configuration as files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8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9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k8s/storage/03-configmap-secret-volumes.yaml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exec volume-reader -- ls -l /config /secret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exec volume-reader -- cat /config/application.properties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exec volume-reader -- cat /secret/password.txt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2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RWX overview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3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Discuss it, do not force it in single-node K3s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4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RWX means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5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Examples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6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ReadWriteMany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Multiple writers/readers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Requires backend support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Common for shared content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Not every StorageClass supports it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7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NFS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CephFS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Amazon EFS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Azure Files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NetApp / enterprise NAS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0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StatefulSet storage pattern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1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Databases need stable identity and storage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2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StatefulSet gives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3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Teaching message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4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Stable Pod name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Ordered rollout by default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Stable network identity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volumeClaimTemplates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One PVC per replica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5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Not HA PostgreSQL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Good for storage lifecycle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PVC remains after Pod recreation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Deleting StatefulSet does not automatically delete PVCs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Know what owns the data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8" name="Text 2"/>
          <p:cNvSpPr/>
          <p:nvPr/>
        </p:nvSpPr>
        <p:spPr>
          <a:xfrm>
            <a:off x="658440" y="2148840"/>
            <a:ext cx="1060380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Module 8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9" name="Text 3"/>
          <p:cNvSpPr/>
          <p:nvPr/>
        </p:nvSpPr>
        <p:spPr>
          <a:xfrm>
            <a:off x="676800" y="2953440"/>
            <a:ext cx="9597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Distroless and no-shell troubleshooting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0" name="Shape 4"/>
          <p:cNvSpPr/>
          <p:nvPr/>
        </p:nvSpPr>
        <p:spPr>
          <a:xfrm>
            <a:off x="676440" y="3520440"/>
            <a:ext cx="3749040" cy="3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3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Why no shell?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4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Minimal images improve security but change troubleshooting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Benefits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6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Trade-offs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7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Smaller runtime surface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Fewer vulnerable packages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Less accidental tooling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Closer to immutable runtime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Good production default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8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kubectl exec -- sh fails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No curl, ps, nslookup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Logs and probes become critical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Need debug containers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Need good application telemetry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1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Challenge 7: Distroless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2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Do not assume shell exists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3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4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challenges/challenge-07-distroless/broken.yaml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pods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exec -it distroless-demo -- sh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# Better pattern: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debug -it pod/distroless-demo --image=busybox:1.36 --target=app -- sh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7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Debugging without shell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Use cluster signals before interactive access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9" name="Shape 4"/>
          <p:cNvSpPr/>
          <p:nvPr/>
        </p:nvSpPr>
        <p:spPr>
          <a:xfrm>
            <a:off x="50292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2D46"/>
          </a:solidFill>
          <a:ln w="12700">
            <a:solidFill>
              <a:srgbClr val="0E2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0" name="Text 5"/>
          <p:cNvSpPr/>
          <p:nvPr/>
        </p:nvSpPr>
        <p:spPr>
          <a:xfrm>
            <a:off x="54864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Events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1" name="Shape 6"/>
          <p:cNvSpPr/>
          <p:nvPr/>
        </p:nvSpPr>
        <p:spPr>
          <a:xfrm>
            <a:off x="177408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2" name="Shape 7"/>
          <p:cNvSpPr/>
          <p:nvPr/>
        </p:nvSpPr>
        <p:spPr>
          <a:xfrm>
            <a:off x="200268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3" name="Text 8"/>
          <p:cNvSpPr/>
          <p:nvPr/>
        </p:nvSpPr>
        <p:spPr>
          <a:xfrm>
            <a:off x="204840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Describe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4" name="Shape 9"/>
          <p:cNvSpPr/>
          <p:nvPr/>
        </p:nvSpPr>
        <p:spPr>
          <a:xfrm>
            <a:off x="327348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5" name="Shape 10"/>
          <p:cNvSpPr/>
          <p:nvPr/>
        </p:nvSpPr>
        <p:spPr>
          <a:xfrm>
            <a:off x="350208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6" name="Text 11"/>
          <p:cNvSpPr/>
          <p:nvPr/>
        </p:nvSpPr>
        <p:spPr>
          <a:xfrm>
            <a:off x="354780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Logs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7" name="Shape 12"/>
          <p:cNvSpPr/>
          <p:nvPr/>
        </p:nvSpPr>
        <p:spPr>
          <a:xfrm>
            <a:off x="477324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8" name="Shape 13"/>
          <p:cNvSpPr/>
          <p:nvPr/>
        </p:nvSpPr>
        <p:spPr>
          <a:xfrm>
            <a:off x="500184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Text 14"/>
          <p:cNvSpPr/>
          <p:nvPr/>
        </p:nvSpPr>
        <p:spPr>
          <a:xfrm>
            <a:off x="504756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Probes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0" name="Shape 15"/>
          <p:cNvSpPr/>
          <p:nvPr/>
        </p:nvSpPr>
        <p:spPr>
          <a:xfrm>
            <a:off x="627264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1" name="Shape 16"/>
          <p:cNvSpPr/>
          <p:nvPr/>
        </p:nvSpPr>
        <p:spPr>
          <a:xfrm>
            <a:off x="650124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Text 17"/>
          <p:cNvSpPr/>
          <p:nvPr/>
        </p:nvSpPr>
        <p:spPr>
          <a:xfrm>
            <a:off x="654696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Metrics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3" name="Shape 18"/>
          <p:cNvSpPr/>
          <p:nvPr/>
        </p:nvSpPr>
        <p:spPr>
          <a:xfrm>
            <a:off x="777240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4" name="Shape 19"/>
          <p:cNvSpPr/>
          <p:nvPr/>
        </p:nvSpPr>
        <p:spPr>
          <a:xfrm>
            <a:off x="800100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5" name="Text 20"/>
          <p:cNvSpPr/>
          <p:nvPr/>
        </p:nvSpPr>
        <p:spPr>
          <a:xfrm>
            <a:off x="804672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Debug container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8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Ephemeral debug containers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9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A safer operational escape hatch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0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Use when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1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Remember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2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Target image has no shell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Need network tools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Need process namespace insight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Need quick triage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Do not want to rebuild app image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3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Not a replacement for logs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May need RBAC permission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Does not change app container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Still uses same Pod network namespace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Use carefully in production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6" name="Text 2"/>
          <p:cNvSpPr/>
          <p:nvPr/>
        </p:nvSpPr>
        <p:spPr>
          <a:xfrm>
            <a:off x="658440" y="2148840"/>
            <a:ext cx="1060380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Module 9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7" name="Text 3"/>
          <p:cNvSpPr/>
          <p:nvPr/>
        </p:nvSpPr>
        <p:spPr>
          <a:xfrm>
            <a:off x="676800" y="2953440"/>
            <a:ext cx="9597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Requests, limits and runtime behavior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8" name="Shape 4"/>
          <p:cNvSpPr/>
          <p:nvPr/>
        </p:nvSpPr>
        <p:spPr>
          <a:xfrm>
            <a:off x="676440" y="3520440"/>
            <a:ext cx="3749040" cy="3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1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Requests vs actual usage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2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This is the source of many misunderstandings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3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Requests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4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Actual usage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5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Used by scheduler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Counted by quota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Reserve scheduling capacity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Do not mean process is using it now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Help cluster planning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6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What the process consumes now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Can be lower than request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Can be higher than request if allowed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Observed by metrics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Drives performance and cost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9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Limits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0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Runtime guardrails are different from scheduling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1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CPU limit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2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Memory limit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3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CPU is throttled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Application becomes slower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Usually not killed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Can create latency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Be careful with tight CPU limits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4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Memory cannot be throttled the same way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Exceeding limit can kill container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Seen as OOMKilled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Restart can cause CrashLoopBackOff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Needs app-level understanding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7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QoS classes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8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How Kubernetes classifies Pods from resources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9" name="Shape 4"/>
          <p:cNvSpPr/>
          <p:nvPr/>
        </p:nvSpPr>
        <p:spPr>
          <a:xfrm>
            <a:off x="685800" y="1325880"/>
            <a:ext cx="10832400" cy="472320"/>
          </a:xfrm>
          <a:prstGeom prst="rect">
            <a:avLst/>
          </a:prstGeom>
          <a:solidFill>
            <a:srgbClr val="0EA5E9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0" name="Text 5"/>
          <p:cNvSpPr/>
          <p:nvPr/>
        </p:nvSpPr>
        <p:spPr>
          <a:xfrm>
            <a:off x="758880" y="147204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QoS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1" name="Text 6"/>
          <p:cNvSpPr/>
          <p:nvPr/>
        </p:nvSpPr>
        <p:spPr>
          <a:xfrm>
            <a:off x="2862000" y="14720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Condition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2" name="Text 7"/>
          <p:cNvSpPr/>
          <p:nvPr/>
        </p:nvSpPr>
        <p:spPr>
          <a:xfrm>
            <a:off x="5239440" y="14720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Operational meaning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3" name="Text 8"/>
          <p:cNvSpPr/>
          <p:nvPr/>
        </p:nvSpPr>
        <p:spPr>
          <a:xfrm>
            <a:off x="7616880" y="147204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Example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4" name="Shape 9"/>
          <p:cNvSpPr/>
          <p:nvPr/>
        </p:nvSpPr>
        <p:spPr>
          <a:xfrm>
            <a:off x="685800" y="1856160"/>
            <a:ext cx="10832400" cy="472320"/>
          </a:xfrm>
          <a:prstGeom prst="rect">
            <a:avLst/>
          </a:prstGeom>
          <a:solidFill>
            <a:srgbClr val="0E2D46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5" name="Text 10"/>
          <p:cNvSpPr/>
          <p:nvPr/>
        </p:nvSpPr>
        <p:spPr>
          <a:xfrm>
            <a:off x="758880" y="200268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Guaranteed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6" name="Text 11"/>
          <p:cNvSpPr/>
          <p:nvPr/>
        </p:nvSpPr>
        <p:spPr>
          <a:xfrm>
            <a:off x="2862000" y="200268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requests == limits for all containers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7" name="Text 12"/>
          <p:cNvSpPr/>
          <p:nvPr/>
        </p:nvSpPr>
        <p:spPr>
          <a:xfrm>
            <a:off x="5239440" y="200268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Highest eviction priority protection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8" name="Text 13"/>
          <p:cNvSpPr/>
          <p:nvPr/>
        </p:nvSpPr>
        <p:spPr>
          <a:xfrm>
            <a:off x="7616880" y="200268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Critical stable workload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9" name="Shape 14"/>
          <p:cNvSpPr/>
          <p:nvPr/>
        </p:nvSpPr>
        <p:spPr>
          <a:xfrm>
            <a:off x="685800" y="2386440"/>
            <a:ext cx="10832400" cy="472320"/>
          </a:xfrm>
          <a:prstGeom prst="rect">
            <a:avLst/>
          </a:prstGeom>
          <a:solidFill>
            <a:srgbClr val="0B2235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0" name="Text 15"/>
          <p:cNvSpPr/>
          <p:nvPr/>
        </p:nvSpPr>
        <p:spPr>
          <a:xfrm>
            <a:off x="758880" y="253296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Burstable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1" name="Text 16"/>
          <p:cNvSpPr/>
          <p:nvPr/>
        </p:nvSpPr>
        <p:spPr>
          <a:xfrm>
            <a:off x="2862000" y="253296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some requests or limits set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2" name="Text 17"/>
          <p:cNvSpPr/>
          <p:nvPr/>
        </p:nvSpPr>
        <p:spPr>
          <a:xfrm>
            <a:off x="5239440" y="253296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Common default for apps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3" name="Text 18"/>
          <p:cNvSpPr/>
          <p:nvPr/>
        </p:nvSpPr>
        <p:spPr>
          <a:xfrm>
            <a:off x="7616880" y="253296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Most workshop app Pods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4" name="Shape 19"/>
          <p:cNvSpPr/>
          <p:nvPr/>
        </p:nvSpPr>
        <p:spPr>
          <a:xfrm>
            <a:off x="685800" y="2917080"/>
            <a:ext cx="10832400" cy="472320"/>
          </a:xfrm>
          <a:prstGeom prst="rect">
            <a:avLst/>
          </a:prstGeom>
          <a:solidFill>
            <a:srgbClr val="0E2D46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5" name="Text 20"/>
          <p:cNvSpPr/>
          <p:nvPr/>
        </p:nvSpPr>
        <p:spPr>
          <a:xfrm>
            <a:off x="758880" y="306324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BestEffort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6" name="Text 21"/>
          <p:cNvSpPr/>
          <p:nvPr/>
        </p:nvSpPr>
        <p:spPr>
          <a:xfrm>
            <a:off x="2862000" y="30632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no requests or limits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7" name="Text 22"/>
          <p:cNvSpPr/>
          <p:nvPr/>
        </p:nvSpPr>
        <p:spPr>
          <a:xfrm>
            <a:off x="5239440" y="30632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First to be evicted under pressure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8" name="Text 23"/>
          <p:cNvSpPr/>
          <p:nvPr/>
        </p:nvSpPr>
        <p:spPr>
          <a:xfrm>
            <a:off x="7616880" y="306324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Avoid for important apps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1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Challenge 9: OOMKilled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2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Memory limit becomes visible at runtime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3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4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challenges/challenge-09-oomkilled/broken.yaml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pods -w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describe pod oom-demo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logs oom-demo --previous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# Or use app endpoint with a low memory limit: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curl http://localhost:8080/stress/memory?mib=256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7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How to explain VM comparison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8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Useful for infra teams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9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Kubernetes Pod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0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VM workload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1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Requests guide scheduling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Limits control runtime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Actual usage can be much lower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Quota may block creation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Pod can be restarted/rescheduled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2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Flavor/guest memory shapes scheduling/capacity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Memory pressure behaves differently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Platform may overcommit CPU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Quota/capacity can block creation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Treat as heavier scheduling unit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5" name="Text 2"/>
          <p:cNvSpPr/>
          <p:nvPr/>
        </p:nvSpPr>
        <p:spPr>
          <a:xfrm>
            <a:off x="658440" y="2148840"/>
            <a:ext cx="1060380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Module 10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6" name="Text 3"/>
          <p:cNvSpPr/>
          <p:nvPr/>
        </p:nvSpPr>
        <p:spPr>
          <a:xfrm>
            <a:off x="676800" y="2953440"/>
            <a:ext cx="9597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ResourceQuota and LimitRange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7" name="Shape 4"/>
          <p:cNvSpPr/>
          <p:nvPr/>
        </p:nvSpPr>
        <p:spPr>
          <a:xfrm>
            <a:off x="676440" y="3520440"/>
            <a:ext cx="3749040" cy="3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0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ResourceQuota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1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Namespace-level capacity control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2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What it controls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3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What it teaches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4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Aggregate requests and limits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Pod count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PVC count and storage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Object counts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Admission decisions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5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Why new Pods may not appear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Why idle-looking clusters can reject work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Why requests are part of capacity planning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How teams share clusters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Dev/platform contract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8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LimitRange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9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Defaults and guardrails for a namespace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0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Can provide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1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Why it matters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2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Default requests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Default limits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Minimum allowed request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Maximum allowed limit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PVC size constraints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3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Prevents BestEffort by accident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Gives predictable scheduling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Protects neighbors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Can surprise developers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Must be documented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6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Apply ResourceQuota and LimitRange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7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Use after the app basics are understood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8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9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k8s/resources/01-limitrange.yaml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k8s/resources/02-resourcequota.yaml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describe quota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describe limitrange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2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Challenge 8: Quota exceeded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3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Pods can fail before the app has a chance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4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5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challenges/challenge-08-quota/broken.yaml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deploy,rs,pod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describe quota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describe pod &lt;pending-pod&gt;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events --sort-by=.lastTimestamp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8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Key message for participants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9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Do not confuse booked, allowed and used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0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Booked / requested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1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Used / runtime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2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Used for scheduling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Counted by quota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Can block new Pods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Represents expected need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Not necessarily used now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3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Measured by metrics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Changes over time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Can exceed request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Limited by limits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Can cause throttling or OOM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6" name="Text 2"/>
          <p:cNvSpPr/>
          <p:nvPr/>
        </p:nvSpPr>
        <p:spPr>
          <a:xfrm>
            <a:off x="658440" y="2148840"/>
            <a:ext cx="1060380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Module 11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7" name="Text 3"/>
          <p:cNvSpPr/>
          <p:nvPr/>
        </p:nvSpPr>
        <p:spPr>
          <a:xfrm>
            <a:off x="676800" y="2953440"/>
            <a:ext cx="9597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Service routing and application availability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8" name="Shape 4"/>
          <p:cNvSpPr/>
          <p:nvPr/>
        </p:nvSpPr>
        <p:spPr>
          <a:xfrm>
            <a:off x="676440" y="3520440"/>
            <a:ext cx="3749040" cy="3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1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Service is label-based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2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The Service does not know your Deployment name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3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Service selects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4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Common failures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5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Pods by labels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Only ready endpoints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targetPort on Pod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Stable DNS name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Virtual IP inside cluster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6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Selector mismatch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Wrong targetPort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Pod not Ready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Namespace mismatch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Network/proxy confusion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9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Challenge 10: Wrong Service selector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0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Application runs, but no traffic reaches it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1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2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challenges/challenge-10-service-selector/broken.yaml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pods --show-labels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describe svc selector-app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-n k8s-workshop get endpoints selector-app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# Fix selector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apply -n k8s-workshop -f challenges/challenge-10-service-selector/solution.yaml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5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Request path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6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Where to look when traffic fails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7" name="Shape 4"/>
          <p:cNvSpPr/>
          <p:nvPr/>
        </p:nvSpPr>
        <p:spPr>
          <a:xfrm>
            <a:off x="50292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2D46"/>
          </a:solidFill>
          <a:ln w="12700">
            <a:solidFill>
              <a:srgbClr val="0E2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8" name="Text 5"/>
          <p:cNvSpPr/>
          <p:nvPr/>
        </p:nvSpPr>
        <p:spPr>
          <a:xfrm>
            <a:off x="54864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Client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9" name="Shape 6"/>
          <p:cNvSpPr/>
          <p:nvPr/>
        </p:nvSpPr>
        <p:spPr>
          <a:xfrm>
            <a:off x="177408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0" name="Shape 7"/>
          <p:cNvSpPr/>
          <p:nvPr/>
        </p:nvSpPr>
        <p:spPr>
          <a:xfrm>
            <a:off x="200268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1" name="Text 8"/>
          <p:cNvSpPr/>
          <p:nvPr/>
        </p:nvSpPr>
        <p:spPr>
          <a:xfrm>
            <a:off x="204840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Service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2" name="Shape 9"/>
          <p:cNvSpPr/>
          <p:nvPr/>
        </p:nvSpPr>
        <p:spPr>
          <a:xfrm>
            <a:off x="327348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3" name="Shape 10"/>
          <p:cNvSpPr/>
          <p:nvPr/>
        </p:nvSpPr>
        <p:spPr>
          <a:xfrm>
            <a:off x="350208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4" name="Text 11"/>
          <p:cNvSpPr/>
          <p:nvPr/>
        </p:nvSpPr>
        <p:spPr>
          <a:xfrm>
            <a:off x="354780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Selector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5" name="Shape 12"/>
          <p:cNvSpPr/>
          <p:nvPr/>
        </p:nvSpPr>
        <p:spPr>
          <a:xfrm>
            <a:off x="477324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6" name="Shape 13"/>
          <p:cNvSpPr/>
          <p:nvPr/>
        </p:nvSpPr>
        <p:spPr>
          <a:xfrm>
            <a:off x="500184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Text 14"/>
          <p:cNvSpPr/>
          <p:nvPr/>
        </p:nvSpPr>
        <p:spPr>
          <a:xfrm>
            <a:off x="504756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EndpointSlice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8" name="Shape 15"/>
          <p:cNvSpPr/>
          <p:nvPr/>
        </p:nvSpPr>
        <p:spPr>
          <a:xfrm>
            <a:off x="627264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9" name="Shape 16"/>
          <p:cNvSpPr/>
          <p:nvPr/>
        </p:nvSpPr>
        <p:spPr>
          <a:xfrm>
            <a:off x="650124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" name="Text 17"/>
          <p:cNvSpPr/>
          <p:nvPr/>
        </p:nvSpPr>
        <p:spPr>
          <a:xfrm>
            <a:off x="654696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Pod IP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1" name="Shape 18"/>
          <p:cNvSpPr/>
          <p:nvPr/>
        </p:nvSpPr>
        <p:spPr>
          <a:xfrm>
            <a:off x="777240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2" name="Shape 19"/>
          <p:cNvSpPr/>
          <p:nvPr/>
        </p:nvSpPr>
        <p:spPr>
          <a:xfrm>
            <a:off x="800100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3" name="Text 20"/>
          <p:cNvSpPr/>
          <p:nvPr/>
        </p:nvSpPr>
        <p:spPr>
          <a:xfrm>
            <a:off x="804672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Container port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4" name="Shape 21"/>
          <p:cNvSpPr/>
          <p:nvPr/>
        </p:nvSpPr>
        <p:spPr>
          <a:xfrm>
            <a:off x="927216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5" name="Shape 22"/>
          <p:cNvSpPr/>
          <p:nvPr/>
        </p:nvSpPr>
        <p:spPr>
          <a:xfrm>
            <a:off x="950076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2D46"/>
          </a:solidFill>
          <a:ln w="12700">
            <a:solidFill>
              <a:srgbClr val="0E2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6" name="Text 23"/>
          <p:cNvSpPr/>
          <p:nvPr/>
        </p:nvSpPr>
        <p:spPr>
          <a:xfrm>
            <a:off x="954648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App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9" name="Text 2"/>
          <p:cNvSpPr/>
          <p:nvPr/>
        </p:nvSpPr>
        <p:spPr>
          <a:xfrm>
            <a:off x="658440" y="2148840"/>
            <a:ext cx="1060380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Module 12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0" name="Text 3"/>
          <p:cNvSpPr/>
          <p:nvPr/>
        </p:nvSpPr>
        <p:spPr>
          <a:xfrm>
            <a:off x="676800" y="2953440"/>
            <a:ext cx="9597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Troubleshooting playbook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1" name="Shape 4"/>
          <p:cNvSpPr/>
          <p:nvPr/>
        </p:nvSpPr>
        <p:spPr>
          <a:xfrm>
            <a:off x="676440" y="3520440"/>
            <a:ext cx="3749040" cy="3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4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Decision tree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5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Use this as the final participant cheat sheet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6" name="Shape 4"/>
          <p:cNvSpPr/>
          <p:nvPr/>
        </p:nvSpPr>
        <p:spPr>
          <a:xfrm>
            <a:off x="685800" y="1325880"/>
            <a:ext cx="10832400" cy="472320"/>
          </a:xfrm>
          <a:prstGeom prst="rect">
            <a:avLst/>
          </a:prstGeom>
          <a:solidFill>
            <a:srgbClr val="0EA5E9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7" name="Text 5"/>
          <p:cNvSpPr/>
          <p:nvPr/>
        </p:nvSpPr>
        <p:spPr>
          <a:xfrm>
            <a:off x="758880" y="147204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Question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8" name="Text 6"/>
          <p:cNvSpPr/>
          <p:nvPr/>
        </p:nvSpPr>
        <p:spPr>
          <a:xfrm>
            <a:off x="2862000" y="14720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Yes means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9" name="Text 7"/>
          <p:cNvSpPr/>
          <p:nvPr/>
        </p:nvSpPr>
        <p:spPr>
          <a:xfrm>
            <a:off x="5239440" y="14720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First command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0" name="Text 8"/>
          <p:cNvSpPr/>
          <p:nvPr/>
        </p:nvSpPr>
        <p:spPr>
          <a:xfrm>
            <a:off x="7616880" y="147204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Next step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1" name="Shape 9"/>
          <p:cNvSpPr/>
          <p:nvPr/>
        </p:nvSpPr>
        <p:spPr>
          <a:xfrm>
            <a:off x="685800" y="1856160"/>
            <a:ext cx="10832400" cy="472320"/>
          </a:xfrm>
          <a:prstGeom prst="rect">
            <a:avLst/>
          </a:prstGeom>
          <a:solidFill>
            <a:srgbClr val="0E2D46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2" name="Text 10"/>
          <p:cNvSpPr/>
          <p:nvPr/>
        </p:nvSpPr>
        <p:spPr>
          <a:xfrm>
            <a:off x="758880" y="200268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Pod not created?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3" name="Text 11"/>
          <p:cNvSpPr/>
          <p:nvPr/>
        </p:nvSpPr>
        <p:spPr>
          <a:xfrm>
            <a:off x="2862000" y="200268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Controller/admission issue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4" name="Text 12"/>
          <p:cNvSpPr/>
          <p:nvPr/>
        </p:nvSpPr>
        <p:spPr>
          <a:xfrm>
            <a:off x="5239440" y="200268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describe deploy/rs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5" name="Text 13"/>
          <p:cNvSpPr/>
          <p:nvPr/>
        </p:nvSpPr>
        <p:spPr>
          <a:xfrm>
            <a:off x="7616880" y="200268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events, quota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6" name="Shape 14"/>
          <p:cNvSpPr/>
          <p:nvPr/>
        </p:nvSpPr>
        <p:spPr>
          <a:xfrm>
            <a:off x="685800" y="2386440"/>
            <a:ext cx="10832400" cy="472320"/>
          </a:xfrm>
          <a:prstGeom prst="rect">
            <a:avLst/>
          </a:prstGeom>
          <a:solidFill>
            <a:srgbClr val="0B2235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7" name="Text 15"/>
          <p:cNvSpPr/>
          <p:nvPr/>
        </p:nvSpPr>
        <p:spPr>
          <a:xfrm>
            <a:off x="758880" y="253296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Pod Pending?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8" name="Text 16"/>
          <p:cNvSpPr/>
          <p:nvPr/>
        </p:nvSpPr>
        <p:spPr>
          <a:xfrm>
            <a:off x="2862000" y="253296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Cannot schedule/start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9" name="Text 17"/>
          <p:cNvSpPr/>
          <p:nvPr/>
        </p:nvSpPr>
        <p:spPr>
          <a:xfrm>
            <a:off x="5239440" y="253296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describe pod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0" name="Text 18"/>
          <p:cNvSpPr/>
          <p:nvPr/>
        </p:nvSpPr>
        <p:spPr>
          <a:xfrm>
            <a:off x="7616880" y="253296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capacity, PVC, quota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1" name="Shape 19"/>
          <p:cNvSpPr/>
          <p:nvPr/>
        </p:nvSpPr>
        <p:spPr>
          <a:xfrm>
            <a:off x="685800" y="2917080"/>
            <a:ext cx="10832400" cy="472320"/>
          </a:xfrm>
          <a:prstGeom prst="rect">
            <a:avLst/>
          </a:prstGeom>
          <a:solidFill>
            <a:srgbClr val="0E2D46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2" name="Text 20"/>
          <p:cNvSpPr/>
          <p:nvPr/>
        </p:nvSpPr>
        <p:spPr>
          <a:xfrm>
            <a:off x="758880" y="306324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ImagePullBackOff?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3" name="Text 21"/>
          <p:cNvSpPr/>
          <p:nvPr/>
        </p:nvSpPr>
        <p:spPr>
          <a:xfrm>
            <a:off x="2862000" y="30632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Image not pulled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4" name="Text 22"/>
          <p:cNvSpPr/>
          <p:nvPr/>
        </p:nvSpPr>
        <p:spPr>
          <a:xfrm>
            <a:off x="5239440" y="30632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describe pod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5" name="Text 23"/>
          <p:cNvSpPr/>
          <p:nvPr/>
        </p:nvSpPr>
        <p:spPr>
          <a:xfrm>
            <a:off x="7616880" y="306324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tag, registry, proxy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6" name="Shape 24"/>
          <p:cNvSpPr/>
          <p:nvPr/>
        </p:nvSpPr>
        <p:spPr>
          <a:xfrm>
            <a:off x="685800" y="3447360"/>
            <a:ext cx="10832400" cy="472320"/>
          </a:xfrm>
          <a:prstGeom prst="rect">
            <a:avLst/>
          </a:prstGeom>
          <a:solidFill>
            <a:srgbClr val="0B2235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7" name="Text 25"/>
          <p:cNvSpPr/>
          <p:nvPr/>
        </p:nvSpPr>
        <p:spPr>
          <a:xfrm>
            <a:off x="758880" y="359352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CrashLoopBackOff?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8" name="Text 26"/>
          <p:cNvSpPr/>
          <p:nvPr/>
        </p:nvSpPr>
        <p:spPr>
          <a:xfrm>
            <a:off x="2862000" y="359352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Process exits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9" name="Text 27"/>
          <p:cNvSpPr/>
          <p:nvPr/>
        </p:nvSpPr>
        <p:spPr>
          <a:xfrm>
            <a:off x="5239440" y="359352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logs --previous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0" name="Text 28"/>
          <p:cNvSpPr/>
          <p:nvPr/>
        </p:nvSpPr>
        <p:spPr>
          <a:xfrm>
            <a:off x="7616880" y="359352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command, env, app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1" name="Shape 29"/>
          <p:cNvSpPr/>
          <p:nvPr/>
        </p:nvSpPr>
        <p:spPr>
          <a:xfrm>
            <a:off x="685800" y="3977640"/>
            <a:ext cx="10832400" cy="472320"/>
          </a:xfrm>
          <a:prstGeom prst="rect">
            <a:avLst/>
          </a:prstGeom>
          <a:solidFill>
            <a:srgbClr val="0E2D46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2" name="Text 30"/>
          <p:cNvSpPr/>
          <p:nvPr/>
        </p:nvSpPr>
        <p:spPr>
          <a:xfrm>
            <a:off x="758880" y="412380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Running not Ready?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3" name="Text 31"/>
          <p:cNvSpPr/>
          <p:nvPr/>
        </p:nvSpPr>
        <p:spPr>
          <a:xfrm>
            <a:off x="2862000" y="412380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Health gate failed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4" name="Text 32"/>
          <p:cNvSpPr/>
          <p:nvPr/>
        </p:nvSpPr>
        <p:spPr>
          <a:xfrm>
            <a:off x="5239440" y="412380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describe + logs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5" name="Text 33"/>
          <p:cNvSpPr/>
          <p:nvPr/>
        </p:nvSpPr>
        <p:spPr>
          <a:xfrm>
            <a:off x="7616880" y="412380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probe/dependency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6" name="Shape 34"/>
          <p:cNvSpPr/>
          <p:nvPr/>
        </p:nvSpPr>
        <p:spPr>
          <a:xfrm>
            <a:off x="685800" y="4507920"/>
            <a:ext cx="10832400" cy="472320"/>
          </a:xfrm>
          <a:prstGeom prst="rect">
            <a:avLst/>
          </a:prstGeom>
          <a:solidFill>
            <a:srgbClr val="0B2235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7" name="Text 35"/>
          <p:cNvSpPr/>
          <p:nvPr/>
        </p:nvSpPr>
        <p:spPr>
          <a:xfrm>
            <a:off x="758880" y="465444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OOMKilled?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8" name="Text 36"/>
          <p:cNvSpPr/>
          <p:nvPr/>
        </p:nvSpPr>
        <p:spPr>
          <a:xfrm>
            <a:off x="2862000" y="46544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Memory limit hit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9" name="Text 37"/>
          <p:cNvSpPr/>
          <p:nvPr/>
        </p:nvSpPr>
        <p:spPr>
          <a:xfrm>
            <a:off x="5239440" y="465444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describe pod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0" name="Text 38"/>
          <p:cNvSpPr/>
          <p:nvPr/>
        </p:nvSpPr>
        <p:spPr>
          <a:xfrm>
            <a:off x="7616880" y="465444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limits/usage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1" name="Shape 39"/>
          <p:cNvSpPr/>
          <p:nvPr/>
        </p:nvSpPr>
        <p:spPr>
          <a:xfrm>
            <a:off x="685800" y="5038200"/>
            <a:ext cx="10832400" cy="472320"/>
          </a:xfrm>
          <a:prstGeom prst="rect">
            <a:avLst/>
          </a:prstGeom>
          <a:solidFill>
            <a:srgbClr val="0E2D46"/>
          </a:solidFill>
          <a:ln w="508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2" name="Text 40"/>
          <p:cNvSpPr/>
          <p:nvPr/>
        </p:nvSpPr>
        <p:spPr>
          <a:xfrm>
            <a:off x="758880" y="5184720"/>
            <a:ext cx="1962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No endpoints?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3" name="Text 41"/>
          <p:cNvSpPr/>
          <p:nvPr/>
        </p:nvSpPr>
        <p:spPr>
          <a:xfrm>
            <a:off x="2862000" y="518472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Service cannot route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4" name="Text 42"/>
          <p:cNvSpPr/>
          <p:nvPr/>
        </p:nvSpPr>
        <p:spPr>
          <a:xfrm>
            <a:off x="5239440" y="5184720"/>
            <a:ext cx="223704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get endpoints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5" name="Text 43"/>
          <p:cNvSpPr/>
          <p:nvPr/>
        </p:nvSpPr>
        <p:spPr>
          <a:xfrm>
            <a:off x="7616880" y="5184720"/>
            <a:ext cx="33343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selector/readiness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8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Core command set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9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Commands participants should leave with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0" name="Shape 4"/>
          <p:cNvSpPr/>
          <p:nvPr/>
        </p:nvSpPr>
        <p:spPr>
          <a:xfrm>
            <a:off x="685800" y="1417320"/>
            <a:ext cx="10878120" cy="4568760"/>
          </a:xfrm>
          <a:prstGeom prst="roundRect">
            <a:avLst>
              <a:gd name="adj" fmla="val 1200"/>
            </a:avLst>
          </a:prstGeom>
          <a:solidFill>
            <a:srgbClr val="020617"/>
          </a:solidFill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1" name="Text 5"/>
          <p:cNvSpPr/>
          <p:nvPr/>
        </p:nvSpPr>
        <p:spPr>
          <a:xfrm>
            <a:off x="850320" y="1563480"/>
            <a:ext cx="10558080" cy="42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get pods -o wide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describe pod &lt;pod&gt;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logs &lt;pod&gt;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logs &lt;pod&gt; --previous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get events --sort-by=.lastTimestamp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get deploy,rs,pod,svc,endpoints,pvc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describe quota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rollout status deploy/&lt;name&gt;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1FAE5"/>
                </a:solidFill>
                <a:effectLst/>
                <a:uFillTx/>
                <a:latin typeface="Aptos Mono"/>
                <a:ea typeface="Aptos Mono"/>
              </a:rPr>
              <a:t>kubectl debug -it pod/&lt;pod&gt; --image=busybox:1.36 --target=&lt;container&gt; -- sh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3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4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How to run </a:t>
            </a: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combined cases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5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Final exercise format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6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Instructor setup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7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Participant output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8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Apply one broken manifest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Do not reveal the failure mode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Ask team to classify state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Ask for first three commands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Ask for root cause and fix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9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Observed state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Evidence from events/logs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Root cause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Fix command or YAML change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Preventive practice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1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2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Final 2-hour agenda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3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Timing and workshop flow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4" name="Shape 4"/>
          <p:cNvSpPr/>
          <p:nvPr/>
        </p:nvSpPr>
        <p:spPr>
          <a:xfrm>
            <a:off x="731520" y="1325880"/>
            <a:ext cx="1048320" cy="435600"/>
          </a:xfrm>
          <a:prstGeom prst="roundRect">
            <a:avLst>
              <a:gd name="adj" fmla="val 10417"/>
            </a:avLst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5" name="Text 5"/>
          <p:cNvSpPr/>
          <p:nvPr/>
        </p:nvSpPr>
        <p:spPr>
          <a:xfrm>
            <a:off x="804600" y="1472040"/>
            <a:ext cx="8928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30 min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6" name="Text 6"/>
          <p:cNvSpPr/>
          <p:nvPr/>
        </p:nvSpPr>
        <p:spPr>
          <a:xfrm>
            <a:off x="2011680" y="1398960"/>
            <a:ext cx="36543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End-to-end recap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7" name="Text 7"/>
          <p:cNvSpPr/>
          <p:nvPr/>
        </p:nvSpPr>
        <p:spPr>
          <a:xfrm>
            <a:off x="5806440" y="1417320"/>
            <a:ext cx="53002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Build -&gt; Deploy -&gt; DB -&gt; Migrate -&gt; Persist -&gt; Limit.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8" name="Shape 8"/>
          <p:cNvSpPr/>
          <p:nvPr/>
        </p:nvSpPr>
        <p:spPr>
          <a:xfrm>
            <a:off x="731520" y="1938600"/>
            <a:ext cx="1048320" cy="435600"/>
          </a:xfrm>
          <a:prstGeom prst="roundRect">
            <a:avLst>
              <a:gd name="adj" fmla="val 10417"/>
            </a:avLst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9" name="Text 9"/>
          <p:cNvSpPr/>
          <p:nvPr/>
        </p:nvSpPr>
        <p:spPr>
          <a:xfrm>
            <a:off x="804600" y="2084760"/>
            <a:ext cx="8928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30 min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0" name="Text 10"/>
          <p:cNvSpPr/>
          <p:nvPr/>
        </p:nvSpPr>
        <p:spPr>
          <a:xfrm>
            <a:off x="2011680" y="2011680"/>
            <a:ext cx="36543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Troubleshooting decision tree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1" name="Text 11"/>
          <p:cNvSpPr/>
          <p:nvPr/>
        </p:nvSpPr>
        <p:spPr>
          <a:xfrm>
            <a:off x="5806440" y="2030040"/>
            <a:ext cx="53002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Classify states and map each to first commands.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2" name="Shape 12"/>
          <p:cNvSpPr/>
          <p:nvPr/>
        </p:nvSpPr>
        <p:spPr>
          <a:xfrm>
            <a:off x="731520" y="2551320"/>
            <a:ext cx="1048320" cy="435600"/>
          </a:xfrm>
          <a:prstGeom prst="roundRect">
            <a:avLst>
              <a:gd name="adj" fmla="val 10417"/>
            </a:avLst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3" name="Text 13"/>
          <p:cNvSpPr/>
          <p:nvPr/>
        </p:nvSpPr>
        <p:spPr>
          <a:xfrm>
            <a:off x="804600" y="2697480"/>
            <a:ext cx="8928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40 min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4" name="Text 14"/>
          <p:cNvSpPr/>
          <p:nvPr/>
        </p:nvSpPr>
        <p:spPr>
          <a:xfrm>
            <a:off x="2011680" y="2624400"/>
            <a:ext cx="36543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Combined scenarios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5" name="Text 15"/>
          <p:cNvSpPr/>
          <p:nvPr/>
        </p:nvSpPr>
        <p:spPr>
          <a:xfrm>
            <a:off x="5806440" y="2642760"/>
            <a:ext cx="53002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Teams diagnose three broken manifests.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6" name="Shape 16"/>
          <p:cNvSpPr/>
          <p:nvPr/>
        </p:nvSpPr>
        <p:spPr>
          <a:xfrm>
            <a:off x="731520" y="3163680"/>
            <a:ext cx="1048320" cy="435600"/>
          </a:xfrm>
          <a:prstGeom prst="roundRect">
            <a:avLst>
              <a:gd name="adj" fmla="val 10417"/>
            </a:avLst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7" name="Text 17"/>
          <p:cNvSpPr/>
          <p:nvPr/>
        </p:nvSpPr>
        <p:spPr>
          <a:xfrm>
            <a:off x="804600" y="3310200"/>
            <a:ext cx="8928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20 min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8" name="Text 18"/>
          <p:cNvSpPr/>
          <p:nvPr/>
        </p:nvSpPr>
        <p:spPr>
          <a:xfrm>
            <a:off x="2011680" y="3237120"/>
            <a:ext cx="36543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Dev vs Platform contract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9" name="Text 19"/>
          <p:cNvSpPr/>
          <p:nvPr/>
        </p:nvSpPr>
        <p:spPr>
          <a:xfrm>
            <a:off x="5806440" y="3255120"/>
            <a:ext cx="53002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Who defines what and what should be standardized.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2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Dev vs platform contract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3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Make responsibilities explicit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4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Developers should define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5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Platform should define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6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Health and readiness behavior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Resource expectations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Configuration keys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Migration strategy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Meaningful logs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7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Default requests/limits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Quota and namespace policy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StorageClass options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Registry and proxy access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Debug permissions and guardrails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9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0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Production checklist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1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What to take back to real work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2" name="Text 4"/>
          <p:cNvSpPr/>
          <p:nvPr/>
        </p:nvSpPr>
        <p:spPr>
          <a:xfrm>
            <a:off x="68580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Application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3" name="Text 5"/>
          <p:cNvSpPr/>
          <p:nvPr/>
        </p:nvSpPr>
        <p:spPr>
          <a:xfrm>
            <a:off x="6419160" y="1334880"/>
            <a:ext cx="51174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4D399"/>
                </a:solidFill>
                <a:effectLst/>
                <a:uFillTx/>
                <a:latin typeface="Aptos"/>
              </a:rPr>
              <a:t>Platform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4" name="Text 6"/>
          <p:cNvSpPr/>
          <p:nvPr/>
        </p:nvSpPr>
        <p:spPr>
          <a:xfrm>
            <a:off x="68580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Logs to stdout/stderr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Readiness reflects dependencies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No secrets in images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Migration plan is explicit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Resource requests are tested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5" name="Text 7"/>
          <p:cNvSpPr/>
          <p:nvPr/>
        </p:nvSpPr>
        <p:spPr>
          <a:xfrm>
            <a:off x="6419160" y="1737360"/>
            <a:ext cx="5208840" cy="44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Namespace defaults documented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Quota visible to teams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Storage semantics clear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Image registry access reliable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Troubleshooting access controlled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Shape 0"/>
          <p:cNvSpPr/>
          <p:nvPr/>
        </p:nvSpPr>
        <p:spPr>
          <a:xfrm>
            <a:off x="0" y="0"/>
            <a:ext cx="12188520" cy="106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Text 1"/>
          <p:cNvSpPr/>
          <p:nvPr/>
        </p:nvSpPr>
        <p:spPr>
          <a:xfrm>
            <a:off x="502920" y="6510600"/>
            <a:ext cx="438588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B8AA6"/>
                </a:solidFill>
                <a:effectLst/>
                <a:uFillTx/>
                <a:latin typeface="Aptos"/>
              </a:rPr>
              <a:t>Kubernetes Troubleshooting Workshop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8" name="Text 2"/>
          <p:cNvSpPr/>
          <p:nvPr/>
        </p:nvSpPr>
        <p:spPr>
          <a:xfrm>
            <a:off x="567000" y="384120"/>
            <a:ext cx="109695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</a:rPr>
              <a:t>Closing message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9" name="Text 3"/>
          <p:cNvSpPr/>
          <p:nvPr/>
        </p:nvSpPr>
        <p:spPr>
          <a:xfrm>
            <a:off x="585360" y="868680"/>
            <a:ext cx="1069524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Aptos"/>
              </a:rPr>
              <a:t>Kubernetes is observable when you ask the right questions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0" name="Shape 4"/>
          <p:cNvSpPr/>
          <p:nvPr/>
        </p:nvSpPr>
        <p:spPr>
          <a:xfrm>
            <a:off x="50292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2D46"/>
          </a:solidFill>
          <a:ln w="12700">
            <a:solidFill>
              <a:srgbClr val="0E2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1" name="Text 5"/>
          <p:cNvSpPr/>
          <p:nvPr/>
        </p:nvSpPr>
        <p:spPr>
          <a:xfrm>
            <a:off x="54864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Classify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2" name="Shape 6"/>
          <p:cNvSpPr/>
          <p:nvPr/>
        </p:nvSpPr>
        <p:spPr>
          <a:xfrm>
            <a:off x="177408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3" name="Shape 7"/>
          <p:cNvSpPr/>
          <p:nvPr/>
        </p:nvSpPr>
        <p:spPr>
          <a:xfrm>
            <a:off x="200268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4" name="Text 8"/>
          <p:cNvSpPr/>
          <p:nvPr/>
        </p:nvSpPr>
        <p:spPr>
          <a:xfrm>
            <a:off x="204840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Inspect events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5" name="Shape 9"/>
          <p:cNvSpPr/>
          <p:nvPr/>
        </p:nvSpPr>
        <p:spPr>
          <a:xfrm>
            <a:off x="327348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6" name="Shape 10"/>
          <p:cNvSpPr/>
          <p:nvPr/>
        </p:nvSpPr>
        <p:spPr>
          <a:xfrm>
            <a:off x="350208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7" name="Text 11"/>
          <p:cNvSpPr/>
          <p:nvPr/>
        </p:nvSpPr>
        <p:spPr>
          <a:xfrm>
            <a:off x="354780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Read logs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8" name="Shape 12"/>
          <p:cNvSpPr/>
          <p:nvPr/>
        </p:nvSpPr>
        <p:spPr>
          <a:xfrm>
            <a:off x="477324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9" name="Shape 13"/>
          <p:cNvSpPr/>
          <p:nvPr/>
        </p:nvSpPr>
        <p:spPr>
          <a:xfrm>
            <a:off x="500184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0" name="Text 14"/>
          <p:cNvSpPr/>
          <p:nvPr/>
        </p:nvSpPr>
        <p:spPr>
          <a:xfrm>
            <a:off x="504756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Check dependencies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1" name="Shape 15"/>
          <p:cNvSpPr/>
          <p:nvPr/>
        </p:nvSpPr>
        <p:spPr>
          <a:xfrm>
            <a:off x="627264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2" name="Shape 16"/>
          <p:cNvSpPr/>
          <p:nvPr/>
        </p:nvSpPr>
        <p:spPr>
          <a:xfrm>
            <a:off x="650124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FBBF24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3" name="Text 17"/>
          <p:cNvSpPr/>
          <p:nvPr/>
        </p:nvSpPr>
        <p:spPr>
          <a:xfrm>
            <a:off x="654696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Check resources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4" name="Shape 18"/>
          <p:cNvSpPr/>
          <p:nvPr/>
        </p:nvSpPr>
        <p:spPr>
          <a:xfrm>
            <a:off x="777240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5" name="Shape 19"/>
          <p:cNvSpPr/>
          <p:nvPr/>
        </p:nvSpPr>
        <p:spPr>
          <a:xfrm>
            <a:off x="800100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6" name="Text 20"/>
          <p:cNvSpPr/>
          <p:nvPr/>
        </p:nvSpPr>
        <p:spPr>
          <a:xfrm>
            <a:off x="804672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Fix safely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7" name="Shape 21"/>
          <p:cNvSpPr/>
          <p:nvPr/>
        </p:nvSpPr>
        <p:spPr>
          <a:xfrm>
            <a:off x="9272160" y="2962800"/>
            <a:ext cx="161280" cy="19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6677F"/>
          </a:solidFill>
          <a:ln w="12700">
            <a:solidFill>
              <a:srgbClr val="466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640" tIns="45000" rIns="806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8" name="Shape 22"/>
          <p:cNvSpPr/>
          <p:nvPr/>
        </p:nvSpPr>
        <p:spPr>
          <a:xfrm>
            <a:off x="9500760" y="2743200"/>
            <a:ext cx="1203840" cy="655200"/>
          </a:xfrm>
          <a:prstGeom prst="roundRect">
            <a:avLst>
              <a:gd name="adj" fmla="val 9722"/>
            </a:avLst>
          </a:prstGeom>
          <a:solidFill>
            <a:srgbClr val="0E2D46"/>
          </a:solidFill>
          <a:ln w="12700">
            <a:solidFill>
              <a:srgbClr val="0E2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9" name="Text 23"/>
          <p:cNvSpPr/>
          <p:nvPr/>
        </p:nvSpPr>
        <p:spPr>
          <a:xfrm>
            <a:off x="9546480" y="2962800"/>
            <a:ext cx="11124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Document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</TotalTime>
  <Application>LibreOffice/26.2.3.2$Linux_X86_64 LibreOffice_project/d4d5ed47b6084125f28d269a5650105d54dde034</Application>
  <AppVersion>15.0000</AppVersion>
  <Words>0</Words>
  <Paragraphs>0</Paragraphs>
  <Company>Workshop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2026-06-19T21:54:19Z</dcterms:created>
  <dc:creator>OpenAI</dc:creator>
  <dc:description/>
  <dc:language>en-US</dc:language>
  <cp:lastModifiedBy/>
  <cp:lastPrinted>2026-06-21T22:40:27Z</cp:lastPrinted>
  <dcterms:modified xsi:type="dcterms:W3CDTF">2026-06-21T22:50:10Z</dcterms:modified>
  <cp:revision>67</cp:revision>
  <dc:subject>Hands-on Kubernetes Troubleshooting Workshop</dc:subject>
  <dc:title>Hands-on Kubernetes Troubleshooting for Developers and Infrastructure Teams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81</vt:i4>
  </property>
  <property fmtid="{D5CDD505-2E9C-101B-9397-08002B2CF9AE}" pid="3" name="PresentationFormat">
    <vt:lpwstr>On-screen Show (16:9)</vt:lpwstr>
  </property>
  <property fmtid="{D5CDD505-2E9C-101B-9397-08002B2CF9AE}" pid="4" name="Slides">
    <vt:i4>81</vt:i4>
  </property>
</Properties>
</file>