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presProps.xml" ContentType="application/vnd.openxmlformats-officedocument.presentationml.presProps+xml"/>
  <Override PartName="/ppt/theme/theme2.xml" ContentType="application/vnd.openxmlformats-officedocument.theme+xml"/>
  <Override PartName="/ppt/theme/theme1.xml" ContentType="application/vnd.openxmlformats-officedocument.theme+xml"/>
  <Override PartName="/ppt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slides/slide102.xml" ContentType="application/vnd.openxmlformats-officedocument.presentationml.slide+xml"/>
  <Override PartName="/ppt/slides/slide55.xml" ContentType="application/vnd.openxmlformats-officedocument.presentationml.slide+xml"/>
  <Override PartName="/ppt/slides/slide54.xml" ContentType="application/vnd.openxmlformats-officedocument.presentationml.slide+xml"/>
  <Override PartName="/ppt/slides/slide100.xml" ContentType="application/vnd.openxmlformats-officedocument.presentationml.slide+xml"/>
  <Override PartName="/ppt/slides/slide53.xml" ContentType="application/vnd.openxmlformats-officedocument.presentationml.slide+xml"/>
  <Override PartName="/ppt/slides/slide45.xml" ContentType="application/vnd.openxmlformats-officedocument.presentationml.slide+xml"/>
  <Override PartName="/ppt/slides/slide44.xml" ContentType="application/vnd.openxmlformats-officedocument.presentationml.slide+xml"/>
  <Override PartName="/ppt/slides/slide42.xml" ContentType="application/vnd.openxmlformats-officedocument.presentationml.slide+xml"/>
  <Override PartName="/ppt/slides/slide40.xml" ContentType="application/vnd.openxmlformats-officedocument.presentationml.slide+xml"/>
  <Override PartName="/ppt/slides/slide38.xml" ContentType="application/vnd.openxmlformats-officedocument.presentationml.slide+xml"/>
  <Override PartName="/ppt/slides/slide36.xml" ContentType="application/vnd.openxmlformats-officedocument.presentationml.slide+xml"/>
  <Override PartName="/ppt/slides/slide33.xml" ContentType="application/vnd.openxmlformats-officedocument.presentationml.slide+xml"/>
  <Override PartName="/ppt/slides/slide39.xml" ContentType="application/vnd.openxmlformats-officedocument.presentationml.slide+xml"/>
  <Override PartName="/ppt/slides/slide32.xml" ContentType="application/vnd.openxmlformats-officedocument.presentationml.slide+xml"/>
  <Override PartName="/ppt/slides/slide31.xml" ContentType="application/vnd.openxmlformats-officedocument.presentationml.slide+xml"/>
  <Override PartName="/ppt/slides/slide52.xml" ContentType="application/vnd.openxmlformats-officedocument.presentationml.slide+xml"/>
  <Override PartName="/ppt/slides/slide30.xml" ContentType="application/vnd.openxmlformats-officedocument.presentationml.slide+xml"/>
  <Override PartName="/ppt/slides/slide59.xml" ContentType="application/vnd.openxmlformats-officedocument.presentationml.slide+xml"/>
  <Override PartName="/ppt/slides/slide13.xml" ContentType="application/vnd.openxmlformats-officedocument.presentationml.slide+xml"/>
  <Override PartName="/ppt/slides/slide5.xml" ContentType="application/vnd.openxmlformats-officedocument.presentationml.slide+xml"/>
  <Override PartName="/ppt/slides/slide25.xml" ContentType="application/vnd.openxmlformats-officedocument.presentationml.slide+xml"/>
  <Override PartName="/ppt/slides/slide104.xml" ContentType="application/vnd.openxmlformats-officedocument.presentationml.slide+xml"/>
  <Override PartName="/ppt/slides/slide12.xml" ContentType="application/vnd.openxmlformats-officedocument.presentationml.slide+xml"/>
  <Override PartName="/ppt/slides/slide57.xml" ContentType="application/vnd.openxmlformats-officedocument.presentationml.slide+xml"/>
  <Override PartName="/ppt/slides/slide56.xml" ContentType="application/vnd.openxmlformats-officedocument.presentationml.slide+xml"/>
  <Override PartName="/ppt/slides/slide50.xml" ContentType="application/vnd.openxmlformats-officedocument.presentationml.slide+xml"/>
  <Override PartName="/ppt/slides/slide24.xml" ContentType="application/vnd.openxmlformats-officedocument.presentationml.slide+xml"/>
  <Override PartName="/ppt/slides/slide103.xml" ContentType="application/vnd.openxmlformats-officedocument.presentationml.slide+xml"/>
  <Override PartName="/ppt/slides/slide83.xml" ContentType="application/vnd.openxmlformats-officedocument.presentationml.slide+xml"/>
  <Override PartName="/ppt/slides/slide20.xml" ContentType="application/vnd.openxmlformats-officedocument.presentationml.slide+xml"/>
  <Override PartName="/ppt/slides/slide48.xml" ContentType="application/vnd.openxmlformats-officedocument.presentationml.slide+xml"/>
  <Override PartName="/ppt/slides/slide90.xml" ContentType="application/vnd.openxmlformats-officedocument.presentationml.slide+xml"/>
  <Override PartName="/ppt/slides/slide11.xml" ContentType="application/vnd.openxmlformats-officedocument.presentationml.slide+xml"/>
  <Override PartName="/ppt/slides/slide3.xml" ContentType="application/vnd.openxmlformats-officedocument.presentationml.slide+xml"/>
  <Override PartName="/ppt/slides/slide41.xml" ContentType="application/vnd.openxmlformats-officedocument.presentationml.slide+xml"/>
  <Override PartName="/ppt/slides/slide23.xml" ContentType="application/vnd.openxmlformats-officedocument.presentationml.slide+xml"/>
  <Override PartName="/ppt/slides/slide98.xml" ContentType="application/vnd.openxmlformats-officedocument.presentationml.slide+xml"/>
  <Override PartName="/ppt/slides/slide34.xml" ContentType="application/vnd.openxmlformats-officedocument.presentationml.slide+xml"/>
  <Override PartName="/ppt/slides/slide9.xml" ContentType="application/vnd.openxmlformats-officedocument.presentationml.slide+xml"/>
  <Override PartName="/ppt/slides/slide82.xml" ContentType="application/vnd.openxmlformats-officedocument.presentationml.slide+xml"/>
  <Override PartName="/ppt/slides/slide111.xml" ContentType="application/vnd.openxmlformats-officedocument.presentationml.slide+xml"/>
  <Override PartName="/ppt/slides/slide89.xml" ContentType="application/vnd.openxmlformats-officedocument.presentationml.slide+xml"/>
  <Override PartName="/ppt/slides/slide60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37.xml" ContentType="application/vnd.openxmlformats-officedocument.presentationml.slide+xml"/>
  <Override PartName="/ppt/slides/slide69.xml" ContentType="application/vnd.openxmlformats-officedocument.presentationml.slide+xml"/>
  <Override PartName="/ppt/slides/slide49.xml" ContentType="application/vnd.openxmlformats-officedocument.presentationml.slide+xml"/>
  <Override PartName="/ppt/slides/slide75.xml" ContentType="application/vnd.openxmlformats-officedocument.presentationml.slide+xml"/>
  <Override PartName="/ppt/slides/slide67.xml" ContentType="application/vnd.openxmlformats-officedocument.presentationml.slide+xml"/>
  <Override PartName="/ppt/slides/slide63.xml" ContentType="application/vnd.openxmlformats-officedocument.presentationml.slide+xml"/>
  <Override PartName="/ppt/slides/slide92.xml" ContentType="application/vnd.openxmlformats-officedocument.presentationml.slide+xml"/>
  <Override PartName="/ppt/slides/slide28.xml" ContentType="application/vnd.openxmlformats-officedocument.presentationml.slide+xml"/>
  <Override PartName="/ppt/slides/slide70.xml" ContentType="application/vnd.openxmlformats-officedocument.presentationml.slide+xml"/>
  <Override PartName="/ppt/slides/slide115.xml" ContentType="application/vnd.openxmlformats-officedocument.presentationml.slide+xml"/>
  <Override PartName="/ppt/slides/slide76.xml" ContentType="application/vnd.openxmlformats-officedocument.presentationml.slide+xml"/>
  <Override PartName="/ppt/slides/slide22.xml" ContentType="application/vnd.openxmlformats-officedocument.presentationml.slide+xml"/>
  <Override PartName="/ppt/slides/slide74.xml" ContentType="application/vnd.openxmlformats-officedocument.presentationml.slide+xml"/>
  <Override PartName="/ppt/slides/slide66.xml" ContentType="application/vnd.openxmlformats-officedocument.presentationml.slide+xml"/>
  <Override PartName="/ppt/slides/slide2.xml" ContentType="application/vnd.openxmlformats-officedocument.presentationml.slide+xml"/>
  <Override PartName="/ppt/slides/slide71.xml" ContentType="application/vnd.openxmlformats-officedocument.presentationml.slide+xml"/>
  <Override PartName="/ppt/slides/slide107.xml" ContentType="application/vnd.openxmlformats-officedocument.presentationml.slide+xml"/>
  <Override PartName="/ppt/slides/slide86.xml" ContentType="application/vnd.openxmlformats-officedocument.presentationml.slide+xml"/>
  <Override PartName="/ppt/slides/slide88.xml" ContentType="application/vnd.openxmlformats-officedocument.presentationml.slide+xml"/>
  <Override PartName="/ppt/slides/slide101.xml" ContentType="application/vnd.openxmlformats-officedocument.presentationml.slide+xml"/>
  <Override PartName="/ppt/slides/slide108.xml" ContentType="application/vnd.openxmlformats-officedocument.presentationml.slide+xml"/>
  <Override PartName="/ppt/slides/slide17.xml" ContentType="application/vnd.openxmlformats-officedocument.presentationml.slide+xml"/>
  <Override PartName="/ppt/slides/slide109.xml" ContentType="application/vnd.openxmlformats-officedocument.presentationml.slide+xml"/>
  <Override PartName="/ppt/slides/slide1.xml" ContentType="application/vnd.openxmlformats-officedocument.presentationml.slide+xml"/>
  <Override PartName="/ppt/slides/slide106.xml" ContentType="application/vnd.openxmlformats-officedocument.presentationml.slide+xml"/>
  <Override PartName="/ppt/slides/slide77.xml" ContentType="application/vnd.openxmlformats-officedocument.presentationml.slide+xml"/>
  <Override PartName="/ppt/slides/slide85.xml" ContentType="application/vnd.openxmlformats-officedocument.presentationml.slide+xml"/>
  <Override PartName="/ppt/slides/slide72.xml" ContentType="application/vnd.openxmlformats-officedocument.presentationml.slide+xml"/>
  <Override PartName="/ppt/slides/slide95.xml" ContentType="application/vnd.openxmlformats-officedocument.presentationml.slide+xml"/>
  <Override PartName="/ppt/slides/slide84.xml" ContentType="application/vnd.openxmlformats-officedocument.presentationml.slide+xml"/>
  <Override PartName="/ppt/slides/slide8.xml" ContentType="application/vnd.openxmlformats-officedocument.presentationml.slide+xml"/>
  <Override PartName="/ppt/slides/slide21.xml" ContentType="application/vnd.openxmlformats-officedocument.presentationml.slide+xml"/>
  <Override PartName="/ppt/slides/slide68.xml" ContentType="application/vnd.openxmlformats-officedocument.presentationml.slide+xml"/>
  <Override PartName="/ppt/slides/slide97.xml" ContentType="application/vnd.openxmlformats-officedocument.presentationml.slide+xml"/>
  <Override PartName="/ppt/slides/slide87.xml" ContentType="application/vnd.openxmlformats-officedocument.presentationml.slide+xml"/>
  <Override PartName="/ppt/slides/slide78.xml" ContentType="application/vnd.openxmlformats-officedocument.presentationml.slide+xml"/>
  <Override PartName="/ppt/slides/slide65.xml" ContentType="application/vnd.openxmlformats-officedocument.presentationml.slide+xml"/>
  <Override PartName="/ppt/slides/slide58.xml" ContentType="application/vnd.openxmlformats-officedocument.presentationml.slide+xml"/>
  <Override PartName="/ppt/slides/slide15.xml" ContentType="application/vnd.openxmlformats-officedocument.presentationml.slide+xml"/>
  <Override PartName="/ppt/slides/slide110.xml" ContentType="application/vnd.openxmlformats-officedocument.presentationml.slide+xml"/>
  <Override PartName="/ppt/slides/slide19.xml" ContentType="application/vnd.openxmlformats-officedocument.presentationml.slide+xml"/>
  <Override PartName="/ppt/slides/slide26.xml" ContentType="application/vnd.openxmlformats-officedocument.presentationml.slide+xml"/>
  <Override PartName="/ppt/slides/slide35.xml" ContentType="application/vnd.openxmlformats-officedocument.presentationml.slide+xml"/>
  <Override PartName="/ppt/slides/slide80.xml" ContentType="application/vnd.openxmlformats-officedocument.presentationml.slide+xml"/>
  <Override PartName="/ppt/slides/slide64.xml" ContentType="application/vnd.openxmlformats-officedocument.presentationml.slide+xml"/>
  <Override PartName="/ppt/slides/slide62.xml" ContentType="application/vnd.openxmlformats-officedocument.presentationml.slide+xml"/>
  <Override PartName="/ppt/slides/slide51.xml" ContentType="application/vnd.openxmlformats-officedocument.presentationml.slide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6.xml" ContentType="application/vnd.openxmlformats-officedocument.presentationml.slide+xml"/>
  <Override PartName="/ppt/slides/slide43.xml" ContentType="application/vnd.openxmlformats-officedocument.presentationml.slide+xml"/>
  <Override PartName="/ppt/slides/slide105.xml" ContentType="application/vnd.openxmlformats-officedocument.presentationml.slide+xml"/>
  <Override PartName="/ppt/slides/slide94.xml" ContentType="application/vnd.openxmlformats-officedocument.presentationml.slide+xml"/>
  <Override PartName="/ppt/slides/slide29.xml" ContentType="application/vnd.openxmlformats-officedocument.presentationml.slide+xml"/>
  <Override PartName="/ppt/slides/slide99.xml" ContentType="application/vnd.openxmlformats-officedocument.presentationml.slide+xml"/>
  <Override PartName="/ppt/slides/slide93.xml" ContentType="application/vnd.openxmlformats-officedocument.presentationml.slide+xml"/>
  <Override PartName="/ppt/slides/slide27.xml" ContentType="application/vnd.openxmlformats-officedocument.presentationml.slide+xml"/>
  <Override PartName="/ppt/slides/slide46.xml" ContentType="application/vnd.openxmlformats-officedocument.presentationml.slide+xml"/>
  <Override PartName="/ppt/slides/slide73.xml" ContentType="application/vnd.openxmlformats-officedocument.presentationml.slide+xml"/>
  <Override PartName="/ppt/slides/slide14.xml" ContentType="application/vnd.openxmlformats-officedocument.presentationml.slide+xml"/>
  <Override PartName="/ppt/slides/slide7.xml" ContentType="application/vnd.openxmlformats-officedocument.presentationml.slide+xml"/>
  <Override PartName="/ppt/slides/slide79.xml" ContentType="application/vnd.openxmlformats-officedocument.presentationml.slide+xml"/>
  <Override PartName="/ppt/slides/slide61.xml" ContentType="application/vnd.openxmlformats-officedocument.presentationml.slide+xml"/>
  <Override PartName="/ppt/slides/slide96.xml" ContentType="application/vnd.openxmlformats-officedocument.presentationml.slide+xml"/>
  <Override PartName="/ppt/slides/slide112.xml" ContentType="application/vnd.openxmlformats-officedocument.presentationml.slide+xml"/>
  <Override PartName="/ppt/slides/slide91.xml" ContentType="application/vnd.openxmlformats-officedocument.presentationml.slide+xml"/>
  <Override PartName="/ppt/slides/slide81.xml" ContentType="application/vnd.openxmlformats-officedocument.presentationml.slide+xml"/>
  <Override PartName="/ppt/slides/slide47.xml" ContentType="application/vnd.openxmlformats-officedocument.presentationml.slide+xml"/>
  <Override PartName="/ppt/slides/slide16.xml" ContentType="application/vnd.openxmlformats-officedocument.presentationml.slide+xml"/>
  <Override PartName="/ppt/slides/slide10.xml" ContentType="application/vnd.openxmlformats-officedocument.presentationml.slide+xml"/>
  <Override PartName="/ppt/notesSlides/notesSlide46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83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  <p:sldId id="294" r:id="rId43"/>
    <p:sldId id="295" r:id="rId44"/>
    <p:sldId id="296" r:id="rId45"/>
    <p:sldId id="297" r:id="rId46"/>
    <p:sldId id="298" r:id="rId47"/>
    <p:sldId id="299" r:id="rId48"/>
    <p:sldId id="300" r:id="rId49"/>
    <p:sldId id="301" r:id="rId50"/>
    <p:sldId id="302" r:id="rId51"/>
    <p:sldId id="303" r:id="rId52"/>
    <p:sldId id="304" r:id="rId53"/>
    <p:sldId id="305" r:id="rId54"/>
    <p:sldId id="306" r:id="rId55"/>
    <p:sldId id="307" r:id="rId56"/>
    <p:sldId id="308" r:id="rId57"/>
    <p:sldId id="309" r:id="rId58"/>
    <p:sldId id="310" r:id="rId59"/>
    <p:sldId id="311" r:id="rId60"/>
    <p:sldId id="312" r:id="rId61"/>
    <p:sldId id="313" r:id="rId62"/>
    <p:sldId id="314" r:id="rId63"/>
    <p:sldId id="315" r:id="rId64"/>
    <p:sldId id="316" r:id="rId65"/>
    <p:sldId id="317" r:id="rId66"/>
    <p:sldId id="318" r:id="rId67"/>
    <p:sldId id="319" r:id="rId68"/>
    <p:sldId id="320" r:id="rId69"/>
    <p:sldId id="321" r:id="rId70"/>
    <p:sldId id="322" r:id="rId71"/>
    <p:sldId id="323" r:id="rId72"/>
    <p:sldId id="324" r:id="rId73"/>
    <p:sldId id="325" r:id="rId74"/>
    <p:sldId id="326" r:id="rId75"/>
    <p:sldId id="327" r:id="rId76"/>
    <p:sldId id="328" r:id="rId77"/>
    <p:sldId id="329" r:id="rId78"/>
    <p:sldId id="330" r:id="rId79"/>
    <p:sldId id="331" r:id="rId80"/>
    <p:sldId id="332" r:id="rId81"/>
    <p:sldId id="333" r:id="rId82"/>
    <p:sldId id="334" r:id="rId83"/>
    <p:sldId id="335" r:id="rId84"/>
    <p:sldId id="336" r:id="rId85"/>
    <p:sldId id="337" r:id="rId86"/>
    <p:sldId id="338" r:id="rId87"/>
    <p:sldId id="339" r:id="rId88"/>
    <p:sldId id="340" r:id="rId89"/>
    <p:sldId id="341" r:id="rId90"/>
    <p:sldId id="342" r:id="rId91"/>
    <p:sldId id="343" r:id="rId92"/>
    <p:sldId id="344" r:id="rId93"/>
    <p:sldId id="345" r:id="rId94"/>
    <p:sldId id="346" r:id="rId95"/>
    <p:sldId id="347" r:id="rId96"/>
    <p:sldId id="348" r:id="rId97"/>
    <p:sldId id="349" r:id="rId98"/>
    <p:sldId id="350" r:id="rId99"/>
    <p:sldId id="351" r:id="rId100"/>
    <p:sldId id="352" r:id="rId101"/>
    <p:sldId id="353" r:id="rId102"/>
    <p:sldId id="354" r:id="rId103"/>
    <p:sldId id="355" r:id="rId104"/>
    <p:sldId id="356" r:id="rId105"/>
    <p:sldId id="357" r:id="rId106"/>
    <p:sldId id="358" r:id="rId107"/>
    <p:sldId id="359" r:id="rId108"/>
    <p:sldId id="360" r:id="rId109"/>
    <p:sldId id="361" r:id="rId110"/>
    <p:sldId id="362" r:id="rId111"/>
    <p:sldId id="363" r:id="rId112"/>
    <p:sldId id="364" r:id="rId113"/>
    <p:sldId id="365" r:id="rId114"/>
    <p:sldId id="366" r:id="rId115"/>
    <p:sldId id="367" r:id="rId116"/>
    <p:sldId id="368" r:id="rId117"/>
    <p:sldId id="369" r:id="rId118"/>
    <p:sldId id="370" r:id="rId119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2" Type="http://schemas.openxmlformats.org/officeDocument/2006/relationships/slide" Target="slides/slide38.xml"/><Relationship Id="rId43" Type="http://schemas.openxmlformats.org/officeDocument/2006/relationships/slide" Target="slides/slide39.xml"/><Relationship Id="rId44" Type="http://schemas.openxmlformats.org/officeDocument/2006/relationships/slide" Target="slides/slide40.xml"/><Relationship Id="rId45" Type="http://schemas.openxmlformats.org/officeDocument/2006/relationships/slide" Target="slides/slide41.xml"/><Relationship Id="rId46" Type="http://schemas.openxmlformats.org/officeDocument/2006/relationships/slide" Target="slides/slide42.xml"/><Relationship Id="rId47" Type="http://schemas.openxmlformats.org/officeDocument/2006/relationships/slide" Target="slides/slide43.xml"/><Relationship Id="rId48" Type="http://schemas.openxmlformats.org/officeDocument/2006/relationships/slide" Target="slides/slide44.xml"/><Relationship Id="rId49" Type="http://schemas.openxmlformats.org/officeDocument/2006/relationships/slide" Target="slides/slide45.xml"/><Relationship Id="rId50" Type="http://schemas.openxmlformats.org/officeDocument/2006/relationships/slide" Target="slides/slide46.xml"/><Relationship Id="rId51" Type="http://schemas.openxmlformats.org/officeDocument/2006/relationships/slide" Target="slides/slide47.xml"/><Relationship Id="rId52" Type="http://schemas.openxmlformats.org/officeDocument/2006/relationships/slide" Target="slides/slide48.xml"/><Relationship Id="rId53" Type="http://schemas.openxmlformats.org/officeDocument/2006/relationships/slide" Target="slides/slide49.xml"/><Relationship Id="rId54" Type="http://schemas.openxmlformats.org/officeDocument/2006/relationships/slide" Target="slides/slide50.xml"/><Relationship Id="rId55" Type="http://schemas.openxmlformats.org/officeDocument/2006/relationships/slide" Target="slides/slide51.xml"/><Relationship Id="rId56" Type="http://schemas.openxmlformats.org/officeDocument/2006/relationships/slide" Target="slides/slide52.xml"/><Relationship Id="rId57" Type="http://schemas.openxmlformats.org/officeDocument/2006/relationships/slide" Target="slides/slide53.xml"/><Relationship Id="rId58" Type="http://schemas.openxmlformats.org/officeDocument/2006/relationships/slide" Target="slides/slide54.xml"/><Relationship Id="rId59" Type="http://schemas.openxmlformats.org/officeDocument/2006/relationships/slide" Target="slides/slide55.xml"/><Relationship Id="rId60" Type="http://schemas.openxmlformats.org/officeDocument/2006/relationships/slide" Target="slides/slide56.xml"/><Relationship Id="rId61" Type="http://schemas.openxmlformats.org/officeDocument/2006/relationships/slide" Target="slides/slide57.xml"/><Relationship Id="rId62" Type="http://schemas.openxmlformats.org/officeDocument/2006/relationships/slide" Target="slides/slide58.xml"/><Relationship Id="rId63" Type="http://schemas.openxmlformats.org/officeDocument/2006/relationships/slide" Target="slides/slide59.xml"/><Relationship Id="rId64" Type="http://schemas.openxmlformats.org/officeDocument/2006/relationships/slide" Target="slides/slide60.xml"/><Relationship Id="rId65" Type="http://schemas.openxmlformats.org/officeDocument/2006/relationships/slide" Target="slides/slide61.xml"/><Relationship Id="rId66" Type="http://schemas.openxmlformats.org/officeDocument/2006/relationships/slide" Target="slides/slide62.xml"/><Relationship Id="rId67" Type="http://schemas.openxmlformats.org/officeDocument/2006/relationships/slide" Target="slides/slide63.xml"/><Relationship Id="rId68" Type="http://schemas.openxmlformats.org/officeDocument/2006/relationships/slide" Target="slides/slide64.xml"/><Relationship Id="rId69" Type="http://schemas.openxmlformats.org/officeDocument/2006/relationships/slide" Target="slides/slide65.xml"/><Relationship Id="rId70" Type="http://schemas.openxmlformats.org/officeDocument/2006/relationships/slide" Target="slides/slide66.xml"/><Relationship Id="rId71" Type="http://schemas.openxmlformats.org/officeDocument/2006/relationships/slide" Target="slides/slide67.xml"/><Relationship Id="rId72" Type="http://schemas.openxmlformats.org/officeDocument/2006/relationships/slide" Target="slides/slide68.xml"/><Relationship Id="rId73" Type="http://schemas.openxmlformats.org/officeDocument/2006/relationships/slide" Target="slides/slide69.xml"/><Relationship Id="rId74" Type="http://schemas.openxmlformats.org/officeDocument/2006/relationships/slide" Target="slides/slide70.xml"/><Relationship Id="rId75" Type="http://schemas.openxmlformats.org/officeDocument/2006/relationships/slide" Target="slides/slide71.xml"/><Relationship Id="rId76" Type="http://schemas.openxmlformats.org/officeDocument/2006/relationships/slide" Target="slides/slide72.xml"/><Relationship Id="rId77" Type="http://schemas.openxmlformats.org/officeDocument/2006/relationships/slide" Target="slides/slide73.xml"/><Relationship Id="rId78" Type="http://schemas.openxmlformats.org/officeDocument/2006/relationships/slide" Target="slides/slide74.xml"/><Relationship Id="rId79" Type="http://schemas.openxmlformats.org/officeDocument/2006/relationships/slide" Target="slides/slide75.xml"/><Relationship Id="rId80" Type="http://schemas.openxmlformats.org/officeDocument/2006/relationships/slide" Target="slides/slide76.xml"/><Relationship Id="rId81" Type="http://schemas.openxmlformats.org/officeDocument/2006/relationships/slide" Target="slides/slide77.xml"/><Relationship Id="rId82" Type="http://schemas.openxmlformats.org/officeDocument/2006/relationships/slide" Target="slides/slide78.xml"/><Relationship Id="rId83" Type="http://schemas.openxmlformats.org/officeDocument/2006/relationships/slide" Target="slides/slide79.xml"/><Relationship Id="rId84" Type="http://schemas.openxmlformats.org/officeDocument/2006/relationships/slide" Target="slides/slide80.xml"/><Relationship Id="rId85" Type="http://schemas.openxmlformats.org/officeDocument/2006/relationships/slide" Target="slides/slide81.xml"/><Relationship Id="rId86" Type="http://schemas.openxmlformats.org/officeDocument/2006/relationships/slide" Target="slides/slide82.xml"/><Relationship Id="rId87" Type="http://schemas.openxmlformats.org/officeDocument/2006/relationships/slide" Target="slides/slide83.xml"/><Relationship Id="rId88" Type="http://schemas.openxmlformats.org/officeDocument/2006/relationships/slide" Target="slides/slide84.xml"/><Relationship Id="rId89" Type="http://schemas.openxmlformats.org/officeDocument/2006/relationships/slide" Target="slides/slide85.xml"/><Relationship Id="rId90" Type="http://schemas.openxmlformats.org/officeDocument/2006/relationships/slide" Target="slides/slide86.xml"/><Relationship Id="rId91" Type="http://schemas.openxmlformats.org/officeDocument/2006/relationships/slide" Target="slides/slide87.xml"/><Relationship Id="rId92" Type="http://schemas.openxmlformats.org/officeDocument/2006/relationships/slide" Target="slides/slide88.xml"/><Relationship Id="rId93" Type="http://schemas.openxmlformats.org/officeDocument/2006/relationships/slide" Target="slides/slide89.xml"/><Relationship Id="rId94" Type="http://schemas.openxmlformats.org/officeDocument/2006/relationships/slide" Target="slides/slide90.xml"/><Relationship Id="rId95" Type="http://schemas.openxmlformats.org/officeDocument/2006/relationships/slide" Target="slides/slide91.xml"/><Relationship Id="rId96" Type="http://schemas.openxmlformats.org/officeDocument/2006/relationships/slide" Target="slides/slide92.xml"/><Relationship Id="rId97" Type="http://schemas.openxmlformats.org/officeDocument/2006/relationships/slide" Target="slides/slide93.xml"/><Relationship Id="rId98" Type="http://schemas.openxmlformats.org/officeDocument/2006/relationships/slide" Target="slides/slide94.xml"/><Relationship Id="rId99" Type="http://schemas.openxmlformats.org/officeDocument/2006/relationships/slide" Target="slides/slide95.xml"/><Relationship Id="rId100" Type="http://schemas.openxmlformats.org/officeDocument/2006/relationships/slide" Target="slides/slide96.xml"/><Relationship Id="rId101" Type="http://schemas.openxmlformats.org/officeDocument/2006/relationships/slide" Target="slides/slide97.xml"/><Relationship Id="rId102" Type="http://schemas.openxmlformats.org/officeDocument/2006/relationships/slide" Target="slides/slide98.xml"/><Relationship Id="rId103" Type="http://schemas.openxmlformats.org/officeDocument/2006/relationships/slide" Target="slides/slide99.xml"/><Relationship Id="rId104" Type="http://schemas.openxmlformats.org/officeDocument/2006/relationships/slide" Target="slides/slide100.xml"/><Relationship Id="rId105" Type="http://schemas.openxmlformats.org/officeDocument/2006/relationships/slide" Target="slides/slide101.xml"/><Relationship Id="rId106" Type="http://schemas.openxmlformats.org/officeDocument/2006/relationships/slide" Target="slides/slide102.xml"/><Relationship Id="rId107" Type="http://schemas.openxmlformats.org/officeDocument/2006/relationships/slide" Target="slides/slide103.xml"/><Relationship Id="rId108" Type="http://schemas.openxmlformats.org/officeDocument/2006/relationships/slide" Target="slides/slide104.xml"/><Relationship Id="rId109" Type="http://schemas.openxmlformats.org/officeDocument/2006/relationships/slide" Target="slides/slide105.xml"/><Relationship Id="rId110" Type="http://schemas.openxmlformats.org/officeDocument/2006/relationships/slide" Target="slides/slide106.xml"/><Relationship Id="rId111" Type="http://schemas.openxmlformats.org/officeDocument/2006/relationships/slide" Target="slides/slide107.xml"/><Relationship Id="rId112" Type="http://schemas.openxmlformats.org/officeDocument/2006/relationships/slide" Target="slides/slide108.xml"/><Relationship Id="rId113" Type="http://schemas.openxmlformats.org/officeDocument/2006/relationships/slide" Target="slides/slide109.xml"/><Relationship Id="rId114" Type="http://schemas.openxmlformats.org/officeDocument/2006/relationships/slide" Target="slides/slide110.xml"/><Relationship Id="rId115" Type="http://schemas.openxmlformats.org/officeDocument/2006/relationships/slide" Target="slides/slide111.xml"/><Relationship Id="rId116" Type="http://schemas.openxmlformats.org/officeDocument/2006/relationships/slide" Target="slides/slide112.xml"/><Relationship Id="rId117" Type="http://schemas.openxmlformats.org/officeDocument/2006/relationships/slide" Target="slides/slide113.xml"/><Relationship Id="rId118" Type="http://schemas.openxmlformats.org/officeDocument/2006/relationships/slide" Target="slides/slide114.xml"/><Relationship Id="rId119" Type="http://schemas.openxmlformats.org/officeDocument/2006/relationships/slide" Target="slides/slide115.xml"/><Relationship Id="rId120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dt" idx="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ftr" idx="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6"/>
          <p:cNvSpPr>
            <a:spLocks noGrp="1"/>
          </p:cNvSpPr>
          <p:nvPr>
            <p:ph type="sldNum" idx="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07BCB74B-3882-455C-9153-D8B46BC66382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_rels/notesSlide33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
</Relationships>
</file>

<file path=ppt/notesSlides/_rels/notesSlide34.xml.rels><?xml version="1.0" encoding="UTF-8"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
</Relationships>
</file>

<file path=ppt/notesSlides/_rels/notesSlide35.xml.rels><?xml version="1.0" encoding="UTF-8"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
</Relationships>
</file>

<file path=ppt/notesSlides/_rels/notesSlide36.xml.rels><?xml version="1.0" encoding="UTF-8"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
</Relationships>
</file>

<file path=ppt/notesSlides/_rels/notesSlide37.xml.rels><?xml version="1.0" encoding="UTF-8"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
</Relationships>
</file>

<file path=ppt/notesSlides/_rels/notesSlide38.xml.rels><?xml version="1.0" encoding="UTF-8"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
</Relationships>
</file>

<file path=ppt/notesSlides/_rels/notesSlide39.xml.rels><?xml version="1.0" encoding="UTF-8"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
</Relationships>
</file>

<file path=ppt/notesSlides/_rels/notesSlide40.xml.rels><?xml version="1.0" encoding="UTF-8"?>
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
</Relationships>
</file>

<file path=ppt/notesSlides/_rels/notesSlide41.xml.rels><?xml version="1.0" encoding="UTF-8"?>
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
</Relationships>
</file>

<file path=ppt/notesSlides/_rels/notesSlide42.xml.rels><?xml version="1.0" encoding="UTF-8"?>
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
</Relationships>
</file>

<file path=ppt/notesSlides/_rels/notesSlide43.xml.rels><?xml version="1.0" encoding="UTF-8"?>
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
</Relationships>
</file>

<file path=ppt/notesSlides/_rels/notesSlide44.xml.rels><?xml version="1.0" encoding="UTF-8"?>
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
</Relationships>
</file>

<file path=ppt/notesSlides/_rels/notesSlide45.xml.rels><?xml version="1.0" encoding="UTF-8"?>
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
</Relationships>
</file>

<file path=ppt/notesSlides/_rels/notesSlide46.xml.rels><?xml version="1.0" encoding="UTF-8"?>
<Relationships xmlns="http://schemas.openxmlformats.org/package/2006/relationships"><Relationship Id="rId1" Type="http://schemas.openxmlformats.org/officeDocument/2006/relationships/slide" Target="../slides/slide46.xml"/><Relationship Id="rId2" Type="http://schemas.openxmlformats.org/officeDocument/2006/relationships/notesMaster" Target="../notesMasters/notesMaster1.xml"/>
</Relationships>
</file>

<file path=ppt/notesSlides/_rels/notesSlide47.xml.rels><?xml version="1.0" encoding="UTF-8"?>
<Relationships xmlns="http://schemas.openxmlformats.org/package/2006/relationships"><Relationship Id="rId1" Type="http://schemas.openxmlformats.org/officeDocument/2006/relationships/slide" Target="../slides/slide47.xml"/><Relationship Id="rId2" Type="http://schemas.openxmlformats.org/officeDocument/2006/relationships/notesMaster" Target="../notesMasters/notesMaster1.xml"/>
</Relationships>
</file>

<file path=ppt/notesSlides/_rels/notesSlide48.xml.rels><?xml version="1.0" encoding="UTF-8"?>
<Relationships xmlns="http://schemas.openxmlformats.org/package/2006/relationships"><Relationship Id="rId1" Type="http://schemas.openxmlformats.org/officeDocument/2006/relationships/slide" Target="../slides/slide48.xml"/><Relationship Id="rId2" Type="http://schemas.openxmlformats.org/officeDocument/2006/relationships/notesMaster" Target="../notesMasters/notesMaster1.xml"/>
</Relationships>
</file>

<file path=ppt/notesSlides/_rels/notesSlide49.xml.rels><?xml version="1.0" encoding="UTF-8"?>
<Relationships xmlns="http://schemas.openxmlformats.org/package/2006/relationships"><Relationship Id="rId1" Type="http://schemas.openxmlformats.org/officeDocument/2006/relationships/slide" Target="../slides/slide49.xml"/><Relationship Id="rId2" Type="http://schemas.openxmlformats.org/officeDocument/2006/relationships/notesMaster" Target="../notesMasters/notesMaster1.xml"/>
</Relationships>
</file>

<file path=ppt/notesSlides/_rels/notesSlide50.xml.rels><?xml version="1.0" encoding="UTF-8"?>
<Relationships xmlns="http://schemas.openxmlformats.org/package/2006/relationships"><Relationship Id="rId1" Type="http://schemas.openxmlformats.org/officeDocument/2006/relationships/slide" Target="../slides/slide50.xml"/><Relationship Id="rId2" Type="http://schemas.openxmlformats.org/officeDocument/2006/relationships/notesMaster" Target="../notesMasters/notesMaster1.xml"/>
</Relationships>
</file>

<file path=ppt/notesSlides/_rels/notesSlide51.xml.rels><?xml version="1.0" encoding="UTF-8"?>
<Relationships xmlns="http://schemas.openxmlformats.org/package/2006/relationships"><Relationship Id="rId1" Type="http://schemas.openxmlformats.org/officeDocument/2006/relationships/slide" Target="../slides/slide51.xml"/><Relationship Id="rId2" Type="http://schemas.openxmlformats.org/officeDocument/2006/relationships/notesMaster" Target="../notesMasters/notesMaster1.xml"/>
</Relationships>
</file>

<file path=ppt/notesSlides/_rels/notesSlide52.xml.rels><?xml version="1.0" encoding="UTF-8"?>
<Relationships xmlns="http://schemas.openxmlformats.org/package/2006/relationships"><Relationship Id="rId1" Type="http://schemas.openxmlformats.org/officeDocument/2006/relationships/slide" Target="../slides/slide52.xml"/><Relationship Id="rId2" Type="http://schemas.openxmlformats.org/officeDocument/2006/relationships/notesMaster" Target="../notesMasters/notesMaster1.xml"/>
</Relationships>
</file>

<file path=ppt/notesSlides/_rels/notesSlide53.xml.rels><?xml version="1.0" encoding="UTF-8"?>
<Relationships xmlns="http://schemas.openxmlformats.org/package/2006/relationships"><Relationship Id="rId1" Type="http://schemas.openxmlformats.org/officeDocument/2006/relationships/slide" Target="../slides/slide53.xml"/><Relationship Id="rId2" Type="http://schemas.openxmlformats.org/officeDocument/2006/relationships/notesMaster" Target="../notesMasters/notesMaster1.xml"/>
</Relationships>
</file>

<file path=ppt/notesSlides/_rels/notesSlide54.xml.rels><?xml version="1.0" encoding="UTF-8"?>
<Relationships xmlns="http://schemas.openxmlformats.org/package/2006/relationships"><Relationship Id="rId1" Type="http://schemas.openxmlformats.org/officeDocument/2006/relationships/slide" Target="../slides/slide54.xml"/><Relationship Id="rId2" Type="http://schemas.openxmlformats.org/officeDocument/2006/relationships/notesMaster" Target="../notesMasters/notesMaster1.xml"/>
</Relationships>
</file>

<file path=ppt/notesSlides/_rels/notesSlide55.xml.rels><?xml version="1.0" encoding="UTF-8"?>
<Relationships xmlns="http://schemas.openxmlformats.org/package/2006/relationships"><Relationship Id="rId1" Type="http://schemas.openxmlformats.org/officeDocument/2006/relationships/slide" Target="../slides/slide55.xml"/><Relationship Id="rId2" Type="http://schemas.openxmlformats.org/officeDocument/2006/relationships/notesMaster" Target="../notesMasters/notesMaster1.xml"/>
</Relationships>
</file>

<file path=ppt/notesSlides/_rels/notesSlide57.xml.rels><?xml version="1.0" encoding="UTF-8"?>
<Relationships xmlns="http://schemas.openxmlformats.org/package/2006/relationships"><Relationship Id="rId1" Type="http://schemas.openxmlformats.org/officeDocument/2006/relationships/slide" Target="../slides/slide57.xml"/><Relationship Id="rId2" Type="http://schemas.openxmlformats.org/officeDocument/2006/relationships/notesMaster" Target="../notesMasters/notesMaster1.xml"/>
</Relationships>
</file>

<file path=ppt/notesSlides/_rels/notesSlide58.xml.rels><?xml version="1.0" encoding="UTF-8"?>
<Relationships xmlns="http://schemas.openxmlformats.org/package/2006/relationships"><Relationship Id="rId1" Type="http://schemas.openxmlformats.org/officeDocument/2006/relationships/slide" Target="../slides/slide58.xml"/><Relationship Id="rId2" Type="http://schemas.openxmlformats.org/officeDocument/2006/relationships/notesMaster" Target="../notesMasters/notesMaster1.xml"/>
</Relationships>
</file>

<file path=ppt/notesSlides/_rels/notesSlide61.xml.rels><?xml version="1.0" encoding="UTF-8"?>
<Relationships xmlns="http://schemas.openxmlformats.org/package/2006/relationships"><Relationship Id="rId1" Type="http://schemas.openxmlformats.org/officeDocument/2006/relationships/slide" Target="../slides/slide61.xml"/><Relationship Id="rId2" Type="http://schemas.openxmlformats.org/officeDocument/2006/relationships/notesMaster" Target="../notesMasters/notesMaster1.xml"/>
</Relationships>
</file>

<file path=ppt/notesSlides/_rels/notesSlide62.xml.rels><?xml version="1.0" encoding="UTF-8"?>
<Relationships xmlns="http://schemas.openxmlformats.org/package/2006/relationships"><Relationship Id="rId1" Type="http://schemas.openxmlformats.org/officeDocument/2006/relationships/slide" Target="../slides/slide62.xml"/><Relationship Id="rId2" Type="http://schemas.openxmlformats.org/officeDocument/2006/relationships/notesMaster" Target="../notesMasters/notesMaster1.xml"/>
</Relationships>
</file>

<file path=ppt/notesSlides/_rels/notesSlide64.xml.rels><?xml version="1.0" encoding="UTF-8"?>
<Relationships xmlns="http://schemas.openxmlformats.org/package/2006/relationships"><Relationship Id="rId1" Type="http://schemas.openxmlformats.org/officeDocument/2006/relationships/slide" Target="../slides/slide64.xml"/><Relationship Id="rId2" Type="http://schemas.openxmlformats.org/officeDocument/2006/relationships/notesMaster" Target="../notesMasters/notesMaster1.xml"/>
</Relationships>
</file>

<file path=ppt/notesSlides/_rels/notesSlide65.xml.rels><?xml version="1.0" encoding="UTF-8"?>
<Relationships xmlns="http://schemas.openxmlformats.org/package/2006/relationships"><Relationship Id="rId1" Type="http://schemas.openxmlformats.org/officeDocument/2006/relationships/slide" Target="../slides/slide65.xml"/><Relationship Id="rId2" Type="http://schemas.openxmlformats.org/officeDocument/2006/relationships/notesMaster" Target="../notesMasters/notesMaster1.xml"/>
</Relationships>
</file>

<file path=ppt/notesSlides/_rels/notesSlide67.xml.rels><?xml version="1.0" encoding="UTF-8"?>
<Relationships xmlns="http://schemas.openxmlformats.org/package/2006/relationships"><Relationship Id="rId1" Type="http://schemas.openxmlformats.org/officeDocument/2006/relationships/slide" Target="../slides/slide67.xml"/><Relationship Id="rId2" Type="http://schemas.openxmlformats.org/officeDocument/2006/relationships/notesMaster" Target="../notesMasters/notesMaster1.xml"/>
</Relationships>
</file>

<file path=ppt/notesSlides/_rels/notesSlide68.xml.rels><?xml version="1.0" encoding="UTF-8"?>
<Relationships xmlns="http://schemas.openxmlformats.org/package/2006/relationships"><Relationship Id="rId1" Type="http://schemas.openxmlformats.org/officeDocument/2006/relationships/slide" Target="../slides/slide68.xml"/><Relationship Id="rId2" Type="http://schemas.openxmlformats.org/officeDocument/2006/relationships/notesMaster" Target="../notesMasters/notesMaster1.xml"/>
</Relationships>
</file>

<file path=ppt/notesSlides/_rels/notesSlide70.xml.rels><?xml version="1.0" encoding="UTF-8"?>
<Relationships xmlns="http://schemas.openxmlformats.org/package/2006/relationships"><Relationship Id="rId1" Type="http://schemas.openxmlformats.org/officeDocument/2006/relationships/slide" Target="../slides/slide70.xml"/><Relationship Id="rId2" Type="http://schemas.openxmlformats.org/officeDocument/2006/relationships/notesMaster" Target="../notesMasters/notesMaster1.xml"/>
</Relationships>
</file>

<file path=ppt/notesSlides/_rels/notesSlide71.xml.rels><?xml version="1.0" encoding="UTF-8"?>
<Relationships xmlns="http://schemas.openxmlformats.org/package/2006/relationships"><Relationship Id="rId1" Type="http://schemas.openxmlformats.org/officeDocument/2006/relationships/slide" Target="../slides/slide71.xml"/><Relationship Id="rId2" Type="http://schemas.openxmlformats.org/officeDocument/2006/relationships/notesMaster" Target="../notesMasters/notesMaster1.xml"/>
</Relationships>
</file>

<file path=ppt/notesSlides/_rels/notesSlide72.xml.rels><?xml version="1.0" encoding="UTF-8"?>
<Relationships xmlns="http://schemas.openxmlformats.org/package/2006/relationships"><Relationship Id="rId1" Type="http://schemas.openxmlformats.org/officeDocument/2006/relationships/slide" Target="../slides/slide72.xml"/><Relationship Id="rId2" Type="http://schemas.openxmlformats.org/officeDocument/2006/relationships/notesMaster" Target="../notesMasters/notesMaster1.xml"/>
</Relationships>
</file>

<file path=ppt/notesSlides/_rels/notesSlide73.xml.rels><?xml version="1.0" encoding="UTF-8"?>
<Relationships xmlns="http://schemas.openxmlformats.org/package/2006/relationships"><Relationship Id="rId1" Type="http://schemas.openxmlformats.org/officeDocument/2006/relationships/slide" Target="../slides/slide73.xml"/><Relationship Id="rId2" Type="http://schemas.openxmlformats.org/officeDocument/2006/relationships/notesMaster" Target="../notesMasters/notesMaster1.xml"/>
</Relationships>
</file>

<file path=ppt/notesSlides/_rels/notesSlide74.xml.rels><?xml version="1.0" encoding="UTF-8"?>
<Relationships xmlns="http://schemas.openxmlformats.org/package/2006/relationships"><Relationship Id="rId1" Type="http://schemas.openxmlformats.org/officeDocument/2006/relationships/slide" Target="../slides/slide74.xml"/><Relationship Id="rId2" Type="http://schemas.openxmlformats.org/officeDocument/2006/relationships/notesMaster" Target="../notesMasters/notesMaster1.xml"/>
</Relationships>
</file>

<file path=ppt/notesSlides/_rels/notesSlide75.xml.rels><?xml version="1.0" encoding="UTF-8"?>
<Relationships xmlns="http://schemas.openxmlformats.org/package/2006/relationships"><Relationship Id="rId1" Type="http://schemas.openxmlformats.org/officeDocument/2006/relationships/slide" Target="../slides/slide75.xml"/><Relationship Id="rId2" Type="http://schemas.openxmlformats.org/officeDocument/2006/relationships/notesMaster" Target="../notesMasters/notesMaster1.xml"/>
</Relationships>
</file>

<file path=ppt/notesSlides/_rels/notesSlide76.xml.rels><?xml version="1.0" encoding="UTF-8"?>
<Relationships xmlns="http://schemas.openxmlformats.org/package/2006/relationships"><Relationship Id="rId1" Type="http://schemas.openxmlformats.org/officeDocument/2006/relationships/slide" Target="../slides/slide76.xml"/><Relationship Id="rId2" Type="http://schemas.openxmlformats.org/officeDocument/2006/relationships/notesMaster" Target="../notesMasters/notesMaster1.xml"/>
</Relationships>
</file>

<file path=ppt/notesSlides/_rels/notesSlide77.xml.rels><?xml version="1.0" encoding="UTF-8"?>
<Relationships xmlns="http://schemas.openxmlformats.org/package/2006/relationships"><Relationship Id="rId1" Type="http://schemas.openxmlformats.org/officeDocument/2006/relationships/slide" Target="../slides/slide77.xml"/><Relationship Id="rId2" Type="http://schemas.openxmlformats.org/officeDocument/2006/relationships/notesMaster" Target="../notesMasters/notesMaster1.xml"/>
</Relationships>
</file>

<file path=ppt/notesSlides/_rels/notesSlide78.xml.rels><?xml version="1.0" encoding="UTF-8"?>
<Relationships xmlns="http://schemas.openxmlformats.org/package/2006/relationships"><Relationship Id="rId1" Type="http://schemas.openxmlformats.org/officeDocument/2006/relationships/slide" Target="../slides/slide78.xml"/><Relationship Id="rId2" Type="http://schemas.openxmlformats.org/officeDocument/2006/relationships/notesMaster" Target="../notesMasters/notesMaster1.xml"/>
</Relationships>
</file>

<file path=ppt/notesSlides/_rels/notesSlide79.xml.rels><?xml version="1.0" encoding="UTF-8"?>
<Relationships xmlns="http://schemas.openxmlformats.org/package/2006/relationships"><Relationship Id="rId1" Type="http://schemas.openxmlformats.org/officeDocument/2006/relationships/slide" Target="../slides/slide79.xml"/><Relationship Id="rId2" Type="http://schemas.openxmlformats.org/officeDocument/2006/relationships/notesMaster" Target="../notesMasters/notesMaster1.xml"/>
</Relationships>
</file>

<file path=ppt/notesSlides/_rels/notesSlide80.xml.rels><?xml version="1.0" encoding="UTF-8"?>
<Relationships xmlns="http://schemas.openxmlformats.org/package/2006/relationships"><Relationship Id="rId1" Type="http://schemas.openxmlformats.org/officeDocument/2006/relationships/slide" Target="../slides/slide80.xml"/><Relationship Id="rId2" Type="http://schemas.openxmlformats.org/officeDocument/2006/relationships/notesMaster" Target="../notesMasters/notesMaster1.xml"/>
</Relationships>
</file>

<file path=ppt/notesSlides/_rels/notesSlide81.xml.rels><?xml version="1.0" encoding="UTF-8"?>
<Relationships xmlns="http://schemas.openxmlformats.org/package/2006/relationships"><Relationship Id="rId1" Type="http://schemas.openxmlformats.org/officeDocument/2006/relationships/slide" Target="../slides/slide81.xml"/><Relationship Id="rId2" Type="http://schemas.openxmlformats.org/officeDocument/2006/relationships/notesMaster" Target="../notesMasters/notesMaster1.xml"/>
</Relationships>
</file>

<file path=ppt/notesSlides/_rels/notesSlide82.xml.rels><?xml version="1.0" encoding="UTF-8"?>
<Relationships xmlns="http://schemas.openxmlformats.org/package/2006/relationships"><Relationship Id="rId1" Type="http://schemas.openxmlformats.org/officeDocument/2006/relationships/slide" Target="../slides/slide82.xml"/><Relationship Id="rId2" Type="http://schemas.openxmlformats.org/officeDocument/2006/relationships/notesMaster" Target="../notesMasters/notesMaster1.xml"/>
</Relationships>
</file>

<file path=ppt/notesSlides/_rels/notesSlide83.xml.rels><?xml version="1.0" encoding="UTF-8"?>
<Relationships xmlns="http://schemas.openxmlformats.org/package/2006/relationships"><Relationship Id="rId1" Type="http://schemas.openxmlformats.org/officeDocument/2006/relationships/slide" Target="../slides/slide83.xml"/><Relationship Id="rId2" Type="http://schemas.openxmlformats.org/officeDocument/2006/relationships/notesMaster" Target="../notesMasters/notesMaster1.xml"/>
</Relationships>
</file>

<file path=ppt/notesSlides/_rels/notesSlide84.xml.rels><?xml version="1.0" encoding="UTF-8"?>
<Relationships xmlns="http://schemas.openxmlformats.org/package/2006/relationships"><Relationship Id="rId1" Type="http://schemas.openxmlformats.org/officeDocument/2006/relationships/slide" Target="../slides/slide84.xml"/><Relationship Id="rId2" Type="http://schemas.openxmlformats.org/officeDocument/2006/relationships/notesMaster" Target="../notesMasters/notesMaster1.xml"/>
</Relationships>
</file>

<file path=ppt/notesSlides/_rels/notesSlide85.xml.rels><?xml version="1.0" encoding="UTF-8"?>
<Relationships xmlns="http://schemas.openxmlformats.org/package/2006/relationships"><Relationship Id="rId1" Type="http://schemas.openxmlformats.org/officeDocument/2006/relationships/slide" Target="../slides/slide85.xml"/><Relationship Id="rId2" Type="http://schemas.openxmlformats.org/officeDocument/2006/relationships/notesMaster" Target="../notesMasters/notesMaster1.xml"/>
</Relationships>
</file>

<file path=ppt/notesSlides/_rels/notesSlide86.xml.rels><?xml version="1.0" encoding="UTF-8"?>
<Relationships xmlns="http://schemas.openxmlformats.org/package/2006/relationships"><Relationship Id="rId1" Type="http://schemas.openxmlformats.org/officeDocument/2006/relationships/slide" Target="../slides/slide86.xml"/><Relationship Id="rId2" Type="http://schemas.openxmlformats.org/officeDocument/2006/relationships/notesMaster" Target="../notesMasters/notesMaster1.xml"/>
</Relationships>
</file>

<file path=ppt/notesSlides/_rels/notesSlide87.xml.rels><?xml version="1.0" encoding="UTF-8"?>
<Relationships xmlns="http://schemas.openxmlformats.org/package/2006/relationships"><Relationship Id="rId1" Type="http://schemas.openxmlformats.org/officeDocument/2006/relationships/slide" Target="../slides/slide87.xml"/><Relationship Id="rId2" Type="http://schemas.openxmlformats.org/officeDocument/2006/relationships/notesMaster" Target="../notesMasters/notesMaster1.xml"/>
</Relationships>
</file>

<file path=ppt/notesSlides/_rels/notesSlide88.xml.rels><?xml version="1.0" encoding="UTF-8"?>
<Relationships xmlns="http://schemas.openxmlformats.org/package/2006/relationships"><Relationship Id="rId1" Type="http://schemas.openxmlformats.org/officeDocument/2006/relationships/slide" Target="../slides/slide88.xml"/><Relationship Id="rId2" Type="http://schemas.openxmlformats.org/officeDocument/2006/relationships/notesMaster" Target="../notesMasters/notesMaster1.xml"/>
</Relationships>
</file>

<file path=ppt/notesSlides/_rels/notesSlide89.xml.rels><?xml version="1.0" encoding="UTF-8"?>
<Relationships xmlns="http://schemas.openxmlformats.org/package/2006/relationships"><Relationship Id="rId1" Type="http://schemas.openxmlformats.org/officeDocument/2006/relationships/slide" Target="../slides/slide89.xml"/><Relationship Id="rId2" Type="http://schemas.openxmlformats.org/officeDocument/2006/relationships/notesMaster" Target="../notesMasters/notesMaster1.xml"/>
</Relationships>
</file>

<file path=ppt/notesSlides/_rels/notesSlide90.xml.rels><?xml version="1.0" encoding="UTF-8"?>
<Relationships xmlns="http://schemas.openxmlformats.org/package/2006/relationships"><Relationship Id="rId1" Type="http://schemas.openxmlformats.org/officeDocument/2006/relationships/slide" Target="../slides/slide90.xml"/><Relationship Id="rId2" Type="http://schemas.openxmlformats.org/officeDocument/2006/relationships/notesMaster" Target="../notesMasters/notesMaster1.xml"/>
</Relationships>
</file>

<file path=ppt/notesSlides/_rels/notesSlide91.xml.rels><?xml version="1.0" encoding="UTF-8"?>
<Relationships xmlns="http://schemas.openxmlformats.org/package/2006/relationships"><Relationship Id="rId1" Type="http://schemas.openxmlformats.org/officeDocument/2006/relationships/slide" Target="../slides/slide91.xml"/><Relationship Id="rId2" Type="http://schemas.openxmlformats.org/officeDocument/2006/relationships/notesMaster" Target="../notesMasters/notesMaster1.xml"/>
</Relationships>
</file>

<file path=ppt/notesSlides/_rels/notesSlide92.xml.rels><?xml version="1.0" encoding="UTF-8"?>
<Relationships xmlns="http://schemas.openxmlformats.org/package/2006/relationships"><Relationship Id="rId1" Type="http://schemas.openxmlformats.org/officeDocument/2006/relationships/slide" Target="../slides/slide92.xml"/><Relationship Id="rId2" Type="http://schemas.openxmlformats.org/officeDocument/2006/relationships/notesMaster" Target="../notesMasters/notesMaster1.xml"/>
</Relationships>
</file>

<file path=ppt/notesSlides/_rels/notesSlide93.xml.rels><?xml version="1.0" encoding="UTF-8"?>
<Relationships xmlns="http://schemas.openxmlformats.org/package/2006/relationships"><Relationship Id="rId1" Type="http://schemas.openxmlformats.org/officeDocument/2006/relationships/slide" Target="../slides/slide93.xml"/><Relationship Id="rId2" Type="http://schemas.openxmlformats.org/officeDocument/2006/relationships/notesMaster" Target="../notesMasters/notesMaster1.xml"/>
</Relationships>
</file>

<file path=ppt/notesSlides/_rels/notesSlide94.xml.rels><?xml version="1.0" encoding="UTF-8"?>
<Relationships xmlns="http://schemas.openxmlformats.org/package/2006/relationships"><Relationship Id="rId1" Type="http://schemas.openxmlformats.org/officeDocument/2006/relationships/slide" Target="../slides/slide94.xml"/><Relationship Id="rId2" Type="http://schemas.openxmlformats.org/officeDocument/2006/relationships/notesMaster" Target="../notesMasters/notesMaster1.xml"/>
</Relationships>
</file>

<file path=ppt/notesSlides/_rels/notesSlide95.xml.rels><?xml version="1.0" encoding="UTF-8"?>
<Relationships xmlns="http://schemas.openxmlformats.org/package/2006/relationships"><Relationship Id="rId1" Type="http://schemas.openxmlformats.org/officeDocument/2006/relationships/slide" Target="../slides/slide95.xml"/><Relationship Id="rId2" Type="http://schemas.openxmlformats.org/officeDocument/2006/relationships/notesMaster" Target="../notesMasters/notesMaster1.xml"/>
</Relationships>
</file>

<file path=ppt/notesSlides/_rels/notesSlide96.xml.rels><?xml version="1.0" encoding="UTF-8"?>
<Relationships xmlns="http://schemas.openxmlformats.org/package/2006/relationships"><Relationship Id="rId1" Type="http://schemas.openxmlformats.org/officeDocument/2006/relationships/slide" Target="../slides/slide96.xml"/><Relationship Id="rId2" Type="http://schemas.openxmlformats.org/officeDocument/2006/relationships/notesMaster" Target="../notesMasters/notesMaster1.xml"/>
</Relationships>
</file>

<file path=ppt/notesSlides/_rels/notesSlide97.xml.rels><?xml version="1.0" encoding="UTF-8"?>
<Relationships xmlns="http://schemas.openxmlformats.org/package/2006/relationships"><Relationship Id="rId1" Type="http://schemas.openxmlformats.org/officeDocument/2006/relationships/slide" Target="../slides/slide97.xml"/><Relationship Id="rId2" Type="http://schemas.openxmlformats.org/officeDocument/2006/relationships/notesMaster" Target="../notesMasters/notesMaster1.xml"/>
</Relationships>
</file>

<file path=ppt/notesSlides/_rels/notesSlide98.xml.rels><?xml version="1.0" encoding="UTF-8"?>
<Relationships xmlns="http://schemas.openxmlformats.org/package/2006/relationships"><Relationship Id="rId1" Type="http://schemas.openxmlformats.org/officeDocument/2006/relationships/slide" Target="../slides/slide98.xml"/><Relationship Id="rId2" Type="http://schemas.openxmlformats.org/officeDocument/2006/relationships/notesMaster" Target="../notesMasters/notesMaster1.xml"/>
</Relationships>
</file>

<file path=ppt/notesSlides/_rels/notesSlide99.xml.rels><?xml version="1.0" encoding="UTF-8"?>
<Relationships xmlns="http://schemas.openxmlformats.org/package/2006/relationships"><Relationship Id="rId1" Type="http://schemas.openxmlformats.org/officeDocument/2006/relationships/slide" Target="../slides/slide99.xml"/><Relationship Id="rId2" Type="http://schemas.openxmlformats.org/officeDocument/2006/relationships/notesMaster" Target="../notesMasters/notesMaster1.xml"/>
</Relationships>
</file>

<file path=ppt/notesSlides/_rels/notesSlide100.xml.rels><?xml version="1.0" encoding="UTF-8"?>
<Relationships xmlns="http://schemas.openxmlformats.org/package/2006/relationships"><Relationship Id="rId1" Type="http://schemas.openxmlformats.org/officeDocument/2006/relationships/slide" Target="../slides/slide100.xml"/><Relationship Id="rId2" Type="http://schemas.openxmlformats.org/officeDocument/2006/relationships/notesMaster" Target="../notesMasters/notesMaster1.xml"/>
</Relationships>
</file>

<file path=ppt/notesSlides/_rels/notesSlide101.xml.rels><?xml version="1.0" encoding="UTF-8"?>
<Relationships xmlns="http://schemas.openxmlformats.org/package/2006/relationships"><Relationship Id="rId1" Type="http://schemas.openxmlformats.org/officeDocument/2006/relationships/slide" Target="../slides/slide101.xml"/><Relationship Id="rId2" Type="http://schemas.openxmlformats.org/officeDocument/2006/relationships/notesMaster" Target="../notesMasters/notesMaster1.xml"/>
</Relationships>
</file>

<file path=ppt/notesSlides/_rels/notesSlide102.xml.rels><?xml version="1.0" encoding="UTF-8"?>
<Relationships xmlns="http://schemas.openxmlformats.org/package/2006/relationships"><Relationship Id="rId1" Type="http://schemas.openxmlformats.org/officeDocument/2006/relationships/slide" Target="../slides/slide102.xml"/><Relationship Id="rId2" Type="http://schemas.openxmlformats.org/officeDocument/2006/relationships/notesMaster" Target="../notesMasters/notesMaster1.xml"/>
</Relationships>
</file>

<file path=ppt/notesSlides/_rels/notesSlide103.xml.rels><?xml version="1.0" encoding="UTF-8"?>
<Relationships xmlns="http://schemas.openxmlformats.org/package/2006/relationships"><Relationship Id="rId1" Type="http://schemas.openxmlformats.org/officeDocument/2006/relationships/slide" Target="../slides/slide103.xml"/><Relationship Id="rId2" Type="http://schemas.openxmlformats.org/officeDocument/2006/relationships/notesMaster" Target="../notesMasters/notesMaster1.xml"/>
</Relationships>
</file>

<file path=ppt/notesSlides/_rels/notesSlide104.xml.rels><?xml version="1.0" encoding="UTF-8"?>
<Relationships xmlns="http://schemas.openxmlformats.org/package/2006/relationships"><Relationship Id="rId1" Type="http://schemas.openxmlformats.org/officeDocument/2006/relationships/slide" Target="../slides/slide104.xml"/><Relationship Id="rId2" Type="http://schemas.openxmlformats.org/officeDocument/2006/relationships/notesMaster" Target="../notesMasters/notesMaster1.xml"/>
</Relationships>
</file>

<file path=ppt/notesSlides/_rels/notesSlide105.xml.rels><?xml version="1.0" encoding="UTF-8"?>
<Relationships xmlns="http://schemas.openxmlformats.org/package/2006/relationships"><Relationship Id="rId1" Type="http://schemas.openxmlformats.org/officeDocument/2006/relationships/slide" Target="../slides/slide105.xml"/><Relationship Id="rId2" Type="http://schemas.openxmlformats.org/officeDocument/2006/relationships/notesMaster" Target="../notesMasters/notesMaster1.xml"/>
</Relationships>
</file>

<file path=ppt/notesSlides/_rels/notesSlide106.xml.rels><?xml version="1.0" encoding="UTF-8"?>
<Relationships xmlns="http://schemas.openxmlformats.org/package/2006/relationships"><Relationship Id="rId1" Type="http://schemas.openxmlformats.org/officeDocument/2006/relationships/slide" Target="../slides/slide106.xml"/><Relationship Id="rId2" Type="http://schemas.openxmlformats.org/officeDocument/2006/relationships/notesMaster" Target="../notesMasters/notesMaster1.xml"/>
</Relationships>
</file>

<file path=ppt/notesSlides/_rels/notesSlide107.xml.rels><?xml version="1.0" encoding="UTF-8"?>
<Relationships xmlns="http://schemas.openxmlformats.org/package/2006/relationships"><Relationship Id="rId1" Type="http://schemas.openxmlformats.org/officeDocument/2006/relationships/slide" Target="../slides/slide107.xml"/><Relationship Id="rId2" Type="http://schemas.openxmlformats.org/officeDocument/2006/relationships/notesMaster" Target="../notesMasters/notesMaster1.xml"/>
</Relationships>
</file>

<file path=ppt/notesSlides/_rels/notesSlide108.xml.rels><?xml version="1.0" encoding="UTF-8"?>
<Relationships xmlns="http://schemas.openxmlformats.org/package/2006/relationships"><Relationship Id="rId1" Type="http://schemas.openxmlformats.org/officeDocument/2006/relationships/slide" Target="../slides/slide108.xml"/><Relationship Id="rId2" Type="http://schemas.openxmlformats.org/officeDocument/2006/relationships/notesMaster" Target="../notesMasters/notesMaster1.xml"/>
</Relationships>
</file>

<file path=ppt/notesSlides/_rels/notesSlide109.xml.rels><?xml version="1.0" encoding="UTF-8"?>
<Relationships xmlns="http://schemas.openxmlformats.org/package/2006/relationships"><Relationship Id="rId1" Type="http://schemas.openxmlformats.org/officeDocument/2006/relationships/slide" Target="../slides/slide109.xml"/><Relationship Id="rId2" Type="http://schemas.openxmlformats.org/officeDocument/2006/relationships/notesMaster" Target="../notesMasters/notesMaster1.xml"/>
</Relationships>
</file>

<file path=ppt/notesSlides/_rels/notesSlide110.xml.rels><?xml version="1.0" encoding="UTF-8"?>
<Relationships xmlns="http://schemas.openxmlformats.org/package/2006/relationships"><Relationship Id="rId1" Type="http://schemas.openxmlformats.org/officeDocument/2006/relationships/slide" Target="../slides/slide110.xml"/><Relationship Id="rId2" Type="http://schemas.openxmlformats.org/officeDocument/2006/relationships/notesMaster" Target="../notesMasters/notesMaster1.xml"/>
</Relationships>
</file>

<file path=ppt/notesSlides/_rels/notesSlide111.xml.rels><?xml version="1.0" encoding="UTF-8"?>
<Relationships xmlns="http://schemas.openxmlformats.org/package/2006/relationships"><Relationship Id="rId1" Type="http://schemas.openxmlformats.org/officeDocument/2006/relationships/slide" Target="../slides/slide111.xml"/><Relationship Id="rId2" Type="http://schemas.openxmlformats.org/officeDocument/2006/relationships/notesMaster" Target="../notesMasters/notesMaster1.xml"/>
</Relationships>
</file>

<file path=ppt/notesSlides/_rels/notesSlide112.xml.rels><?xml version="1.0" encoding="UTF-8"?>
<Relationships xmlns="http://schemas.openxmlformats.org/package/2006/relationships"><Relationship Id="rId1" Type="http://schemas.openxmlformats.org/officeDocument/2006/relationships/slide" Target="../slides/slide112.xml"/><Relationship Id="rId2" Type="http://schemas.openxmlformats.org/officeDocument/2006/relationships/notesMaster" Target="../notesMasters/notesMaster1.xml"/>
</Relationships>
</file>

<file path=ppt/notesSlides/_rels/notesSlide113.xml.rels><?xml version="1.0" encoding="UTF-8"?>
<Relationships xmlns="http://schemas.openxmlformats.org/package/2006/relationships"><Relationship Id="rId1" Type="http://schemas.openxmlformats.org/officeDocument/2006/relationships/slide" Target="../slides/slide113.xml"/><Relationship Id="rId2" Type="http://schemas.openxmlformats.org/officeDocument/2006/relationships/notesMaster" Target="../notesMasters/notesMaster1.xml"/>
</Relationships>
</file>

<file path=ppt/notesSlides/_rels/notesSlide114.xml.rels><?xml version="1.0" encoding="UTF-8"?>
<Relationships xmlns="http://schemas.openxmlformats.org/package/2006/relationships"><Relationship Id="rId1" Type="http://schemas.openxmlformats.org/officeDocument/2006/relationships/slide" Target="../slides/slide114.xml"/><Relationship Id="rId2" Type="http://schemas.openxmlformats.org/officeDocument/2006/relationships/notesMaster" Target="../notesMasters/notesMaster1.xml"/>
</Relationships>
</file>

<file path=ppt/notesSlides/_rels/notesSlide115.xml.rels><?xml version="1.0" encoding="UTF-8"?>
<Relationships xmlns="http://schemas.openxmlformats.org/package/2006/relationships"><Relationship Id="rId1" Type="http://schemas.openxmlformats.org/officeDocument/2006/relationships/slide" Target="../slides/slide115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38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Opening message: this is not a Kubernetes object catalog. It is a practical operations workshop.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4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FE45437-5005-4F11-B8A5-679AF40F422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38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7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54691CC-9185-45C7-B501-4CA769DF9A2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38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0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9E39407-0C54-41F3-8985-72BC1584F1B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3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3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DFBCB93-723C-409F-90B5-80EFBD97520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3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6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3B6F4FA-E51A-43F1-AAC9-14ACA85EFC6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39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9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17987B8-72A4-4172-B4F4-3B2BD185052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40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2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5DA1706-6BB7-4870-9FCE-92C53CAC9CC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40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5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3415C3E-6A5E-40CA-93BD-871F985C510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40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8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6FDA3B4-C2FE-42D9-A949-19855A8E867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41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1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A6AA448-BFBF-47F4-9DC1-77A9BB032FE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41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4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738A9E4-4895-4D66-8B71-7ED9BB543A0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4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7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0C29DC4-2100-498B-B07E-C6F2C459459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4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0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1BEDB61-8212-49B0-A4CC-2C4CDA56B90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42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3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86D9C15-F14F-4ED2-9718-4E504CCCFFA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4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6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B63B044-9044-479A-AF07-8C16B2582A4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4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9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A272DDD-CD71-4A91-A1D5-3ECB00F4B46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4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2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FEB57AF-E0F9-43EC-9B25-AD6285083D1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43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5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F770A83-52AA-433E-9DC9-E3C6B110813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143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8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C8C060D-CFD9-4866-9FFD-81D2243F961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144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1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9009E07-4208-4A3F-BD9F-2675467BC13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44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4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041E160-322E-416E-B90B-BCF1E3CD2DC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4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7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5B24033-5C73-4295-8C0E-15E149F0ECC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4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0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B2F3541-987D-42A6-97C0-69426A07094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4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3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E735180-6E5D-4E4A-A1D6-6ACA9622A44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4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6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012F7C4-44F9-4A94-A697-2058A90F9B7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4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9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0DFF404-D09D-4AD5-9845-5C13CF3DBDD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4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2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68337A5-08F0-4C28-BA47-5C2ADC105BD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4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5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C916F97-01A8-4133-AF85-55767CB21E7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4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8" name="PlaceHolder 3"/>
          <p:cNvSpPr>
            <a:spLocks noGrp="1"/>
          </p:cNvSpPr>
          <p:nvPr>
            <p:ph type="sldNum" idx="35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2C9105D-B9BF-4840-99D0-C4F647D8FCA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4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1" name="PlaceHolder 3"/>
          <p:cNvSpPr>
            <a:spLocks noGrp="1"/>
          </p:cNvSpPr>
          <p:nvPr>
            <p:ph type="sldNum" idx="36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F724A8C-E4F8-485D-9C74-E00005C91E5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4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4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070BBAB-9978-4D6B-A826-625FFF5F83B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4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7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4BA7E0E-05DD-4BCD-88AE-EC228C48CC6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4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0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06C40A0-CC76-4C1F-9DAD-C06210659DA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4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3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BA2FF92-6A61-4BF9-A8C6-2C892EDEA6F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4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6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18DF18B-F95D-4A4E-AD02-B2651C2AD01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48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9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FE656A3-3AED-48D6-B280-329EF780DEA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49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2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D098FEA-4482-4B1B-A81C-9A150A1D2F8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4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5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1998E84-F808-4BF9-9DE2-72D0B5086CA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4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8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F95646B-40AF-4CEE-8B1C-143F0C32E18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1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96E99E1-B7FF-44D7-9C05-137BC59BA7D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4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4D4A0EC-F554-4965-8C0A-9C032DD1AA1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7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B768D54-5107-4783-84B7-7594EAEDF90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0" name="PlaceHolder 3"/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61B05FE-62F2-423E-A47A-EB620BEF5ED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3" name="PlaceHolder 3"/>
          <p:cNvSpPr>
            <a:spLocks noGrp="1"/>
          </p:cNvSpPr>
          <p:nvPr>
            <p:ph type="sldNum" idx="50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DC525B6-9EE1-4481-B09D-BF9C67891DD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6" name="PlaceHolder 3"/>
          <p:cNvSpPr>
            <a:spLocks noGrp="1"/>
          </p:cNvSpPr>
          <p:nvPr>
            <p:ph type="sldNum" idx="51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48DC66D-B7AB-42CB-ACC7-D71A3D262D8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9" name="PlaceHolder 3"/>
          <p:cNvSpPr>
            <a:spLocks noGrp="1"/>
          </p:cNvSpPr>
          <p:nvPr>
            <p:ph type="sldNum" idx="52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C971C12-B323-4881-96E7-EA4E7F8E198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2" name="PlaceHolder 3"/>
          <p:cNvSpPr>
            <a:spLocks noGrp="1"/>
          </p:cNvSpPr>
          <p:nvPr>
            <p:ph type="sldNum" idx="53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AFF48E3-290A-4BF6-93E4-77172F8D428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5" name="PlaceHolder 3"/>
          <p:cNvSpPr>
            <a:spLocks noGrp="1"/>
          </p:cNvSpPr>
          <p:nvPr>
            <p:ph type="sldNum" idx="54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EDF1A85-4A37-4A9E-A600-09CC90F3374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8" name="PlaceHolder 3"/>
          <p:cNvSpPr>
            <a:spLocks noGrp="1"/>
          </p:cNvSpPr>
          <p:nvPr>
            <p:ph type="sldNum" idx="55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7D86229-34A5-4F42-B9B8-40794ECB6E7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1" name="PlaceHolder 3"/>
          <p:cNvSpPr>
            <a:spLocks noGrp="1"/>
          </p:cNvSpPr>
          <p:nvPr>
            <p:ph type="sldNum" idx="56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A2597F7-D6EB-4DB3-9C68-4AA2E34C87A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4" name="PlaceHolder 3"/>
          <p:cNvSpPr>
            <a:spLocks noGrp="1"/>
          </p:cNvSpPr>
          <p:nvPr>
            <p:ph type="sldNum" idx="57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7F2FB82-EEE4-4C97-8F48-42C0887BD74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7" name="PlaceHolder 3"/>
          <p:cNvSpPr>
            <a:spLocks noGrp="1"/>
          </p:cNvSpPr>
          <p:nvPr>
            <p:ph type="sldNum" idx="58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52511E9-59A8-40F7-AFB7-3ED0B464627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0" name="PlaceHolder 3"/>
          <p:cNvSpPr>
            <a:spLocks noGrp="1"/>
          </p:cNvSpPr>
          <p:nvPr>
            <p:ph type="sldNum" idx="59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A449A46-14CF-48EB-B051-4C8F21D09C3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4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3" name="PlaceHolder 3"/>
          <p:cNvSpPr>
            <a:spLocks noGrp="1"/>
          </p:cNvSpPr>
          <p:nvPr>
            <p:ph type="sldNum" idx="60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265C28E-9C38-44BB-9026-63F05E7AB6E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6" name="PlaceHolder 3"/>
          <p:cNvSpPr>
            <a:spLocks noGrp="1"/>
          </p:cNvSpPr>
          <p:nvPr>
            <p:ph type="sldNum" idx="61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81C362C-FEFA-46EF-BA23-8A5C412536D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4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9" name="PlaceHolder 3"/>
          <p:cNvSpPr>
            <a:spLocks noGrp="1"/>
          </p:cNvSpPr>
          <p:nvPr>
            <p:ph type="sldNum" idx="62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EE1EB60-5B3B-467F-8E63-1017561A58E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5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2" name="PlaceHolder 3"/>
          <p:cNvSpPr>
            <a:spLocks noGrp="1"/>
          </p:cNvSpPr>
          <p:nvPr>
            <p:ph type="sldNum" idx="63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3B09B06-2EC7-4B1F-B058-A916DB35D2F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5" name="PlaceHolder 3"/>
          <p:cNvSpPr>
            <a:spLocks noGrp="1"/>
          </p:cNvSpPr>
          <p:nvPr>
            <p:ph type="sldNum" idx="64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B3EF0CC-4FEE-4351-B71E-01C0A3F513D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8" name="PlaceHolder 3"/>
          <p:cNvSpPr>
            <a:spLocks noGrp="1"/>
          </p:cNvSpPr>
          <p:nvPr>
            <p:ph type="sldNum" idx="65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E55D520-F375-4BF8-A74D-D0C37C1A8C4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1" name="PlaceHolder 3"/>
          <p:cNvSpPr>
            <a:spLocks noGrp="1"/>
          </p:cNvSpPr>
          <p:nvPr>
            <p:ph type="sldNum" idx="66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6003A08-697F-4278-9989-792F2039EA6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4" name="PlaceHolder 3"/>
          <p:cNvSpPr>
            <a:spLocks noGrp="1"/>
          </p:cNvSpPr>
          <p:nvPr>
            <p:ph type="sldNum" idx="67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B93CDB6-2145-4623-B686-CA79E6949C3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7" name="PlaceHolder 3"/>
          <p:cNvSpPr>
            <a:spLocks noGrp="1"/>
          </p:cNvSpPr>
          <p:nvPr>
            <p:ph type="sldNum" idx="68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79145F5-EC2A-4857-9B13-9CA1955296D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0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C5C4D61-48CC-4EF0-A2D9-3A89B7D2711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7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3" name="PlaceHolder 3"/>
          <p:cNvSpPr>
            <a:spLocks noGrp="1"/>
          </p:cNvSpPr>
          <p:nvPr>
            <p:ph type="sldNum" idx="70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FBC13A8-52C4-4884-9C24-1C51E417574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7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6" name="PlaceHolder 3"/>
          <p:cNvSpPr>
            <a:spLocks noGrp="1"/>
          </p:cNvSpPr>
          <p:nvPr>
            <p:ph type="sldNum" idx="71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6E8A84E-B21E-49AA-81E6-2487046024F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9" name="PlaceHolder 3"/>
          <p:cNvSpPr>
            <a:spLocks noGrp="1"/>
          </p:cNvSpPr>
          <p:nvPr>
            <p:ph type="sldNum" idx="72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A204028-E460-445F-BA2E-E4CBE735607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8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2" name="PlaceHolder 3"/>
          <p:cNvSpPr>
            <a:spLocks noGrp="1"/>
          </p:cNvSpPr>
          <p:nvPr>
            <p:ph type="sldNum" idx="73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3FC5522-1633-48C3-858C-8A2C78FE659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8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5" name="PlaceHolder 3"/>
          <p:cNvSpPr>
            <a:spLocks noGrp="1"/>
          </p:cNvSpPr>
          <p:nvPr>
            <p:ph type="sldNum" idx="74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39C54BC-0F5D-4280-91A8-EF4E9329E33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8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8" name="PlaceHolder 3"/>
          <p:cNvSpPr>
            <a:spLocks noGrp="1"/>
          </p:cNvSpPr>
          <p:nvPr>
            <p:ph type="sldNum" idx="75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9410AAC-7853-4D40-A77E-CED95E36766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9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1" name="PlaceHolder 3"/>
          <p:cNvSpPr>
            <a:spLocks noGrp="1"/>
          </p:cNvSpPr>
          <p:nvPr>
            <p:ph type="sldNum" idx="76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A9B8940-C1DD-4D98-ADF8-2856583AA86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9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4" name="PlaceHolder 3"/>
          <p:cNvSpPr>
            <a:spLocks noGrp="1"/>
          </p:cNvSpPr>
          <p:nvPr>
            <p:ph type="sldNum" idx="77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D28DC8F-FD65-4CC4-956E-1EA1033F5EC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7" name="PlaceHolder 3"/>
          <p:cNvSpPr>
            <a:spLocks noGrp="1"/>
          </p:cNvSpPr>
          <p:nvPr>
            <p:ph type="sldNum" idx="78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D125172-3AC1-43B7-9B18-4BE3C095A12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0" name="PlaceHolder 3"/>
          <p:cNvSpPr>
            <a:spLocks noGrp="1"/>
          </p:cNvSpPr>
          <p:nvPr>
            <p:ph type="sldNum" idx="79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AFB9135-5D20-49CA-8F11-9893DA810B9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3" name="PlaceHolder 3"/>
          <p:cNvSpPr>
            <a:spLocks noGrp="1"/>
          </p:cNvSpPr>
          <p:nvPr>
            <p:ph type="sldNum" idx="80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F367D7A-B6E7-48C6-B132-E9D4FDBF26C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6" name="PlaceHolder 3"/>
          <p:cNvSpPr>
            <a:spLocks noGrp="1"/>
          </p:cNvSpPr>
          <p:nvPr>
            <p:ph type="sldNum" idx="81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1AD17A3-9C42-40D5-AF7A-680D501C598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9" name="PlaceHolder 3"/>
          <p:cNvSpPr>
            <a:spLocks noGrp="1"/>
          </p:cNvSpPr>
          <p:nvPr>
            <p:ph type="sldNum" idx="82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3B3BEE7-8BD7-4249-9BAB-4AEBA405D13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2" name="PlaceHolder 3"/>
          <p:cNvSpPr>
            <a:spLocks noGrp="1"/>
          </p:cNvSpPr>
          <p:nvPr>
            <p:ph type="sldNum" idx="83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7669C70-69B9-4E91-B751-D9B282F9C22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5" name="PlaceHolder 3"/>
          <p:cNvSpPr>
            <a:spLocks noGrp="1"/>
          </p:cNvSpPr>
          <p:nvPr>
            <p:ph type="sldNum" idx="84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AC05684-38F0-4838-BEF0-AC1B7D13FB8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8" name="PlaceHolder 3"/>
          <p:cNvSpPr>
            <a:spLocks noGrp="1"/>
          </p:cNvSpPr>
          <p:nvPr>
            <p:ph type="sldNum" idx="85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5922112-8E8D-468E-8450-DC6C89B42EA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2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1" name="PlaceHolder 3"/>
          <p:cNvSpPr>
            <a:spLocks noGrp="1"/>
          </p:cNvSpPr>
          <p:nvPr>
            <p:ph type="sldNum" idx="86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EAED013-C165-4DE9-ADAF-91AF7EFF2B6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4" name="PlaceHolder 3"/>
          <p:cNvSpPr>
            <a:spLocks noGrp="1"/>
          </p:cNvSpPr>
          <p:nvPr>
            <p:ph type="sldNum" idx="87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12AA1A2-CD9D-48BC-81EC-82431132C2A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2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7" name="PlaceHolder 3"/>
          <p:cNvSpPr>
            <a:spLocks noGrp="1"/>
          </p:cNvSpPr>
          <p:nvPr>
            <p:ph type="sldNum" idx="88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8D1397C-DE02-43EB-A355-EDFA72EF4AA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0" name="PlaceHolder 3"/>
          <p:cNvSpPr>
            <a:spLocks noGrp="1"/>
          </p:cNvSpPr>
          <p:nvPr>
            <p:ph type="sldNum" idx="89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20AF10D-1112-42A2-ADE2-6AE6A0D1CEC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3" name="PlaceHolder 3"/>
          <p:cNvSpPr>
            <a:spLocks noGrp="1"/>
          </p:cNvSpPr>
          <p:nvPr>
            <p:ph type="sldNum" idx="90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57CA77F-4A52-4B3B-9C53-CA85DB006BE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6" name="PlaceHolder 3"/>
          <p:cNvSpPr>
            <a:spLocks noGrp="1"/>
          </p:cNvSpPr>
          <p:nvPr>
            <p:ph type="sldNum" idx="91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24A53FE-88C5-41D0-8D1B-5CAEA80A29F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9" name="PlaceHolder 3"/>
          <p:cNvSpPr>
            <a:spLocks noGrp="1"/>
          </p:cNvSpPr>
          <p:nvPr>
            <p:ph type="sldNum" idx="92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168CE05-882E-4221-9000-78AC5B002F9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2" name="PlaceHolder 3"/>
          <p:cNvSpPr>
            <a:spLocks noGrp="1"/>
          </p:cNvSpPr>
          <p:nvPr>
            <p:ph type="sldNum" idx="93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3EECD70-7EE2-4D1F-B0C8-945155EFBF7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5" name="PlaceHolder 3"/>
          <p:cNvSpPr>
            <a:spLocks noGrp="1"/>
          </p:cNvSpPr>
          <p:nvPr>
            <p:ph type="sldNum" idx="94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88F40DF-CE14-427B-9229-3CEC81835D8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8" name="PlaceHolder 3"/>
          <p:cNvSpPr>
            <a:spLocks noGrp="1"/>
          </p:cNvSpPr>
          <p:nvPr>
            <p:ph type="sldNum" idx="95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AB96C91-9AB3-48DE-A631-BE4F63F7A43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1" name="PlaceHolder 3"/>
          <p:cNvSpPr>
            <a:spLocks noGrp="1"/>
          </p:cNvSpPr>
          <p:nvPr>
            <p:ph type="sldNum" idx="96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E8571A0-4154-4655-AA69-90BA01834EC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4" name="PlaceHolder 3"/>
          <p:cNvSpPr>
            <a:spLocks noGrp="1"/>
          </p:cNvSpPr>
          <p:nvPr>
            <p:ph type="sldNum" idx="97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20FA02F-91D8-437C-A96D-5C52229EDC3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7" name="PlaceHolder 3"/>
          <p:cNvSpPr>
            <a:spLocks noGrp="1"/>
          </p:cNvSpPr>
          <p:nvPr>
            <p:ph type="sldNum" idx="98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20D3214-023E-4C34-9DA9-7C8BF8E217D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5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0" name="PlaceHolder 3"/>
          <p:cNvSpPr>
            <a:spLocks noGrp="1"/>
          </p:cNvSpPr>
          <p:nvPr>
            <p:ph type="sldNum" idx="99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5DD7C4B-3E85-4DFE-98D3-033BD1CECC8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3" name="PlaceHolder 3"/>
          <p:cNvSpPr>
            <a:spLocks noGrp="1"/>
          </p:cNvSpPr>
          <p:nvPr>
            <p:ph type="sldNum" idx="100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93686FB-0A82-4DBF-BAF9-78CAD665BBA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6" name="PlaceHolder 3"/>
          <p:cNvSpPr>
            <a:spLocks noGrp="1"/>
          </p:cNvSpPr>
          <p:nvPr>
            <p:ph type="sldNum" idx="101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7CF8B4D-C460-4731-9946-05F36DE7958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6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9" name="PlaceHolder 3"/>
          <p:cNvSpPr>
            <a:spLocks noGrp="1"/>
          </p:cNvSpPr>
          <p:nvPr>
            <p:ph type="sldNum" idx="102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532110F-573B-440E-B29F-08D26D7C597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7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2" name="PlaceHolder 3"/>
          <p:cNvSpPr>
            <a:spLocks noGrp="1"/>
          </p:cNvSpPr>
          <p:nvPr>
            <p:ph type="sldNum" idx="103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7EC7D93-D8BE-4D60-88FA-BD9B6A24BAE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7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5" name="PlaceHolder 3"/>
          <p:cNvSpPr>
            <a:spLocks noGrp="1"/>
          </p:cNvSpPr>
          <p:nvPr>
            <p:ph type="sldNum" idx="104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4033FC8-DEF7-46DF-A734-BD64D71CD6D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7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8" name="PlaceHolder 3"/>
          <p:cNvSpPr>
            <a:spLocks noGrp="1"/>
          </p:cNvSpPr>
          <p:nvPr>
            <p:ph type="sldNum" idx="105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DF5283F-5D02-4F81-BBB0-33D022A7778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8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1" name="PlaceHolder 3"/>
          <p:cNvSpPr>
            <a:spLocks noGrp="1"/>
          </p:cNvSpPr>
          <p:nvPr>
            <p:ph type="sldNum" idx="106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58CDC84-FD4B-4846-9E6C-E0B9C360FF7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8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4" name="PlaceHolder 3"/>
          <p:cNvSpPr>
            <a:spLocks noGrp="1"/>
          </p:cNvSpPr>
          <p:nvPr>
            <p:ph type="sldNum" idx="107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E780DA4-694C-43F0-9694-A1508170AF1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8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7" name="PlaceHolder 3"/>
          <p:cNvSpPr>
            <a:spLocks noGrp="1"/>
          </p:cNvSpPr>
          <p:nvPr>
            <p:ph type="sldNum" idx="108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FDAE543-2BF6-43D6-A439-6A0220EF3CA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8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0" name="PlaceHolder 3"/>
          <p:cNvSpPr>
            <a:spLocks noGrp="1"/>
          </p:cNvSpPr>
          <p:nvPr>
            <p:ph type="sldNum" idx="109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BDA9359-B6BB-416C-B6BF-6E71A7D5F5C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3" name="PlaceHolder 3"/>
          <p:cNvSpPr>
            <a:spLocks noGrp="1"/>
          </p:cNvSpPr>
          <p:nvPr>
            <p:ph type="sldNum" idx="110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6C2065B-7008-45FD-BB06-58AF19A51EC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6" name="PlaceHolder 3"/>
          <p:cNvSpPr>
            <a:spLocks noGrp="1"/>
          </p:cNvSpPr>
          <p:nvPr>
            <p:ph type="sldNum" idx="111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8A0FD73-261E-4F7E-B85F-D3F5632EBF1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9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9" name="PlaceHolder 3"/>
          <p:cNvSpPr>
            <a:spLocks noGrp="1"/>
          </p:cNvSpPr>
          <p:nvPr>
            <p:ph type="sldNum" idx="112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EA9A632-2DC0-479B-9028-815D9874DCC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868B499-9CE2-4805-95D3-DB0A409D783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ftr" idx="1"/>
          </p:nvPr>
        </p:nvSpPr>
        <p:spPr>
          <a:xfrm>
            <a:off x="2603160" y="5297040"/>
            <a:ext cx="2411640" cy="302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ldNum" idx="2"/>
          </p:nvPr>
        </p:nvSpPr>
        <p:spPr>
          <a:xfrm>
            <a:off x="5460840" y="5297040"/>
            <a:ext cx="1776600" cy="302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073141DE-4949-4B67-806C-5DEA5453C8E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dt" idx="3"/>
          </p:nvPr>
        </p:nvSpPr>
        <p:spPr>
          <a:xfrm>
            <a:off x="380880" y="5297040"/>
            <a:ext cx="1776600" cy="302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buNone/>
              <a:tabLst>
                <a:tab pos="0" algn="l"/>
              </a:tabLst>
              <a:defRPr lang="en-US" sz="367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buNone/>
              <a:tabLst>
                <a:tab pos="0" algn="l"/>
              </a:tabLst>
            </a:pPr>
            <a:r>
              <a:rPr lang="en-US" sz="367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367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533"/>
              </a:spcBef>
              <a:buClr>
                <a:srgbClr val="000000"/>
              </a:buClr>
              <a:buFont typeface="Arial"/>
              <a:buChar char="•"/>
              <a:defRPr lang="en-US" sz="266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465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33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39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332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67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332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67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35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67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35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67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324000" algn="l" defTabSz="457200">
              <a:spcBef>
                <a:spcPts val="533"/>
              </a:spcBef>
              <a:buClr>
                <a:srgbClr val="000000"/>
              </a:buClr>
              <a:buFont typeface="Arial"/>
              <a:buChar char="•"/>
            </a:pPr>
            <a:r>
              <a:rPr lang="en-US" sz="266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266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spcBef>
                <a:spcPts val="465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33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33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spcBef>
                <a:spcPts val="39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spcBef>
                <a:spcPts val="332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7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167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spcBef>
                <a:spcPts val="332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7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167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spcBef>
                <a:spcPts val="235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7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167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spcBef>
                <a:spcPts val="235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7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167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hyperlink" Target="http://localhost:8080/healthz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
</Relationships>
</file>

<file path=ppt/slides/_rels/slide5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
</Relationships>
</file>

<file path=ppt/slides/_rels/slide5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6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6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
</Relationships>
</file>

<file path=ppt/slides/_rels/slide6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
</Relationships>
</file>

<file path=ppt/slides/_rels/slide6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6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
</Relationships>
</file>

<file path=ppt/slides/_rels/slide6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
</Relationships>
</file>

<file path=ppt/slides/_rels/slide6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6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
</Relationships>
</file>

<file path=ppt/slides/_rels/slide6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
</Relationships>
</file>

<file path=ppt/slides/_rels/slide6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7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
</Relationships>
</file>

<file path=ppt/slides/_rels/slide7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
</Relationships>
</file>

<file path=ppt/slides/_rels/slide7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
</Relationships>
</file>

<file path=ppt/slides/_rels/slide7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
</Relationships>
</file>

<file path=ppt/slides/_rels/slide7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
</Relationships>
</file>

<file path=ppt/slides/_rels/slide7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
</Relationships>
</file>

<file path=ppt/slides/_rels/slide7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
</Relationships>
</file>

<file path=ppt/slides/_rels/slide7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
</Relationships>
</file>

<file path=ppt/slides/_rels/slide7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
</Relationships>
</file>

<file path=ppt/slides/_rels/slide7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
</Relationships>
</file>

<file path=ppt/slides/_rels/slide8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
</Relationships>
</file>

<file path=ppt/slides/_rels/slide8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
</Relationships>
</file>

<file path=ppt/slides/_rels/slide8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
</Relationships>
</file>

<file path=ppt/slides/_rels/slide8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
</Relationships>
</file>

<file path=ppt/slides/_rels/slide8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
</Relationships>
</file>

<file path=ppt/slides/_rels/slide8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
</Relationships>
</file>

<file path=ppt/slides/_rels/slide8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
</Relationships>
</file>

<file path=ppt/slides/_rels/slide8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
</Relationships>
</file>

<file path=ppt/slides/_rels/slide8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
</Relationships>
</file>

<file path=ppt/slides/_rels/slide8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
</Relationships>
</file>

<file path=ppt/slides/_rels/slide9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
</Relationships>
</file>

<file path=ppt/slides/_rels/slide9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
</Relationships>
</file>

<file path=ppt/slides/_rels/slide9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
</Relationships>
</file>

<file path=ppt/slides/_rels/slide9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
</Relationships>
</file>

<file path=ppt/slides/_rels/slide9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
</Relationships>
</file>

<file path=ppt/slides/_rels/slide9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
</Relationships>
</file>

<file path=ppt/slides/_rels/slide96.xml.rels><?xml version="1.0" encoding="UTF-8"?>
<Relationships xmlns="http://schemas.openxmlformats.org/package/2006/relationships"><Relationship Id="rId1" Type="http://schemas.openxmlformats.org/officeDocument/2006/relationships/hyperlink" Target="http://localhost:8081/stress/memory?mib=256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6.xml"/>
</Relationships>
</file>

<file path=ppt/slides/_rels/slide9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
</Relationships>
</file>

<file path=ppt/slides/_rels/slide9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
</Relationships>
</file>

<file path=ppt/slides/_rels/slide9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
</Relationships>
</file>

<file path=ppt/slides/_rels/slide10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
</Relationships>
</file>

<file path=ppt/slides/_rels/slide10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
</Relationships>
</file>

<file path=ppt/slides/_rels/slide10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
</Relationships>
</file>

<file path=ppt/slides/_rels/slide10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
</Relationships>
</file>

<file path=ppt/slides/_rels/slide10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
</Relationships>
</file>

<file path=ppt/slides/_rels/slide10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
</Relationships>
</file>

<file path=ppt/slides/_rels/slide10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
</Relationships>
</file>

<file path=ppt/slides/_rels/slide10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
</Relationships>
</file>

<file path=ppt/slides/_rels/slide10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
</Relationships>
</file>

<file path=ppt/slides/_rels/slide10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
</Relationships>
</file>

<file path=ppt/slides/_rels/slide1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
</Relationships>
</file>

<file path=ppt/slides/_rels/slide1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
</Relationships>
</file>

<file path=ppt/slides/_rels/slide1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
</Relationships>
</file>

<file path=ppt/slides/_rels/slide1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
</Relationships>
</file>

<file path=ppt/slides/_rels/slide1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
</Relationships>
</file>

<file path=ppt/slides/_rels/slide1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2"/>
          <p:cNvSpPr/>
          <p:nvPr/>
        </p:nvSpPr>
        <p:spPr>
          <a:xfrm>
            <a:off x="658440" y="1965960"/>
            <a:ext cx="10785600" cy="68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Hands-on Kubernetes Troubleshooting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3"/>
          <p:cNvSpPr/>
          <p:nvPr/>
        </p:nvSpPr>
        <p:spPr>
          <a:xfrm>
            <a:off x="676800" y="2816280"/>
            <a:ext cx="9596880" cy="32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Build, Deploy, Break, Observe, Debug, Fix and Learn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4"/>
          <p:cNvSpPr/>
          <p:nvPr/>
        </p:nvSpPr>
        <p:spPr>
          <a:xfrm>
            <a:off x="685800" y="3319200"/>
            <a:ext cx="7310880" cy="27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BD5E1"/>
                </a:solidFill>
                <a:effectLst/>
                <a:uFillTx/>
                <a:latin typeface="Aptos"/>
              </a:rPr>
              <a:t>For Developers and Infrastructure Teams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Shape 5"/>
          <p:cNvSpPr/>
          <p:nvPr/>
        </p:nvSpPr>
        <p:spPr>
          <a:xfrm>
            <a:off x="685800" y="3977640"/>
            <a:ext cx="2921760" cy="864360"/>
          </a:xfrm>
          <a:prstGeom prst="roundRect">
            <a:avLst>
              <a:gd name="adj" fmla="val 7368"/>
            </a:avLst>
          </a:prstGeom>
          <a:solidFill>
            <a:srgbClr val="0B2235"/>
          </a:solidFill>
          <a:ln w="889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6"/>
          <p:cNvSpPr/>
          <p:nvPr/>
        </p:nvSpPr>
        <p:spPr>
          <a:xfrm>
            <a:off x="822960" y="4096440"/>
            <a:ext cx="2647440" cy="22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Single-node K3s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7"/>
          <p:cNvSpPr/>
          <p:nvPr/>
        </p:nvSpPr>
        <p:spPr>
          <a:xfrm>
            <a:off x="822960" y="4434840"/>
            <a:ext cx="2647440" cy="27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Each participant works on an isolated VM.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" name="Shape 8"/>
          <p:cNvSpPr/>
          <p:nvPr/>
        </p:nvSpPr>
        <p:spPr>
          <a:xfrm>
            <a:off x="3886200" y="3977640"/>
            <a:ext cx="2921760" cy="864360"/>
          </a:xfrm>
          <a:prstGeom prst="roundRect">
            <a:avLst>
              <a:gd name="adj" fmla="val 7368"/>
            </a:avLst>
          </a:prstGeom>
          <a:solidFill>
            <a:srgbClr val="0B2235"/>
          </a:solidFill>
          <a:ln w="889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9"/>
          <p:cNvSpPr/>
          <p:nvPr/>
        </p:nvSpPr>
        <p:spPr>
          <a:xfrm>
            <a:off x="4023360" y="4096440"/>
            <a:ext cx="2647440" cy="22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Real app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10"/>
          <p:cNvSpPr/>
          <p:nvPr/>
        </p:nvSpPr>
        <p:spPr>
          <a:xfrm>
            <a:off x="4023360" y="4434840"/>
            <a:ext cx="2647440" cy="27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Flask API, PostgreSQL, migrations and volumes.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Shape 11"/>
          <p:cNvSpPr/>
          <p:nvPr/>
        </p:nvSpPr>
        <p:spPr>
          <a:xfrm>
            <a:off x="7086600" y="3977640"/>
            <a:ext cx="3150360" cy="864360"/>
          </a:xfrm>
          <a:prstGeom prst="roundRect">
            <a:avLst>
              <a:gd name="adj" fmla="val 7368"/>
            </a:avLst>
          </a:prstGeom>
          <a:solidFill>
            <a:srgbClr val="0B2235"/>
          </a:solidFill>
          <a:ln w="889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2"/>
          <p:cNvSpPr/>
          <p:nvPr/>
        </p:nvSpPr>
        <p:spPr>
          <a:xfrm>
            <a:off x="7223760" y="4096440"/>
            <a:ext cx="2876040" cy="22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Troubleshooting-first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13"/>
          <p:cNvSpPr/>
          <p:nvPr/>
        </p:nvSpPr>
        <p:spPr>
          <a:xfrm>
            <a:off x="7223760" y="4434840"/>
            <a:ext cx="2876040" cy="27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Every concept is attached to a failure mode.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" name=""/>
          <p:cNvSpPr/>
          <p:nvPr/>
        </p:nvSpPr>
        <p:spPr>
          <a:xfrm>
            <a:off x="2136240" y="5715000"/>
            <a:ext cx="74628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1600" b="1" u="none" strike="noStrike">
                <a:solidFill>
                  <a:srgbClr val="FFB454"/>
                </a:solidFill>
                <a:effectLst/>
                <a:uFillTx/>
                <a:latin typeface="Aptos"/>
              </a:rPr>
              <a:t>git clone https://github.com/slaneslane/k8s-workshop-2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1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209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210"/>
          <p:cNvSpPr/>
          <p:nvPr/>
        </p:nvSpPr>
        <p:spPr>
          <a:xfrm>
            <a:off x="658440" y="2148840"/>
            <a:ext cx="10602720" cy="72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0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211"/>
          <p:cNvSpPr/>
          <p:nvPr/>
        </p:nvSpPr>
        <p:spPr>
          <a:xfrm>
            <a:off x="676800" y="2953440"/>
            <a:ext cx="959688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Basic facts 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165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184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071726"/>
          </a:solidFill>
          <a:ln w="12700">
            <a:solidFill>
              <a:srgbClr val="071726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" name="Shape 185"/>
          <p:cNvSpPr/>
          <p:nvPr/>
        </p:nvSpPr>
        <p:spPr>
          <a:xfrm>
            <a:off x="0" y="0"/>
            <a:ext cx="12190680" cy="163080"/>
          </a:xfrm>
          <a:prstGeom prst="rect">
            <a:avLst/>
          </a:prstGeom>
          <a:solidFill>
            <a:srgbClr val="27D3F5">
              <a:alpha val="85000"/>
            </a:srgbClr>
          </a:solidFill>
          <a:ln w="12700">
            <a:solidFill>
              <a:srgbClr val="27D3F5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236"/>
          <p:cNvSpPr/>
          <p:nvPr/>
        </p:nvSpPr>
        <p:spPr>
          <a:xfrm>
            <a:off x="502920" y="393120"/>
            <a:ext cx="864000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F4F8FB"/>
                </a:solidFill>
                <a:effectLst/>
                <a:uFillTx/>
                <a:latin typeface="Aptos Display"/>
                <a:ea typeface="Aptos Display"/>
              </a:rPr>
              <a:t>Kubernetes architecture: control plane and workers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237"/>
          <p:cNvSpPr/>
          <p:nvPr/>
        </p:nvSpPr>
        <p:spPr>
          <a:xfrm>
            <a:off x="521280" y="822960"/>
            <a:ext cx="105145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The control plane stores desired state. Worker nodes run the actual application Pods.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" name="Shape 186"/>
          <p:cNvSpPr/>
          <p:nvPr/>
        </p:nvSpPr>
        <p:spPr>
          <a:xfrm>
            <a:off x="502920" y="1234440"/>
            <a:ext cx="4799160" cy="4982040"/>
          </a:xfrm>
          <a:prstGeom prst="roundRect">
            <a:avLst>
              <a:gd name="adj" fmla="val 1524"/>
            </a:avLst>
          </a:prstGeom>
          <a:solidFill>
            <a:srgbClr val="0C243A"/>
          </a:solidFill>
          <a:ln w="12700">
            <a:solidFill>
              <a:srgbClr val="27D3F5">
                <a:alpha val="7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" name="Shape 187"/>
          <p:cNvSpPr/>
          <p:nvPr/>
        </p:nvSpPr>
        <p:spPr>
          <a:xfrm>
            <a:off x="5715000" y="1234440"/>
            <a:ext cx="5987880" cy="4982040"/>
          </a:xfrm>
          <a:prstGeom prst="roundRect">
            <a:avLst>
              <a:gd name="adj" fmla="val 1468"/>
            </a:avLst>
          </a:prstGeom>
          <a:solidFill>
            <a:srgbClr val="0C243A"/>
          </a:solidFill>
          <a:ln w="12700">
            <a:solidFill>
              <a:srgbClr val="3DDC97">
                <a:alpha val="7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" name="Shape 188"/>
          <p:cNvSpPr/>
          <p:nvPr/>
        </p:nvSpPr>
        <p:spPr>
          <a:xfrm>
            <a:off x="685800" y="1444680"/>
            <a:ext cx="1324440" cy="254520"/>
          </a:xfrm>
          <a:prstGeom prst="roundRect">
            <a:avLst>
              <a:gd name="adj" fmla="val 28571"/>
            </a:avLst>
          </a:prstGeom>
          <a:solidFill>
            <a:srgbClr val="27D3F5">
              <a:alpha val="93000"/>
            </a:srgbClr>
          </a:solidFill>
          <a:ln w="12700">
            <a:solidFill>
              <a:srgbClr val="27D3F5">
                <a:alpha val="6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238"/>
          <p:cNvSpPr/>
          <p:nvPr/>
        </p:nvSpPr>
        <p:spPr>
          <a:xfrm>
            <a:off x="758880" y="1508760"/>
            <a:ext cx="117828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CONTROL PLANE</a:t>
            </a:r>
            <a:endParaRPr lang="en-US" sz="7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189"/>
          <p:cNvSpPr/>
          <p:nvPr/>
        </p:nvSpPr>
        <p:spPr>
          <a:xfrm>
            <a:off x="5925240" y="1444680"/>
            <a:ext cx="1233000" cy="254520"/>
          </a:xfrm>
          <a:prstGeom prst="roundRect">
            <a:avLst>
              <a:gd name="adj" fmla="val 28571"/>
            </a:avLst>
          </a:prstGeom>
          <a:solidFill>
            <a:srgbClr val="3DDC97">
              <a:alpha val="93000"/>
            </a:srgbClr>
          </a:solidFill>
          <a:ln w="12700">
            <a:solidFill>
              <a:srgbClr val="3DDC97">
                <a:alpha val="6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239"/>
          <p:cNvSpPr/>
          <p:nvPr/>
        </p:nvSpPr>
        <p:spPr>
          <a:xfrm>
            <a:off x="5998320" y="1508760"/>
            <a:ext cx="108684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WORKER NODES</a:t>
            </a:r>
            <a:endParaRPr lang="en-US" sz="7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Shape 190"/>
          <p:cNvSpPr/>
          <p:nvPr/>
        </p:nvSpPr>
        <p:spPr>
          <a:xfrm>
            <a:off x="4846320" y="3246120"/>
            <a:ext cx="987480" cy="360"/>
          </a:xfrm>
          <a:prstGeom prst="line">
            <a:avLst/>
          </a:prstGeom>
          <a:ln w="12700">
            <a:solidFill>
              <a:srgbClr val="27D3F5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191"/>
          <p:cNvSpPr/>
          <p:nvPr/>
        </p:nvSpPr>
        <p:spPr>
          <a:xfrm>
            <a:off x="777240" y="1965960"/>
            <a:ext cx="1918800" cy="839880"/>
          </a:xfrm>
          <a:prstGeom prst="roundRect">
            <a:avLst>
              <a:gd name="adj" fmla="val 8696"/>
            </a:avLst>
          </a:prstGeom>
          <a:solidFill>
            <a:srgbClr val="102A44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240"/>
          <p:cNvSpPr/>
          <p:nvPr/>
        </p:nvSpPr>
        <p:spPr>
          <a:xfrm>
            <a:off x="887040" y="2075760"/>
            <a:ext cx="1699200" cy="62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API Server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entry point for kubectl and controllers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192"/>
          <p:cNvSpPr/>
          <p:nvPr/>
        </p:nvSpPr>
        <p:spPr>
          <a:xfrm>
            <a:off x="2971800" y="1965960"/>
            <a:ext cx="1598760" cy="839880"/>
          </a:xfrm>
          <a:prstGeom prst="roundRect">
            <a:avLst>
              <a:gd name="adj" fmla="val 8696"/>
            </a:avLst>
          </a:prstGeom>
          <a:solidFill>
            <a:srgbClr val="102A44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241"/>
          <p:cNvSpPr/>
          <p:nvPr/>
        </p:nvSpPr>
        <p:spPr>
          <a:xfrm>
            <a:off x="3081600" y="2075760"/>
            <a:ext cx="1379160" cy="62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etcd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cluster state database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193"/>
          <p:cNvSpPr/>
          <p:nvPr/>
        </p:nvSpPr>
        <p:spPr>
          <a:xfrm>
            <a:off x="777240" y="3246120"/>
            <a:ext cx="1918800" cy="839880"/>
          </a:xfrm>
          <a:prstGeom prst="roundRect">
            <a:avLst>
              <a:gd name="adj" fmla="val 8696"/>
            </a:avLst>
          </a:prstGeom>
          <a:solidFill>
            <a:srgbClr val="102A44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242"/>
          <p:cNvSpPr/>
          <p:nvPr/>
        </p:nvSpPr>
        <p:spPr>
          <a:xfrm>
            <a:off x="887040" y="3355920"/>
            <a:ext cx="1699200" cy="62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Scheduler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selects a node for new Pods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Shape 194"/>
          <p:cNvSpPr/>
          <p:nvPr/>
        </p:nvSpPr>
        <p:spPr>
          <a:xfrm>
            <a:off x="2971800" y="3246120"/>
            <a:ext cx="1598760" cy="839880"/>
          </a:xfrm>
          <a:prstGeom prst="roundRect">
            <a:avLst>
              <a:gd name="adj" fmla="val 8696"/>
            </a:avLst>
          </a:prstGeom>
          <a:solidFill>
            <a:srgbClr val="102A44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243"/>
          <p:cNvSpPr/>
          <p:nvPr/>
        </p:nvSpPr>
        <p:spPr>
          <a:xfrm>
            <a:off x="3081600" y="3355920"/>
            <a:ext cx="1379160" cy="62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Controller Manager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keeps desired state reconciled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" name="Shape 195"/>
          <p:cNvSpPr/>
          <p:nvPr/>
        </p:nvSpPr>
        <p:spPr>
          <a:xfrm>
            <a:off x="2706480" y="2386440"/>
            <a:ext cx="255960" cy="360"/>
          </a:xfrm>
          <a:prstGeom prst="line">
            <a:avLst/>
          </a:prstGeom>
          <a:ln w="12700">
            <a:solidFill>
              <a:srgbClr val="2A5C82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196"/>
          <p:cNvSpPr/>
          <p:nvPr/>
        </p:nvSpPr>
        <p:spPr>
          <a:xfrm>
            <a:off x="1737360" y="2816280"/>
            <a:ext cx="360" cy="420480"/>
          </a:xfrm>
          <a:prstGeom prst="line">
            <a:avLst/>
          </a:prstGeom>
          <a:ln w="12700">
            <a:solidFill>
              <a:srgbClr val="2A5C82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" name="Shape 197"/>
          <p:cNvSpPr/>
          <p:nvPr/>
        </p:nvSpPr>
        <p:spPr>
          <a:xfrm>
            <a:off x="3584160" y="2816280"/>
            <a:ext cx="360" cy="420480"/>
          </a:xfrm>
          <a:prstGeom prst="line">
            <a:avLst/>
          </a:prstGeom>
          <a:ln w="12700">
            <a:solidFill>
              <a:srgbClr val="2A5C82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244"/>
          <p:cNvSpPr/>
          <p:nvPr/>
        </p:nvSpPr>
        <p:spPr>
          <a:xfrm>
            <a:off x="777240" y="4645080"/>
            <a:ext cx="397620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Examples: Deployments, ReplicaSets, Jobs, Services, ConfigMaps, Secrets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198"/>
          <p:cNvSpPr/>
          <p:nvPr/>
        </p:nvSpPr>
        <p:spPr>
          <a:xfrm>
            <a:off x="6053400" y="1938600"/>
            <a:ext cx="2330280" cy="419040"/>
          </a:xfrm>
          <a:prstGeom prst="roundRect">
            <a:avLst>
              <a:gd name="adj" fmla="val 17391"/>
            </a:avLst>
          </a:prstGeom>
          <a:solidFill>
            <a:srgbClr val="12395A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245"/>
          <p:cNvSpPr/>
          <p:nvPr/>
        </p:nvSpPr>
        <p:spPr>
          <a:xfrm>
            <a:off x="6163200" y="2048400"/>
            <a:ext cx="21106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Worker node 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Shape 199"/>
          <p:cNvSpPr/>
          <p:nvPr/>
        </p:nvSpPr>
        <p:spPr>
          <a:xfrm>
            <a:off x="6053400" y="2615040"/>
            <a:ext cx="1022760" cy="657000"/>
          </a:xfrm>
          <a:prstGeom prst="roundRect">
            <a:avLst>
              <a:gd name="adj" fmla="val 11111"/>
            </a:avLst>
          </a:prstGeom>
          <a:solidFill>
            <a:srgbClr val="102A44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246"/>
          <p:cNvSpPr/>
          <p:nvPr/>
        </p:nvSpPr>
        <p:spPr>
          <a:xfrm>
            <a:off x="6163200" y="2724840"/>
            <a:ext cx="803160" cy="43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kubelet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node agent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Shape 200"/>
          <p:cNvSpPr/>
          <p:nvPr/>
        </p:nvSpPr>
        <p:spPr>
          <a:xfrm>
            <a:off x="7287840" y="2615040"/>
            <a:ext cx="1095840" cy="657000"/>
          </a:xfrm>
          <a:prstGeom prst="roundRect">
            <a:avLst>
              <a:gd name="adj" fmla="val 11111"/>
            </a:avLst>
          </a:prstGeom>
          <a:solidFill>
            <a:srgbClr val="102A44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247"/>
          <p:cNvSpPr/>
          <p:nvPr/>
        </p:nvSpPr>
        <p:spPr>
          <a:xfrm>
            <a:off x="7397640" y="2724840"/>
            <a:ext cx="876240" cy="43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containerd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container runtime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" name="Shape 201"/>
          <p:cNvSpPr/>
          <p:nvPr/>
        </p:nvSpPr>
        <p:spPr>
          <a:xfrm>
            <a:off x="6053400" y="3694320"/>
            <a:ext cx="1022760" cy="638640"/>
          </a:xfrm>
          <a:prstGeom prst="roundRect">
            <a:avLst>
              <a:gd name="adj" fmla="val 11429"/>
            </a:avLst>
          </a:prstGeom>
          <a:solidFill>
            <a:srgbClr val="15334D"/>
          </a:solidFill>
          <a:ln w="12700">
            <a:solidFill>
              <a:srgbClr val="2F80ED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248"/>
          <p:cNvSpPr/>
          <p:nvPr/>
        </p:nvSpPr>
        <p:spPr>
          <a:xfrm>
            <a:off x="6163200" y="3803760"/>
            <a:ext cx="803160" cy="41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Pod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Flask app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" name="Shape 202"/>
          <p:cNvSpPr/>
          <p:nvPr/>
        </p:nvSpPr>
        <p:spPr>
          <a:xfrm>
            <a:off x="7287840" y="3694320"/>
            <a:ext cx="1095840" cy="638640"/>
          </a:xfrm>
          <a:prstGeom prst="roundRect">
            <a:avLst>
              <a:gd name="adj" fmla="val 11429"/>
            </a:avLst>
          </a:prstGeom>
          <a:solidFill>
            <a:srgbClr val="15334D"/>
          </a:solidFill>
          <a:ln w="12700">
            <a:solidFill>
              <a:srgbClr val="2F80ED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249"/>
          <p:cNvSpPr/>
          <p:nvPr/>
        </p:nvSpPr>
        <p:spPr>
          <a:xfrm>
            <a:off x="7397640" y="3803760"/>
            <a:ext cx="876240" cy="41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Pod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Postgres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Shape 203"/>
          <p:cNvSpPr/>
          <p:nvPr/>
        </p:nvSpPr>
        <p:spPr>
          <a:xfrm>
            <a:off x="6555960" y="3282480"/>
            <a:ext cx="360" cy="402480"/>
          </a:xfrm>
          <a:prstGeom prst="line">
            <a:avLst/>
          </a:prstGeom>
          <a:ln w="12700">
            <a:solidFill>
              <a:srgbClr val="3DDC97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Shape 204"/>
          <p:cNvSpPr/>
          <p:nvPr/>
        </p:nvSpPr>
        <p:spPr>
          <a:xfrm>
            <a:off x="7845480" y="3282480"/>
            <a:ext cx="360" cy="402480"/>
          </a:xfrm>
          <a:prstGeom prst="line">
            <a:avLst/>
          </a:prstGeom>
          <a:ln w="12700">
            <a:solidFill>
              <a:srgbClr val="3DDC97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" name="Shape 205"/>
          <p:cNvSpPr/>
          <p:nvPr/>
        </p:nvSpPr>
        <p:spPr>
          <a:xfrm>
            <a:off x="8842320" y="1938600"/>
            <a:ext cx="2330280" cy="419040"/>
          </a:xfrm>
          <a:prstGeom prst="roundRect">
            <a:avLst>
              <a:gd name="adj" fmla="val 17391"/>
            </a:avLst>
          </a:prstGeom>
          <a:solidFill>
            <a:srgbClr val="12395A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250"/>
          <p:cNvSpPr/>
          <p:nvPr/>
        </p:nvSpPr>
        <p:spPr>
          <a:xfrm>
            <a:off x="8952120" y="2048400"/>
            <a:ext cx="21106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Worker node 2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Shape 206"/>
          <p:cNvSpPr/>
          <p:nvPr/>
        </p:nvSpPr>
        <p:spPr>
          <a:xfrm>
            <a:off x="8842320" y="2615040"/>
            <a:ext cx="1022760" cy="657000"/>
          </a:xfrm>
          <a:prstGeom prst="roundRect">
            <a:avLst>
              <a:gd name="adj" fmla="val 11111"/>
            </a:avLst>
          </a:prstGeom>
          <a:solidFill>
            <a:srgbClr val="102A44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251"/>
          <p:cNvSpPr/>
          <p:nvPr/>
        </p:nvSpPr>
        <p:spPr>
          <a:xfrm>
            <a:off x="8952120" y="2724840"/>
            <a:ext cx="803160" cy="43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kubelet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node agent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Shape 207"/>
          <p:cNvSpPr/>
          <p:nvPr/>
        </p:nvSpPr>
        <p:spPr>
          <a:xfrm>
            <a:off x="10076760" y="2615040"/>
            <a:ext cx="1095840" cy="657000"/>
          </a:xfrm>
          <a:prstGeom prst="roundRect">
            <a:avLst>
              <a:gd name="adj" fmla="val 11111"/>
            </a:avLst>
          </a:prstGeom>
          <a:solidFill>
            <a:srgbClr val="102A44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252"/>
          <p:cNvSpPr/>
          <p:nvPr/>
        </p:nvSpPr>
        <p:spPr>
          <a:xfrm>
            <a:off x="10186560" y="2724840"/>
            <a:ext cx="876240" cy="43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containerd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container runtime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208"/>
          <p:cNvSpPr/>
          <p:nvPr/>
        </p:nvSpPr>
        <p:spPr>
          <a:xfrm>
            <a:off x="8842320" y="3694320"/>
            <a:ext cx="1022760" cy="638640"/>
          </a:xfrm>
          <a:prstGeom prst="roundRect">
            <a:avLst>
              <a:gd name="adj" fmla="val 11429"/>
            </a:avLst>
          </a:prstGeom>
          <a:solidFill>
            <a:srgbClr val="15334D"/>
          </a:solidFill>
          <a:ln w="12700">
            <a:solidFill>
              <a:srgbClr val="2F80ED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253"/>
          <p:cNvSpPr/>
          <p:nvPr/>
        </p:nvSpPr>
        <p:spPr>
          <a:xfrm>
            <a:off x="8952120" y="3803760"/>
            <a:ext cx="803160" cy="41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Pod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Flask app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Shape 209"/>
          <p:cNvSpPr/>
          <p:nvPr/>
        </p:nvSpPr>
        <p:spPr>
          <a:xfrm>
            <a:off x="10076760" y="3694320"/>
            <a:ext cx="1095840" cy="638640"/>
          </a:xfrm>
          <a:prstGeom prst="roundRect">
            <a:avLst>
              <a:gd name="adj" fmla="val 11429"/>
            </a:avLst>
          </a:prstGeom>
          <a:solidFill>
            <a:srgbClr val="15334D"/>
          </a:solidFill>
          <a:ln w="12700">
            <a:solidFill>
              <a:srgbClr val="2F80ED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254"/>
          <p:cNvSpPr/>
          <p:nvPr/>
        </p:nvSpPr>
        <p:spPr>
          <a:xfrm>
            <a:off x="10186560" y="3803760"/>
            <a:ext cx="876240" cy="41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Pod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Postgres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Shape 210"/>
          <p:cNvSpPr/>
          <p:nvPr/>
        </p:nvSpPr>
        <p:spPr>
          <a:xfrm>
            <a:off x="9344880" y="3282480"/>
            <a:ext cx="360" cy="402480"/>
          </a:xfrm>
          <a:prstGeom prst="line">
            <a:avLst/>
          </a:prstGeom>
          <a:ln w="12700">
            <a:solidFill>
              <a:srgbClr val="3DDC97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Shape 211"/>
          <p:cNvSpPr/>
          <p:nvPr/>
        </p:nvSpPr>
        <p:spPr>
          <a:xfrm>
            <a:off x="10634400" y="3282480"/>
            <a:ext cx="360" cy="402480"/>
          </a:xfrm>
          <a:prstGeom prst="line">
            <a:avLst/>
          </a:prstGeom>
          <a:ln w="12700">
            <a:solidFill>
              <a:srgbClr val="3DDC97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255"/>
          <p:cNvSpPr/>
          <p:nvPr/>
        </p:nvSpPr>
        <p:spPr>
          <a:xfrm>
            <a:off x="5989320" y="4956120"/>
            <a:ext cx="51192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In our lab every VM is a single-node K3s cluster: control plane and worker are on the same machine.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Shape 212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071726"/>
          </a:solidFill>
          <a:ln w="12700">
            <a:solidFill>
              <a:srgbClr val="071726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213"/>
          <p:cNvSpPr/>
          <p:nvPr/>
        </p:nvSpPr>
        <p:spPr>
          <a:xfrm>
            <a:off x="0" y="0"/>
            <a:ext cx="12190680" cy="163080"/>
          </a:xfrm>
          <a:prstGeom prst="rect">
            <a:avLst/>
          </a:prstGeom>
          <a:solidFill>
            <a:srgbClr val="27D3F5">
              <a:alpha val="85000"/>
            </a:srgbClr>
          </a:solidFill>
          <a:ln w="12700">
            <a:solidFill>
              <a:srgbClr val="27D3F5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256"/>
          <p:cNvSpPr/>
          <p:nvPr/>
        </p:nvSpPr>
        <p:spPr>
          <a:xfrm>
            <a:off x="502920" y="393120"/>
            <a:ext cx="795420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F4F8FB"/>
                </a:solidFill>
                <a:effectLst/>
                <a:uFillTx/>
                <a:latin typeface="Aptos Display"/>
                <a:ea typeface="Aptos Display"/>
              </a:rPr>
              <a:t>What happens when you create a Pod?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257"/>
          <p:cNvSpPr/>
          <p:nvPr/>
        </p:nvSpPr>
        <p:spPr>
          <a:xfrm>
            <a:off x="521280" y="822960"/>
            <a:ext cx="105145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A Deployment request becomes running containers through a series of control-plane and node actions.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" name="Shape 214"/>
          <p:cNvSpPr/>
          <p:nvPr/>
        </p:nvSpPr>
        <p:spPr>
          <a:xfrm>
            <a:off x="1947600" y="2743200"/>
            <a:ext cx="457200" cy="360"/>
          </a:xfrm>
          <a:prstGeom prst="line">
            <a:avLst/>
          </a:prstGeom>
          <a:ln w="12700">
            <a:solidFill>
              <a:srgbClr val="27D3F5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Shape 215"/>
          <p:cNvSpPr/>
          <p:nvPr/>
        </p:nvSpPr>
        <p:spPr>
          <a:xfrm>
            <a:off x="3749040" y="2743200"/>
            <a:ext cx="457200" cy="360"/>
          </a:xfrm>
          <a:prstGeom prst="line">
            <a:avLst/>
          </a:prstGeom>
          <a:ln w="12700">
            <a:solidFill>
              <a:srgbClr val="27D3F5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216"/>
          <p:cNvSpPr/>
          <p:nvPr/>
        </p:nvSpPr>
        <p:spPr>
          <a:xfrm>
            <a:off x="5550120" y="2743200"/>
            <a:ext cx="576360" cy="360"/>
          </a:xfrm>
          <a:prstGeom prst="line">
            <a:avLst/>
          </a:prstGeom>
          <a:ln w="12700">
            <a:solidFill>
              <a:srgbClr val="27D3F5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" name="Shape 217"/>
          <p:cNvSpPr/>
          <p:nvPr/>
        </p:nvSpPr>
        <p:spPr>
          <a:xfrm>
            <a:off x="7470360" y="2743200"/>
            <a:ext cx="631080" cy="360"/>
          </a:xfrm>
          <a:prstGeom prst="line">
            <a:avLst/>
          </a:prstGeom>
          <a:ln w="12700">
            <a:solidFill>
              <a:srgbClr val="27D3F5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Shape 218"/>
          <p:cNvSpPr/>
          <p:nvPr/>
        </p:nvSpPr>
        <p:spPr>
          <a:xfrm>
            <a:off x="9445680" y="2743200"/>
            <a:ext cx="594360" cy="360"/>
          </a:xfrm>
          <a:prstGeom prst="line">
            <a:avLst/>
          </a:prstGeom>
          <a:ln w="12700">
            <a:solidFill>
              <a:srgbClr val="27D3F5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219"/>
          <p:cNvSpPr/>
          <p:nvPr/>
        </p:nvSpPr>
        <p:spPr>
          <a:xfrm>
            <a:off x="713160" y="2212920"/>
            <a:ext cx="1324440" cy="1059120"/>
          </a:xfrm>
          <a:prstGeom prst="roundRect">
            <a:avLst>
              <a:gd name="adj" fmla="val 6897"/>
            </a:avLst>
          </a:prstGeom>
          <a:solidFill>
            <a:srgbClr val="102A44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258"/>
          <p:cNvSpPr/>
          <p:nvPr/>
        </p:nvSpPr>
        <p:spPr>
          <a:xfrm>
            <a:off x="822960" y="2322720"/>
            <a:ext cx="1104840" cy="83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kubectl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send YAML / command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Shape 220"/>
          <p:cNvSpPr/>
          <p:nvPr/>
        </p:nvSpPr>
        <p:spPr>
          <a:xfrm>
            <a:off x="2514600" y="2212920"/>
            <a:ext cx="1324440" cy="1059120"/>
          </a:xfrm>
          <a:prstGeom prst="roundRect">
            <a:avLst>
              <a:gd name="adj" fmla="val 6897"/>
            </a:avLst>
          </a:prstGeom>
          <a:solidFill>
            <a:srgbClr val="102A44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259"/>
          <p:cNvSpPr/>
          <p:nvPr/>
        </p:nvSpPr>
        <p:spPr>
          <a:xfrm>
            <a:off x="2624400" y="2322720"/>
            <a:ext cx="1104840" cy="83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API Server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validate and store desired state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" name="Shape 221"/>
          <p:cNvSpPr/>
          <p:nvPr/>
        </p:nvSpPr>
        <p:spPr>
          <a:xfrm>
            <a:off x="4316040" y="2212920"/>
            <a:ext cx="1324440" cy="1059120"/>
          </a:xfrm>
          <a:prstGeom prst="roundRect">
            <a:avLst>
              <a:gd name="adj" fmla="val 6897"/>
            </a:avLst>
          </a:prstGeom>
          <a:solidFill>
            <a:srgbClr val="12395A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260"/>
          <p:cNvSpPr/>
          <p:nvPr/>
        </p:nvSpPr>
        <p:spPr>
          <a:xfrm>
            <a:off x="4425840" y="2322720"/>
            <a:ext cx="1104840" cy="83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Scheduler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choose a node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" name="Shape 222"/>
          <p:cNvSpPr/>
          <p:nvPr/>
        </p:nvSpPr>
        <p:spPr>
          <a:xfrm>
            <a:off x="6236280" y="2212920"/>
            <a:ext cx="1324440" cy="1059120"/>
          </a:xfrm>
          <a:prstGeom prst="roundRect">
            <a:avLst>
              <a:gd name="adj" fmla="val 6897"/>
            </a:avLst>
          </a:prstGeom>
          <a:solidFill>
            <a:srgbClr val="12395A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261"/>
          <p:cNvSpPr/>
          <p:nvPr/>
        </p:nvSpPr>
        <p:spPr>
          <a:xfrm>
            <a:off x="6346080" y="2322720"/>
            <a:ext cx="1104840" cy="83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kubelet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pull image and create Pod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Shape 223"/>
          <p:cNvSpPr/>
          <p:nvPr/>
        </p:nvSpPr>
        <p:spPr>
          <a:xfrm>
            <a:off x="8211240" y="2212920"/>
            <a:ext cx="1324440" cy="1059120"/>
          </a:xfrm>
          <a:prstGeom prst="roundRect">
            <a:avLst>
              <a:gd name="adj" fmla="val 6897"/>
            </a:avLst>
          </a:prstGeom>
          <a:solidFill>
            <a:srgbClr val="12395A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262"/>
          <p:cNvSpPr/>
          <p:nvPr/>
        </p:nvSpPr>
        <p:spPr>
          <a:xfrm>
            <a:off x="8321040" y="2322720"/>
            <a:ext cx="1104840" cy="83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containerd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run containers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" name="Shape 224"/>
          <p:cNvSpPr/>
          <p:nvPr/>
        </p:nvSpPr>
        <p:spPr>
          <a:xfrm>
            <a:off x="10149840" y="2212920"/>
            <a:ext cx="1324440" cy="1059120"/>
          </a:xfrm>
          <a:prstGeom prst="roundRect">
            <a:avLst>
              <a:gd name="adj" fmla="val 6897"/>
            </a:avLst>
          </a:prstGeom>
          <a:solidFill>
            <a:srgbClr val="12395A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263"/>
          <p:cNvSpPr/>
          <p:nvPr/>
        </p:nvSpPr>
        <p:spPr>
          <a:xfrm>
            <a:off x="10259640" y="2322720"/>
            <a:ext cx="1104840" cy="83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Pod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application is running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264"/>
          <p:cNvSpPr/>
          <p:nvPr/>
        </p:nvSpPr>
        <p:spPr>
          <a:xfrm>
            <a:off x="658440" y="3886200"/>
            <a:ext cx="393048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Where common failures show up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Shape 225"/>
          <p:cNvSpPr/>
          <p:nvPr/>
        </p:nvSpPr>
        <p:spPr>
          <a:xfrm>
            <a:off x="658440" y="4370760"/>
            <a:ext cx="10807200" cy="401040"/>
          </a:xfrm>
          <a:prstGeom prst="roundRect">
            <a:avLst>
              <a:gd name="adj" fmla="val 13636"/>
            </a:avLst>
          </a:prstGeom>
          <a:solidFill>
            <a:srgbClr val="0D263D"/>
          </a:solidFill>
          <a:ln w="12700">
            <a:solidFill>
              <a:srgbClr val="173E60">
                <a:alpha val="6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265"/>
          <p:cNvSpPr/>
          <p:nvPr/>
        </p:nvSpPr>
        <p:spPr>
          <a:xfrm>
            <a:off x="822960" y="4480560"/>
            <a:ext cx="182736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2C94C"/>
                </a:solidFill>
                <a:effectLst/>
                <a:uFillTx/>
                <a:latin typeface="Aptos"/>
              </a:rPr>
              <a:t>ImagePullBackOff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266"/>
          <p:cNvSpPr/>
          <p:nvPr/>
        </p:nvSpPr>
        <p:spPr>
          <a:xfrm>
            <a:off x="2788920" y="4480560"/>
            <a:ext cx="425052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kubelet/containerd cannot pull image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267"/>
          <p:cNvSpPr/>
          <p:nvPr/>
        </p:nvSpPr>
        <p:spPr>
          <a:xfrm>
            <a:off x="7315200" y="4480560"/>
            <a:ext cx="37476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describe pod + events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Shape 226"/>
          <p:cNvSpPr/>
          <p:nvPr/>
        </p:nvSpPr>
        <p:spPr>
          <a:xfrm>
            <a:off x="658440" y="4864680"/>
            <a:ext cx="10807200" cy="401040"/>
          </a:xfrm>
          <a:prstGeom prst="roundRect">
            <a:avLst>
              <a:gd name="adj" fmla="val 13636"/>
            </a:avLst>
          </a:prstGeom>
          <a:solidFill>
            <a:srgbClr val="0A2035"/>
          </a:solidFill>
          <a:ln w="12700">
            <a:solidFill>
              <a:srgbClr val="173E60">
                <a:alpha val="6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268"/>
          <p:cNvSpPr/>
          <p:nvPr/>
        </p:nvSpPr>
        <p:spPr>
          <a:xfrm>
            <a:off x="822960" y="4974480"/>
            <a:ext cx="182736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EB5757"/>
                </a:solidFill>
                <a:effectLst/>
                <a:uFillTx/>
                <a:latin typeface="Aptos"/>
              </a:rPr>
              <a:t>CrashLoopBackOff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269"/>
          <p:cNvSpPr/>
          <p:nvPr/>
        </p:nvSpPr>
        <p:spPr>
          <a:xfrm>
            <a:off x="2788920" y="4974480"/>
            <a:ext cx="425052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image was pulled, process exits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270"/>
          <p:cNvSpPr/>
          <p:nvPr/>
        </p:nvSpPr>
        <p:spPr>
          <a:xfrm>
            <a:off x="7315200" y="4974480"/>
            <a:ext cx="37476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logs --previous + describe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Shape 227"/>
          <p:cNvSpPr/>
          <p:nvPr/>
        </p:nvSpPr>
        <p:spPr>
          <a:xfrm>
            <a:off x="658440" y="5358240"/>
            <a:ext cx="10807200" cy="401040"/>
          </a:xfrm>
          <a:prstGeom prst="roundRect">
            <a:avLst>
              <a:gd name="adj" fmla="val 13636"/>
            </a:avLst>
          </a:prstGeom>
          <a:solidFill>
            <a:srgbClr val="0D263D"/>
          </a:solidFill>
          <a:ln w="12700">
            <a:solidFill>
              <a:srgbClr val="173E60">
                <a:alpha val="6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271"/>
          <p:cNvSpPr/>
          <p:nvPr/>
        </p:nvSpPr>
        <p:spPr>
          <a:xfrm>
            <a:off x="822960" y="5468040"/>
            <a:ext cx="182736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27D3F5"/>
                </a:solidFill>
                <a:effectLst/>
                <a:uFillTx/>
                <a:latin typeface="Aptos"/>
              </a:rPr>
              <a:t>Running but not Ready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272"/>
          <p:cNvSpPr/>
          <p:nvPr/>
        </p:nvSpPr>
        <p:spPr>
          <a:xfrm>
            <a:off x="2788920" y="5468040"/>
            <a:ext cx="425052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process runs, readiness check fails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273"/>
          <p:cNvSpPr/>
          <p:nvPr/>
        </p:nvSpPr>
        <p:spPr>
          <a:xfrm>
            <a:off x="7315200" y="5468040"/>
            <a:ext cx="37476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describe pod + endpoints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Shape 228"/>
          <p:cNvSpPr/>
          <p:nvPr/>
        </p:nvSpPr>
        <p:spPr>
          <a:xfrm>
            <a:off x="658440" y="5852160"/>
            <a:ext cx="10807200" cy="401040"/>
          </a:xfrm>
          <a:prstGeom prst="roundRect">
            <a:avLst>
              <a:gd name="adj" fmla="val 13636"/>
            </a:avLst>
          </a:prstGeom>
          <a:solidFill>
            <a:srgbClr val="0A2035"/>
          </a:solidFill>
          <a:ln w="12700">
            <a:solidFill>
              <a:srgbClr val="173E60">
                <a:alpha val="6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274"/>
          <p:cNvSpPr/>
          <p:nvPr/>
        </p:nvSpPr>
        <p:spPr>
          <a:xfrm>
            <a:off x="822960" y="5961960"/>
            <a:ext cx="182736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3DDC97"/>
                </a:solidFill>
                <a:effectLst/>
                <a:uFillTx/>
                <a:latin typeface="Aptos"/>
              </a:rPr>
              <a:t>Pending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275"/>
          <p:cNvSpPr/>
          <p:nvPr/>
        </p:nvSpPr>
        <p:spPr>
          <a:xfrm>
            <a:off x="2788920" y="5961960"/>
            <a:ext cx="425052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scheduler or admission cannot place/create Pod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276"/>
          <p:cNvSpPr/>
          <p:nvPr/>
        </p:nvSpPr>
        <p:spPr>
          <a:xfrm>
            <a:off x="7315200" y="5961960"/>
            <a:ext cx="37476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describe pod + quota/events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277"/>
          <p:cNvSpPr/>
          <p:nvPr/>
        </p:nvSpPr>
        <p:spPr>
          <a:xfrm>
            <a:off x="658440" y="6382440"/>
            <a:ext cx="960012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Mental model: first classify the failure stage, then choose the command. Do not debug blindly.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Shape 166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071726"/>
          </a:solidFill>
          <a:ln w="12700">
            <a:solidFill>
              <a:srgbClr val="071726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167"/>
          <p:cNvSpPr/>
          <p:nvPr/>
        </p:nvSpPr>
        <p:spPr>
          <a:xfrm>
            <a:off x="0" y="0"/>
            <a:ext cx="12190680" cy="163080"/>
          </a:xfrm>
          <a:prstGeom prst="rect">
            <a:avLst/>
          </a:prstGeom>
          <a:solidFill>
            <a:srgbClr val="27D3F5">
              <a:alpha val="85000"/>
            </a:srgbClr>
          </a:solidFill>
          <a:ln w="12700">
            <a:solidFill>
              <a:srgbClr val="27D3F5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212"/>
          <p:cNvSpPr/>
          <p:nvPr/>
        </p:nvSpPr>
        <p:spPr>
          <a:xfrm>
            <a:off x="502920" y="393120"/>
            <a:ext cx="795420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F4F8FB"/>
                </a:solidFill>
                <a:effectLst/>
                <a:uFillTx/>
                <a:latin typeface="Aptos Display"/>
                <a:ea typeface="Aptos Display"/>
              </a:rPr>
              <a:t>VM vs Docker vs Kubernetes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213"/>
          <p:cNvSpPr/>
          <p:nvPr/>
        </p:nvSpPr>
        <p:spPr>
          <a:xfrm>
            <a:off x="521280" y="822960"/>
            <a:ext cx="105145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Three different layers of abstraction, often used together.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Shape 168"/>
          <p:cNvSpPr/>
          <p:nvPr/>
        </p:nvSpPr>
        <p:spPr>
          <a:xfrm>
            <a:off x="658440" y="1207080"/>
            <a:ext cx="3153240" cy="4524840"/>
          </a:xfrm>
          <a:prstGeom prst="roundRect">
            <a:avLst>
              <a:gd name="adj" fmla="val 2899"/>
            </a:avLst>
          </a:prstGeom>
          <a:solidFill>
            <a:srgbClr val="0F2A43"/>
          </a:solidFill>
          <a:ln w="12700">
            <a:solidFill>
              <a:srgbClr val="2F80ED">
                <a:alpha val="9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214"/>
          <p:cNvSpPr/>
          <p:nvPr/>
        </p:nvSpPr>
        <p:spPr>
          <a:xfrm>
            <a:off x="859680" y="1444680"/>
            <a:ext cx="2604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Virtual Machine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215"/>
          <p:cNvSpPr/>
          <p:nvPr/>
        </p:nvSpPr>
        <p:spPr>
          <a:xfrm>
            <a:off x="859680" y="1755720"/>
            <a:ext cx="26503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Full OS boundary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Shape 169"/>
          <p:cNvSpPr/>
          <p:nvPr/>
        </p:nvSpPr>
        <p:spPr>
          <a:xfrm>
            <a:off x="4224600" y="1207080"/>
            <a:ext cx="3153240" cy="4524840"/>
          </a:xfrm>
          <a:prstGeom prst="roundRect">
            <a:avLst>
              <a:gd name="adj" fmla="val 2899"/>
            </a:avLst>
          </a:prstGeom>
          <a:solidFill>
            <a:srgbClr val="0D334A"/>
          </a:solidFill>
          <a:ln w="12700">
            <a:solidFill>
              <a:srgbClr val="27D3F5">
                <a:alpha val="9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216"/>
          <p:cNvSpPr/>
          <p:nvPr/>
        </p:nvSpPr>
        <p:spPr>
          <a:xfrm>
            <a:off x="4425840" y="1444680"/>
            <a:ext cx="2604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Docker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217"/>
          <p:cNvSpPr/>
          <p:nvPr/>
        </p:nvSpPr>
        <p:spPr>
          <a:xfrm>
            <a:off x="4425840" y="1755720"/>
            <a:ext cx="26503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Single-container runtime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Shape 170"/>
          <p:cNvSpPr/>
          <p:nvPr/>
        </p:nvSpPr>
        <p:spPr>
          <a:xfrm>
            <a:off x="7790760" y="1207080"/>
            <a:ext cx="3153240" cy="4524840"/>
          </a:xfrm>
          <a:prstGeom prst="roundRect">
            <a:avLst>
              <a:gd name="adj" fmla="val 2899"/>
            </a:avLst>
          </a:prstGeom>
          <a:solidFill>
            <a:srgbClr val="102A44"/>
          </a:solidFill>
          <a:ln w="12700">
            <a:solidFill>
              <a:srgbClr val="3DDC97">
                <a:alpha val="9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218"/>
          <p:cNvSpPr/>
          <p:nvPr/>
        </p:nvSpPr>
        <p:spPr>
          <a:xfrm>
            <a:off x="7992000" y="1444680"/>
            <a:ext cx="2604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Kubernetes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219"/>
          <p:cNvSpPr/>
          <p:nvPr/>
        </p:nvSpPr>
        <p:spPr>
          <a:xfrm>
            <a:off x="7992000" y="1755720"/>
            <a:ext cx="26503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Application platform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" name="Shape 171"/>
          <p:cNvSpPr/>
          <p:nvPr/>
        </p:nvSpPr>
        <p:spPr>
          <a:xfrm>
            <a:off x="1097280" y="2331720"/>
            <a:ext cx="2238840" cy="410040"/>
          </a:xfrm>
          <a:prstGeom prst="roundRect">
            <a:avLst>
              <a:gd name="adj" fmla="val 17778"/>
            </a:avLst>
          </a:prstGeom>
          <a:solidFill>
            <a:srgbClr val="143854"/>
          </a:solidFill>
          <a:ln w="12700">
            <a:solidFill>
              <a:srgbClr val="2F80ED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220"/>
          <p:cNvSpPr/>
          <p:nvPr/>
        </p:nvSpPr>
        <p:spPr>
          <a:xfrm>
            <a:off x="1207080" y="2441520"/>
            <a:ext cx="201924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App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Shape 172"/>
          <p:cNvSpPr/>
          <p:nvPr/>
        </p:nvSpPr>
        <p:spPr>
          <a:xfrm>
            <a:off x="1097280" y="2880360"/>
            <a:ext cx="2238840" cy="410040"/>
          </a:xfrm>
          <a:prstGeom prst="roundRect">
            <a:avLst>
              <a:gd name="adj" fmla="val 17778"/>
            </a:avLst>
          </a:prstGeom>
          <a:solidFill>
            <a:srgbClr val="143854"/>
          </a:solidFill>
          <a:ln w="12700">
            <a:solidFill>
              <a:srgbClr val="2F80ED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221"/>
          <p:cNvSpPr/>
          <p:nvPr/>
        </p:nvSpPr>
        <p:spPr>
          <a:xfrm>
            <a:off x="1207080" y="2990160"/>
            <a:ext cx="201924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Guest OS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Shape 173"/>
          <p:cNvSpPr/>
          <p:nvPr/>
        </p:nvSpPr>
        <p:spPr>
          <a:xfrm>
            <a:off x="1097280" y="3429000"/>
            <a:ext cx="2238840" cy="410040"/>
          </a:xfrm>
          <a:prstGeom prst="roundRect">
            <a:avLst>
              <a:gd name="adj" fmla="val 17778"/>
            </a:avLst>
          </a:prstGeom>
          <a:solidFill>
            <a:srgbClr val="143854"/>
          </a:solidFill>
          <a:ln w="12700">
            <a:solidFill>
              <a:srgbClr val="2F80ED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222"/>
          <p:cNvSpPr/>
          <p:nvPr/>
        </p:nvSpPr>
        <p:spPr>
          <a:xfrm>
            <a:off x="1207080" y="3538800"/>
            <a:ext cx="201924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Virtual hardware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" name="Shape 174"/>
          <p:cNvSpPr/>
          <p:nvPr/>
        </p:nvSpPr>
        <p:spPr>
          <a:xfrm>
            <a:off x="1097280" y="3977640"/>
            <a:ext cx="2238840" cy="410040"/>
          </a:xfrm>
          <a:prstGeom prst="roundRect">
            <a:avLst>
              <a:gd name="adj" fmla="val 17778"/>
            </a:avLst>
          </a:prstGeom>
          <a:solidFill>
            <a:srgbClr val="143854"/>
          </a:solidFill>
          <a:ln w="12700">
            <a:solidFill>
              <a:srgbClr val="2F80ED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223"/>
          <p:cNvSpPr/>
          <p:nvPr/>
        </p:nvSpPr>
        <p:spPr>
          <a:xfrm>
            <a:off x="1207080" y="4087440"/>
            <a:ext cx="201924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Hypervisor / cloud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224"/>
          <p:cNvSpPr/>
          <p:nvPr/>
        </p:nvSpPr>
        <p:spPr>
          <a:xfrm>
            <a:off x="914400" y="4864680"/>
            <a:ext cx="2604600" cy="43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Best for strong isolation, legacy workloads, and OS-level control.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" name="Shape 175"/>
          <p:cNvSpPr/>
          <p:nvPr/>
        </p:nvSpPr>
        <p:spPr>
          <a:xfrm>
            <a:off x="4663440" y="2331720"/>
            <a:ext cx="2238840" cy="410040"/>
          </a:xfrm>
          <a:prstGeom prst="roundRect">
            <a:avLst>
              <a:gd name="adj" fmla="val 17778"/>
            </a:avLst>
          </a:prstGeom>
          <a:solidFill>
            <a:srgbClr val="123B54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225"/>
          <p:cNvSpPr/>
          <p:nvPr/>
        </p:nvSpPr>
        <p:spPr>
          <a:xfrm>
            <a:off x="4773240" y="2441520"/>
            <a:ext cx="201924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Container image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" name="Shape 176"/>
          <p:cNvSpPr/>
          <p:nvPr/>
        </p:nvSpPr>
        <p:spPr>
          <a:xfrm>
            <a:off x="4663440" y="2880360"/>
            <a:ext cx="2238840" cy="410040"/>
          </a:xfrm>
          <a:prstGeom prst="roundRect">
            <a:avLst>
              <a:gd name="adj" fmla="val 17778"/>
            </a:avLst>
          </a:prstGeom>
          <a:solidFill>
            <a:srgbClr val="123B54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226"/>
          <p:cNvSpPr/>
          <p:nvPr/>
        </p:nvSpPr>
        <p:spPr>
          <a:xfrm>
            <a:off x="4773240" y="2990160"/>
            <a:ext cx="201924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Container process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" name="Shape 177"/>
          <p:cNvSpPr/>
          <p:nvPr/>
        </p:nvSpPr>
        <p:spPr>
          <a:xfrm>
            <a:off x="4663440" y="3429000"/>
            <a:ext cx="2238840" cy="410040"/>
          </a:xfrm>
          <a:prstGeom prst="roundRect">
            <a:avLst>
              <a:gd name="adj" fmla="val 17778"/>
            </a:avLst>
          </a:prstGeom>
          <a:solidFill>
            <a:srgbClr val="123B54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227"/>
          <p:cNvSpPr/>
          <p:nvPr/>
        </p:nvSpPr>
        <p:spPr>
          <a:xfrm>
            <a:off x="4773240" y="3538800"/>
            <a:ext cx="201924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Docker daemon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" name="Shape 178"/>
          <p:cNvSpPr/>
          <p:nvPr/>
        </p:nvSpPr>
        <p:spPr>
          <a:xfrm>
            <a:off x="4663440" y="3977640"/>
            <a:ext cx="2238840" cy="410040"/>
          </a:xfrm>
          <a:prstGeom prst="roundRect">
            <a:avLst>
              <a:gd name="adj" fmla="val 17778"/>
            </a:avLst>
          </a:prstGeom>
          <a:solidFill>
            <a:srgbClr val="123B54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228"/>
          <p:cNvSpPr/>
          <p:nvPr/>
        </p:nvSpPr>
        <p:spPr>
          <a:xfrm>
            <a:off x="4773240" y="4087440"/>
            <a:ext cx="201924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Host OS kernel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229"/>
          <p:cNvSpPr/>
          <p:nvPr/>
        </p:nvSpPr>
        <p:spPr>
          <a:xfrm>
            <a:off x="4480560" y="4864680"/>
            <a:ext cx="2604600" cy="43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Best for packaging and running a single container locally.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" name="Shape 179"/>
          <p:cNvSpPr/>
          <p:nvPr/>
        </p:nvSpPr>
        <p:spPr>
          <a:xfrm>
            <a:off x="8229600" y="2240280"/>
            <a:ext cx="2238840" cy="410040"/>
          </a:xfrm>
          <a:prstGeom prst="roundRect">
            <a:avLst>
              <a:gd name="adj" fmla="val 17778"/>
            </a:avLst>
          </a:prstGeom>
          <a:solidFill>
            <a:srgbClr val="163B43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230"/>
          <p:cNvSpPr/>
          <p:nvPr/>
        </p:nvSpPr>
        <p:spPr>
          <a:xfrm>
            <a:off x="8339400" y="2350080"/>
            <a:ext cx="201924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Deployment / Service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" name="Shape 180"/>
          <p:cNvSpPr/>
          <p:nvPr/>
        </p:nvSpPr>
        <p:spPr>
          <a:xfrm>
            <a:off x="8229600" y="2788920"/>
            <a:ext cx="2238840" cy="410040"/>
          </a:xfrm>
          <a:prstGeom prst="roundRect">
            <a:avLst>
              <a:gd name="adj" fmla="val 17778"/>
            </a:avLst>
          </a:prstGeom>
          <a:solidFill>
            <a:srgbClr val="163B43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231"/>
          <p:cNvSpPr/>
          <p:nvPr/>
        </p:nvSpPr>
        <p:spPr>
          <a:xfrm>
            <a:off x="8339400" y="2898720"/>
            <a:ext cx="201924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Pods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181"/>
          <p:cNvSpPr/>
          <p:nvPr/>
        </p:nvSpPr>
        <p:spPr>
          <a:xfrm>
            <a:off x="8229600" y="3337560"/>
            <a:ext cx="2238840" cy="410040"/>
          </a:xfrm>
          <a:prstGeom prst="roundRect">
            <a:avLst>
              <a:gd name="adj" fmla="val 17778"/>
            </a:avLst>
          </a:prstGeom>
          <a:solidFill>
            <a:srgbClr val="163B43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232"/>
          <p:cNvSpPr/>
          <p:nvPr/>
        </p:nvSpPr>
        <p:spPr>
          <a:xfrm>
            <a:off x="8339400" y="3447360"/>
            <a:ext cx="201924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Scheduler + controllers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" name="Shape 182"/>
          <p:cNvSpPr/>
          <p:nvPr/>
        </p:nvSpPr>
        <p:spPr>
          <a:xfrm>
            <a:off x="8229600" y="3886200"/>
            <a:ext cx="2238840" cy="410040"/>
          </a:xfrm>
          <a:prstGeom prst="roundRect">
            <a:avLst>
              <a:gd name="adj" fmla="val 17778"/>
            </a:avLst>
          </a:prstGeom>
          <a:solidFill>
            <a:srgbClr val="163B43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233"/>
          <p:cNvSpPr/>
          <p:nvPr/>
        </p:nvSpPr>
        <p:spPr>
          <a:xfrm>
            <a:off x="8339400" y="3996000"/>
            <a:ext cx="201924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Nodes + container runtime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234"/>
          <p:cNvSpPr/>
          <p:nvPr/>
        </p:nvSpPr>
        <p:spPr>
          <a:xfrm>
            <a:off x="8046720" y="4864680"/>
            <a:ext cx="2604600" cy="43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Best for operating many containers with desired state and self-healing.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" name="Shape 183"/>
          <p:cNvSpPr/>
          <p:nvPr/>
        </p:nvSpPr>
        <p:spPr>
          <a:xfrm>
            <a:off x="1325880" y="5989320"/>
            <a:ext cx="9554400" cy="437400"/>
          </a:xfrm>
          <a:prstGeom prst="roundRect">
            <a:avLst>
              <a:gd name="adj" fmla="val 16667"/>
            </a:avLst>
          </a:prstGeom>
          <a:solidFill>
            <a:srgbClr val="0D263D"/>
          </a:solidFill>
          <a:ln w="12700">
            <a:solidFill>
              <a:srgbClr val="27D3F5">
                <a:alpha val="6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235"/>
          <p:cNvSpPr/>
          <p:nvPr/>
        </p:nvSpPr>
        <p:spPr>
          <a:xfrm>
            <a:off x="1572840" y="6117480"/>
            <a:ext cx="9051480" cy="14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8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In this workshop: VM provides the lab machine → Docker builds images → Kubernetes runs and operates the application.</a:t>
            </a:r>
            <a:endParaRPr lang="en-US" sz="1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Rectangle 14"/>
          <p:cNvSpPr/>
          <p:nvPr/>
        </p:nvSpPr>
        <p:spPr>
          <a:xfrm>
            <a:off x="0" y="0"/>
            <a:ext cx="12191400" cy="6856920"/>
          </a:xfrm>
          <a:prstGeom prst="rect">
            <a:avLst/>
          </a:prstGeom>
          <a:solidFill>
            <a:srgbClr val="0712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5" name="Rectangle 15"/>
          <p:cNvSpPr/>
          <p:nvPr/>
        </p:nvSpPr>
        <p:spPr>
          <a:xfrm>
            <a:off x="0" y="0"/>
            <a:ext cx="12191400" cy="60120"/>
          </a:xfrm>
          <a:prstGeom prst="rect">
            <a:avLst/>
          </a:prstGeom>
          <a:solidFill>
            <a:srgbClr val="00AE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6200" rIns="90000" bIns="16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6" name="TextBox 35"/>
          <p:cNvSpPr/>
          <p:nvPr/>
        </p:nvSpPr>
        <p:spPr>
          <a:xfrm>
            <a:off x="571320" y="342720"/>
            <a:ext cx="10178280" cy="60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YAML in Kubernetes — the minimum you need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Box 36"/>
          <p:cNvSpPr/>
          <p:nvPr/>
        </p:nvSpPr>
        <p:spPr>
          <a:xfrm>
            <a:off x="594360" y="876240"/>
            <a:ext cx="74725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A4BAD0"/>
                </a:solidFill>
                <a:effectLst/>
                <a:uFillTx/>
                <a:latin typeface="Calibri"/>
              </a:rPr>
              <a:t>Kubernetes manifests are structured text files that describe the desired state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Rounded Rectangle 14"/>
          <p:cNvSpPr/>
          <p:nvPr/>
        </p:nvSpPr>
        <p:spPr>
          <a:xfrm>
            <a:off x="685800" y="1371600"/>
            <a:ext cx="5713920" cy="3427920"/>
          </a:xfrm>
          <a:prstGeom prst="roundRect">
            <a:avLst>
              <a:gd name="adj" fmla="val 16667"/>
            </a:avLst>
          </a:prstGeom>
          <a:solidFill>
            <a:srgbClr val="0C1F36"/>
          </a:solidFill>
          <a:ln w="13970">
            <a:solidFill>
              <a:srgbClr val="1F5B8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9" name="TextBox 37"/>
          <p:cNvSpPr/>
          <p:nvPr/>
        </p:nvSpPr>
        <p:spPr>
          <a:xfrm>
            <a:off x="876240" y="1508760"/>
            <a:ext cx="5547600" cy="310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apiVersion: apps/v1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kind: Deployment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metadata: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name: flask-app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spec: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replicas: 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template: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  spec: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    containers: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      - name: flask-app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        image: k8s-workshop-app:debug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Box 38"/>
          <p:cNvSpPr/>
          <p:nvPr/>
        </p:nvSpPr>
        <p:spPr>
          <a:xfrm>
            <a:off x="6858000" y="1485720"/>
            <a:ext cx="4125960" cy="191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Indentation matters: use spaces, not tabs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key: value defines properties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Lists start with '-'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Nested blocks represent object structure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Kubernetes reads this as desired state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Rounded Rectangle 15"/>
          <p:cNvSpPr/>
          <p:nvPr/>
        </p:nvSpPr>
        <p:spPr>
          <a:xfrm>
            <a:off x="3581280" y="5333760"/>
            <a:ext cx="4875840" cy="456120"/>
          </a:xfrm>
          <a:prstGeom prst="roundRect">
            <a:avLst>
              <a:gd name="adj" fmla="val 16667"/>
            </a:avLst>
          </a:prstGeom>
          <a:solidFill>
            <a:srgbClr val="FFD5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2" name="TextBox 39"/>
          <p:cNvSpPr/>
          <p:nvPr/>
        </p:nvSpPr>
        <p:spPr>
          <a:xfrm>
            <a:off x="4492440" y="5392080"/>
            <a:ext cx="305424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020C19"/>
                </a:solidFill>
                <a:effectLst/>
                <a:uFillTx/>
                <a:latin typeface="Calibri"/>
              </a:rPr>
              <a:t>YAML is data, not a script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Rectangle 16"/>
          <p:cNvSpPr/>
          <p:nvPr/>
        </p:nvSpPr>
        <p:spPr>
          <a:xfrm>
            <a:off x="0" y="0"/>
            <a:ext cx="12191400" cy="6856920"/>
          </a:xfrm>
          <a:prstGeom prst="rect">
            <a:avLst/>
          </a:prstGeom>
          <a:solidFill>
            <a:srgbClr val="0712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4" name="Rectangle 17"/>
          <p:cNvSpPr/>
          <p:nvPr/>
        </p:nvSpPr>
        <p:spPr>
          <a:xfrm>
            <a:off x="0" y="0"/>
            <a:ext cx="12191400" cy="60120"/>
          </a:xfrm>
          <a:prstGeom prst="rect">
            <a:avLst/>
          </a:prstGeom>
          <a:solidFill>
            <a:srgbClr val="00AE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6200" rIns="90000" bIns="16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5" name="TextBox 40"/>
          <p:cNvSpPr/>
          <p:nvPr/>
        </p:nvSpPr>
        <p:spPr>
          <a:xfrm>
            <a:off x="571320" y="342720"/>
            <a:ext cx="6948360" cy="60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Reading a Kubernetes manifest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Box 41"/>
          <p:cNvSpPr/>
          <p:nvPr/>
        </p:nvSpPr>
        <p:spPr>
          <a:xfrm>
            <a:off x="594000" y="876240"/>
            <a:ext cx="575784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A4BAD0"/>
                </a:solidFill>
                <a:effectLst/>
                <a:uFillTx/>
                <a:latin typeface="Calibri"/>
              </a:rPr>
              <a:t>Most Kubernetes YAML files follow the same mental model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Rounded Rectangle 16"/>
          <p:cNvSpPr/>
          <p:nvPr/>
        </p:nvSpPr>
        <p:spPr>
          <a:xfrm>
            <a:off x="228600" y="1333440"/>
            <a:ext cx="6476040" cy="3618360"/>
          </a:xfrm>
          <a:prstGeom prst="roundRect">
            <a:avLst>
              <a:gd name="adj" fmla="val 16667"/>
            </a:avLst>
          </a:prstGeom>
          <a:solidFill>
            <a:srgbClr val="0C1F36"/>
          </a:solidFill>
          <a:ln w="13970">
            <a:solidFill>
              <a:srgbClr val="1F5B8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8" name="TextBox 42"/>
          <p:cNvSpPr/>
          <p:nvPr/>
        </p:nvSpPr>
        <p:spPr>
          <a:xfrm>
            <a:off x="457200" y="1470600"/>
            <a:ext cx="6098040" cy="338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apiVersion: v1         # Which API version?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kind: Service          # What object type?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metadata: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name: flask-app      # Object name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spec: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selector: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  app: flask-app     # Which Pods?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ports: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  - port: 80         # Service port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    targetPort: 8080 # Container port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Box 43"/>
          <p:cNvSpPr/>
          <p:nvPr/>
        </p:nvSpPr>
        <p:spPr>
          <a:xfrm>
            <a:off x="7010280" y="1409400"/>
            <a:ext cx="4817880" cy="176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apiVersion + kind: what Kubernetes object this is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metadata: name, labels, annotations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spec: the desired configuration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status: current state, generated by Kubernetes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Troubleshooting often means comparing spec vs status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Rounded Rectangle 17"/>
          <p:cNvSpPr/>
          <p:nvPr/>
        </p:nvSpPr>
        <p:spPr>
          <a:xfrm>
            <a:off x="2590560" y="5371920"/>
            <a:ext cx="7085880" cy="456120"/>
          </a:xfrm>
          <a:prstGeom prst="roundRect">
            <a:avLst>
              <a:gd name="adj" fmla="val 16667"/>
            </a:avLst>
          </a:prstGeom>
          <a:solidFill>
            <a:srgbClr val="4DD69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1" name="TextBox 44"/>
          <p:cNvSpPr/>
          <p:nvPr/>
        </p:nvSpPr>
        <p:spPr>
          <a:xfrm>
            <a:off x="3027600" y="5429880"/>
            <a:ext cx="621324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020C19"/>
                </a:solidFill>
                <a:effectLst/>
                <a:uFillTx/>
                <a:latin typeface="Calibri"/>
              </a:rPr>
              <a:t>kubectl apply sends spec; Kubernetes updates status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Shape 163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206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207"/>
          <p:cNvSpPr/>
          <p:nvPr/>
        </p:nvSpPr>
        <p:spPr>
          <a:xfrm>
            <a:off x="658440" y="2148840"/>
            <a:ext cx="10602720" cy="72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1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208"/>
          <p:cNvSpPr/>
          <p:nvPr/>
        </p:nvSpPr>
        <p:spPr>
          <a:xfrm>
            <a:off x="676800" y="2953440"/>
            <a:ext cx="959688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Workshop architecture and operating model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" name="Shape 16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Workshop story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Every topic appears because the application needs it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" name="Shape 4"/>
          <p:cNvSpPr/>
          <p:nvPr/>
        </p:nvSpPr>
        <p:spPr>
          <a:xfrm>
            <a:off x="50292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5"/>
          <p:cNvSpPr/>
          <p:nvPr/>
        </p:nvSpPr>
        <p:spPr>
          <a:xfrm>
            <a:off x="54864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Build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" name="Shape 6"/>
          <p:cNvSpPr/>
          <p:nvPr/>
        </p:nvSpPr>
        <p:spPr>
          <a:xfrm>
            <a:off x="177408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" name="Shape 7"/>
          <p:cNvSpPr/>
          <p:nvPr/>
        </p:nvSpPr>
        <p:spPr>
          <a:xfrm>
            <a:off x="200268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 8"/>
          <p:cNvSpPr/>
          <p:nvPr/>
        </p:nvSpPr>
        <p:spPr>
          <a:xfrm>
            <a:off x="204840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Deploy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" name="Shape 9"/>
          <p:cNvSpPr/>
          <p:nvPr/>
        </p:nvSpPr>
        <p:spPr>
          <a:xfrm>
            <a:off x="327348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" name="Shape 10"/>
          <p:cNvSpPr/>
          <p:nvPr/>
        </p:nvSpPr>
        <p:spPr>
          <a:xfrm>
            <a:off x="350208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11"/>
          <p:cNvSpPr/>
          <p:nvPr/>
        </p:nvSpPr>
        <p:spPr>
          <a:xfrm>
            <a:off x="354780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Break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" name="Shape 12"/>
          <p:cNvSpPr/>
          <p:nvPr/>
        </p:nvSpPr>
        <p:spPr>
          <a:xfrm>
            <a:off x="477324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" name="Shape 13"/>
          <p:cNvSpPr/>
          <p:nvPr/>
        </p:nvSpPr>
        <p:spPr>
          <a:xfrm>
            <a:off x="500184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 14"/>
          <p:cNvSpPr/>
          <p:nvPr/>
        </p:nvSpPr>
        <p:spPr>
          <a:xfrm>
            <a:off x="504756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Observe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" name="Shape 15"/>
          <p:cNvSpPr/>
          <p:nvPr/>
        </p:nvSpPr>
        <p:spPr>
          <a:xfrm>
            <a:off x="627264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" name="Shape 16"/>
          <p:cNvSpPr/>
          <p:nvPr/>
        </p:nvSpPr>
        <p:spPr>
          <a:xfrm>
            <a:off x="650124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FBBF24"/>
          </a:solidFill>
          <a:ln w="12700">
            <a:solidFill>
              <a:srgbClr val="FBBF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 17"/>
          <p:cNvSpPr/>
          <p:nvPr/>
        </p:nvSpPr>
        <p:spPr>
          <a:xfrm>
            <a:off x="654696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Debug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" name="Shape 18"/>
          <p:cNvSpPr/>
          <p:nvPr/>
        </p:nvSpPr>
        <p:spPr>
          <a:xfrm>
            <a:off x="777240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" name="Shape 19"/>
          <p:cNvSpPr/>
          <p:nvPr/>
        </p:nvSpPr>
        <p:spPr>
          <a:xfrm>
            <a:off x="800100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 20"/>
          <p:cNvSpPr/>
          <p:nvPr/>
        </p:nvSpPr>
        <p:spPr>
          <a:xfrm>
            <a:off x="804672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Fix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" name="Shape 21"/>
          <p:cNvSpPr/>
          <p:nvPr/>
        </p:nvSpPr>
        <p:spPr>
          <a:xfrm>
            <a:off x="927216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" name="Shape 22"/>
          <p:cNvSpPr/>
          <p:nvPr/>
        </p:nvSpPr>
        <p:spPr>
          <a:xfrm>
            <a:off x="950076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23"/>
          <p:cNvSpPr/>
          <p:nvPr/>
        </p:nvSpPr>
        <p:spPr>
          <a:xfrm>
            <a:off x="954648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Learn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Who is this for?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Same lab, different responsibilities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Developers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Infrastructure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Build images safely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Understand runtime configuration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 logs and health endpoints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Know when the app is the problem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Design for debuggability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Understand workload impact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Diagnose scheduling and storage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Enforce quotas and defaults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Support minimal images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Provide reliable cluster signals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What we will build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One application, many failure modes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Application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Kubernetes pieces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Flask API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PostgreSQL dependency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Migration Job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Health and readiness endpoints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Cyclic logs and file logs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Deployment and Service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ConfigMap and Secret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and StatefulSet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ResourceQuota and LimitRange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Ephemeral debug containers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Lab rhythm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Repeat this pattern in every module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" name="Shape 4"/>
          <p:cNvSpPr/>
          <p:nvPr/>
        </p:nvSpPr>
        <p:spPr>
          <a:xfrm>
            <a:off x="50292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 5"/>
          <p:cNvSpPr/>
          <p:nvPr/>
        </p:nvSpPr>
        <p:spPr>
          <a:xfrm>
            <a:off x="54864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Desired state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" name="Shape 6"/>
          <p:cNvSpPr/>
          <p:nvPr/>
        </p:nvSpPr>
        <p:spPr>
          <a:xfrm>
            <a:off x="177408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" name="Shape 7"/>
          <p:cNvSpPr/>
          <p:nvPr/>
        </p:nvSpPr>
        <p:spPr>
          <a:xfrm>
            <a:off x="200268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8"/>
          <p:cNvSpPr/>
          <p:nvPr/>
        </p:nvSpPr>
        <p:spPr>
          <a:xfrm>
            <a:off x="204840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Apply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" name="Shape 9"/>
          <p:cNvSpPr/>
          <p:nvPr/>
        </p:nvSpPr>
        <p:spPr>
          <a:xfrm>
            <a:off x="327348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" name="Shape 10"/>
          <p:cNvSpPr/>
          <p:nvPr/>
        </p:nvSpPr>
        <p:spPr>
          <a:xfrm>
            <a:off x="350208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 11"/>
          <p:cNvSpPr/>
          <p:nvPr/>
        </p:nvSpPr>
        <p:spPr>
          <a:xfrm>
            <a:off x="354780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Observe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" name="Shape 12"/>
          <p:cNvSpPr/>
          <p:nvPr/>
        </p:nvSpPr>
        <p:spPr>
          <a:xfrm>
            <a:off x="477324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" name="Shape 13"/>
          <p:cNvSpPr/>
          <p:nvPr/>
        </p:nvSpPr>
        <p:spPr>
          <a:xfrm>
            <a:off x="500184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 14"/>
          <p:cNvSpPr/>
          <p:nvPr/>
        </p:nvSpPr>
        <p:spPr>
          <a:xfrm>
            <a:off x="504756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Break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" name="Shape 15"/>
          <p:cNvSpPr/>
          <p:nvPr/>
        </p:nvSpPr>
        <p:spPr>
          <a:xfrm>
            <a:off x="627264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" name="Shape 16"/>
          <p:cNvSpPr/>
          <p:nvPr/>
        </p:nvSpPr>
        <p:spPr>
          <a:xfrm>
            <a:off x="650124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FBBF24"/>
          </a:solidFill>
          <a:ln w="12700">
            <a:solidFill>
              <a:srgbClr val="FBBF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17"/>
          <p:cNvSpPr/>
          <p:nvPr/>
        </p:nvSpPr>
        <p:spPr>
          <a:xfrm>
            <a:off x="654696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Diagnose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" name="Shape 18"/>
          <p:cNvSpPr/>
          <p:nvPr/>
        </p:nvSpPr>
        <p:spPr>
          <a:xfrm>
            <a:off x="777240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" name="Shape 19"/>
          <p:cNvSpPr/>
          <p:nvPr/>
        </p:nvSpPr>
        <p:spPr>
          <a:xfrm>
            <a:off x="800100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 20"/>
          <p:cNvSpPr/>
          <p:nvPr/>
        </p:nvSpPr>
        <p:spPr>
          <a:xfrm>
            <a:off x="804672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Fix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" name="Shape 21"/>
          <p:cNvSpPr/>
          <p:nvPr/>
        </p:nvSpPr>
        <p:spPr>
          <a:xfrm>
            <a:off x="927216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" name="Shape 22"/>
          <p:cNvSpPr/>
          <p:nvPr/>
        </p:nvSpPr>
        <p:spPr>
          <a:xfrm>
            <a:off x="950076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23"/>
          <p:cNvSpPr/>
          <p:nvPr/>
        </p:nvSpPr>
        <p:spPr>
          <a:xfrm>
            <a:off x="954648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Takeaway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Single-node K3s assumption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Designing exercises for the real lab environment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We can demonstrate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We discuss, not lab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 lifecycle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ImagePullBackOff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CrashLoopBackOff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Readiness failures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emptyDir and RWO PVC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Quota and OOMKilled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Multi-node RWO attach conflicts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RWX storage implementation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Production-grade PostgreSQL HA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NetworkPolicy deep dive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Full CI/CD pipeline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Recommended schedule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Timing and workshop flow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" name="Shape 4"/>
          <p:cNvSpPr/>
          <p:nvPr/>
        </p:nvSpPr>
        <p:spPr>
          <a:xfrm>
            <a:off x="731520" y="1325880"/>
            <a:ext cx="1047240" cy="434520"/>
          </a:xfrm>
          <a:prstGeom prst="roundRect">
            <a:avLst>
              <a:gd name="adj" fmla="val 10417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" name="Text 5"/>
          <p:cNvSpPr/>
          <p:nvPr/>
        </p:nvSpPr>
        <p:spPr>
          <a:xfrm>
            <a:off x="804600" y="1472040"/>
            <a:ext cx="891720" cy="13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Day 1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 6"/>
          <p:cNvSpPr/>
          <p:nvPr/>
        </p:nvSpPr>
        <p:spPr>
          <a:xfrm>
            <a:off x="2011680" y="1398960"/>
            <a:ext cx="365328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Build and first failures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 7"/>
          <p:cNvSpPr/>
          <p:nvPr/>
        </p:nvSpPr>
        <p:spPr>
          <a:xfrm>
            <a:off x="5806440" y="1417320"/>
            <a:ext cx="529920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CBD5E1"/>
                </a:solidFill>
                <a:effectLst/>
                <a:uFillTx/>
                <a:latin typeface="Aptos"/>
              </a:rPr>
              <a:t>Images, Deployment, Service, ImagePullBackOff, CrashLoopBackOff, readiness.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" name="Shape 8"/>
          <p:cNvSpPr/>
          <p:nvPr/>
        </p:nvSpPr>
        <p:spPr>
          <a:xfrm>
            <a:off x="731520" y="1938600"/>
            <a:ext cx="1047240" cy="434520"/>
          </a:xfrm>
          <a:prstGeom prst="roundRect">
            <a:avLst>
              <a:gd name="adj" fmla="val 10417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 9"/>
          <p:cNvSpPr/>
          <p:nvPr/>
        </p:nvSpPr>
        <p:spPr>
          <a:xfrm>
            <a:off x="804600" y="2084760"/>
            <a:ext cx="891720" cy="13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Day 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 10"/>
          <p:cNvSpPr/>
          <p:nvPr/>
        </p:nvSpPr>
        <p:spPr>
          <a:xfrm>
            <a:off x="2011680" y="2011680"/>
            <a:ext cx="365328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Production-like application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0" name="Text 11"/>
          <p:cNvSpPr/>
          <p:nvPr/>
        </p:nvSpPr>
        <p:spPr>
          <a:xfrm>
            <a:off x="5806440" y="2030040"/>
            <a:ext cx="529920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CBD5E1"/>
                </a:solidFill>
                <a:effectLst/>
                <a:uFillTx/>
                <a:latin typeface="Aptos"/>
              </a:rPr>
              <a:t>PostgreSQL, migration Job, volumes, distroless, resources, quotas, OOMKilled.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1" name="Shape 12"/>
          <p:cNvSpPr/>
          <p:nvPr/>
        </p:nvSpPr>
        <p:spPr>
          <a:xfrm>
            <a:off x="731520" y="2551320"/>
            <a:ext cx="1047240" cy="434520"/>
          </a:xfrm>
          <a:prstGeom prst="roundRect">
            <a:avLst>
              <a:gd name="adj" fmla="val 10417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 13"/>
          <p:cNvSpPr/>
          <p:nvPr/>
        </p:nvSpPr>
        <p:spPr>
          <a:xfrm>
            <a:off x="804600" y="2697480"/>
            <a:ext cx="891720" cy="13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Day 3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 14"/>
          <p:cNvSpPr/>
          <p:nvPr/>
        </p:nvSpPr>
        <p:spPr>
          <a:xfrm>
            <a:off x="2011680" y="2624400"/>
            <a:ext cx="365328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Playbook and combined cases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 15"/>
          <p:cNvSpPr/>
          <p:nvPr/>
        </p:nvSpPr>
        <p:spPr>
          <a:xfrm>
            <a:off x="5806440" y="2642760"/>
            <a:ext cx="529920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CBD5E1"/>
                </a:solidFill>
                <a:effectLst/>
                <a:uFillTx/>
                <a:latin typeface="Aptos"/>
              </a:rPr>
              <a:t>Decision tree, team exercise, dev/platform responsibility split.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 2"/>
          <p:cNvSpPr/>
          <p:nvPr/>
        </p:nvSpPr>
        <p:spPr>
          <a:xfrm>
            <a:off x="658440" y="2148840"/>
            <a:ext cx="10602720" cy="72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2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 3"/>
          <p:cNvSpPr/>
          <p:nvPr/>
        </p:nvSpPr>
        <p:spPr>
          <a:xfrm>
            <a:off x="676800" y="2953440"/>
            <a:ext cx="959688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VM setup and K3s installation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9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2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Recommended lab VM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One VM per participant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VM shape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Why this shape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4 vCPU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8 GB RAM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40 GB disk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Ubuntu 24.04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Single-node K3s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Enough room for K3s + Docker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PostgreSQL and several Pods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Build cache without immediate disk pressure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Room for OOMKilled lab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Predictable participant experience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0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Install K3s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1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Basic single-node installation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2" name="Shape 4"/>
          <p:cNvSpPr/>
          <p:nvPr/>
        </p:nvSpPr>
        <p:spPr>
          <a:xfrm>
            <a:off x="685800" y="1417320"/>
            <a:ext cx="10877040" cy="45676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 5"/>
          <p:cNvSpPr/>
          <p:nvPr/>
        </p:nvSpPr>
        <p:spPr>
          <a:xfrm>
            <a:off x="850320" y="1563480"/>
            <a:ext cx="10557000" cy="42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-sfL https://get.k3s.io | sh -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systemctl status k3s --no-pager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kubectl get nodes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For the workshop user: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mkdir -p /home/k8s/.kube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cp /etc/rancher/k3s/k3s.yaml /home/k8s/.kube/config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chown -R k8s:k8s /home/k8s/.kube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Install K3s behind a proxy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7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Export proxy variables before running the installer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8" name="Shape 4"/>
          <p:cNvSpPr/>
          <p:nvPr/>
        </p:nvSpPr>
        <p:spPr>
          <a:xfrm>
            <a:off x="685800" y="1417320"/>
            <a:ext cx="10877040" cy="45676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 5"/>
          <p:cNvSpPr/>
          <p:nvPr/>
        </p:nvSpPr>
        <p:spPr>
          <a:xfrm>
            <a:off x="850320" y="1563480"/>
            <a:ext cx="10557000" cy="42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export HTTP_PROXY=http://proxy.example.com:3128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export HTTPS_PROXY=http://proxy.example.com:3128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export NO_PROXY=localhost,127.0.0.1,10.42.0.0/16,10.43.0.0/16,.svc,.cluster.local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-sfL https://get.k3s.io | sh -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cat /etc/systemd/system/k3s.service.env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systemctl restart k3s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Docker proxy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3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Docker daemon and Docker build need proxy separately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4" name="Shape 4"/>
          <p:cNvSpPr/>
          <p:nvPr/>
        </p:nvSpPr>
        <p:spPr>
          <a:xfrm>
            <a:off x="685800" y="1417320"/>
            <a:ext cx="10877040" cy="45676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 5"/>
          <p:cNvSpPr/>
          <p:nvPr/>
        </p:nvSpPr>
        <p:spPr>
          <a:xfrm>
            <a:off x="850320" y="1563480"/>
            <a:ext cx="10557000" cy="42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mkdir -p /etc/systemd/system/docker.service.d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tee /etc/systemd/system/docker.service.d/http-proxy.conf &lt;&lt;EOF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[Service]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Environment="HTTP_PROXY=http://proxy.example.com:3128"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Environment="HTTPS_PROXY=http://proxy.example.com:3128"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Environment="NO_PROXY=localhost,127.0.0.1,.svc,.cluster.local,10.42.0.0/16,10.43.0.0/16"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EOF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systemctl daemon-reload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systemctl restart docker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docker info | grep -i proxy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8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Environment validation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9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Run before the workshop starts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Commands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1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Expected result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2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get nodes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get pods -A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docker ps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docker compose version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df -h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free -h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3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Node is Ready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K3s system Pods are Running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Docker command works without sudo or after newgrp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Enough disk space left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Proxy pulls images successfully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Shape 102"/>
          <p:cNvSpPr/>
          <p:nvPr/>
        </p:nvSpPr>
        <p:spPr>
          <a:xfrm>
            <a:off x="0" y="0"/>
            <a:ext cx="12188880" cy="6855120"/>
          </a:xfrm>
          <a:prstGeom prst="rect">
            <a:avLst/>
          </a:prstGeom>
          <a:solidFill>
            <a:srgbClr val="071626"/>
          </a:solidFill>
          <a:ln w="12700">
            <a:solidFill>
              <a:srgbClr val="071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5" name="Shape 103"/>
          <p:cNvSpPr/>
          <p:nvPr/>
        </p:nvSpPr>
        <p:spPr>
          <a:xfrm>
            <a:off x="502920" y="6327360"/>
            <a:ext cx="11201400" cy="360"/>
          </a:xfrm>
          <a:prstGeom prst="line">
            <a:avLst/>
          </a:prstGeom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6" name="Text 126"/>
          <p:cNvSpPr/>
          <p:nvPr/>
        </p:nvSpPr>
        <p:spPr>
          <a:xfrm>
            <a:off x="548640" y="6419160"/>
            <a:ext cx="411192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A7C3D7"/>
                </a:solidFill>
                <a:effectLst/>
                <a:uFillTx/>
                <a:latin typeface="Aptos"/>
                <a:ea typeface="Aptos"/>
              </a:rPr>
              <a:t>Module 3/4 bridge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 127"/>
          <p:cNvSpPr/>
          <p:nvPr/>
        </p:nvSpPr>
        <p:spPr>
          <a:xfrm>
            <a:off x="567000" y="960120"/>
            <a:ext cx="749520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200" b="1" u="none" strike="noStrike">
                <a:solidFill>
                  <a:srgbClr val="F4FAFF"/>
                </a:solidFill>
                <a:effectLst/>
                <a:uFillTx/>
                <a:latin typeface="Aptos Display"/>
                <a:ea typeface="Aptos Display"/>
              </a:rPr>
              <a:t>Nginx quick start</a:t>
            </a:r>
            <a:endParaRPr lang="en-US" sz="4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8" name="Text 128"/>
          <p:cNvSpPr/>
          <p:nvPr/>
        </p:nvSpPr>
        <p:spPr>
          <a:xfrm>
            <a:off x="594360" y="1682640"/>
            <a:ext cx="804384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A7C3D7"/>
                </a:solidFill>
                <a:effectLst/>
                <a:uFillTx/>
                <a:latin typeface="Aptos"/>
              </a:rPr>
              <a:t>A small hands-on warm-up before the Flask workshop application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9" name="Shape 104"/>
          <p:cNvSpPr/>
          <p:nvPr/>
        </p:nvSpPr>
        <p:spPr>
          <a:xfrm>
            <a:off x="658440" y="2331720"/>
            <a:ext cx="1414440" cy="381240"/>
          </a:xfrm>
          <a:prstGeom prst="roundRect">
            <a:avLst>
              <a:gd name="adj" fmla="val 42857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0" name="Text 129"/>
          <p:cNvSpPr/>
          <p:nvPr/>
        </p:nvSpPr>
        <p:spPr>
          <a:xfrm>
            <a:off x="658440" y="2414160"/>
            <a:ext cx="1414440" cy="16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Docker run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1" name="Shape 105"/>
          <p:cNvSpPr/>
          <p:nvPr/>
        </p:nvSpPr>
        <p:spPr>
          <a:xfrm>
            <a:off x="2240280" y="2331720"/>
            <a:ext cx="1688760" cy="381240"/>
          </a:xfrm>
          <a:prstGeom prst="roundRect">
            <a:avLst>
              <a:gd name="adj" fmla="val 42857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130"/>
          <p:cNvSpPr/>
          <p:nvPr/>
        </p:nvSpPr>
        <p:spPr>
          <a:xfrm>
            <a:off x="2240280" y="2414160"/>
            <a:ext cx="1688760" cy="16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K3s namespace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3" name="Shape 106"/>
          <p:cNvSpPr/>
          <p:nvPr/>
        </p:nvSpPr>
        <p:spPr>
          <a:xfrm>
            <a:off x="4096440" y="2331720"/>
            <a:ext cx="820080" cy="381240"/>
          </a:xfrm>
          <a:prstGeom prst="roundRect">
            <a:avLst>
              <a:gd name="adj" fmla="val 42857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4" name="Text 131"/>
          <p:cNvSpPr/>
          <p:nvPr/>
        </p:nvSpPr>
        <p:spPr>
          <a:xfrm>
            <a:off x="4096440" y="2414160"/>
            <a:ext cx="820080" cy="16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Pod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5" name="Shape 107"/>
          <p:cNvSpPr/>
          <p:nvPr/>
        </p:nvSpPr>
        <p:spPr>
          <a:xfrm>
            <a:off x="5102280" y="2331720"/>
            <a:ext cx="957240" cy="381240"/>
          </a:xfrm>
          <a:prstGeom prst="roundRect">
            <a:avLst>
              <a:gd name="adj" fmla="val 42857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 132"/>
          <p:cNvSpPr/>
          <p:nvPr/>
        </p:nvSpPr>
        <p:spPr>
          <a:xfrm>
            <a:off x="5102280" y="2414160"/>
            <a:ext cx="957240" cy="16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Service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7" name="Shape 108"/>
          <p:cNvSpPr/>
          <p:nvPr/>
        </p:nvSpPr>
        <p:spPr>
          <a:xfrm>
            <a:off x="6272640" y="2331720"/>
            <a:ext cx="1505880" cy="381240"/>
          </a:xfrm>
          <a:prstGeom prst="roundRect">
            <a:avLst>
              <a:gd name="adj" fmla="val 42857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8" name="Text 133"/>
          <p:cNvSpPr/>
          <p:nvPr/>
        </p:nvSpPr>
        <p:spPr>
          <a:xfrm>
            <a:off x="6272640" y="2414160"/>
            <a:ext cx="1505880" cy="16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Port-forward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9" name="Shape 109"/>
          <p:cNvSpPr/>
          <p:nvPr/>
        </p:nvSpPr>
        <p:spPr>
          <a:xfrm>
            <a:off x="731520" y="3063240"/>
            <a:ext cx="10741320" cy="1734480"/>
          </a:xfrm>
          <a:prstGeom prst="roundRect">
            <a:avLst>
              <a:gd name="adj" fmla="val 4211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0" name="Text 134"/>
          <p:cNvSpPr/>
          <p:nvPr/>
        </p:nvSpPr>
        <p:spPr>
          <a:xfrm>
            <a:off x="932760" y="3227760"/>
            <a:ext cx="10338840" cy="147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docker run -d --name nginx-demo -p 8080:80 nginx:latest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create namespace nginx-demo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run nginx --image=nginx --port=80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135"/>
          <p:cNvSpPr/>
          <p:nvPr/>
        </p:nvSpPr>
        <p:spPr>
          <a:xfrm>
            <a:off x="749880" y="5166360"/>
            <a:ext cx="968976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Goal: prove that participants can start a container locally and then run the same image in Kubernetes.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Shape 110"/>
          <p:cNvSpPr/>
          <p:nvPr/>
        </p:nvSpPr>
        <p:spPr>
          <a:xfrm>
            <a:off x="0" y="0"/>
            <a:ext cx="12188880" cy="6855120"/>
          </a:xfrm>
          <a:prstGeom prst="rect">
            <a:avLst/>
          </a:prstGeom>
          <a:solidFill>
            <a:srgbClr val="071626"/>
          </a:solidFill>
          <a:ln w="12700">
            <a:solidFill>
              <a:srgbClr val="071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3" name="Shape 111"/>
          <p:cNvSpPr/>
          <p:nvPr/>
        </p:nvSpPr>
        <p:spPr>
          <a:xfrm>
            <a:off x="502920" y="6327360"/>
            <a:ext cx="11201400" cy="360"/>
          </a:xfrm>
          <a:prstGeom prst="line">
            <a:avLst/>
          </a:prstGeom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4" name="Text 136"/>
          <p:cNvSpPr/>
          <p:nvPr/>
        </p:nvSpPr>
        <p:spPr>
          <a:xfrm>
            <a:off x="548640" y="6419160"/>
            <a:ext cx="411192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A7C3D7"/>
                </a:solidFill>
                <a:effectLst/>
                <a:uFillTx/>
                <a:latin typeface="Aptos"/>
                <a:ea typeface="Aptos"/>
              </a:rPr>
              <a:t>Docker warm-up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5" name="Text 137"/>
          <p:cNvSpPr/>
          <p:nvPr/>
        </p:nvSpPr>
        <p:spPr>
          <a:xfrm>
            <a:off x="548640" y="411480"/>
            <a:ext cx="1106136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4FAFF"/>
                </a:solidFill>
                <a:effectLst/>
                <a:uFillTx/>
                <a:latin typeface="Aptos Display"/>
                <a:ea typeface="Aptos Display"/>
              </a:rPr>
              <a:t>Run nginx with Docker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 138"/>
          <p:cNvSpPr/>
          <p:nvPr/>
        </p:nvSpPr>
        <p:spPr>
          <a:xfrm>
            <a:off x="567000" y="987480"/>
            <a:ext cx="1060416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A7C3D7"/>
                </a:solidFill>
                <a:effectLst/>
                <a:uFillTx/>
                <a:latin typeface="Aptos"/>
              </a:rPr>
              <a:t>A minimal local container run: image, container, port mapping.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7" name="Shape 112"/>
          <p:cNvSpPr/>
          <p:nvPr/>
        </p:nvSpPr>
        <p:spPr>
          <a:xfrm>
            <a:off x="658440" y="1600200"/>
            <a:ext cx="6882840" cy="1917360"/>
          </a:xfrm>
          <a:prstGeom prst="roundRect">
            <a:avLst>
              <a:gd name="adj" fmla="val 3810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8" name="Text 139"/>
          <p:cNvSpPr/>
          <p:nvPr/>
        </p:nvSpPr>
        <p:spPr>
          <a:xfrm>
            <a:off x="859680" y="1764720"/>
            <a:ext cx="6224400" cy="166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docker run -d --name nginx-demo -p 8080:80 nginx:latest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9" name="Shape 113"/>
          <p:cNvSpPr/>
          <p:nvPr/>
        </p:nvSpPr>
        <p:spPr>
          <a:xfrm>
            <a:off x="7772400" y="1600200"/>
            <a:ext cx="3746160" cy="1917360"/>
          </a:xfrm>
          <a:prstGeom prst="roundRect">
            <a:avLst>
              <a:gd name="adj" fmla="val 3810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0" name="Text 140"/>
          <p:cNvSpPr/>
          <p:nvPr/>
        </p:nvSpPr>
        <p:spPr>
          <a:xfrm>
            <a:off x="8229600" y="1764720"/>
            <a:ext cx="3087720" cy="166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curl http://localhost:8080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docker ps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docker logs nginx-demo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docker rm -f nginx-demo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1" name="Text 141"/>
          <p:cNvSpPr/>
          <p:nvPr/>
        </p:nvSpPr>
        <p:spPr>
          <a:xfrm>
            <a:off x="685800" y="3977640"/>
            <a:ext cx="274032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What this demonstrates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2" name="Text 142"/>
          <p:cNvSpPr/>
          <p:nvPr/>
        </p:nvSpPr>
        <p:spPr>
          <a:xfrm>
            <a:off x="822960" y="4462200"/>
            <a:ext cx="5666400" cy="10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1  Image is pulled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2  Container starts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3  Host port maps to container port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4  HTTP responds on localhost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3" name="Shape 114"/>
          <p:cNvSpPr/>
          <p:nvPr/>
        </p:nvSpPr>
        <p:spPr>
          <a:xfrm>
            <a:off x="6995160" y="4343400"/>
            <a:ext cx="4066200" cy="957240"/>
          </a:xfrm>
          <a:prstGeom prst="roundRect">
            <a:avLst>
              <a:gd name="adj" fmla="val 11429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4" name="Text 143"/>
          <p:cNvSpPr/>
          <p:nvPr/>
        </p:nvSpPr>
        <p:spPr>
          <a:xfrm>
            <a:off x="7269480" y="4681800"/>
            <a:ext cx="3471840" cy="2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3DDC97"/>
                </a:solidFill>
                <a:effectLst/>
                <a:uFillTx/>
                <a:latin typeface="Aptos"/>
              </a:rPr>
              <a:t>Local success before Kubernetes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Shape 115"/>
          <p:cNvSpPr/>
          <p:nvPr/>
        </p:nvSpPr>
        <p:spPr>
          <a:xfrm>
            <a:off x="0" y="0"/>
            <a:ext cx="12189240" cy="6855480"/>
          </a:xfrm>
          <a:prstGeom prst="rect">
            <a:avLst/>
          </a:prstGeom>
          <a:solidFill>
            <a:srgbClr val="071626"/>
          </a:solidFill>
          <a:ln w="12700">
            <a:solidFill>
              <a:srgbClr val="071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6" name="Shape 116"/>
          <p:cNvSpPr/>
          <p:nvPr/>
        </p:nvSpPr>
        <p:spPr>
          <a:xfrm>
            <a:off x="502920" y="6327360"/>
            <a:ext cx="11201400" cy="360"/>
          </a:xfrm>
          <a:prstGeom prst="line">
            <a:avLst/>
          </a:prstGeom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7" name="Text 144"/>
          <p:cNvSpPr/>
          <p:nvPr/>
        </p:nvSpPr>
        <p:spPr>
          <a:xfrm>
            <a:off x="548640" y="6419160"/>
            <a:ext cx="41122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A7C3D7"/>
                </a:solidFill>
                <a:effectLst/>
                <a:uFillTx/>
                <a:latin typeface="Aptos"/>
                <a:ea typeface="Aptos"/>
              </a:rPr>
              <a:t>Docker warm-up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8" name="Text 145"/>
          <p:cNvSpPr/>
          <p:nvPr/>
        </p:nvSpPr>
        <p:spPr>
          <a:xfrm>
            <a:off x="548640" y="411480"/>
            <a:ext cx="1106172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4FAFF"/>
                </a:solidFill>
                <a:effectLst/>
                <a:uFillTx/>
                <a:latin typeface="Aptos Display"/>
                <a:ea typeface="Aptos Display"/>
              </a:rPr>
              <a:t>Docker command anatomy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9" name="Text 146"/>
          <p:cNvSpPr/>
          <p:nvPr/>
        </p:nvSpPr>
        <p:spPr>
          <a:xfrm>
            <a:off x="567000" y="987480"/>
            <a:ext cx="1060452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A7C3D7"/>
                </a:solidFill>
                <a:effectLst/>
                <a:uFillTx/>
                <a:latin typeface="Aptos"/>
              </a:rPr>
              <a:t>Keep the mental model simple before moving to Kubernetes.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0" name="Shape 117"/>
          <p:cNvSpPr/>
          <p:nvPr/>
        </p:nvSpPr>
        <p:spPr>
          <a:xfrm>
            <a:off x="685800" y="1463040"/>
            <a:ext cx="10787400" cy="710640"/>
          </a:xfrm>
          <a:prstGeom prst="roundRect">
            <a:avLst>
              <a:gd name="adj" fmla="val 10256"/>
            </a:avLst>
          </a:prstGeom>
          <a:solidFill>
            <a:srgbClr val="06111D"/>
          </a:solidFill>
          <a:ln w="13970">
            <a:solidFill>
              <a:srgbClr val="32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1" name="Text 147"/>
          <p:cNvSpPr/>
          <p:nvPr/>
        </p:nvSpPr>
        <p:spPr>
          <a:xfrm>
            <a:off x="887040" y="1627560"/>
            <a:ext cx="1038492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docker run -d --name nginx-demo -p 8080:80 nginx:latest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2" name="Shape 118"/>
          <p:cNvSpPr/>
          <p:nvPr/>
        </p:nvSpPr>
        <p:spPr>
          <a:xfrm>
            <a:off x="822960" y="2788920"/>
            <a:ext cx="2832120" cy="436320"/>
          </a:xfrm>
          <a:prstGeom prst="roundRect">
            <a:avLst>
              <a:gd name="adj" fmla="val 25000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3" name="Text 148"/>
          <p:cNvSpPr/>
          <p:nvPr/>
        </p:nvSpPr>
        <p:spPr>
          <a:xfrm>
            <a:off x="969120" y="2898720"/>
            <a:ext cx="255780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55E6FF"/>
                </a:solidFill>
                <a:effectLst/>
                <a:uFillTx/>
                <a:latin typeface="Aptos Mono"/>
                <a:ea typeface="Aptos Mono"/>
              </a:rPr>
              <a:t>-d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 149"/>
          <p:cNvSpPr/>
          <p:nvPr/>
        </p:nvSpPr>
        <p:spPr>
          <a:xfrm>
            <a:off x="3977640" y="2880360"/>
            <a:ext cx="6215400" cy="21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Run in the background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5" name="Shape 119"/>
          <p:cNvSpPr/>
          <p:nvPr/>
        </p:nvSpPr>
        <p:spPr>
          <a:xfrm>
            <a:off x="822960" y="3474720"/>
            <a:ext cx="2832120" cy="436320"/>
          </a:xfrm>
          <a:prstGeom prst="roundRect">
            <a:avLst>
              <a:gd name="adj" fmla="val 25000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6" name="Text 150"/>
          <p:cNvSpPr/>
          <p:nvPr/>
        </p:nvSpPr>
        <p:spPr>
          <a:xfrm>
            <a:off x="969120" y="3584520"/>
            <a:ext cx="255780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55E6FF"/>
                </a:solidFill>
                <a:effectLst/>
                <a:uFillTx/>
                <a:latin typeface="Aptos Mono"/>
                <a:ea typeface="Aptos Mono"/>
              </a:rPr>
              <a:t>--name nginx-demo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 151"/>
          <p:cNvSpPr/>
          <p:nvPr/>
        </p:nvSpPr>
        <p:spPr>
          <a:xfrm>
            <a:off x="3977640" y="3566160"/>
            <a:ext cx="6215400" cy="21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Give the container a human-readable name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8" name="Shape 120"/>
          <p:cNvSpPr/>
          <p:nvPr/>
        </p:nvSpPr>
        <p:spPr>
          <a:xfrm>
            <a:off x="822960" y="4160520"/>
            <a:ext cx="2832120" cy="436320"/>
          </a:xfrm>
          <a:prstGeom prst="roundRect">
            <a:avLst>
              <a:gd name="adj" fmla="val 25000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9" name="Text 152"/>
          <p:cNvSpPr/>
          <p:nvPr/>
        </p:nvSpPr>
        <p:spPr>
          <a:xfrm>
            <a:off x="969120" y="4270320"/>
            <a:ext cx="255780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55E6FF"/>
                </a:solidFill>
                <a:effectLst/>
                <a:uFillTx/>
                <a:latin typeface="Aptos Mono"/>
                <a:ea typeface="Aptos Mono"/>
              </a:rPr>
              <a:t>-p 8080:80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 153"/>
          <p:cNvSpPr/>
          <p:nvPr/>
        </p:nvSpPr>
        <p:spPr>
          <a:xfrm>
            <a:off x="3977640" y="4251960"/>
            <a:ext cx="6215400" cy="21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Host port 8080 → container port 80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1" name="Shape 121"/>
          <p:cNvSpPr/>
          <p:nvPr/>
        </p:nvSpPr>
        <p:spPr>
          <a:xfrm>
            <a:off x="822960" y="4846320"/>
            <a:ext cx="2832120" cy="436320"/>
          </a:xfrm>
          <a:prstGeom prst="roundRect">
            <a:avLst>
              <a:gd name="adj" fmla="val 25000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2" name="Text 154"/>
          <p:cNvSpPr/>
          <p:nvPr/>
        </p:nvSpPr>
        <p:spPr>
          <a:xfrm>
            <a:off x="969120" y="4956120"/>
            <a:ext cx="255780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55E6FF"/>
                </a:solidFill>
                <a:effectLst/>
                <a:uFillTx/>
                <a:latin typeface="Aptos Mono"/>
                <a:ea typeface="Aptos Mono"/>
              </a:rPr>
              <a:t>nginx:latest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3" name="Text 155"/>
          <p:cNvSpPr/>
          <p:nvPr/>
        </p:nvSpPr>
        <p:spPr>
          <a:xfrm>
            <a:off x="3977640" y="4937760"/>
            <a:ext cx="6215400" cy="21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Image name and tag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4" name="Text 156"/>
          <p:cNvSpPr/>
          <p:nvPr/>
        </p:nvSpPr>
        <p:spPr>
          <a:xfrm>
            <a:off x="749880" y="5806440"/>
            <a:ext cx="97815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B454"/>
                </a:solidFill>
                <a:effectLst/>
                <a:uFillTx/>
                <a:latin typeface="Aptos"/>
              </a:rPr>
              <a:t>Next: Kubernetes will run the same image, but the objects are different.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Shape 122"/>
          <p:cNvSpPr/>
          <p:nvPr/>
        </p:nvSpPr>
        <p:spPr>
          <a:xfrm>
            <a:off x="0" y="0"/>
            <a:ext cx="12189240" cy="6855480"/>
          </a:xfrm>
          <a:prstGeom prst="rect">
            <a:avLst/>
          </a:prstGeom>
          <a:solidFill>
            <a:srgbClr val="071626"/>
          </a:solidFill>
          <a:ln w="12700">
            <a:solidFill>
              <a:srgbClr val="071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6" name="Shape 123"/>
          <p:cNvSpPr/>
          <p:nvPr/>
        </p:nvSpPr>
        <p:spPr>
          <a:xfrm>
            <a:off x="502920" y="6327360"/>
            <a:ext cx="11201400" cy="360"/>
          </a:xfrm>
          <a:prstGeom prst="line">
            <a:avLst/>
          </a:prstGeom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7" name="Text 157"/>
          <p:cNvSpPr/>
          <p:nvPr/>
        </p:nvSpPr>
        <p:spPr>
          <a:xfrm>
            <a:off x="548640" y="6419160"/>
            <a:ext cx="41122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A7C3D7"/>
                </a:solidFill>
                <a:effectLst/>
                <a:uFillTx/>
                <a:latin typeface="Aptos"/>
                <a:ea typeface="Aptos"/>
              </a:rPr>
              <a:t>K3s smoke test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 158"/>
          <p:cNvSpPr/>
          <p:nvPr/>
        </p:nvSpPr>
        <p:spPr>
          <a:xfrm>
            <a:off x="548640" y="411480"/>
            <a:ext cx="1106172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4FAFF"/>
                </a:solidFill>
                <a:effectLst/>
                <a:uFillTx/>
                <a:latin typeface="Aptos Display"/>
                <a:ea typeface="Aptos Display"/>
              </a:rPr>
              <a:t>K8S – quick: Step 1 — Create a namespace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9" name="Text 159"/>
          <p:cNvSpPr/>
          <p:nvPr/>
        </p:nvSpPr>
        <p:spPr>
          <a:xfrm>
            <a:off x="567000" y="987480"/>
            <a:ext cx="1060452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A7C3D7"/>
                </a:solidFill>
                <a:effectLst/>
                <a:uFillTx/>
                <a:latin typeface="Aptos"/>
              </a:rPr>
              <a:t>Use a small isolated namespace for the nginx warm-up.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0" name="Shape 124"/>
          <p:cNvSpPr/>
          <p:nvPr/>
        </p:nvSpPr>
        <p:spPr>
          <a:xfrm>
            <a:off x="731520" y="1554480"/>
            <a:ext cx="10467720" cy="1826280"/>
          </a:xfrm>
          <a:prstGeom prst="roundRect">
            <a:avLst>
              <a:gd name="adj" fmla="val 4000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1" name="Text 160"/>
          <p:cNvSpPr/>
          <p:nvPr/>
        </p:nvSpPr>
        <p:spPr>
          <a:xfrm>
            <a:off x="932760" y="1719000"/>
            <a:ext cx="10037880" cy="157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create namespace nginx-demo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get namespaces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config set-context --current --namespace=nginx-demo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2" name="Text 161"/>
          <p:cNvSpPr/>
          <p:nvPr/>
        </p:nvSpPr>
        <p:spPr>
          <a:xfrm>
            <a:off x="6629400" y="3657600"/>
            <a:ext cx="4386600" cy="68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Why namespace first?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3" name="Text 162"/>
          <p:cNvSpPr/>
          <p:nvPr/>
        </p:nvSpPr>
        <p:spPr>
          <a:xfrm>
            <a:off x="6629400" y="4298040"/>
            <a:ext cx="4660920" cy="118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keeps lab objects separate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makes cleanup easy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avoids touching the main workshop namespace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4" name="Shape 125"/>
          <p:cNvSpPr/>
          <p:nvPr/>
        </p:nvSpPr>
        <p:spPr>
          <a:xfrm>
            <a:off x="914400" y="4251960"/>
            <a:ext cx="5209560" cy="1094760"/>
          </a:xfrm>
          <a:prstGeom prst="roundRect">
            <a:avLst>
              <a:gd name="adj" fmla="val 6667"/>
            </a:avLst>
          </a:prstGeom>
          <a:solidFill>
            <a:srgbClr val="0B1D2B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5" name="Text 163"/>
          <p:cNvSpPr/>
          <p:nvPr/>
        </p:nvSpPr>
        <p:spPr>
          <a:xfrm>
            <a:off x="1115640" y="4416480"/>
            <a:ext cx="4807080" cy="83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Cleanup later: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delete namespace nginx-demo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Shape 126"/>
          <p:cNvSpPr/>
          <p:nvPr/>
        </p:nvSpPr>
        <p:spPr>
          <a:xfrm>
            <a:off x="0" y="0"/>
            <a:ext cx="12189240" cy="6855480"/>
          </a:xfrm>
          <a:prstGeom prst="rect">
            <a:avLst/>
          </a:prstGeom>
          <a:solidFill>
            <a:srgbClr val="071626"/>
          </a:solidFill>
          <a:ln w="12700">
            <a:solidFill>
              <a:srgbClr val="071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7" name="Shape 127"/>
          <p:cNvSpPr/>
          <p:nvPr/>
        </p:nvSpPr>
        <p:spPr>
          <a:xfrm>
            <a:off x="502920" y="6327360"/>
            <a:ext cx="11201400" cy="360"/>
          </a:xfrm>
          <a:prstGeom prst="line">
            <a:avLst/>
          </a:prstGeom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8" name="Text 164"/>
          <p:cNvSpPr/>
          <p:nvPr/>
        </p:nvSpPr>
        <p:spPr>
          <a:xfrm>
            <a:off x="548640" y="6419160"/>
            <a:ext cx="41122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A7C3D7"/>
                </a:solidFill>
                <a:effectLst/>
                <a:uFillTx/>
                <a:latin typeface="Aptos"/>
                <a:ea typeface="Aptos"/>
              </a:rPr>
              <a:t>K3s smoke test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9" name="Text 165"/>
          <p:cNvSpPr/>
          <p:nvPr/>
        </p:nvSpPr>
        <p:spPr>
          <a:xfrm>
            <a:off x="548640" y="411480"/>
            <a:ext cx="1106172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4FAFF"/>
                </a:solidFill>
                <a:effectLst/>
                <a:uFillTx/>
                <a:latin typeface="Aptos Display"/>
                <a:ea typeface="Aptos Display"/>
              </a:rPr>
              <a:t>K8S - quick: Step 2 — Run nginx as a Pod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0" name="Text 166"/>
          <p:cNvSpPr/>
          <p:nvPr/>
        </p:nvSpPr>
        <p:spPr>
          <a:xfrm>
            <a:off x="567000" y="987480"/>
            <a:ext cx="1060452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A7C3D7"/>
                </a:solidFill>
                <a:effectLst/>
                <a:uFillTx/>
                <a:latin typeface="Aptos"/>
              </a:rPr>
              <a:t>This is intentionally simple: one Pod, no Deployment yet.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1" name="Shape 128"/>
          <p:cNvSpPr/>
          <p:nvPr/>
        </p:nvSpPr>
        <p:spPr>
          <a:xfrm>
            <a:off x="685800" y="1536120"/>
            <a:ext cx="9827640" cy="747720"/>
          </a:xfrm>
          <a:prstGeom prst="roundRect">
            <a:avLst>
              <a:gd name="adj" fmla="val 5161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2" name="Text 167"/>
          <p:cNvSpPr/>
          <p:nvPr/>
        </p:nvSpPr>
        <p:spPr>
          <a:xfrm>
            <a:off x="887040" y="1600200"/>
            <a:ext cx="9397800" cy="68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run nginx --image=nginx:latest --port=80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3" name="Shape 129"/>
          <p:cNvSpPr/>
          <p:nvPr/>
        </p:nvSpPr>
        <p:spPr>
          <a:xfrm flipV="1">
            <a:off x="6602040" y="2509560"/>
            <a:ext cx="4935240" cy="1598040"/>
          </a:xfrm>
          <a:prstGeom prst="roundRect">
            <a:avLst>
              <a:gd name="adj" fmla="val 4324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4" name="Text 168"/>
          <p:cNvSpPr/>
          <p:nvPr/>
        </p:nvSpPr>
        <p:spPr>
          <a:xfrm>
            <a:off x="6803280" y="2514600"/>
            <a:ext cx="4532760" cy="159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get pods -w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describe pod nginx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logs nginx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 169"/>
          <p:cNvSpPr/>
          <p:nvPr/>
        </p:nvSpPr>
        <p:spPr>
          <a:xfrm>
            <a:off x="749880" y="3794760"/>
            <a:ext cx="255780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What to observe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6" name="Shape 130"/>
          <p:cNvSpPr/>
          <p:nvPr/>
        </p:nvSpPr>
        <p:spPr>
          <a:xfrm>
            <a:off x="841320" y="4370760"/>
            <a:ext cx="381600" cy="381600"/>
          </a:xfrm>
          <a:prstGeom prst="ellipse">
            <a:avLst/>
          </a:prstGeom>
          <a:solidFill>
            <a:srgbClr val="32A8FF"/>
          </a:solidFill>
          <a:ln w="12700">
            <a:solidFill>
              <a:srgbClr val="32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Text 170"/>
          <p:cNvSpPr/>
          <p:nvPr/>
        </p:nvSpPr>
        <p:spPr>
          <a:xfrm>
            <a:off x="841320" y="4457880"/>
            <a:ext cx="381600" cy="1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111D"/>
                </a:solidFill>
                <a:effectLst/>
                <a:uFillTx/>
                <a:latin typeface="Aptos"/>
              </a:rPr>
              <a:t>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 171"/>
          <p:cNvSpPr/>
          <p:nvPr/>
        </p:nvSpPr>
        <p:spPr>
          <a:xfrm>
            <a:off x="1344240" y="4407480"/>
            <a:ext cx="2466360" cy="32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ContainerCreating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9" name="Shape 131"/>
          <p:cNvSpPr/>
          <p:nvPr/>
        </p:nvSpPr>
        <p:spPr>
          <a:xfrm>
            <a:off x="2989800" y="4562640"/>
            <a:ext cx="66780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0" name="Shape 132"/>
          <p:cNvSpPr/>
          <p:nvPr/>
        </p:nvSpPr>
        <p:spPr>
          <a:xfrm>
            <a:off x="3822120" y="4370760"/>
            <a:ext cx="381600" cy="381600"/>
          </a:xfrm>
          <a:prstGeom prst="ellipse">
            <a:avLst/>
          </a:prstGeom>
          <a:solidFill>
            <a:srgbClr val="32A8FF"/>
          </a:solidFill>
          <a:ln w="12700">
            <a:solidFill>
              <a:srgbClr val="32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Text 172"/>
          <p:cNvSpPr/>
          <p:nvPr/>
        </p:nvSpPr>
        <p:spPr>
          <a:xfrm>
            <a:off x="3822120" y="4457880"/>
            <a:ext cx="381600" cy="1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111D"/>
                </a:solidFill>
                <a:effectLst/>
                <a:uFillTx/>
                <a:latin typeface="Aptos"/>
              </a:rPr>
              <a:t>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 173"/>
          <p:cNvSpPr/>
          <p:nvPr/>
        </p:nvSpPr>
        <p:spPr>
          <a:xfrm>
            <a:off x="4325040" y="4407480"/>
            <a:ext cx="1826280" cy="32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Running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3" name="Shape 133"/>
          <p:cNvSpPr/>
          <p:nvPr/>
        </p:nvSpPr>
        <p:spPr>
          <a:xfrm>
            <a:off x="5394960" y="4562640"/>
            <a:ext cx="64008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4" name="Shape 134"/>
          <p:cNvSpPr/>
          <p:nvPr/>
        </p:nvSpPr>
        <p:spPr>
          <a:xfrm>
            <a:off x="6199560" y="4370760"/>
            <a:ext cx="381600" cy="381600"/>
          </a:xfrm>
          <a:prstGeom prst="ellipse">
            <a:avLst/>
          </a:prstGeom>
          <a:solidFill>
            <a:srgbClr val="32A8FF"/>
          </a:solidFill>
          <a:ln w="12700">
            <a:solidFill>
              <a:srgbClr val="32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Text 174"/>
          <p:cNvSpPr/>
          <p:nvPr/>
        </p:nvSpPr>
        <p:spPr>
          <a:xfrm>
            <a:off x="6199560" y="4457880"/>
            <a:ext cx="381600" cy="1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111D"/>
                </a:solidFill>
                <a:effectLst/>
                <a:uFillTx/>
                <a:latin typeface="Aptos"/>
              </a:rPr>
              <a:t>3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6" name="Text 175"/>
          <p:cNvSpPr/>
          <p:nvPr/>
        </p:nvSpPr>
        <p:spPr>
          <a:xfrm>
            <a:off x="6702480" y="4407480"/>
            <a:ext cx="1597680" cy="32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Ready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7" name="Text 176"/>
          <p:cNvSpPr/>
          <p:nvPr/>
        </p:nvSpPr>
        <p:spPr>
          <a:xfrm>
            <a:off x="786240" y="5532120"/>
            <a:ext cx="1042164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This is a smoke test of image pulling, scheduling, container start and basic logging.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Shape 135"/>
          <p:cNvSpPr/>
          <p:nvPr/>
        </p:nvSpPr>
        <p:spPr>
          <a:xfrm>
            <a:off x="0" y="0"/>
            <a:ext cx="12189240" cy="6855480"/>
          </a:xfrm>
          <a:prstGeom prst="rect">
            <a:avLst/>
          </a:prstGeom>
          <a:solidFill>
            <a:srgbClr val="071626"/>
          </a:solidFill>
          <a:ln w="12700">
            <a:solidFill>
              <a:srgbClr val="071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9" name="Shape 136"/>
          <p:cNvSpPr/>
          <p:nvPr/>
        </p:nvSpPr>
        <p:spPr>
          <a:xfrm>
            <a:off x="502920" y="6327360"/>
            <a:ext cx="11201400" cy="360"/>
          </a:xfrm>
          <a:prstGeom prst="line">
            <a:avLst/>
          </a:prstGeom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0" name="Text 177"/>
          <p:cNvSpPr/>
          <p:nvPr/>
        </p:nvSpPr>
        <p:spPr>
          <a:xfrm>
            <a:off x="548640" y="6419160"/>
            <a:ext cx="41122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A7C3D7"/>
                </a:solidFill>
                <a:effectLst/>
                <a:uFillTx/>
                <a:latin typeface="Aptos"/>
                <a:ea typeface="Aptos"/>
              </a:rPr>
              <a:t>K3s smoke test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1" name="Text 178"/>
          <p:cNvSpPr/>
          <p:nvPr/>
        </p:nvSpPr>
        <p:spPr>
          <a:xfrm>
            <a:off x="548640" y="411480"/>
            <a:ext cx="1106172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4FAFF"/>
                </a:solidFill>
                <a:effectLst/>
                <a:uFillTx/>
                <a:latin typeface="Aptos Display"/>
                <a:ea typeface="Aptos Display"/>
              </a:rPr>
              <a:t>K8S – quick: Step 3 — Expose the Pod with a Service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2" name="Text 179"/>
          <p:cNvSpPr/>
          <p:nvPr/>
        </p:nvSpPr>
        <p:spPr>
          <a:xfrm>
            <a:off x="567000" y="987480"/>
            <a:ext cx="1060452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A7C3D7"/>
                </a:solidFill>
                <a:effectLst/>
                <a:uFillTx/>
                <a:latin typeface="Aptos"/>
              </a:rPr>
              <a:t>A Service gives the Pod a stable network entry point.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3" name="Shape 137"/>
          <p:cNvSpPr/>
          <p:nvPr/>
        </p:nvSpPr>
        <p:spPr>
          <a:xfrm>
            <a:off x="713160" y="1508760"/>
            <a:ext cx="8885880" cy="546480"/>
          </a:xfrm>
          <a:prstGeom prst="roundRect">
            <a:avLst>
              <a:gd name="adj" fmla="val 4651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4" name="Text 180"/>
          <p:cNvSpPr/>
          <p:nvPr/>
        </p:nvSpPr>
        <p:spPr>
          <a:xfrm>
            <a:off x="914400" y="1508760"/>
            <a:ext cx="937044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expose pod nginx --name=nginx --port=80 --target-port=80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5" name="Shape 138"/>
          <p:cNvSpPr/>
          <p:nvPr/>
        </p:nvSpPr>
        <p:spPr>
          <a:xfrm>
            <a:off x="6537960" y="2286000"/>
            <a:ext cx="5072400" cy="1369440"/>
          </a:xfrm>
          <a:prstGeom prst="roundRect">
            <a:avLst>
              <a:gd name="adj" fmla="val 4651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6" name="Text 181"/>
          <p:cNvSpPr/>
          <p:nvPr/>
        </p:nvSpPr>
        <p:spPr>
          <a:xfrm>
            <a:off x="6739200" y="2286000"/>
            <a:ext cx="4669920" cy="136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get svc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get endpoints nginx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describe svc nginx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7" name="Shape 139"/>
          <p:cNvSpPr/>
          <p:nvPr/>
        </p:nvSpPr>
        <p:spPr>
          <a:xfrm>
            <a:off x="960120" y="4005000"/>
            <a:ext cx="1460520" cy="820440"/>
          </a:xfrm>
          <a:prstGeom prst="roundRect">
            <a:avLst>
              <a:gd name="adj" fmla="val 11111"/>
            </a:avLst>
          </a:prstGeom>
          <a:solidFill>
            <a:srgbClr val="102F47"/>
          </a:solidFill>
          <a:ln w="19050">
            <a:solidFill>
              <a:srgbClr val="32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8" name="Text 182"/>
          <p:cNvSpPr/>
          <p:nvPr/>
        </p:nvSpPr>
        <p:spPr>
          <a:xfrm>
            <a:off x="1234440" y="4325040"/>
            <a:ext cx="91188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Pod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9" name="Shape 140"/>
          <p:cNvSpPr/>
          <p:nvPr/>
        </p:nvSpPr>
        <p:spPr>
          <a:xfrm>
            <a:off x="2514600" y="4416480"/>
            <a:ext cx="164592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0" name="Shape 141"/>
          <p:cNvSpPr/>
          <p:nvPr/>
        </p:nvSpPr>
        <p:spPr>
          <a:xfrm>
            <a:off x="4251960" y="4005000"/>
            <a:ext cx="1643400" cy="820440"/>
          </a:xfrm>
          <a:prstGeom prst="roundRect">
            <a:avLst>
              <a:gd name="adj" fmla="val 11111"/>
            </a:avLst>
          </a:prstGeom>
          <a:solidFill>
            <a:srgbClr val="102F47"/>
          </a:solidFill>
          <a:ln w="19050">
            <a:solidFill>
              <a:srgbClr val="55E6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1" name="Text 183"/>
          <p:cNvSpPr/>
          <p:nvPr/>
        </p:nvSpPr>
        <p:spPr>
          <a:xfrm>
            <a:off x="4462200" y="4325040"/>
            <a:ext cx="12319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Service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2" name="Shape 142"/>
          <p:cNvSpPr/>
          <p:nvPr/>
        </p:nvSpPr>
        <p:spPr>
          <a:xfrm>
            <a:off x="5989320" y="4416480"/>
            <a:ext cx="150876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3" name="Shape 143"/>
          <p:cNvSpPr/>
          <p:nvPr/>
        </p:nvSpPr>
        <p:spPr>
          <a:xfrm>
            <a:off x="7589520" y="4005000"/>
            <a:ext cx="1734840" cy="820440"/>
          </a:xfrm>
          <a:prstGeom prst="roundRect">
            <a:avLst>
              <a:gd name="adj" fmla="val 11111"/>
            </a:avLst>
          </a:prstGeom>
          <a:solidFill>
            <a:srgbClr val="102F47"/>
          </a:solidFill>
          <a:ln w="19050">
            <a:solidFill>
              <a:srgbClr val="3DDC9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4" name="Text 184"/>
          <p:cNvSpPr/>
          <p:nvPr/>
        </p:nvSpPr>
        <p:spPr>
          <a:xfrm>
            <a:off x="7927920" y="4325040"/>
            <a:ext cx="10033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Client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5" name="Text 185"/>
          <p:cNvSpPr/>
          <p:nvPr/>
        </p:nvSpPr>
        <p:spPr>
          <a:xfrm>
            <a:off x="868680" y="5596200"/>
            <a:ext cx="82270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FB454"/>
                </a:solidFill>
                <a:effectLst/>
                <a:uFillTx/>
                <a:latin typeface="Aptos"/>
              </a:rPr>
              <a:t>Without endpoints, Service has nowhere to send traffic.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Shape 144"/>
          <p:cNvSpPr/>
          <p:nvPr/>
        </p:nvSpPr>
        <p:spPr>
          <a:xfrm>
            <a:off x="0" y="0"/>
            <a:ext cx="12189240" cy="6855480"/>
          </a:xfrm>
          <a:prstGeom prst="rect">
            <a:avLst/>
          </a:prstGeom>
          <a:solidFill>
            <a:srgbClr val="071626"/>
          </a:solidFill>
          <a:ln w="12700">
            <a:solidFill>
              <a:srgbClr val="071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7" name="Shape 145"/>
          <p:cNvSpPr/>
          <p:nvPr/>
        </p:nvSpPr>
        <p:spPr>
          <a:xfrm>
            <a:off x="502920" y="6327360"/>
            <a:ext cx="11201400" cy="360"/>
          </a:xfrm>
          <a:prstGeom prst="line">
            <a:avLst/>
          </a:prstGeom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8" name="Text 186"/>
          <p:cNvSpPr/>
          <p:nvPr/>
        </p:nvSpPr>
        <p:spPr>
          <a:xfrm>
            <a:off x="548640" y="6419160"/>
            <a:ext cx="41122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A7C3D7"/>
                </a:solidFill>
                <a:effectLst/>
                <a:uFillTx/>
                <a:latin typeface="Aptos"/>
                <a:ea typeface="Aptos"/>
              </a:rPr>
              <a:t>K3s smoke test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9" name="Text 187"/>
          <p:cNvSpPr/>
          <p:nvPr/>
        </p:nvSpPr>
        <p:spPr>
          <a:xfrm>
            <a:off x="548640" y="411480"/>
            <a:ext cx="1106172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4FAFF"/>
                </a:solidFill>
                <a:effectLst/>
                <a:uFillTx/>
                <a:latin typeface="Aptos Display"/>
                <a:ea typeface="Aptos Display"/>
              </a:rPr>
              <a:t>K8S – quick: Step 4 — Port-forward and test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0" name="Text 188"/>
          <p:cNvSpPr/>
          <p:nvPr/>
        </p:nvSpPr>
        <p:spPr>
          <a:xfrm>
            <a:off x="567000" y="987480"/>
            <a:ext cx="1060452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A7C3D7"/>
                </a:solidFill>
                <a:effectLst/>
                <a:uFillTx/>
                <a:latin typeface="Aptos"/>
              </a:rPr>
              <a:t>Forward traffic from your local machine to the Service.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1" name="Shape 146"/>
          <p:cNvSpPr/>
          <p:nvPr/>
        </p:nvSpPr>
        <p:spPr>
          <a:xfrm>
            <a:off x="749880" y="1536120"/>
            <a:ext cx="10421640" cy="710640"/>
          </a:xfrm>
          <a:prstGeom prst="roundRect">
            <a:avLst>
              <a:gd name="adj" fmla="val 10256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2" name="Text 189"/>
          <p:cNvSpPr/>
          <p:nvPr/>
        </p:nvSpPr>
        <p:spPr>
          <a:xfrm>
            <a:off x="951120" y="1700640"/>
            <a:ext cx="1001916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port-forward svc/nginx 8080:80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3" name="Shape 147"/>
          <p:cNvSpPr/>
          <p:nvPr/>
        </p:nvSpPr>
        <p:spPr>
          <a:xfrm>
            <a:off x="804600" y="2743200"/>
            <a:ext cx="5392440" cy="1414800"/>
          </a:xfrm>
          <a:prstGeom prst="roundRect">
            <a:avLst>
              <a:gd name="adj" fmla="val 5161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4" name="Text 190"/>
          <p:cNvSpPr/>
          <p:nvPr/>
        </p:nvSpPr>
        <p:spPr>
          <a:xfrm>
            <a:off x="1005840" y="2907720"/>
            <a:ext cx="4989960" cy="11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curl http://localhost:8080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# or open in a browser: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# http://localhost:8080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5" name="Text 191"/>
          <p:cNvSpPr/>
          <p:nvPr/>
        </p:nvSpPr>
        <p:spPr>
          <a:xfrm>
            <a:off x="6720840" y="2761560"/>
            <a:ext cx="36550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Troubleshooting checks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6" name="Text 192"/>
          <p:cNvSpPr/>
          <p:nvPr/>
        </p:nvSpPr>
        <p:spPr>
          <a:xfrm>
            <a:off x="6729840" y="3273480"/>
            <a:ext cx="4478040" cy="118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7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Is the Pod Running?</a:t>
            </a:r>
            <a:endParaRPr lang="en-US" sz="14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7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Does the Service have endpoints?</a:t>
            </a:r>
            <a:endParaRPr lang="en-US" sz="14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7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Is the targetPort correct?</a:t>
            </a:r>
            <a:endParaRPr lang="en-US" sz="14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7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Is another process using local port 8080?</a:t>
            </a:r>
            <a:endParaRPr lang="en-US" sz="14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7" name="Shape 148"/>
          <p:cNvSpPr/>
          <p:nvPr/>
        </p:nvSpPr>
        <p:spPr>
          <a:xfrm>
            <a:off x="822960" y="4937760"/>
            <a:ext cx="7312680" cy="591840"/>
          </a:xfrm>
          <a:prstGeom prst="roundRect">
            <a:avLst>
              <a:gd name="adj" fmla="val 12308"/>
            </a:avLst>
          </a:prstGeom>
          <a:solidFill>
            <a:srgbClr val="0B1D2B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8" name="Text 193"/>
          <p:cNvSpPr/>
          <p:nvPr/>
        </p:nvSpPr>
        <p:spPr>
          <a:xfrm>
            <a:off x="1024200" y="5102280"/>
            <a:ext cx="6910200" cy="33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get pod,svc,endpoints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Shape 149"/>
          <p:cNvSpPr/>
          <p:nvPr/>
        </p:nvSpPr>
        <p:spPr>
          <a:xfrm>
            <a:off x="0" y="0"/>
            <a:ext cx="12189240" cy="6855480"/>
          </a:xfrm>
          <a:prstGeom prst="rect">
            <a:avLst/>
          </a:prstGeom>
          <a:solidFill>
            <a:srgbClr val="071626"/>
          </a:solidFill>
          <a:ln w="12700">
            <a:solidFill>
              <a:srgbClr val="071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0" name="Shape 150"/>
          <p:cNvSpPr/>
          <p:nvPr/>
        </p:nvSpPr>
        <p:spPr>
          <a:xfrm>
            <a:off x="502920" y="6327360"/>
            <a:ext cx="11201400" cy="360"/>
          </a:xfrm>
          <a:prstGeom prst="line">
            <a:avLst/>
          </a:prstGeom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1" name="Text 194"/>
          <p:cNvSpPr/>
          <p:nvPr/>
        </p:nvSpPr>
        <p:spPr>
          <a:xfrm>
            <a:off x="548640" y="6419160"/>
            <a:ext cx="41122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A7C3D7"/>
                </a:solidFill>
                <a:effectLst/>
                <a:uFillTx/>
                <a:latin typeface="Aptos"/>
                <a:ea typeface="Aptos"/>
              </a:rPr>
              <a:t>Transition to workshop app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2" name="Text 195"/>
          <p:cNvSpPr/>
          <p:nvPr/>
        </p:nvSpPr>
        <p:spPr>
          <a:xfrm>
            <a:off x="548640" y="411480"/>
            <a:ext cx="1106172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4FAFF"/>
                </a:solidFill>
                <a:effectLst/>
                <a:uFillTx/>
                <a:latin typeface="Aptos Display"/>
                <a:ea typeface="Aptos Display"/>
              </a:rPr>
              <a:t>K8S – quick: From nginx to the workshop application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3" name="Text 196"/>
          <p:cNvSpPr/>
          <p:nvPr/>
        </p:nvSpPr>
        <p:spPr>
          <a:xfrm>
            <a:off x="567000" y="987480"/>
            <a:ext cx="1060452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A7C3D7"/>
                </a:solidFill>
                <a:effectLst/>
                <a:uFillTx/>
                <a:latin typeface="Aptos"/>
              </a:rPr>
              <a:t>The warm-up introduces the mechanics; the Flask app introduces real dependencies and failure modes.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4" name="Shape 151"/>
          <p:cNvSpPr/>
          <p:nvPr/>
        </p:nvSpPr>
        <p:spPr>
          <a:xfrm>
            <a:off x="777240" y="1874520"/>
            <a:ext cx="1296000" cy="591840"/>
          </a:xfrm>
          <a:prstGeom prst="roundRect">
            <a:avLst>
              <a:gd name="adj" fmla="val 18462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5" name="Text 197"/>
          <p:cNvSpPr/>
          <p:nvPr/>
        </p:nvSpPr>
        <p:spPr>
          <a:xfrm>
            <a:off x="777240" y="2084760"/>
            <a:ext cx="129600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Image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6" name="Shape 152"/>
          <p:cNvSpPr/>
          <p:nvPr/>
        </p:nvSpPr>
        <p:spPr>
          <a:xfrm>
            <a:off x="2103120" y="2166840"/>
            <a:ext cx="25596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7" name="Shape 153"/>
          <p:cNvSpPr/>
          <p:nvPr/>
        </p:nvSpPr>
        <p:spPr>
          <a:xfrm>
            <a:off x="2468880" y="1874520"/>
            <a:ext cx="1296000" cy="591840"/>
          </a:xfrm>
          <a:prstGeom prst="roundRect">
            <a:avLst>
              <a:gd name="adj" fmla="val 18462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8" name="Text 198"/>
          <p:cNvSpPr/>
          <p:nvPr/>
        </p:nvSpPr>
        <p:spPr>
          <a:xfrm>
            <a:off x="2468880" y="2084760"/>
            <a:ext cx="129600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Pod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9" name="Shape 154"/>
          <p:cNvSpPr/>
          <p:nvPr/>
        </p:nvSpPr>
        <p:spPr>
          <a:xfrm>
            <a:off x="3794760" y="2166840"/>
            <a:ext cx="25596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0" name="Shape 155"/>
          <p:cNvSpPr/>
          <p:nvPr/>
        </p:nvSpPr>
        <p:spPr>
          <a:xfrm>
            <a:off x="4160520" y="1874520"/>
            <a:ext cx="1296000" cy="591840"/>
          </a:xfrm>
          <a:prstGeom prst="roundRect">
            <a:avLst>
              <a:gd name="adj" fmla="val 18462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1" name="Text 199"/>
          <p:cNvSpPr/>
          <p:nvPr/>
        </p:nvSpPr>
        <p:spPr>
          <a:xfrm>
            <a:off x="4160520" y="2084760"/>
            <a:ext cx="129600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Service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2" name="Shape 156"/>
          <p:cNvSpPr/>
          <p:nvPr/>
        </p:nvSpPr>
        <p:spPr>
          <a:xfrm>
            <a:off x="5486400" y="2166840"/>
            <a:ext cx="25596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3" name="Shape 157"/>
          <p:cNvSpPr/>
          <p:nvPr/>
        </p:nvSpPr>
        <p:spPr>
          <a:xfrm>
            <a:off x="5852160" y="1874520"/>
            <a:ext cx="1296000" cy="591840"/>
          </a:xfrm>
          <a:prstGeom prst="roundRect">
            <a:avLst>
              <a:gd name="adj" fmla="val 18462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4" name="Text 200"/>
          <p:cNvSpPr/>
          <p:nvPr/>
        </p:nvSpPr>
        <p:spPr>
          <a:xfrm>
            <a:off x="5852160" y="2084760"/>
            <a:ext cx="129600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Port-forward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5" name="Shape 158"/>
          <p:cNvSpPr/>
          <p:nvPr/>
        </p:nvSpPr>
        <p:spPr>
          <a:xfrm>
            <a:off x="7178040" y="2166840"/>
            <a:ext cx="25596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6" name="Shape 159"/>
          <p:cNvSpPr/>
          <p:nvPr/>
        </p:nvSpPr>
        <p:spPr>
          <a:xfrm>
            <a:off x="7543800" y="1874520"/>
            <a:ext cx="1296000" cy="591840"/>
          </a:xfrm>
          <a:prstGeom prst="roundRect">
            <a:avLst>
              <a:gd name="adj" fmla="val 18462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7" name="Text 201"/>
          <p:cNvSpPr/>
          <p:nvPr/>
        </p:nvSpPr>
        <p:spPr>
          <a:xfrm>
            <a:off x="7543800" y="2084760"/>
            <a:ext cx="129600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Logs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8" name="Shape 160"/>
          <p:cNvSpPr/>
          <p:nvPr/>
        </p:nvSpPr>
        <p:spPr>
          <a:xfrm>
            <a:off x="8869680" y="2166840"/>
            <a:ext cx="25596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9" name="Shape 161"/>
          <p:cNvSpPr/>
          <p:nvPr/>
        </p:nvSpPr>
        <p:spPr>
          <a:xfrm>
            <a:off x="9235440" y="1874520"/>
            <a:ext cx="1296000" cy="591840"/>
          </a:xfrm>
          <a:prstGeom prst="roundRect">
            <a:avLst>
              <a:gd name="adj" fmla="val 18462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0" name="Text 202"/>
          <p:cNvSpPr/>
          <p:nvPr/>
        </p:nvSpPr>
        <p:spPr>
          <a:xfrm>
            <a:off x="9235440" y="2084760"/>
            <a:ext cx="129600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Events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1" name="Text 203"/>
          <p:cNvSpPr/>
          <p:nvPr/>
        </p:nvSpPr>
        <p:spPr>
          <a:xfrm>
            <a:off x="822960" y="3246120"/>
            <a:ext cx="274068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Next application adds: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2" name="Text 204"/>
          <p:cNvSpPr/>
          <p:nvPr/>
        </p:nvSpPr>
        <p:spPr>
          <a:xfrm>
            <a:off x="868680" y="3749040"/>
            <a:ext cx="8135640" cy="141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local registry and custom images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ConfigMap and Secret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PostgreSQL and migrations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readiness depending on DB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volumes, limits, quotas and real troubleshooting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3" name="Shape 162"/>
          <p:cNvSpPr/>
          <p:nvPr/>
        </p:nvSpPr>
        <p:spPr>
          <a:xfrm>
            <a:off x="6446520" y="5559480"/>
            <a:ext cx="4660920" cy="527760"/>
          </a:xfrm>
          <a:prstGeom prst="roundRect">
            <a:avLst>
              <a:gd name="adj" fmla="val 13793"/>
            </a:avLst>
          </a:prstGeom>
          <a:solidFill>
            <a:srgbClr val="0B1D2B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4" name="Text 205"/>
          <p:cNvSpPr/>
          <p:nvPr/>
        </p:nvSpPr>
        <p:spPr>
          <a:xfrm>
            <a:off x="6647760" y="5724000"/>
            <a:ext cx="425844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delete namespace nginx-demo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Rectangle 18"/>
          <p:cNvSpPr/>
          <p:nvPr/>
        </p:nvSpPr>
        <p:spPr>
          <a:xfrm>
            <a:off x="0" y="0"/>
            <a:ext cx="12191760" cy="6857280"/>
          </a:xfrm>
          <a:prstGeom prst="rect">
            <a:avLst/>
          </a:prstGeom>
          <a:solidFill>
            <a:srgbClr val="0712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56" name="Rectangle 19"/>
          <p:cNvSpPr/>
          <p:nvPr/>
        </p:nvSpPr>
        <p:spPr>
          <a:xfrm>
            <a:off x="0" y="0"/>
            <a:ext cx="12191760" cy="60480"/>
          </a:xfrm>
          <a:prstGeom prst="rect">
            <a:avLst/>
          </a:prstGeom>
          <a:solidFill>
            <a:srgbClr val="00AE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6200" rIns="90000" bIns="16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57" name="TextBox 45"/>
          <p:cNvSpPr/>
          <p:nvPr/>
        </p:nvSpPr>
        <p:spPr>
          <a:xfrm>
            <a:off x="533160" y="304560"/>
            <a:ext cx="849996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Entering Containers (Docker vs Kubernetes)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TextBox 46"/>
          <p:cNvSpPr/>
          <p:nvPr/>
        </p:nvSpPr>
        <p:spPr>
          <a:xfrm>
            <a:off x="609480" y="990360"/>
            <a:ext cx="6891840" cy="788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Docker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docker ps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docker exec -it &lt;container&gt; sh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# or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docker exec -it &lt;container&gt; bash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Example: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docker exec -it docker-app-1 sh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---------------------------------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Kubernetes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kubectl get pods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kubectl exec -it &lt;pod&gt; -- sh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# or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kubectl exec -it &lt;pod&gt; -- bash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Example: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kubectl -n k8s-workshop exec -it deploy/flask-app -- sh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---------------------------------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Distroless images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No shell available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Use: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kubectl logs &lt;pod&gt;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kubectl describe pod &lt;pod&gt;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kubectl debug &lt;pod&gt; -it --image=busybox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Shape 2"/>
          <p:cNvSpPr/>
          <p:nvPr/>
        </p:nvSpPr>
        <p:spPr>
          <a:xfrm>
            <a:off x="0" y="0"/>
            <a:ext cx="12188160" cy="685440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0" name="Shape 3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1" name="Text 24"/>
          <p:cNvSpPr/>
          <p:nvPr/>
        </p:nvSpPr>
        <p:spPr>
          <a:xfrm>
            <a:off x="502920" y="6355080"/>
            <a:ext cx="228240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2" name="Text 29"/>
          <p:cNvSpPr/>
          <p:nvPr/>
        </p:nvSpPr>
        <p:spPr>
          <a:xfrm>
            <a:off x="594360" y="1051560"/>
            <a:ext cx="45684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67E8F9"/>
                </a:solidFill>
                <a:effectLst/>
                <a:uFillTx/>
                <a:latin typeface="Aptos"/>
              </a:rPr>
              <a:t>Module 2 Add-on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3" name="Text 34"/>
          <p:cNvSpPr/>
          <p:nvPr/>
        </p:nvSpPr>
        <p:spPr>
          <a:xfrm>
            <a:off x="567000" y="1508760"/>
            <a:ext cx="9871920" cy="72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4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Local Container Registry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4" name="Text 39"/>
          <p:cNvSpPr/>
          <p:nvPr/>
        </p:nvSpPr>
        <p:spPr>
          <a:xfrm>
            <a:off x="603360" y="2331720"/>
            <a:ext cx="968904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Build images locally, push to localhost:5000, then let K3s pull from the same VM.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5" name="Shape 17"/>
          <p:cNvSpPr/>
          <p:nvPr/>
        </p:nvSpPr>
        <p:spPr>
          <a:xfrm>
            <a:off x="914400" y="3794760"/>
            <a:ext cx="1916640" cy="727920"/>
          </a:xfrm>
          <a:prstGeom prst="roundRect">
            <a:avLst>
              <a:gd name="adj" fmla="val 15000"/>
            </a:avLst>
          </a:prstGeom>
          <a:solidFill>
            <a:srgbClr val="102D49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6" name="Text 44"/>
          <p:cNvSpPr/>
          <p:nvPr/>
        </p:nvSpPr>
        <p:spPr>
          <a:xfrm>
            <a:off x="987480" y="3940920"/>
            <a:ext cx="177048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Docker build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7" name="Shape 20"/>
          <p:cNvSpPr/>
          <p:nvPr/>
        </p:nvSpPr>
        <p:spPr>
          <a:xfrm>
            <a:off x="3063240" y="4160520"/>
            <a:ext cx="91440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8" name="Shape 23"/>
          <p:cNvSpPr/>
          <p:nvPr/>
        </p:nvSpPr>
        <p:spPr>
          <a:xfrm>
            <a:off x="4160520" y="3794760"/>
            <a:ext cx="2099520" cy="727920"/>
          </a:xfrm>
          <a:prstGeom prst="roundRect">
            <a:avLst>
              <a:gd name="adj" fmla="val 15000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9" name="Text 45"/>
          <p:cNvSpPr/>
          <p:nvPr/>
        </p:nvSpPr>
        <p:spPr>
          <a:xfrm>
            <a:off x="4233600" y="3940920"/>
            <a:ext cx="195336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localhost:5000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0" name="Shape 25"/>
          <p:cNvSpPr/>
          <p:nvPr/>
        </p:nvSpPr>
        <p:spPr>
          <a:xfrm>
            <a:off x="6492240" y="4160520"/>
            <a:ext cx="91440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1" name="Shape 26"/>
          <p:cNvSpPr/>
          <p:nvPr/>
        </p:nvSpPr>
        <p:spPr>
          <a:xfrm>
            <a:off x="7589520" y="3794760"/>
            <a:ext cx="2190960" cy="727920"/>
          </a:xfrm>
          <a:prstGeom prst="roundRect">
            <a:avLst>
              <a:gd name="adj" fmla="val 15000"/>
            </a:avLst>
          </a:prstGeom>
          <a:solidFill>
            <a:srgbClr val="102D49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2" name="Text 46"/>
          <p:cNvSpPr/>
          <p:nvPr/>
        </p:nvSpPr>
        <p:spPr>
          <a:xfrm>
            <a:off x="7662600" y="3940920"/>
            <a:ext cx="20448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K3s containerd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3" name="Shape 27"/>
          <p:cNvSpPr/>
          <p:nvPr/>
        </p:nvSpPr>
        <p:spPr>
          <a:xfrm>
            <a:off x="9966960" y="4160520"/>
            <a:ext cx="59436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4" name="Shape 28"/>
          <p:cNvSpPr/>
          <p:nvPr/>
        </p:nvSpPr>
        <p:spPr>
          <a:xfrm>
            <a:off x="10744200" y="3794760"/>
            <a:ext cx="910800" cy="727920"/>
          </a:xfrm>
          <a:prstGeom prst="roundRect">
            <a:avLst>
              <a:gd name="adj" fmla="val 15000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5" name="Text 47"/>
          <p:cNvSpPr/>
          <p:nvPr/>
        </p:nvSpPr>
        <p:spPr>
          <a:xfrm>
            <a:off x="10817280" y="3940920"/>
            <a:ext cx="76464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Shape 30"/>
          <p:cNvSpPr/>
          <p:nvPr/>
        </p:nvSpPr>
        <p:spPr>
          <a:xfrm>
            <a:off x="0" y="0"/>
            <a:ext cx="12188160" cy="685440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7" name="Shape 31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8" name="Text 48"/>
          <p:cNvSpPr/>
          <p:nvPr/>
        </p:nvSpPr>
        <p:spPr>
          <a:xfrm>
            <a:off x="502920" y="6355080"/>
            <a:ext cx="228240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9" name="Text 49"/>
          <p:cNvSpPr/>
          <p:nvPr/>
        </p:nvSpPr>
        <p:spPr>
          <a:xfrm>
            <a:off x="502920" y="411480"/>
            <a:ext cx="1106064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Where does Kubernetes get images from?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0" name="Text 50"/>
          <p:cNvSpPr/>
          <p:nvPr/>
        </p:nvSpPr>
        <p:spPr>
          <a:xfrm>
            <a:off x="530280" y="987480"/>
            <a:ext cx="1087776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Kubernetes pulls images from a registry; it does not automatically use your local Docker image cache.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1" name="Shape 32"/>
          <p:cNvSpPr/>
          <p:nvPr/>
        </p:nvSpPr>
        <p:spPr>
          <a:xfrm>
            <a:off x="1719000" y="2944080"/>
            <a:ext cx="67644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2" name="Shape 33"/>
          <p:cNvSpPr/>
          <p:nvPr/>
        </p:nvSpPr>
        <p:spPr>
          <a:xfrm>
            <a:off x="3703320" y="2944080"/>
            <a:ext cx="66744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3" name="Shape 35"/>
          <p:cNvSpPr/>
          <p:nvPr/>
        </p:nvSpPr>
        <p:spPr>
          <a:xfrm>
            <a:off x="5687280" y="2944080"/>
            <a:ext cx="66780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4" name="Shape 36"/>
          <p:cNvSpPr/>
          <p:nvPr/>
        </p:nvSpPr>
        <p:spPr>
          <a:xfrm>
            <a:off x="7662600" y="2944080"/>
            <a:ext cx="67644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5" name="Shape 37"/>
          <p:cNvSpPr/>
          <p:nvPr/>
        </p:nvSpPr>
        <p:spPr>
          <a:xfrm>
            <a:off x="9646920" y="2944080"/>
            <a:ext cx="66744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6" name="Shape 38"/>
          <p:cNvSpPr/>
          <p:nvPr/>
        </p:nvSpPr>
        <p:spPr>
          <a:xfrm>
            <a:off x="502920" y="2487240"/>
            <a:ext cx="1230840" cy="910800"/>
          </a:xfrm>
          <a:prstGeom prst="roundRect">
            <a:avLst>
              <a:gd name="adj" fmla="val 12000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7" name="Text 51"/>
          <p:cNvSpPr/>
          <p:nvPr/>
        </p:nvSpPr>
        <p:spPr>
          <a:xfrm>
            <a:off x="576000" y="2633400"/>
            <a:ext cx="1084680" cy="6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Dockerfile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8" name="Shape 40"/>
          <p:cNvSpPr/>
          <p:nvPr/>
        </p:nvSpPr>
        <p:spPr>
          <a:xfrm>
            <a:off x="2514600" y="2487240"/>
            <a:ext cx="1230840" cy="910800"/>
          </a:xfrm>
          <a:prstGeom prst="roundRect">
            <a:avLst>
              <a:gd name="adj" fmla="val 12000"/>
            </a:avLst>
          </a:prstGeom>
          <a:solidFill>
            <a:srgbClr val="102D49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9" name="Text 52"/>
          <p:cNvSpPr/>
          <p:nvPr/>
        </p:nvSpPr>
        <p:spPr>
          <a:xfrm>
            <a:off x="2587680" y="2633400"/>
            <a:ext cx="1084680" cy="6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docker build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0" name="Shape 41"/>
          <p:cNvSpPr/>
          <p:nvPr/>
        </p:nvSpPr>
        <p:spPr>
          <a:xfrm>
            <a:off x="4498920" y="2487240"/>
            <a:ext cx="1230840" cy="910800"/>
          </a:xfrm>
          <a:prstGeom prst="roundRect">
            <a:avLst>
              <a:gd name="adj" fmla="val 12000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1" name="Text 53"/>
          <p:cNvSpPr/>
          <p:nvPr/>
        </p:nvSpPr>
        <p:spPr>
          <a:xfrm>
            <a:off x="4572000" y="2633400"/>
            <a:ext cx="1084680" cy="6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2" name="Shape 42"/>
          <p:cNvSpPr/>
          <p:nvPr/>
        </p:nvSpPr>
        <p:spPr>
          <a:xfrm>
            <a:off x="6473880" y="2487240"/>
            <a:ext cx="1230840" cy="910800"/>
          </a:xfrm>
          <a:prstGeom prst="roundRect">
            <a:avLst>
              <a:gd name="adj" fmla="val 12000"/>
            </a:avLst>
          </a:prstGeom>
          <a:solidFill>
            <a:srgbClr val="102D49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3" name="Text 54"/>
          <p:cNvSpPr/>
          <p:nvPr/>
        </p:nvSpPr>
        <p:spPr>
          <a:xfrm>
            <a:off x="6546960" y="2633400"/>
            <a:ext cx="1084680" cy="6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Registry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4" name="Shape 43"/>
          <p:cNvSpPr/>
          <p:nvPr/>
        </p:nvSpPr>
        <p:spPr>
          <a:xfrm>
            <a:off x="8458200" y="2487240"/>
            <a:ext cx="1230840" cy="910800"/>
          </a:xfrm>
          <a:prstGeom prst="roundRect">
            <a:avLst>
              <a:gd name="adj" fmla="val 12000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5" name="Text 55"/>
          <p:cNvSpPr/>
          <p:nvPr/>
        </p:nvSpPr>
        <p:spPr>
          <a:xfrm>
            <a:off x="8531280" y="2633400"/>
            <a:ext cx="1084680" cy="6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containerd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6" name="Shape 44"/>
          <p:cNvSpPr/>
          <p:nvPr/>
        </p:nvSpPr>
        <p:spPr>
          <a:xfrm>
            <a:off x="10451520" y="2487240"/>
            <a:ext cx="1230840" cy="910800"/>
          </a:xfrm>
          <a:prstGeom prst="roundRect">
            <a:avLst>
              <a:gd name="adj" fmla="val 12000"/>
            </a:avLst>
          </a:prstGeom>
          <a:solidFill>
            <a:srgbClr val="102D49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7" name="Text 56"/>
          <p:cNvSpPr/>
          <p:nvPr/>
        </p:nvSpPr>
        <p:spPr>
          <a:xfrm>
            <a:off x="10524600" y="2633400"/>
            <a:ext cx="1084680" cy="6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8" name="Text 57"/>
          <p:cNvSpPr/>
          <p:nvPr/>
        </p:nvSpPr>
        <p:spPr>
          <a:xfrm>
            <a:off x="822960" y="4617720"/>
            <a:ext cx="10603440" cy="113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No registry means no pull path for Kubernetes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Using localhost:5000 keeps the workshop fast and reproducible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Later failures map directly to ImagePullBackOff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Shape 45"/>
          <p:cNvSpPr/>
          <p:nvPr/>
        </p:nvSpPr>
        <p:spPr>
          <a:xfrm>
            <a:off x="0" y="0"/>
            <a:ext cx="12188160" cy="685440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0" name="Shape 46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1" name="Text 58"/>
          <p:cNvSpPr/>
          <p:nvPr/>
        </p:nvSpPr>
        <p:spPr>
          <a:xfrm>
            <a:off x="502920" y="6355080"/>
            <a:ext cx="228240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2" name="Text 59"/>
          <p:cNvSpPr/>
          <p:nvPr/>
        </p:nvSpPr>
        <p:spPr>
          <a:xfrm>
            <a:off x="502920" y="411480"/>
            <a:ext cx="1106064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Registry options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3" name="Text 60"/>
          <p:cNvSpPr/>
          <p:nvPr/>
        </p:nvSpPr>
        <p:spPr>
          <a:xfrm>
            <a:off x="530280" y="987480"/>
            <a:ext cx="1087776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For this workshop we use a local registry on every VM.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4" name="Shape 47"/>
          <p:cNvSpPr/>
          <p:nvPr/>
        </p:nvSpPr>
        <p:spPr>
          <a:xfrm>
            <a:off x="640080" y="1508760"/>
            <a:ext cx="3151080" cy="3882600"/>
          </a:xfrm>
          <a:prstGeom prst="roundRect">
            <a:avLst>
              <a:gd name="adj" fmla="val 3478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5" name="Text 61"/>
          <p:cNvSpPr/>
          <p:nvPr/>
        </p:nvSpPr>
        <p:spPr>
          <a:xfrm>
            <a:off x="914400" y="1783080"/>
            <a:ext cx="255672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Public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6" name="Text 62"/>
          <p:cNvSpPr/>
          <p:nvPr/>
        </p:nvSpPr>
        <p:spPr>
          <a:xfrm>
            <a:off x="914400" y="2423160"/>
            <a:ext cx="2556720" cy="223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Docker Hub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GHCR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Quay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Fast to start, but depends on Internet and rate limits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7" name="Shape 48"/>
          <p:cNvSpPr/>
          <p:nvPr/>
        </p:nvSpPr>
        <p:spPr>
          <a:xfrm>
            <a:off x="4526280" y="1508760"/>
            <a:ext cx="3151080" cy="3882600"/>
          </a:xfrm>
          <a:prstGeom prst="roundRect">
            <a:avLst>
              <a:gd name="adj" fmla="val 3478"/>
            </a:avLst>
          </a:prstGeom>
          <a:solidFill>
            <a:srgbClr val="0B2740"/>
          </a:solidFill>
          <a:ln w="1397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8" name="Text 63"/>
          <p:cNvSpPr/>
          <p:nvPr/>
        </p:nvSpPr>
        <p:spPr>
          <a:xfrm>
            <a:off x="4800600" y="1783080"/>
            <a:ext cx="255672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Private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9" name="Text 64"/>
          <p:cNvSpPr/>
          <p:nvPr/>
        </p:nvSpPr>
        <p:spPr>
          <a:xfrm>
            <a:off x="4800600" y="2423160"/>
            <a:ext cx="2556720" cy="223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Harbor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Artifactory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ECR / ACR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Production-like, but needs credentials and setup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0" name="Shape 49"/>
          <p:cNvSpPr/>
          <p:nvPr/>
        </p:nvSpPr>
        <p:spPr>
          <a:xfrm>
            <a:off x="8412480" y="1508760"/>
            <a:ext cx="3151080" cy="3882600"/>
          </a:xfrm>
          <a:prstGeom prst="roundRect">
            <a:avLst>
              <a:gd name="adj" fmla="val 3478"/>
            </a:avLst>
          </a:prstGeom>
          <a:solidFill>
            <a:srgbClr val="0B2740"/>
          </a:solidFill>
          <a:ln w="1397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1" name="Text 65"/>
          <p:cNvSpPr/>
          <p:nvPr/>
        </p:nvSpPr>
        <p:spPr>
          <a:xfrm>
            <a:off x="8686800" y="1783080"/>
            <a:ext cx="255672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Local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2" name="Text 66"/>
          <p:cNvSpPr/>
          <p:nvPr/>
        </p:nvSpPr>
        <p:spPr>
          <a:xfrm>
            <a:off x="8686800" y="2423160"/>
            <a:ext cx="2556720" cy="223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localhost:5000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No external dependency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Great for labs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Easy to break and fix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Shape 50"/>
          <p:cNvSpPr/>
          <p:nvPr/>
        </p:nvSpPr>
        <p:spPr>
          <a:xfrm>
            <a:off x="0" y="0"/>
            <a:ext cx="12188160" cy="685440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4" name="Shape 51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5" name="Text 67"/>
          <p:cNvSpPr/>
          <p:nvPr/>
        </p:nvSpPr>
        <p:spPr>
          <a:xfrm>
            <a:off x="502920" y="6355080"/>
            <a:ext cx="228240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6" name="Text 68"/>
          <p:cNvSpPr/>
          <p:nvPr/>
        </p:nvSpPr>
        <p:spPr>
          <a:xfrm>
            <a:off x="502920" y="411480"/>
            <a:ext cx="1106064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Start the local registry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7" name="Text 69"/>
          <p:cNvSpPr/>
          <p:nvPr/>
        </p:nvSpPr>
        <p:spPr>
          <a:xfrm>
            <a:off x="530280" y="987480"/>
            <a:ext cx="1087776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The setup script runs a registry container and verifies push/pull before the workshop begins.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8" name="Shape 52"/>
          <p:cNvSpPr/>
          <p:nvPr/>
        </p:nvSpPr>
        <p:spPr>
          <a:xfrm>
            <a:off x="685800" y="1600200"/>
            <a:ext cx="5574240" cy="2373840"/>
          </a:xfrm>
          <a:prstGeom prst="roundRect">
            <a:avLst>
              <a:gd name="adj" fmla="val 3077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9" name="Text 70"/>
          <p:cNvSpPr/>
          <p:nvPr/>
        </p:nvSpPr>
        <p:spPr>
          <a:xfrm>
            <a:off x="822960" y="1719000"/>
            <a:ext cx="5299920" cy="219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run -d \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--name local-registry \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--restart always \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-p 5000:5000 \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-v /opt/local-registry:/var/lib/registry \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registry:2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0" name="Shape 53"/>
          <p:cNvSpPr/>
          <p:nvPr/>
        </p:nvSpPr>
        <p:spPr>
          <a:xfrm>
            <a:off x="6720840" y="1600200"/>
            <a:ext cx="4705560" cy="2373840"/>
          </a:xfrm>
          <a:prstGeom prst="roundRect">
            <a:avLst>
              <a:gd name="adj" fmla="val 4615"/>
            </a:avLst>
          </a:prstGeom>
          <a:solidFill>
            <a:srgbClr val="0B2740"/>
          </a:solidFill>
          <a:ln w="1397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1" name="Text 71"/>
          <p:cNvSpPr/>
          <p:nvPr/>
        </p:nvSpPr>
        <p:spPr>
          <a:xfrm>
            <a:off x="7040880" y="1828800"/>
            <a:ext cx="41112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Why local?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2" name="Text 72"/>
          <p:cNvSpPr/>
          <p:nvPr/>
        </p:nvSpPr>
        <p:spPr>
          <a:xfrm>
            <a:off x="7040880" y="2423160"/>
            <a:ext cx="4019760" cy="123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No Docker Hub rate limits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No shared credentials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Predictable and fast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Each participant owns their environment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3" name="Shape 54"/>
          <p:cNvSpPr/>
          <p:nvPr/>
        </p:nvSpPr>
        <p:spPr>
          <a:xfrm>
            <a:off x="7040880" y="4069080"/>
            <a:ext cx="1459440" cy="325440"/>
          </a:xfrm>
          <a:prstGeom prst="roundRect">
            <a:avLst>
              <a:gd name="adj" fmla="val 33333"/>
            </a:avLst>
          </a:prstGeom>
          <a:solidFill>
            <a:srgbClr val="22C55E">
              <a:alpha val="85000"/>
            </a:srgbClr>
          </a:solidFill>
          <a:ln w="1016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4" name="Text 73"/>
          <p:cNvSpPr/>
          <p:nvPr/>
        </p:nvSpPr>
        <p:spPr>
          <a:xfrm>
            <a:off x="7113960" y="4142160"/>
            <a:ext cx="131328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workshop-friendly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5" name="Shape 55"/>
          <p:cNvSpPr/>
          <p:nvPr/>
        </p:nvSpPr>
        <p:spPr>
          <a:xfrm>
            <a:off x="8641080" y="4069080"/>
            <a:ext cx="1413720" cy="325440"/>
          </a:xfrm>
          <a:prstGeom prst="roundRect">
            <a:avLst>
              <a:gd name="adj" fmla="val 33333"/>
            </a:avLst>
          </a:prstGeom>
          <a:solidFill>
            <a:srgbClr val="28A8FF">
              <a:alpha val="85000"/>
            </a:srgbClr>
          </a:solidFill>
          <a:ln w="1016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6" name="Text 74"/>
          <p:cNvSpPr/>
          <p:nvPr/>
        </p:nvSpPr>
        <p:spPr>
          <a:xfrm>
            <a:off x="8714160" y="4142160"/>
            <a:ext cx="126756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offline-capable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7" name="Shape 56"/>
          <p:cNvSpPr/>
          <p:nvPr/>
        </p:nvSpPr>
        <p:spPr>
          <a:xfrm>
            <a:off x="10195560" y="4069080"/>
            <a:ext cx="1047960" cy="325440"/>
          </a:xfrm>
          <a:prstGeom prst="roundRect">
            <a:avLst>
              <a:gd name="adj" fmla="val 33333"/>
            </a:avLst>
          </a:prstGeom>
          <a:solidFill>
            <a:srgbClr val="A78BFA">
              <a:alpha val="85000"/>
            </a:srgbClr>
          </a:solidFill>
          <a:ln w="1016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8" name="Text 75"/>
          <p:cNvSpPr/>
          <p:nvPr/>
        </p:nvSpPr>
        <p:spPr>
          <a:xfrm>
            <a:off x="10268640" y="4142160"/>
            <a:ext cx="90180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repeatable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9" name="Shape 57"/>
          <p:cNvSpPr/>
          <p:nvPr/>
        </p:nvSpPr>
        <p:spPr>
          <a:xfrm>
            <a:off x="685800" y="4892040"/>
            <a:ext cx="5574240" cy="590760"/>
          </a:xfrm>
          <a:prstGeom prst="roundRect">
            <a:avLst>
              <a:gd name="adj" fmla="val 12308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0" name="Text 76"/>
          <p:cNvSpPr/>
          <p:nvPr/>
        </p:nvSpPr>
        <p:spPr>
          <a:xfrm>
            <a:off x="822960" y="5010840"/>
            <a:ext cx="529992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curl localhost:5000/v2/_catalog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1" name="Text 77"/>
          <p:cNvSpPr/>
          <p:nvPr/>
        </p:nvSpPr>
        <p:spPr>
          <a:xfrm>
            <a:off x="6720840" y="4974480"/>
            <a:ext cx="475128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Expected result: the registry API responds, even before any images are pushed.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Shape 58"/>
          <p:cNvSpPr/>
          <p:nvPr/>
        </p:nvSpPr>
        <p:spPr>
          <a:xfrm>
            <a:off x="0" y="0"/>
            <a:ext cx="12188160" cy="685440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3" name="Shape 59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4" name="Text 78"/>
          <p:cNvSpPr/>
          <p:nvPr/>
        </p:nvSpPr>
        <p:spPr>
          <a:xfrm>
            <a:off x="502920" y="6355080"/>
            <a:ext cx="228240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5" name="Text 79"/>
          <p:cNvSpPr/>
          <p:nvPr/>
        </p:nvSpPr>
        <p:spPr>
          <a:xfrm>
            <a:off x="502920" y="411480"/>
            <a:ext cx="1106064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Configure K3s to use the local registry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6" name="Text 80"/>
          <p:cNvSpPr/>
          <p:nvPr/>
        </p:nvSpPr>
        <p:spPr>
          <a:xfrm>
            <a:off x="530280" y="987480"/>
            <a:ext cx="1087776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K3s uses containerd, so the Docker daemon configuration alone is not enough.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7" name="Shape 60"/>
          <p:cNvSpPr/>
          <p:nvPr/>
        </p:nvSpPr>
        <p:spPr>
          <a:xfrm>
            <a:off x="685800" y="1417320"/>
            <a:ext cx="6122880" cy="4156920"/>
          </a:xfrm>
          <a:prstGeom prst="roundRect">
            <a:avLst>
              <a:gd name="adj" fmla="val 1758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8" name="Text 81"/>
          <p:cNvSpPr/>
          <p:nvPr/>
        </p:nvSpPr>
        <p:spPr>
          <a:xfrm>
            <a:off x="822960" y="1536120"/>
            <a:ext cx="5848560" cy="397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# /etc/rancher/k3s/registries.yaml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mirrors: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"localhost:5000":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endpoint: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  - "http://localhost:5000"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"127.0.0.1:5000":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endpoint: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  - "http://127.0.0.1:5000"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configs: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"localhost:5000":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tls: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  insecure_skip_verify: true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9" name="Shape 61"/>
          <p:cNvSpPr/>
          <p:nvPr/>
        </p:nvSpPr>
        <p:spPr>
          <a:xfrm>
            <a:off x="7315200" y="1600200"/>
            <a:ext cx="4294080" cy="3562560"/>
          </a:xfrm>
          <a:prstGeom prst="roundRect">
            <a:avLst>
              <a:gd name="adj" fmla="val 3077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0" name="Text 82"/>
          <p:cNvSpPr/>
          <p:nvPr/>
        </p:nvSpPr>
        <p:spPr>
          <a:xfrm>
            <a:off x="7589520" y="1874520"/>
            <a:ext cx="374544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After changing it: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1" name="Shape 62"/>
          <p:cNvSpPr/>
          <p:nvPr/>
        </p:nvSpPr>
        <p:spPr>
          <a:xfrm>
            <a:off x="7589520" y="2514600"/>
            <a:ext cx="3471120" cy="1002240"/>
          </a:xfrm>
          <a:prstGeom prst="roundRect">
            <a:avLst>
              <a:gd name="adj" fmla="val 7273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2" name="Text 83"/>
          <p:cNvSpPr/>
          <p:nvPr/>
        </p:nvSpPr>
        <p:spPr>
          <a:xfrm>
            <a:off x="7726680" y="2633400"/>
            <a:ext cx="3196800" cy="81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sudo systemctl restart k3s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kubectl get nodes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3" name="Text 84"/>
          <p:cNvSpPr/>
          <p:nvPr/>
        </p:nvSpPr>
        <p:spPr>
          <a:xfrm>
            <a:off x="7589520" y="3931920"/>
            <a:ext cx="36540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This reloads containerd registry configuration used by K3s.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Shape 63"/>
          <p:cNvSpPr/>
          <p:nvPr/>
        </p:nvSpPr>
        <p:spPr>
          <a:xfrm>
            <a:off x="0" y="0"/>
            <a:ext cx="12188160" cy="685440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5" name="Shape 64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6" name="Text 85"/>
          <p:cNvSpPr/>
          <p:nvPr/>
        </p:nvSpPr>
        <p:spPr>
          <a:xfrm>
            <a:off x="502920" y="6355080"/>
            <a:ext cx="228240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7" name="Text 86"/>
          <p:cNvSpPr/>
          <p:nvPr/>
        </p:nvSpPr>
        <p:spPr>
          <a:xfrm>
            <a:off x="502920" y="411480"/>
            <a:ext cx="1106064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Build workshop images with registry tags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8" name="Text 87"/>
          <p:cNvSpPr/>
          <p:nvPr/>
        </p:nvSpPr>
        <p:spPr>
          <a:xfrm>
            <a:off x="530280" y="987480"/>
            <a:ext cx="1087776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Tag images with localhost:5000 from the beginning.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9" name="Shape 65"/>
          <p:cNvSpPr/>
          <p:nvPr/>
        </p:nvSpPr>
        <p:spPr>
          <a:xfrm>
            <a:off x="685800" y="1600200"/>
            <a:ext cx="10832040" cy="2785320"/>
          </a:xfrm>
          <a:prstGeom prst="roundRect">
            <a:avLst>
              <a:gd name="adj" fmla="val 2623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0" name="Text 88"/>
          <p:cNvSpPr/>
          <p:nvPr/>
        </p:nvSpPr>
        <p:spPr>
          <a:xfrm>
            <a:off x="822960" y="1719000"/>
            <a:ext cx="10557720" cy="260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build -f docker/Dockerfile.debug -t localhost:5000/k8s-workshop-app:debug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build -f docker/Dockerfile.distroless -t localhost:5000/k8s-workshop-app:distroless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build -f docker/Dockerfile.migration -t localhost:5000/k8s-workshop-migration:debug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build -f docker/Dockerfile.broken_migration -t localhost:5000/k8s-workshop-migration:broken . 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build -f docker/Dockerfile.repair_migration -t localhost:5000/k8s-workshop-migration:repair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1" name="Shape 66"/>
          <p:cNvSpPr/>
          <p:nvPr/>
        </p:nvSpPr>
        <p:spPr>
          <a:xfrm>
            <a:off x="685800" y="4892040"/>
            <a:ext cx="10832040" cy="773640"/>
          </a:xfrm>
          <a:prstGeom prst="roundRect">
            <a:avLst>
              <a:gd name="adj" fmla="val 14118"/>
            </a:avLst>
          </a:prstGeom>
          <a:solidFill>
            <a:srgbClr val="0B2740"/>
          </a:solidFill>
          <a:ln w="13970">
            <a:solidFill>
              <a:srgbClr val="FACC1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2" name="Text 89"/>
          <p:cNvSpPr/>
          <p:nvPr/>
        </p:nvSpPr>
        <p:spPr>
          <a:xfrm>
            <a:off x="960120" y="5102280"/>
            <a:ext cx="102376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Key point: k8s-workshop-app:debug is only a local Docker tag. localhost:5000/k8s-workshop-app:debug is a pullable registry reference.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Shape 67"/>
          <p:cNvSpPr/>
          <p:nvPr/>
        </p:nvSpPr>
        <p:spPr>
          <a:xfrm>
            <a:off x="-74160" y="1144800"/>
            <a:ext cx="12188160" cy="685440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4" name="Shape 68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5" name="Text 90"/>
          <p:cNvSpPr/>
          <p:nvPr/>
        </p:nvSpPr>
        <p:spPr>
          <a:xfrm>
            <a:off x="502920" y="6355080"/>
            <a:ext cx="228240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6" name="Text 91"/>
          <p:cNvSpPr/>
          <p:nvPr/>
        </p:nvSpPr>
        <p:spPr>
          <a:xfrm>
            <a:off x="502920" y="411480"/>
            <a:ext cx="1106064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Push and verify images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7" name="Text 92"/>
          <p:cNvSpPr/>
          <p:nvPr/>
        </p:nvSpPr>
        <p:spPr>
          <a:xfrm>
            <a:off x="530280" y="987480"/>
            <a:ext cx="1087776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Pushing images makes them available for K3s/containerd to pull.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8" name="Shape 69"/>
          <p:cNvSpPr/>
          <p:nvPr/>
        </p:nvSpPr>
        <p:spPr>
          <a:xfrm>
            <a:off x="685800" y="1508760"/>
            <a:ext cx="5482800" cy="2604240"/>
          </a:xfrm>
          <a:prstGeom prst="roundRect">
            <a:avLst>
              <a:gd name="adj" fmla="val 4000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9" name="Text 93"/>
          <p:cNvSpPr/>
          <p:nvPr/>
        </p:nvSpPr>
        <p:spPr>
          <a:xfrm>
            <a:off x="822960" y="1627560"/>
            <a:ext cx="5208480" cy="22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push localhost:5000/k8s-workshop-app:debug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push localhost:5000/k8s-workshop-app:distroless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push localhost:5000/k8s-workshop-migration:debug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push localhost:5000/k8s-workshop-migration:broken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push localhost:5000/k8s-workshop-migration:repair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0" name="Shape 70"/>
          <p:cNvSpPr/>
          <p:nvPr/>
        </p:nvSpPr>
        <p:spPr>
          <a:xfrm>
            <a:off x="6583680" y="1508760"/>
            <a:ext cx="5072040" cy="1825200"/>
          </a:xfrm>
          <a:prstGeom prst="roundRect">
            <a:avLst>
              <a:gd name="adj" fmla="val 4000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1" name="Text 94"/>
          <p:cNvSpPr/>
          <p:nvPr/>
        </p:nvSpPr>
        <p:spPr>
          <a:xfrm>
            <a:off x="6720840" y="1627560"/>
            <a:ext cx="4934880" cy="164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curl localhost:5000/v2/_catalog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curl localhost:5000/v2/k8s-workshop-app/tags/list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curl localhost:5000/v2/k8s-workshop-migration/tags/list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2" name="Shape 71"/>
          <p:cNvSpPr/>
          <p:nvPr/>
        </p:nvSpPr>
        <p:spPr>
          <a:xfrm>
            <a:off x="1097280" y="4434840"/>
            <a:ext cx="1185120" cy="682200"/>
          </a:xfrm>
          <a:prstGeom prst="roundRect">
            <a:avLst>
              <a:gd name="adj" fmla="val 16000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3" name="Text 95"/>
          <p:cNvSpPr/>
          <p:nvPr/>
        </p:nvSpPr>
        <p:spPr>
          <a:xfrm>
            <a:off x="1170360" y="4581000"/>
            <a:ext cx="103896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build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4" name="Shape 72"/>
          <p:cNvSpPr/>
          <p:nvPr/>
        </p:nvSpPr>
        <p:spPr>
          <a:xfrm>
            <a:off x="2486880" y="4772880"/>
            <a:ext cx="82296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5" name="Shape 73"/>
          <p:cNvSpPr/>
          <p:nvPr/>
        </p:nvSpPr>
        <p:spPr>
          <a:xfrm>
            <a:off x="3520440" y="4434840"/>
            <a:ext cx="1185120" cy="682200"/>
          </a:xfrm>
          <a:prstGeom prst="roundRect">
            <a:avLst>
              <a:gd name="adj" fmla="val 16000"/>
            </a:avLst>
          </a:prstGeom>
          <a:solidFill>
            <a:srgbClr val="102D49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6" name="Text 96"/>
          <p:cNvSpPr/>
          <p:nvPr/>
        </p:nvSpPr>
        <p:spPr>
          <a:xfrm>
            <a:off x="3593520" y="4581000"/>
            <a:ext cx="103896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push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7" name="Shape 74"/>
          <p:cNvSpPr/>
          <p:nvPr/>
        </p:nvSpPr>
        <p:spPr>
          <a:xfrm>
            <a:off x="4892040" y="4772880"/>
            <a:ext cx="82296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8" name="Shape 75"/>
          <p:cNvSpPr/>
          <p:nvPr/>
        </p:nvSpPr>
        <p:spPr>
          <a:xfrm>
            <a:off x="5925240" y="4434840"/>
            <a:ext cx="1185120" cy="682200"/>
          </a:xfrm>
          <a:prstGeom prst="roundRect">
            <a:avLst>
              <a:gd name="adj" fmla="val 16000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9" name="Text 97"/>
          <p:cNvSpPr/>
          <p:nvPr/>
        </p:nvSpPr>
        <p:spPr>
          <a:xfrm>
            <a:off x="5998320" y="4581000"/>
            <a:ext cx="103896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verify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0" name="Shape 76"/>
          <p:cNvSpPr/>
          <p:nvPr/>
        </p:nvSpPr>
        <p:spPr>
          <a:xfrm>
            <a:off x="7296840" y="4772880"/>
            <a:ext cx="82296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1" name="Shape 77"/>
          <p:cNvSpPr/>
          <p:nvPr/>
        </p:nvSpPr>
        <p:spPr>
          <a:xfrm>
            <a:off x="8321040" y="4434840"/>
            <a:ext cx="1185120" cy="682200"/>
          </a:xfrm>
          <a:prstGeom prst="roundRect">
            <a:avLst>
              <a:gd name="adj" fmla="val 16000"/>
            </a:avLst>
          </a:prstGeom>
          <a:solidFill>
            <a:srgbClr val="102D49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2" name="Text 98"/>
          <p:cNvSpPr/>
          <p:nvPr/>
        </p:nvSpPr>
        <p:spPr>
          <a:xfrm>
            <a:off x="8394120" y="4581000"/>
            <a:ext cx="103896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deploy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3" name="Shape 78"/>
          <p:cNvSpPr/>
          <p:nvPr/>
        </p:nvSpPr>
        <p:spPr>
          <a:xfrm>
            <a:off x="9710640" y="4772880"/>
            <a:ext cx="82296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4" name="Shape 79"/>
          <p:cNvSpPr/>
          <p:nvPr/>
        </p:nvSpPr>
        <p:spPr>
          <a:xfrm>
            <a:off x="10744200" y="4434840"/>
            <a:ext cx="1139400" cy="682200"/>
          </a:xfrm>
          <a:prstGeom prst="roundRect">
            <a:avLst>
              <a:gd name="adj" fmla="val 16000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5" name="Text 99"/>
          <p:cNvSpPr/>
          <p:nvPr/>
        </p:nvSpPr>
        <p:spPr>
          <a:xfrm>
            <a:off x="10817280" y="4581000"/>
            <a:ext cx="99324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observe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Shape 80"/>
          <p:cNvSpPr/>
          <p:nvPr/>
        </p:nvSpPr>
        <p:spPr>
          <a:xfrm>
            <a:off x="0" y="0"/>
            <a:ext cx="12188160" cy="685440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7" name="Shape 81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8" name="Text 100"/>
          <p:cNvSpPr/>
          <p:nvPr/>
        </p:nvSpPr>
        <p:spPr>
          <a:xfrm>
            <a:off x="502920" y="6355080"/>
            <a:ext cx="228240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9" name="Text 101"/>
          <p:cNvSpPr/>
          <p:nvPr/>
        </p:nvSpPr>
        <p:spPr>
          <a:xfrm>
            <a:off x="502920" y="411480"/>
            <a:ext cx="1106064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Use registry references in Kubernetes manifests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0" name="Text 102"/>
          <p:cNvSpPr/>
          <p:nvPr/>
        </p:nvSpPr>
        <p:spPr>
          <a:xfrm>
            <a:off x="530280" y="987480"/>
            <a:ext cx="1087776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The Deployment should point to the local registry image.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1" name="Shape 82"/>
          <p:cNvSpPr/>
          <p:nvPr/>
        </p:nvSpPr>
        <p:spPr>
          <a:xfrm>
            <a:off x="685800" y="1417320"/>
            <a:ext cx="5802840" cy="4156920"/>
          </a:xfrm>
          <a:prstGeom prst="roundRect">
            <a:avLst>
              <a:gd name="adj" fmla="val 1758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2" name="Text 103"/>
          <p:cNvSpPr/>
          <p:nvPr/>
        </p:nvSpPr>
        <p:spPr>
          <a:xfrm>
            <a:off x="822960" y="1536120"/>
            <a:ext cx="5528520" cy="397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apiVersion: apps/v1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kind: Deployment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metadata: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name: 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spec: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template: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spec: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  containers: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    - name: 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      image: localhost:5000/k8s-workshop-app:debug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      imagePullPolicy: IfNotPresent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3" name="Shape 83"/>
          <p:cNvSpPr/>
          <p:nvPr/>
        </p:nvSpPr>
        <p:spPr>
          <a:xfrm>
            <a:off x="6949440" y="1645920"/>
            <a:ext cx="4476960" cy="3288240"/>
          </a:xfrm>
          <a:prstGeom prst="roundRect">
            <a:avLst>
              <a:gd name="adj" fmla="val 3333"/>
            </a:avLst>
          </a:prstGeom>
          <a:solidFill>
            <a:srgbClr val="0B2740"/>
          </a:solidFill>
          <a:ln w="1397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4" name="Text 104"/>
          <p:cNvSpPr/>
          <p:nvPr/>
        </p:nvSpPr>
        <p:spPr>
          <a:xfrm>
            <a:off x="7223760" y="1920240"/>
            <a:ext cx="392832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Recommended for labs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5" name="Text 105"/>
          <p:cNvSpPr/>
          <p:nvPr/>
        </p:nvSpPr>
        <p:spPr>
          <a:xfrm>
            <a:off x="7223760" y="2560320"/>
            <a:ext cx="3791160" cy="164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imagePullPolicy: IfNotPresent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fast local pulls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change tag when you want a new image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use Always when teaching pull behavior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Shape 84"/>
          <p:cNvSpPr/>
          <p:nvPr/>
        </p:nvSpPr>
        <p:spPr>
          <a:xfrm>
            <a:off x="0" y="0"/>
            <a:ext cx="12188160" cy="685440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7" name="Shape 85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8" name="Text 106"/>
          <p:cNvSpPr/>
          <p:nvPr/>
        </p:nvSpPr>
        <p:spPr>
          <a:xfrm>
            <a:off x="502920" y="6355080"/>
            <a:ext cx="228240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9" name="Text 107"/>
          <p:cNvSpPr/>
          <p:nvPr/>
        </p:nvSpPr>
        <p:spPr>
          <a:xfrm>
            <a:off x="502920" y="411480"/>
            <a:ext cx="1106064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Troubleshooting preview: ImagePullBackOff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0" name="Text 108"/>
          <p:cNvSpPr/>
          <p:nvPr/>
        </p:nvSpPr>
        <p:spPr>
          <a:xfrm>
            <a:off x="530280" y="987480"/>
            <a:ext cx="1087776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A registry flow makes image problems visible and easy to diagnose.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1" name="Shape 86"/>
          <p:cNvSpPr/>
          <p:nvPr/>
        </p:nvSpPr>
        <p:spPr>
          <a:xfrm>
            <a:off x="685800" y="1508760"/>
            <a:ext cx="5299920" cy="1825200"/>
          </a:xfrm>
          <a:prstGeom prst="roundRect">
            <a:avLst>
              <a:gd name="adj" fmla="val 4000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2" name="Text 109"/>
          <p:cNvSpPr/>
          <p:nvPr/>
        </p:nvSpPr>
        <p:spPr>
          <a:xfrm>
            <a:off x="822960" y="1627560"/>
            <a:ext cx="5025600" cy="164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# typo in tag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image: localhost:5000/k8s-workshop-app:debgu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# expected status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ImagePullBackOff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3" name="Shape 87"/>
          <p:cNvSpPr/>
          <p:nvPr/>
        </p:nvSpPr>
        <p:spPr>
          <a:xfrm>
            <a:off x="6446520" y="1508760"/>
            <a:ext cx="5071320" cy="1825200"/>
          </a:xfrm>
          <a:prstGeom prst="roundRect">
            <a:avLst>
              <a:gd name="adj" fmla="val 6000"/>
            </a:avLst>
          </a:prstGeom>
          <a:solidFill>
            <a:srgbClr val="0B2740"/>
          </a:solidFill>
          <a:ln w="13970">
            <a:solidFill>
              <a:srgbClr val="F8717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4" name="Text 110"/>
          <p:cNvSpPr/>
          <p:nvPr/>
        </p:nvSpPr>
        <p:spPr>
          <a:xfrm>
            <a:off x="6720840" y="1783080"/>
            <a:ext cx="438552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1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First checks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5" name="Shape 88"/>
          <p:cNvSpPr/>
          <p:nvPr/>
        </p:nvSpPr>
        <p:spPr>
          <a:xfrm>
            <a:off x="6720840" y="2331720"/>
            <a:ext cx="4339800" cy="773640"/>
          </a:xfrm>
          <a:prstGeom prst="roundRect">
            <a:avLst>
              <a:gd name="adj" fmla="val 9412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6" name="Text 111"/>
          <p:cNvSpPr/>
          <p:nvPr/>
        </p:nvSpPr>
        <p:spPr>
          <a:xfrm>
            <a:off x="6858000" y="2450520"/>
            <a:ext cx="4065480" cy="59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kubectl describe pod &lt;pod&gt;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kubectl get events --sort-by=.lastTimestamp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curl localhost:5000/v2/_catalog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7" name="Text 112"/>
          <p:cNvSpPr/>
          <p:nvPr/>
        </p:nvSpPr>
        <p:spPr>
          <a:xfrm>
            <a:off x="685800" y="3794760"/>
            <a:ext cx="209952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Mental model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8" name="Shape 89"/>
          <p:cNvSpPr/>
          <p:nvPr/>
        </p:nvSpPr>
        <p:spPr>
          <a:xfrm>
            <a:off x="2971800" y="4069080"/>
            <a:ext cx="2008080" cy="709560"/>
          </a:xfrm>
          <a:prstGeom prst="roundRect">
            <a:avLst>
              <a:gd name="adj" fmla="val 15385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9" name="Text 113"/>
          <p:cNvSpPr/>
          <p:nvPr/>
        </p:nvSpPr>
        <p:spPr>
          <a:xfrm>
            <a:off x="3044880" y="4215240"/>
            <a:ext cx="1861920" cy="48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 not found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0" name="Shape 90"/>
          <p:cNvSpPr/>
          <p:nvPr/>
        </p:nvSpPr>
        <p:spPr>
          <a:xfrm>
            <a:off x="5166360" y="4425480"/>
            <a:ext cx="640080" cy="360"/>
          </a:xfrm>
          <a:prstGeom prst="line">
            <a:avLst/>
          </a:prstGeom>
          <a:ln w="27940">
            <a:solidFill>
              <a:srgbClr val="F87171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1" name="Shape 91"/>
          <p:cNvSpPr/>
          <p:nvPr/>
        </p:nvSpPr>
        <p:spPr>
          <a:xfrm>
            <a:off x="5989320" y="4069080"/>
            <a:ext cx="2008080" cy="709560"/>
          </a:xfrm>
          <a:prstGeom prst="roundRect">
            <a:avLst>
              <a:gd name="adj" fmla="val 15385"/>
            </a:avLst>
          </a:prstGeom>
          <a:solidFill>
            <a:srgbClr val="102D49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2" name="Text 114"/>
          <p:cNvSpPr/>
          <p:nvPr/>
        </p:nvSpPr>
        <p:spPr>
          <a:xfrm>
            <a:off x="6062400" y="4215240"/>
            <a:ext cx="1861920" cy="48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 never starts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3" name="Shape 92"/>
          <p:cNvSpPr/>
          <p:nvPr/>
        </p:nvSpPr>
        <p:spPr>
          <a:xfrm>
            <a:off x="8183880" y="4425480"/>
            <a:ext cx="868680" cy="360"/>
          </a:xfrm>
          <a:prstGeom prst="line">
            <a:avLst/>
          </a:prstGeom>
          <a:ln w="27940">
            <a:solidFill>
              <a:srgbClr val="F87171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4" name="Shape 93"/>
          <p:cNvSpPr/>
          <p:nvPr/>
        </p:nvSpPr>
        <p:spPr>
          <a:xfrm>
            <a:off x="9235440" y="4069080"/>
            <a:ext cx="2008080" cy="709560"/>
          </a:xfrm>
          <a:prstGeom prst="roundRect">
            <a:avLst>
              <a:gd name="adj" fmla="val 15385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5" name="Text 115"/>
          <p:cNvSpPr/>
          <p:nvPr/>
        </p:nvSpPr>
        <p:spPr>
          <a:xfrm>
            <a:off x="9308520" y="4215240"/>
            <a:ext cx="1861920" cy="48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 app logs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6" name="Shape 94"/>
          <p:cNvSpPr/>
          <p:nvPr/>
        </p:nvSpPr>
        <p:spPr>
          <a:xfrm>
            <a:off x="0" y="0"/>
            <a:ext cx="12188160" cy="685440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7" name="Shape 95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8" name="Text 116"/>
          <p:cNvSpPr/>
          <p:nvPr/>
        </p:nvSpPr>
        <p:spPr>
          <a:xfrm>
            <a:off x="502920" y="6355080"/>
            <a:ext cx="228240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9" name="Text 117"/>
          <p:cNvSpPr/>
          <p:nvPr/>
        </p:nvSpPr>
        <p:spPr>
          <a:xfrm>
            <a:off x="502920" y="411480"/>
            <a:ext cx="1106064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Lab: Build, push, deploy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0" name="Text 118"/>
          <p:cNvSpPr/>
          <p:nvPr/>
        </p:nvSpPr>
        <p:spPr>
          <a:xfrm>
            <a:off x="530280" y="987480"/>
            <a:ext cx="1087776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This lab becomes the foundation for the rest of the workshop.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1" name="Shape 96"/>
          <p:cNvSpPr/>
          <p:nvPr/>
        </p:nvSpPr>
        <p:spPr>
          <a:xfrm>
            <a:off x="685800" y="1463040"/>
            <a:ext cx="10969200" cy="4248360"/>
          </a:xfrm>
          <a:prstGeom prst="roundRect">
            <a:avLst>
              <a:gd name="adj" fmla="val 2581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2" name="Text 119"/>
          <p:cNvSpPr/>
          <p:nvPr/>
        </p:nvSpPr>
        <p:spPr>
          <a:xfrm>
            <a:off x="1005840" y="1783080"/>
            <a:ext cx="27396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Checklist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3" name="Text 120"/>
          <p:cNvSpPr/>
          <p:nvPr/>
        </p:nvSpPr>
        <p:spPr>
          <a:xfrm>
            <a:off x="1005840" y="2331720"/>
            <a:ext cx="10237680" cy="241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>
              <a:lnSpc>
                <a:spcPct val="100000"/>
              </a:lnSpc>
            </a:pPr>
            <a:r>
              <a:rPr lang="en-US" sz="17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Run setup-local-registry.sh and confirm the test passes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7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Build app, distroless, and migration images with localhost:5000 tags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7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Push all images to the local registry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7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Verify registry catalog and image tags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7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Use localhost:5000/... image references in Kubernetes manifests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Deploy the app in Module 3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4" name="Shape 97"/>
          <p:cNvSpPr/>
          <p:nvPr/>
        </p:nvSpPr>
        <p:spPr>
          <a:xfrm>
            <a:off x="1005840" y="5074920"/>
            <a:ext cx="819360" cy="325440"/>
          </a:xfrm>
          <a:prstGeom prst="roundRect">
            <a:avLst>
              <a:gd name="adj" fmla="val 33333"/>
            </a:avLst>
          </a:prstGeom>
          <a:solidFill>
            <a:srgbClr val="28A8FF">
              <a:alpha val="85000"/>
            </a:srgbClr>
          </a:solidFill>
          <a:ln w="1016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5" name="Text 121"/>
          <p:cNvSpPr/>
          <p:nvPr/>
        </p:nvSpPr>
        <p:spPr>
          <a:xfrm>
            <a:off x="1078920" y="5148000"/>
            <a:ext cx="67320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Build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6" name="Shape 98"/>
          <p:cNvSpPr/>
          <p:nvPr/>
        </p:nvSpPr>
        <p:spPr>
          <a:xfrm>
            <a:off x="1965960" y="5074920"/>
            <a:ext cx="773640" cy="325440"/>
          </a:xfrm>
          <a:prstGeom prst="roundRect">
            <a:avLst>
              <a:gd name="adj" fmla="val 33333"/>
            </a:avLst>
          </a:prstGeom>
          <a:solidFill>
            <a:srgbClr val="22C55E">
              <a:alpha val="85000"/>
            </a:srgbClr>
          </a:solidFill>
          <a:ln w="1016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7" name="Text 122"/>
          <p:cNvSpPr/>
          <p:nvPr/>
        </p:nvSpPr>
        <p:spPr>
          <a:xfrm>
            <a:off x="2039040" y="5148000"/>
            <a:ext cx="62748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Push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8" name="Shape 99"/>
          <p:cNvSpPr/>
          <p:nvPr/>
        </p:nvSpPr>
        <p:spPr>
          <a:xfrm>
            <a:off x="2880360" y="5074920"/>
            <a:ext cx="727920" cy="325440"/>
          </a:xfrm>
          <a:prstGeom prst="roundRect">
            <a:avLst>
              <a:gd name="adj" fmla="val 33333"/>
            </a:avLst>
          </a:prstGeom>
          <a:solidFill>
            <a:srgbClr val="A78BFA">
              <a:alpha val="85000"/>
            </a:srgbClr>
          </a:solidFill>
          <a:ln w="1016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9" name="Text 123"/>
          <p:cNvSpPr/>
          <p:nvPr/>
        </p:nvSpPr>
        <p:spPr>
          <a:xfrm>
            <a:off x="2953440" y="5148000"/>
            <a:ext cx="58176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Pull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0" name="Shape 100"/>
          <p:cNvSpPr/>
          <p:nvPr/>
        </p:nvSpPr>
        <p:spPr>
          <a:xfrm>
            <a:off x="3749040" y="5074920"/>
            <a:ext cx="910800" cy="325440"/>
          </a:xfrm>
          <a:prstGeom prst="roundRect">
            <a:avLst>
              <a:gd name="adj" fmla="val 33333"/>
            </a:avLst>
          </a:prstGeom>
          <a:solidFill>
            <a:srgbClr val="FB923C">
              <a:alpha val="85000"/>
            </a:srgbClr>
          </a:solidFill>
          <a:ln w="10160">
            <a:solidFill>
              <a:srgbClr val="FB92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1" name="Text 124"/>
          <p:cNvSpPr/>
          <p:nvPr/>
        </p:nvSpPr>
        <p:spPr>
          <a:xfrm>
            <a:off x="3822120" y="5148000"/>
            <a:ext cx="76464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Deploy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2" name="Shape 101"/>
          <p:cNvSpPr/>
          <p:nvPr/>
        </p:nvSpPr>
        <p:spPr>
          <a:xfrm>
            <a:off x="4800600" y="5074920"/>
            <a:ext cx="1413720" cy="325440"/>
          </a:xfrm>
          <a:prstGeom prst="roundRect">
            <a:avLst>
              <a:gd name="adj" fmla="val 33333"/>
            </a:avLst>
          </a:prstGeom>
          <a:solidFill>
            <a:srgbClr val="F87171">
              <a:alpha val="85000"/>
            </a:srgbClr>
          </a:solidFill>
          <a:ln w="10160">
            <a:solidFill>
              <a:srgbClr val="F8717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3" name="Text 125"/>
          <p:cNvSpPr/>
          <p:nvPr/>
        </p:nvSpPr>
        <p:spPr>
          <a:xfrm>
            <a:off x="4873680" y="5148000"/>
            <a:ext cx="126756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Troubleshoot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5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6" name="Text 2"/>
          <p:cNvSpPr/>
          <p:nvPr/>
        </p:nvSpPr>
        <p:spPr>
          <a:xfrm>
            <a:off x="658440" y="2148840"/>
            <a:ext cx="10602720" cy="72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3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7" name="Text 3"/>
          <p:cNvSpPr/>
          <p:nvPr/>
        </p:nvSpPr>
        <p:spPr>
          <a:xfrm>
            <a:off x="676800" y="2953440"/>
            <a:ext cx="959688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Containers, images and local application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8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0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1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Container image mental model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2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Image is not a VM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3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Image contains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4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Image does not contain by default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5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Application code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Runtime dependencies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Entrypoint and command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Default environment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Filesystem layers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6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Persistent data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Cluster configuration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Kubernetes Service identity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Secrets from the cluster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 guarantee that shell exists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8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9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 build flow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0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Multi-stage builds separate build-time and runtime concerns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1" name="Shape 4"/>
          <p:cNvSpPr/>
          <p:nvPr/>
        </p:nvSpPr>
        <p:spPr>
          <a:xfrm>
            <a:off x="50292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2" name="Text 5"/>
          <p:cNvSpPr/>
          <p:nvPr/>
        </p:nvSpPr>
        <p:spPr>
          <a:xfrm>
            <a:off x="54864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Source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3" name="Shape 6"/>
          <p:cNvSpPr/>
          <p:nvPr/>
        </p:nvSpPr>
        <p:spPr>
          <a:xfrm>
            <a:off x="177408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4" name="Shape 7"/>
          <p:cNvSpPr/>
          <p:nvPr/>
        </p:nvSpPr>
        <p:spPr>
          <a:xfrm>
            <a:off x="200268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5" name="Text 8"/>
          <p:cNvSpPr/>
          <p:nvPr/>
        </p:nvSpPr>
        <p:spPr>
          <a:xfrm>
            <a:off x="204840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Builder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6" name="Shape 9"/>
          <p:cNvSpPr/>
          <p:nvPr/>
        </p:nvSpPr>
        <p:spPr>
          <a:xfrm>
            <a:off x="327348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7" name="Shape 10"/>
          <p:cNvSpPr/>
          <p:nvPr/>
        </p:nvSpPr>
        <p:spPr>
          <a:xfrm>
            <a:off x="350208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8" name="Text 11"/>
          <p:cNvSpPr/>
          <p:nvPr/>
        </p:nvSpPr>
        <p:spPr>
          <a:xfrm>
            <a:off x="354780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Dependencies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9" name="Shape 12"/>
          <p:cNvSpPr/>
          <p:nvPr/>
        </p:nvSpPr>
        <p:spPr>
          <a:xfrm>
            <a:off x="477324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0" name="Shape 13"/>
          <p:cNvSpPr/>
          <p:nvPr/>
        </p:nvSpPr>
        <p:spPr>
          <a:xfrm>
            <a:off x="500184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1" name="Text 14"/>
          <p:cNvSpPr/>
          <p:nvPr/>
        </p:nvSpPr>
        <p:spPr>
          <a:xfrm>
            <a:off x="504756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Runtime image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2" name="Shape 15"/>
          <p:cNvSpPr/>
          <p:nvPr/>
        </p:nvSpPr>
        <p:spPr>
          <a:xfrm>
            <a:off x="627264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3" name="Shape 16"/>
          <p:cNvSpPr/>
          <p:nvPr/>
        </p:nvSpPr>
        <p:spPr>
          <a:xfrm>
            <a:off x="650124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FBBF24"/>
          </a:solidFill>
          <a:ln w="12700">
            <a:solidFill>
              <a:srgbClr val="FBBF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4" name="Text 17"/>
          <p:cNvSpPr/>
          <p:nvPr/>
        </p:nvSpPr>
        <p:spPr>
          <a:xfrm>
            <a:off x="654696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Registry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5" name="Shape 18"/>
          <p:cNvSpPr/>
          <p:nvPr/>
        </p:nvSpPr>
        <p:spPr>
          <a:xfrm>
            <a:off x="777240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6" name="Shape 19"/>
          <p:cNvSpPr/>
          <p:nvPr/>
        </p:nvSpPr>
        <p:spPr>
          <a:xfrm>
            <a:off x="800100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7" name="Text 20"/>
          <p:cNvSpPr/>
          <p:nvPr/>
        </p:nvSpPr>
        <p:spPr>
          <a:xfrm>
            <a:off x="804672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Kubernetes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9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0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Debug image vs distroless image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1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Both are useful, for different reasons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2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Debug-friendly image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3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Distroless image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4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Based on python:slim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Contains shell and tools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Easier kubectl exec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Larger attack surface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Useful for labs and diagnosis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5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 shell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Fewer packages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Smaller attack surface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Requires better logs/probes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Use kubectl debug when needed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7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8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Build images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9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Commands used in the repository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0" name="Shape 4"/>
          <p:cNvSpPr/>
          <p:nvPr/>
        </p:nvSpPr>
        <p:spPr>
          <a:xfrm>
            <a:off x="685800" y="1417320"/>
            <a:ext cx="10877040" cy="45676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1" name="Text 5"/>
          <p:cNvSpPr/>
          <p:nvPr/>
        </p:nvSpPr>
        <p:spPr>
          <a:xfrm>
            <a:off x="850320" y="1563480"/>
            <a:ext cx="10557000" cy="42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docker build -f docker/Dockerfile.debug     -t localhost:5000/k8s-workshop-app:debug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docker build -f docker/Dockerfile.distroless -t localhost:5000/k8s-workshop-app:distroless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docker build -f docker/Dockerfile.migration -t localhost:5000/k8s-workshop-migration:debug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docker build -f docker/Dockerfile.broken_migration -t localhost:5000/k8s-workshop-migration:broken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docker build -f docker/Dockerfile.repair_migration -t localhost:5000/k8s-workshop-migration:repair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docker image ls | grep k8s-workshop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3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4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 locally with Docker Compose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5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Prove the app before Kubernetes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6" name="Shape 4"/>
          <p:cNvSpPr/>
          <p:nvPr/>
        </p:nvSpPr>
        <p:spPr>
          <a:xfrm>
            <a:off x="685800" y="1417320"/>
            <a:ext cx="10877040" cy="45676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7" name="Text 5"/>
          <p:cNvSpPr/>
          <p:nvPr/>
        </p:nvSpPr>
        <p:spPr>
          <a:xfrm>
            <a:off x="850320" y="1563480"/>
            <a:ext cx="10557000" cy="42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cd docker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docker compose up --build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http://localhost:8080/items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http://localhost:8080/healthz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http://localhost:8080/readyz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http://localhost:8080/version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-X POST http://localhost:8080/items -H 'Content-Type: application/json' -d '{"name":"demo"}'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9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0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Application endpoints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1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The app is designed to create useful signals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2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Operational endpoints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3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Training endpoints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4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/healthz - process is alive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/readyz - DB dependency is available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/version - image/config visible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/file-log - last file log lines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5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/items - DB-backed data path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/stress/cpu - CPU behavior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/stress/memory - OOMKilled lab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cyclic log writer - restart visibility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7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8" name="Text 2"/>
          <p:cNvSpPr/>
          <p:nvPr/>
        </p:nvSpPr>
        <p:spPr>
          <a:xfrm>
            <a:off x="658440" y="2148840"/>
            <a:ext cx="10602720" cy="72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4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9" name="Text 3"/>
          <p:cNvSpPr/>
          <p:nvPr/>
        </p:nvSpPr>
        <p:spPr>
          <a:xfrm>
            <a:off x="676800" y="2953440"/>
            <a:ext cx="959688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First deployment to Kubernetes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0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2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3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Deployment, Pod and Service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4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Three objects, three jobs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5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Deployment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6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Service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7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Declarative desired state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Creates ReplicaSets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Recreates failed Pods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Supports rollout and rollback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Best default for stateless app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8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Stable virtual IP and DNS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Selects Pods by labels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Routes to ready endpoints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Decouples clients from Pods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Debug with endpoints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9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0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1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First deploy – dependencies and DB migration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2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Apply manifests in order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3" name="Shape 4"/>
          <p:cNvSpPr/>
          <p:nvPr/>
        </p:nvSpPr>
        <p:spPr>
          <a:xfrm>
            <a:off x="685800" y="1417320"/>
            <a:ext cx="10877040" cy="45676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4" name="Text 5"/>
          <p:cNvSpPr/>
          <p:nvPr/>
        </p:nvSpPr>
        <p:spPr>
          <a:xfrm>
            <a:off x="850320" y="1563480"/>
            <a:ext cx="10557000" cy="42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-f k8s/base/01-namespace.yaml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k8s/base/02-configmap.yaml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k8s/base/03-secret.yaml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k8s/base/04-postgres-statefulset.yaml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status statefulset/postgres --timeout=180s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delete job db-migration -n k8s-workshop --ignore-not-found=true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k8s/base/05-migration-job.yaml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wait --for=condition=complete job/db-migration --timeout=120s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job/db-migration  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deploy,rs,pod,svc,endpoints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" name="Shape 229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6" name="Text 278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7" name="Text 279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First deploy – application and service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8" name="Text 280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Apply manifests in order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9" name="Shape 230"/>
          <p:cNvSpPr/>
          <p:nvPr/>
        </p:nvSpPr>
        <p:spPr>
          <a:xfrm>
            <a:off x="685800" y="1417320"/>
            <a:ext cx="10877040" cy="45676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0" name="Text 281"/>
          <p:cNvSpPr/>
          <p:nvPr/>
        </p:nvSpPr>
        <p:spPr>
          <a:xfrm>
            <a:off x="850320" y="1527480"/>
            <a:ext cx="10557000" cy="42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k8s/base/06-app-deployment.yaml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k8s/base/07-app-service.yaml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status deployment/flask-app --timeout=120s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Verify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deploy,rs,pod,svc,endpoints,jobs,pvc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port-forward svc/flask-app 8080:80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And in the second terminal: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</a:t>
            </a:r>
            <a:r>
              <a:rPr lang="en-US" sz="1400" b="0" u="none" strike="noStrike">
                <a:solidFill>
                  <a:srgbClr val="0563C1"/>
                </a:solidFill>
                <a:effectLst/>
                <a:uFillTx/>
                <a:latin typeface="Aptos Mono"/>
                <a:ea typeface="Aptos Mono"/>
                <a:hlinkClick r:id="rId1"/>
              </a:rPr>
              <a:t>http://localhost:8080/healthz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http://localhost:8080/readyz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http://localhost:8080/version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2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3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Observe first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4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Do not fix before observing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5" name="Shape 4"/>
          <p:cNvSpPr/>
          <p:nvPr/>
        </p:nvSpPr>
        <p:spPr>
          <a:xfrm>
            <a:off x="685800" y="1417320"/>
            <a:ext cx="10877040" cy="45676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6" name="Text 5"/>
          <p:cNvSpPr/>
          <p:nvPr/>
        </p:nvSpPr>
        <p:spPr>
          <a:xfrm>
            <a:off x="850320" y="1563480"/>
            <a:ext cx="10557000" cy="42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pods -o wide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pod &lt;pod-name&gt;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&lt;pod-name&gt;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events --sort-by=.lastTimestamp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port-forward svc/flask-app 8080:80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8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9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Rollout model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0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Every rollout is a controlled state transition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1" name="Shape 4"/>
          <p:cNvSpPr/>
          <p:nvPr/>
        </p:nvSpPr>
        <p:spPr>
          <a:xfrm>
            <a:off x="50292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2" name="Text 5"/>
          <p:cNvSpPr/>
          <p:nvPr/>
        </p:nvSpPr>
        <p:spPr>
          <a:xfrm>
            <a:off x="54864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Deployment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3" name="Shape 6"/>
          <p:cNvSpPr/>
          <p:nvPr/>
        </p:nvSpPr>
        <p:spPr>
          <a:xfrm>
            <a:off x="177408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4" name="Shape 7"/>
          <p:cNvSpPr/>
          <p:nvPr/>
        </p:nvSpPr>
        <p:spPr>
          <a:xfrm>
            <a:off x="200268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5" name="Text 8"/>
          <p:cNvSpPr/>
          <p:nvPr/>
        </p:nvSpPr>
        <p:spPr>
          <a:xfrm>
            <a:off x="204840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ReplicaSet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6" name="Shape 9"/>
          <p:cNvSpPr/>
          <p:nvPr/>
        </p:nvSpPr>
        <p:spPr>
          <a:xfrm>
            <a:off x="327348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7" name="Shape 10"/>
          <p:cNvSpPr/>
          <p:nvPr/>
        </p:nvSpPr>
        <p:spPr>
          <a:xfrm>
            <a:off x="350208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8" name="Text 11"/>
          <p:cNvSpPr/>
          <p:nvPr/>
        </p:nvSpPr>
        <p:spPr>
          <a:xfrm>
            <a:off x="354780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Pod template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9" name="Shape 12"/>
          <p:cNvSpPr/>
          <p:nvPr/>
        </p:nvSpPr>
        <p:spPr>
          <a:xfrm>
            <a:off x="477324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0" name="Shape 13"/>
          <p:cNvSpPr/>
          <p:nvPr/>
        </p:nvSpPr>
        <p:spPr>
          <a:xfrm>
            <a:off x="500184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1" name="Text 14"/>
          <p:cNvSpPr/>
          <p:nvPr/>
        </p:nvSpPr>
        <p:spPr>
          <a:xfrm>
            <a:off x="504756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New Pods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2" name="Shape 15"/>
          <p:cNvSpPr/>
          <p:nvPr/>
        </p:nvSpPr>
        <p:spPr>
          <a:xfrm>
            <a:off x="627264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3" name="Shape 16"/>
          <p:cNvSpPr/>
          <p:nvPr/>
        </p:nvSpPr>
        <p:spPr>
          <a:xfrm>
            <a:off x="650124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FBBF24"/>
          </a:solidFill>
          <a:ln w="12700">
            <a:solidFill>
              <a:srgbClr val="FBBF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4" name="Text 17"/>
          <p:cNvSpPr/>
          <p:nvPr/>
        </p:nvSpPr>
        <p:spPr>
          <a:xfrm>
            <a:off x="654696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Readiness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5" name="Shape 18"/>
          <p:cNvSpPr/>
          <p:nvPr/>
        </p:nvSpPr>
        <p:spPr>
          <a:xfrm>
            <a:off x="777240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6" name="Shape 19"/>
          <p:cNvSpPr/>
          <p:nvPr/>
        </p:nvSpPr>
        <p:spPr>
          <a:xfrm>
            <a:off x="800100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7" name="Text 20"/>
          <p:cNvSpPr/>
          <p:nvPr/>
        </p:nvSpPr>
        <p:spPr>
          <a:xfrm>
            <a:off x="804672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Traffic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9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0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Rollout commands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1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Useful in almost every lab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2" name="Shape 4"/>
          <p:cNvSpPr/>
          <p:nvPr/>
        </p:nvSpPr>
        <p:spPr>
          <a:xfrm>
            <a:off x="685800" y="1417320"/>
            <a:ext cx="10877040" cy="45676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3" name="Text 5"/>
          <p:cNvSpPr/>
          <p:nvPr/>
        </p:nvSpPr>
        <p:spPr>
          <a:xfrm>
            <a:off x="850320" y="1563480"/>
            <a:ext cx="10557000" cy="42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status deploy/flask-app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history deploy/flask-app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restart deploy/flask-app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undo deploy/flask-app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set image deploy/flask-app flask-app=localhost:5000/k8s-workshop-app:debug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5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6" name="Text 2"/>
          <p:cNvSpPr/>
          <p:nvPr/>
        </p:nvSpPr>
        <p:spPr>
          <a:xfrm>
            <a:off x="658440" y="2148840"/>
            <a:ext cx="10602720" cy="72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5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7" name="Text 3"/>
          <p:cNvSpPr/>
          <p:nvPr/>
        </p:nvSpPr>
        <p:spPr>
          <a:xfrm>
            <a:off x="676800" y="2953440"/>
            <a:ext cx="959688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Fast failure diagnosis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8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0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1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First classification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2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Classify the state before reading random logs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3" name="Shape 4"/>
          <p:cNvSpPr/>
          <p:nvPr/>
        </p:nvSpPr>
        <p:spPr>
          <a:xfrm>
            <a:off x="685800" y="1325880"/>
            <a:ext cx="10831320" cy="471240"/>
          </a:xfrm>
          <a:prstGeom prst="rect">
            <a:avLst/>
          </a:prstGeom>
          <a:solidFill>
            <a:srgbClr val="0EA5E9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4" name="Text 5"/>
          <p:cNvSpPr/>
          <p:nvPr/>
        </p:nvSpPr>
        <p:spPr>
          <a:xfrm>
            <a:off x="758880" y="147204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State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5" name="Text 6"/>
          <p:cNvSpPr/>
          <p:nvPr/>
        </p:nvSpPr>
        <p:spPr>
          <a:xfrm>
            <a:off x="2862000" y="147204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Likely phase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6" name="Text 7"/>
          <p:cNvSpPr/>
          <p:nvPr/>
        </p:nvSpPr>
        <p:spPr>
          <a:xfrm>
            <a:off x="5239440" y="147204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First command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7" name="Text 8"/>
          <p:cNvSpPr/>
          <p:nvPr/>
        </p:nvSpPr>
        <p:spPr>
          <a:xfrm>
            <a:off x="7616880" y="147204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Typical root cause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8" name="Shape 9"/>
          <p:cNvSpPr/>
          <p:nvPr/>
        </p:nvSpPr>
        <p:spPr>
          <a:xfrm>
            <a:off x="685800" y="1856160"/>
            <a:ext cx="10831320" cy="47124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9" name="Text 10"/>
          <p:cNvSpPr/>
          <p:nvPr/>
        </p:nvSpPr>
        <p:spPr>
          <a:xfrm>
            <a:off x="758880" y="200268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Pending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0" name="Text 11"/>
          <p:cNvSpPr/>
          <p:nvPr/>
        </p:nvSpPr>
        <p:spPr>
          <a:xfrm>
            <a:off x="2862000" y="200268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Scheduling/admission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1" name="Text 12"/>
          <p:cNvSpPr/>
          <p:nvPr/>
        </p:nvSpPr>
        <p:spPr>
          <a:xfrm>
            <a:off x="5239440" y="200268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describe pod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2" name="Text 13"/>
          <p:cNvSpPr/>
          <p:nvPr/>
        </p:nvSpPr>
        <p:spPr>
          <a:xfrm>
            <a:off x="7616880" y="200268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quota, capacity, PVC, node selector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3" name="Shape 14"/>
          <p:cNvSpPr/>
          <p:nvPr/>
        </p:nvSpPr>
        <p:spPr>
          <a:xfrm>
            <a:off x="685800" y="2386440"/>
            <a:ext cx="10831320" cy="47124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4" name="Text 15"/>
          <p:cNvSpPr/>
          <p:nvPr/>
        </p:nvSpPr>
        <p:spPr>
          <a:xfrm>
            <a:off x="758880" y="253296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ImagePullBackOff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5" name="Text 16"/>
          <p:cNvSpPr/>
          <p:nvPr/>
        </p:nvSpPr>
        <p:spPr>
          <a:xfrm>
            <a:off x="2862000" y="253296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 pull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6" name="Text 17"/>
          <p:cNvSpPr/>
          <p:nvPr/>
        </p:nvSpPr>
        <p:spPr>
          <a:xfrm>
            <a:off x="5239440" y="253296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describe pod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7" name="Text 18"/>
          <p:cNvSpPr/>
          <p:nvPr/>
        </p:nvSpPr>
        <p:spPr>
          <a:xfrm>
            <a:off x="7616880" y="253296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bad tag, registry auth, proxy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8" name="Shape 19"/>
          <p:cNvSpPr/>
          <p:nvPr/>
        </p:nvSpPr>
        <p:spPr>
          <a:xfrm>
            <a:off x="685800" y="2917080"/>
            <a:ext cx="10831320" cy="47124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9" name="Text 20"/>
          <p:cNvSpPr/>
          <p:nvPr/>
        </p:nvSpPr>
        <p:spPr>
          <a:xfrm>
            <a:off x="758880" y="306324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CrashLoopBackOff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0" name="Text 21"/>
          <p:cNvSpPr/>
          <p:nvPr/>
        </p:nvSpPr>
        <p:spPr>
          <a:xfrm>
            <a:off x="2862000" y="306324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Runtime crash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1" name="Text 22"/>
          <p:cNvSpPr/>
          <p:nvPr/>
        </p:nvSpPr>
        <p:spPr>
          <a:xfrm>
            <a:off x="5239440" y="306324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logs --previous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2" name="Text 23"/>
          <p:cNvSpPr/>
          <p:nvPr/>
        </p:nvSpPr>
        <p:spPr>
          <a:xfrm>
            <a:off x="7616880" y="306324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bad command, config, app error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3" name="Shape 24"/>
          <p:cNvSpPr/>
          <p:nvPr/>
        </p:nvSpPr>
        <p:spPr>
          <a:xfrm>
            <a:off x="685800" y="3447360"/>
            <a:ext cx="10831320" cy="47124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4" name="Text 25"/>
          <p:cNvSpPr/>
          <p:nvPr/>
        </p:nvSpPr>
        <p:spPr>
          <a:xfrm>
            <a:off x="758880" y="359352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Running not Ready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5" name="Text 26"/>
          <p:cNvSpPr/>
          <p:nvPr/>
        </p:nvSpPr>
        <p:spPr>
          <a:xfrm>
            <a:off x="2862000" y="359352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Health gate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6" name="Text 27"/>
          <p:cNvSpPr/>
          <p:nvPr/>
        </p:nvSpPr>
        <p:spPr>
          <a:xfrm>
            <a:off x="5239440" y="359352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describe + logs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7" name="Text 28"/>
          <p:cNvSpPr/>
          <p:nvPr/>
        </p:nvSpPr>
        <p:spPr>
          <a:xfrm>
            <a:off x="7616880" y="359352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readiness path, dependency down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8" name="Shape 29"/>
          <p:cNvSpPr/>
          <p:nvPr/>
        </p:nvSpPr>
        <p:spPr>
          <a:xfrm>
            <a:off x="685800" y="3977640"/>
            <a:ext cx="10831320" cy="47124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9" name="Text 30"/>
          <p:cNvSpPr/>
          <p:nvPr/>
        </p:nvSpPr>
        <p:spPr>
          <a:xfrm>
            <a:off x="758880" y="412380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OOMKilled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0" name="Text 31"/>
          <p:cNvSpPr/>
          <p:nvPr/>
        </p:nvSpPr>
        <p:spPr>
          <a:xfrm>
            <a:off x="2862000" y="412380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Runtime limit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1" name="Text 32"/>
          <p:cNvSpPr/>
          <p:nvPr/>
        </p:nvSpPr>
        <p:spPr>
          <a:xfrm>
            <a:off x="5239440" y="412380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describe pod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2" name="Text 33"/>
          <p:cNvSpPr/>
          <p:nvPr/>
        </p:nvSpPr>
        <p:spPr>
          <a:xfrm>
            <a:off x="7616880" y="412380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memory limit exceeded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3" name="Shape 34"/>
          <p:cNvSpPr/>
          <p:nvPr/>
        </p:nvSpPr>
        <p:spPr>
          <a:xfrm>
            <a:off x="685800" y="4507920"/>
            <a:ext cx="10831320" cy="47124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4" name="Text 35"/>
          <p:cNvSpPr/>
          <p:nvPr/>
        </p:nvSpPr>
        <p:spPr>
          <a:xfrm>
            <a:off x="758880" y="465444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 endpoints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5" name="Text 36"/>
          <p:cNvSpPr/>
          <p:nvPr/>
        </p:nvSpPr>
        <p:spPr>
          <a:xfrm>
            <a:off x="2862000" y="465444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Service routing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6" name="Text 37"/>
          <p:cNvSpPr/>
          <p:nvPr/>
        </p:nvSpPr>
        <p:spPr>
          <a:xfrm>
            <a:off x="5239440" y="465444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get endpoints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7" name="Text 38"/>
          <p:cNvSpPr/>
          <p:nvPr/>
        </p:nvSpPr>
        <p:spPr>
          <a:xfrm>
            <a:off x="7616880" y="465444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selector mismatch or not ready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Rectangle 1"/>
          <p:cNvSpPr/>
          <p:nvPr/>
        </p:nvSpPr>
        <p:spPr>
          <a:xfrm>
            <a:off x="0" y="0"/>
            <a:ext cx="12191040" cy="6856560"/>
          </a:xfrm>
          <a:prstGeom prst="rect">
            <a:avLst/>
          </a:prstGeom>
          <a:solidFill>
            <a:srgbClr val="0712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89" name="Rectangle 3"/>
          <p:cNvSpPr/>
          <p:nvPr/>
        </p:nvSpPr>
        <p:spPr>
          <a:xfrm>
            <a:off x="0" y="0"/>
            <a:ext cx="12191040" cy="59760"/>
          </a:xfrm>
          <a:prstGeom prst="rect">
            <a:avLst/>
          </a:prstGeom>
          <a:solidFill>
            <a:srgbClr val="00AE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6200" rIns="90000" bIns="16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90" name="TextBox 1"/>
          <p:cNvSpPr/>
          <p:nvPr/>
        </p:nvSpPr>
        <p:spPr>
          <a:xfrm>
            <a:off x="571320" y="342720"/>
            <a:ext cx="4883760" cy="60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Fast Failure Diagnosis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1" name="TextBox 2"/>
          <p:cNvSpPr/>
          <p:nvPr/>
        </p:nvSpPr>
        <p:spPr>
          <a:xfrm>
            <a:off x="594360" y="876240"/>
            <a:ext cx="618876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A4BAD0"/>
                </a:solidFill>
                <a:effectLst/>
                <a:uFillTx/>
                <a:latin typeface="Calibri"/>
              </a:rPr>
              <a:t>Use module-local manifests, not old challenges/solutions paths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2" name="TextBox 6"/>
          <p:cNvSpPr/>
          <p:nvPr/>
        </p:nvSpPr>
        <p:spPr>
          <a:xfrm>
            <a:off x="761760" y="1447560"/>
            <a:ext cx="10667160" cy="181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Start from a healthy Module 4 baseline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Apply one faulty manifest from modules/module-05-fast-failure-diagnosis/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Observe the symptom before fixing anything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Recover from the reference manifest in k8s/base/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3" name="Rounded Rectangle 1"/>
          <p:cNvSpPr/>
          <p:nvPr/>
        </p:nvSpPr>
        <p:spPr>
          <a:xfrm>
            <a:off x="5486400" y="3429000"/>
            <a:ext cx="6171120" cy="1370520"/>
          </a:xfrm>
          <a:prstGeom prst="roundRect">
            <a:avLst>
              <a:gd name="adj" fmla="val 16667"/>
            </a:avLst>
          </a:prstGeom>
          <a:solidFill>
            <a:srgbClr val="0C1F36"/>
          </a:solidFill>
          <a:ln w="15240">
            <a:solidFill>
              <a:srgbClr val="1F5B8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94" name="TextBox 8"/>
          <p:cNvSpPr/>
          <p:nvPr/>
        </p:nvSpPr>
        <p:spPr>
          <a:xfrm>
            <a:off x="5715000" y="3429000"/>
            <a:ext cx="591804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cd ~/k8s-workshop-2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ls modules/module-05-fast-failure-diagnosis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# Working reference: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k8s/base/06-app-deployment.yaml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5" name="Rounded Rectangle 2"/>
          <p:cNvSpPr/>
          <p:nvPr/>
        </p:nvSpPr>
        <p:spPr>
          <a:xfrm>
            <a:off x="3276360" y="5105160"/>
            <a:ext cx="5637600" cy="417600"/>
          </a:xfrm>
          <a:prstGeom prst="roundRect">
            <a:avLst>
              <a:gd name="adj" fmla="val 16667"/>
            </a:avLst>
          </a:prstGeom>
          <a:solidFill>
            <a:srgbClr val="4DD69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96" name="TextBox 10"/>
          <p:cNvSpPr/>
          <p:nvPr/>
        </p:nvSpPr>
        <p:spPr>
          <a:xfrm>
            <a:off x="3428280" y="5144400"/>
            <a:ext cx="533448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020C19"/>
                </a:solidFill>
                <a:effectLst/>
                <a:uFillTx/>
                <a:latin typeface="Calibri"/>
              </a:rPr>
              <a:t>Observe → Describe → Logs/Events → Recover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7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8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9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ImagePullBackOff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0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The container never started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1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What happened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2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Common causes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3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Kubelet tried to pull the image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Pull failed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Retry delay increases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There are no app logs yet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Events contain the clue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4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Typo in image name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Wrong tag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Private registry without secret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Proxy/certificate/DNS issue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ImagePullPolicy surprises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6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7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1: ImagePullBackOff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8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Break and diagnose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9" name="Shape 4"/>
          <p:cNvSpPr/>
          <p:nvPr/>
        </p:nvSpPr>
        <p:spPr>
          <a:xfrm>
            <a:off x="685800" y="1417320"/>
            <a:ext cx="10877040" cy="223920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0" name="Text 5"/>
          <p:cNvSpPr/>
          <p:nvPr/>
        </p:nvSpPr>
        <p:spPr>
          <a:xfrm>
            <a:off x="850320" y="1563480"/>
            <a:ext cx="10557000" cy="42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delete -n k8s-workshop -f k8s/base/06-app-deployment.yaml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modules/module-05-fast-failure-diagnosis/01-imagepullbackoff.yaml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pods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pod &lt;pod-name&gt;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events --sort-by=.lastTimestamp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1" name="TextBox 7"/>
          <p:cNvSpPr/>
          <p:nvPr/>
        </p:nvSpPr>
        <p:spPr>
          <a:xfrm>
            <a:off x="685800" y="3886200"/>
            <a:ext cx="10285920" cy="13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Expected: ErrImagePull → ImagePullBackOff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There are no application logs yet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The clue is in Pod events and image name/tag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2" name="Rounded Rectangle 8"/>
          <p:cNvSpPr/>
          <p:nvPr/>
        </p:nvSpPr>
        <p:spPr>
          <a:xfrm>
            <a:off x="5943600" y="5623920"/>
            <a:ext cx="4753440" cy="547200"/>
          </a:xfrm>
          <a:prstGeom prst="roundRect">
            <a:avLst>
              <a:gd name="adj" fmla="val 16667"/>
            </a:avLst>
          </a:prstGeom>
          <a:solidFill>
            <a:srgbClr val="FFD5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13" name="TextBox 9"/>
          <p:cNvSpPr/>
          <p:nvPr/>
        </p:nvSpPr>
        <p:spPr>
          <a:xfrm>
            <a:off x="6172200" y="5715360"/>
            <a:ext cx="4132440" cy="34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020C19"/>
                </a:solidFill>
                <a:effectLst/>
                <a:uFillTx/>
                <a:latin typeface="Calibri"/>
              </a:rPr>
              <a:t>Question: did the process ever start?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4" name="Rectangle 10"/>
          <p:cNvSpPr/>
          <p:nvPr/>
        </p:nvSpPr>
        <p:spPr>
          <a:xfrm>
            <a:off x="0" y="0"/>
            <a:ext cx="12191040" cy="6856560"/>
          </a:xfrm>
          <a:prstGeom prst="rect">
            <a:avLst/>
          </a:prstGeom>
          <a:solidFill>
            <a:srgbClr val="0712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15" name="Rectangle 11"/>
          <p:cNvSpPr/>
          <p:nvPr/>
        </p:nvSpPr>
        <p:spPr>
          <a:xfrm>
            <a:off x="0" y="0"/>
            <a:ext cx="12191040" cy="59760"/>
          </a:xfrm>
          <a:prstGeom prst="rect">
            <a:avLst/>
          </a:prstGeom>
          <a:solidFill>
            <a:srgbClr val="00AE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6200" rIns="90000" bIns="16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16" name="TextBox 23"/>
          <p:cNvSpPr/>
          <p:nvPr/>
        </p:nvSpPr>
        <p:spPr>
          <a:xfrm>
            <a:off x="571320" y="342720"/>
            <a:ext cx="5320440" cy="60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Quick fix — kubectl edit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7" name="TextBox 24"/>
          <p:cNvSpPr/>
          <p:nvPr/>
        </p:nvSpPr>
        <p:spPr>
          <a:xfrm>
            <a:off x="594000" y="876240"/>
            <a:ext cx="884664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A4BAD0"/>
                </a:solidFill>
                <a:effectLst/>
                <a:uFillTx/>
                <a:latin typeface="Calibri"/>
              </a:rPr>
              <a:t>Use only for quick investigation or emergency edits — keep Git/YAML as the source of truth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8" name="Rounded Rectangle 9"/>
          <p:cNvSpPr/>
          <p:nvPr/>
        </p:nvSpPr>
        <p:spPr>
          <a:xfrm>
            <a:off x="457200" y="1333080"/>
            <a:ext cx="6856920" cy="3275280"/>
          </a:xfrm>
          <a:prstGeom prst="roundRect">
            <a:avLst>
              <a:gd name="adj" fmla="val 16667"/>
            </a:avLst>
          </a:prstGeom>
          <a:solidFill>
            <a:srgbClr val="0C1F36"/>
          </a:solidFill>
          <a:ln w="15240">
            <a:solidFill>
              <a:srgbClr val="1F5B8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19" name="TextBox 25"/>
          <p:cNvSpPr/>
          <p:nvPr/>
        </p:nvSpPr>
        <p:spPr>
          <a:xfrm>
            <a:off x="713160" y="1510560"/>
            <a:ext cx="6373440" cy="283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# ImagePullBackOff example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kubectl -n k8s-workshop edit deploy/flask-app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# Find the container image: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image: localhost:5000/k8s-workshop-app:debgu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# Fix the tag: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image: localhost:5000/k8s-workshop-app:debug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# Save and exit editor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0" name="TextBox 26"/>
          <p:cNvSpPr/>
          <p:nvPr/>
        </p:nvSpPr>
        <p:spPr>
          <a:xfrm>
            <a:off x="7353360" y="1523880"/>
            <a:ext cx="6722640" cy="188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Good for showing live object editing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Creates a new Deployment revision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Then watch the rollout status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Do not use as the normal workshop recovery path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1" name="Rounded Rectangle 11"/>
          <p:cNvSpPr/>
          <p:nvPr/>
        </p:nvSpPr>
        <p:spPr>
          <a:xfrm>
            <a:off x="3200400" y="4572000"/>
            <a:ext cx="7999920" cy="913320"/>
          </a:xfrm>
          <a:prstGeom prst="roundRect">
            <a:avLst>
              <a:gd name="adj" fmla="val 16667"/>
            </a:avLst>
          </a:prstGeom>
          <a:solidFill>
            <a:srgbClr val="0C1F36"/>
          </a:solidFill>
          <a:ln w="15240">
            <a:solidFill>
              <a:srgbClr val="1F5B8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22" name="TextBox 27"/>
          <p:cNvSpPr/>
          <p:nvPr/>
        </p:nvSpPr>
        <p:spPr>
          <a:xfrm>
            <a:off x="3200400" y="4680720"/>
            <a:ext cx="6891840" cy="5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kubectl -n k8s-workshop rollout status deploy/flask-app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kubectl -n k8s-workshop get pods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3" name="Rounded Rectangle 12"/>
          <p:cNvSpPr/>
          <p:nvPr/>
        </p:nvSpPr>
        <p:spPr>
          <a:xfrm>
            <a:off x="685800" y="5677200"/>
            <a:ext cx="10971720" cy="493920"/>
          </a:xfrm>
          <a:prstGeom prst="roundRect">
            <a:avLst>
              <a:gd name="adj" fmla="val 16667"/>
            </a:avLst>
          </a:prstGeom>
          <a:solidFill>
            <a:srgbClr val="FFD5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24" name="TextBox 28"/>
          <p:cNvSpPr/>
          <p:nvPr/>
        </p:nvSpPr>
        <p:spPr>
          <a:xfrm>
            <a:off x="932760" y="5715000"/>
            <a:ext cx="10268640" cy="34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020C19"/>
                </a:solidFill>
                <a:effectLst/>
                <a:uFillTx/>
                <a:latin typeface="Calibri"/>
              </a:rPr>
              <a:t>After the demo, restore from k8s/base/06-app-deployment.yaml to keep the lab deterministic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5" name="Rectangle 4"/>
          <p:cNvSpPr/>
          <p:nvPr/>
        </p:nvSpPr>
        <p:spPr>
          <a:xfrm>
            <a:off x="0" y="0"/>
            <a:ext cx="12191040" cy="6856560"/>
          </a:xfrm>
          <a:prstGeom prst="rect">
            <a:avLst/>
          </a:prstGeom>
          <a:solidFill>
            <a:srgbClr val="0712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26" name="Rectangle 5"/>
          <p:cNvSpPr/>
          <p:nvPr/>
        </p:nvSpPr>
        <p:spPr>
          <a:xfrm>
            <a:off x="0" y="0"/>
            <a:ext cx="12191040" cy="59760"/>
          </a:xfrm>
          <a:prstGeom prst="rect">
            <a:avLst/>
          </a:prstGeom>
          <a:solidFill>
            <a:srgbClr val="00AE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6200" rIns="90000" bIns="16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27" name="TextBox 5"/>
          <p:cNvSpPr/>
          <p:nvPr/>
        </p:nvSpPr>
        <p:spPr>
          <a:xfrm>
            <a:off x="571320" y="342720"/>
            <a:ext cx="8148240" cy="60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Recovery reveal — ImagePullBackOff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8" name="TextBox 11"/>
          <p:cNvSpPr/>
          <p:nvPr/>
        </p:nvSpPr>
        <p:spPr>
          <a:xfrm>
            <a:off x="594360" y="876240"/>
            <a:ext cx="494604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A4BAD0"/>
                </a:solidFill>
                <a:effectLst/>
                <a:uFillTx/>
                <a:latin typeface="Calibri"/>
              </a:rPr>
              <a:t>Show after participants identify the bad image tag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9" name="Rounded Rectangle 3"/>
          <p:cNvSpPr/>
          <p:nvPr/>
        </p:nvSpPr>
        <p:spPr>
          <a:xfrm>
            <a:off x="730080" y="1828800"/>
            <a:ext cx="10698840" cy="2742120"/>
          </a:xfrm>
          <a:prstGeom prst="roundRect">
            <a:avLst>
              <a:gd name="adj" fmla="val 16667"/>
            </a:avLst>
          </a:prstGeom>
          <a:solidFill>
            <a:srgbClr val="0C1F36"/>
          </a:solidFill>
          <a:ln w="15240">
            <a:solidFill>
              <a:srgbClr val="1F5B8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30" name="TextBox 12"/>
          <p:cNvSpPr/>
          <p:nvPr/>
        </p:nvSpPr>
        <p:spPr>
          <a:xfrm>
            <a:off x="914400" y="2057040"/>
            <a:ext cx="1018440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delete -n k8s-workshop \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-f modules/module-05-fast-failure-diagnosis/01-imagepullbackoff.yaml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apply -n k8s-workshop -f k8s/base/06-app-deployment.yaml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-n k8s-workshop rollout status deployment/flask-app --timeout=120s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-n k8s-workshop get pods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1" name="TextBox 13"/>
          <p:cNvSpPr/>
          <p:nvPr/>
        </p:nvSpPr>
        <p:spPr>
          <a:xfrm>
            <a:off x="1600200" y="4822200"/>
            <a:ext cx="7999920" cy="13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We do not keep a separate solution YAML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The working source of truth is k8s/base/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This also avoids old challenges/solutions paths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2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3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4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CrashLoopBackOff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5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The image starts, then the process exits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6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What happened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7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Use these signals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8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 was pulled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Container started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Main process exited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Kubernetes restarted it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Backoff delay increased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9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logs &lt;pod&gt;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logs &lt;pod&gt; --previous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exit code in describe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environment variables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command and args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0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1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2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2: CrashLoopBackOff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3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The key command is logs --previous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4" name="Shape 4"/>
          <p:cNvSpPr/>
          <p:nvPr/>
        </p:nvSpPr>
        <p:spPr>
          <a:xfrm>
            <a:off x="685800" y="1417320"/>
            <a:ext cx="10877040" cy="269640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5" name="Text 5"/>
          <p:cNvSpPr/>
          <p:nvPr/>
        </p:nvSpPr>
        <p:spPr>
          <a:xfrm>
            <a:off x="850320" y="1563480"/>
            <a:ext cx="10557000" cy="42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delete -n k8s-workshop -f k8s/base/06-app-deployment.yaml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modules/module-05-fast-failure-diagnosis/02-crashloopbackoff.yaml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pods -w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&lt;pod-name&gt;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&lt;pod-name&gt; --previous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pod &lt;pod-name&gt;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6" name="TextBox 3"/>
          <p:cNvSpPr/>
          <p:nvPr/>
        </p:nvSpPr>
        <p:spPr>
          <a:xfrm>
            <a:off x="731880" y="4114800"/>
            <a:ext cx="9325440" cy="13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Expected: CrashLoopBackOff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Use --previous for the last failed container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Check command, args, env and exit code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7" name="Rounded Rectangle 4"/>
          <p:cNvSpPr/>
          <p:nvPr/>
        </p:nvSpPr>
        <p:spPr>
          <a:xfrm>
            <a:off x="6629400" y="5623920"/>
            <a:ext cx="4387680" cy="547200"/>
          </a:xfrm>
          <a:prstGeom prst="roundRect">
            <a:avLst>
              <a:gd name="adj" fmla="val 16667"/>
            </a:avLst>
          </a:prstGeom>
          <a:solidFill>
            <a:srgbClr val="00AE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48" name=""/>
          <p:cNvSpPr/>
          <p:nvPr/>
        </p:nvSpPr>
        <p:spPr>
          <a:xfrm>
            <a:off x="7086600" y="5715000"/>
            <a:ext cx="3391920" cy="38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700" b="1" u="none" strike="noStrike">
                <a:solidFill>
                  <a:srgbClr val="020C19"/>
                </a:solidFill>
                <a:effectLst/>
                <a:uFillTx/>
                <a:latin typeface="Calibri"/>
              </a:rPr>
              <a:t>Key command: logs --previous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" name="Rectangle 6"/>
          <p:cNvSpPr/>
          <p:nvPr/>
        </p:nvSpPr>
        <p:spPr>
          <a:xfrm>
            <a:off x="0" y="0"/>
            <a:ext cx="12191040" cy="6856560"/>
          </a:xfrm>
          <a:prstGeom prst="rect">
            <a:avLst/>
          </a:prstGeom>
          <a:solidFill>
            <a:srgbClr val="0712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50" name="Rectangle 7"/>
          <p:cNvSpPr/>
          <p:nvPr/>
        </p:nvSpPr>
        <p:spPr>
          <a:xfrm>
            <a:off x="0" y="0"/>
            <a:ext cx="12191040" cy="59760"/>
          </a:xfrm>
          <a:prstGeom prst="rect">
            <a:avLst/>
          </a:prstGeom>
          <a:solidFill>
            <a:srgbClr val="00AE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6200" rIns="90000" bIns="16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51" name="TextBox 14"/>
          <p:cNvSpPr/>
          <p:nvPr/>
        </p:nvSpPr>
        <p:spPr>
          <a:xfrm>
            <a:off x="571320" y="342720"/>
            <a:ext cx="8222040" cy="60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Recovery reveal — CrashLoopBackOff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2" name="TextBox 15"/>
          <p:cNvSpPr/>
          <p:nvPr/>
        </p:nvSpPr>
        <p:spPr>
          <a:xfrm>
            <a:off x="594000" y="876240"/>
            <a:ext cx="413640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A4BAD0"/>
                </a:solidFill>
                <a:effectLst/>
                <a:uFillTx/>
                <a:latin typeface="Calibri"/>
              </a:rPr>
              <a:t>Restore the normal Deployment template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3" name="Rounded Rectangle 6"/>
          <p:cNvSpPr/>
          <p:nvPr/>
        </p:nvSpPr>
        <p:spPr>
          <a:xfrm>
            <a:off x="685800" y="1600200"/>
            <a:ext cx="10666800" cy="2513520"/>
          </a:xfrm>
          <a:prstGeom prst="roundRect">
            <a:avLst>
              <a:gd name="adj" fmla="val 16667"/>
            </a:avLst>
          </a:prstGeom>
          <a:solidFill>
            <a:srgbClr val="0C1F36"/>
          </a:solidFill>
          <a:ln w="15240">
            <a:solidFill>
              <a:srgbClr val="1F5B8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54" name="TextBox 16"/>
          <p:cNvSpPr/>
          <p:nvPr/>
        </p:nvSpPr>
        <p:spPr>
          <a:xfrm>
            <a:off x="914400" y="1828440"/>
            <a:ext cx="1018440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delete -n k8s-workshop \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-f modules/module-05-fast-failure-diagnosis/02-crashloopbackoff.yaml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apply -n k8s-workshop -f k8s/base/06-app-deployment.yaml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-n k8s-workshop rollout status deployment/flask-app --timeout=120s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-n k8s-workshop logs deployment/flask-app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5" name="TextBox 17"/>
          <p:cNvSpPr/>
          <p:nvPr/>
        </p:nvSpPr>
        <p:spPr>
          <a:xfrm>
            <a:off x="838440" y="4343400"/>
            <a:ext cx="8990280" cy="13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The faulty manifest overrides command/args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The base Deployment restores the real app startup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Verify the rollout, then move on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6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7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8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Running but not Ready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9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Running is not the same as receiving traffic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0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Readiness means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1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Common causes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2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The process is running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Kubernetes asked the app if it is ready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The app said no or did not respond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Service endpoints exclude the Pod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Traffic should not be routed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3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Wrong readiness path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Wrong port or targetPort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Dependency unavailable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DB credentials wrong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App takes longer to start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4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5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6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3: Readiness failure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7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Pod runs, Service has no ready endpoint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8" name="Shape 4"/>
          <p:cNvSpPr/>
          <p:nvPr/>
        </p:nvSpPr>
        <p:spPr>
          <a:xfrm>
            <a:off x="685800" y="1417320"/>
            <a:ext cx="10877040" cy="269640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9" name="Text 5"/>
          <p:cNvSpPr/>
          <p:nvPr/>
        </p:nvSpPr>
        <p:spPr>
          <a:xfrm>
            <a:off x="850320" y="1563480"/>
            <a:ext cx="10557000" cy="42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delete -n k8s-workshop -f k8s/base/06-app-deployment.yaml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modules/module-05-fast-failure-diagnosis/03-readiness-failure.yaml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pods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pod &lt;pod-name&gt;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endpoints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&lt;pod-name&gt;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0" name="TextBox 4"/>
          <p:cNvSpPr/>
          <p:nvPr/>
        </p:nvSpPr>
        <p:spPr>
          <a:xfrm>
            <a:off x="731880" y="4343400"/>
            <a:ext cx="9554040" cy="13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Expected: Running, but 0/1 Ready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Readiness probe uses the wrong path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Service endpoints exclude unready Pods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1" name="Rounded Rectangle 5"/>
          <p:cNvSpPr/>
          <p:nvPr/>
        </p:nvSpPr>
        <p:spPr>
          <a:xfrm>
            <a:off x="7909920" y="5715000"/>
            <a:ext cx="3290400" cy="547200"/>
          </a:xfrm>
          <a:prstGeom prst="roundRect">
            <a:avLst>
              <a:gd name="adj" fmla="val 16667"/>
            </a:avLst>
          </a:prstGeom>
          <a:solidFill>
            <a:srgbClr val="FFD5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72" name="TextBox 18"/>
          <p:cNvSpPr/>
          <p:nvPr/>
        </p:nvSpPr>
        <p:spPr>
          <a:xfrm>
            <a:off x="8461080" y="5822280"/>
            <a:ext cx="211464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020C19"/>
                </a:solidFill>
                <a:effectLst/>
                <a:uFillTx/>
                <a:latin typeface="Calibri"/>
              </a:rPr>
              <a:t>Running ≠= Ready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3" name="Rectangle 8"/>
          <p:cNvSpPr/>
          <p:nvPr/>
        </p:nvSpPr>
        <p:spPr>
          <a:xfrm>
            <a:off x="0" y="0"/>
            <a:ext cx="12191040" cy="6856560"/>
          </a:xfrm>
          <a:prstGeom prst="rect">
            <a:avLst/>
          </a:prstGeom>
          <a:solidFill>
            <a:srgbClr val="0712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74" name="Rectangle 9"/>
          <p:cNvSpPr/>
          <p:nvPr/>
        </p:nvSpPr>
        <p:spPr>
          <a:xfrm>
            <a:off x="0" y="0"/>
            <a:ext cx="12191040" cy="59760"/>
          </a:xfrm>
          <a:prstGeom prst="rect">
            <a:avLst/>
          </a:prstGeom>
          <a:solidFill>
            <a:srgbClr val="00AE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6200" rIns="90000" bIns="16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75" name="TextBox 19"/>
          <p:cNvSpPr/>
          <p:nvPr/>
        </p:nvSpPr>
        <p:spPr>
          <a:xfrm>
            <a:off x="571320" y="342720"/>
            <a:ext cx="7934040" cy="60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Recovery reveal — Readiness failure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6" name="TextBox 20"/>
          <p:cNvSpPr/>
          <p:nvPr/>
        </p:nvSpPr>
        <p:spPr>
          <a:xfrm>
            <a:off x="594360" y="876240"/>
            <a:ext cx="476676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A4BAD0"/>
                </a:solidFill>
                <a:effectLst/>
                <a:uFillTx/>
                <a:latin typeface="Calibri"/>
              </a:rPr>
              <a:t>Restore readiness probe from the base manifest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7" name="Rounded Rectangle 7"/>
          <p:cNvSpPr/>
          <p:nvPr/>
        </p:nvSpPr>
        <p:spPr>
          <a:xfrm>
            <a:off x="762120" y="1828800"/>
            <a:ext cx="10666800" cy="2513520"/>
          </a:xfrm>
          <a:prstGeom prst="roundRect">
            <a:avLst>
              <a:gd name="adj" fmla="val 16667"/>
            </a:avLst>
          </a:prstGeom>
          <a:solidFill>
            <a:srgbClr val="0C1F36"/>
          </a:solidFill>
          <a:ln w="15240">
            <a:solidFill>
              <a:srgbClr val="1F5B8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78" name="TextBox 21"/>
          <p:cNvSpPr/>
          <p:nvPr/>
        </p:nvSpPr>
        <p:spPr>
          <a:xfrm>
            <a:off x="914400" y="2057040"/>
            <a:ext cx="1018440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delete -n k8s-workshop \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-f modules/module-05-fast-failure-diagnosis/03-readiness-failure.yaml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apply -n k8s-workshop -f k8s/base/06-app-deployment.yaml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-n k8s-workshop rollout status deployment/flask-app --timeout=120s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-n k8s-workshop get endpoints flask-app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9" name="TextBox 22"/>
          <p:cNvSpPr/>
          <p:nvPr/>
        </p:nvSpPr>
        <p:spPr>
          <a:xfrm>
            <a:off x="914400" y="4593600"/>
            <a:ext cx="9142920" cy="13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The app was running, but excluded from traffic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Fix readiness before testing Service routing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Use endpoints as a quick Service readiness check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1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2" name="Text 2"/>
          <p:cNvSpPr/>
          <p:nvPr/>
        </p:nvSpPr>
        <p:spPr>
          <a:xfrm>
            <a:off x="658440" y="2148840"/>
            <a:ext cx="10602720" cy="72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6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3" name="Text 3"/>
          <p:cNvSpPr/>
          <p:nvPr/>
        </p:nvSpPr>
        <p:spPr>
          <a:xfrm>
            <a:off x="676800" y="2953440"/>
            <a:ext cx="959688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PostgreSQL and database migrations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4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5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6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7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Adding PostgreSQL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8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Make the app more realistic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9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Kubernetes objects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0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Operational questions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1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StatefulSet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Headless or normal Service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Secret for credentials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via volumeClaimTemplates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Readiness depends on DB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2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Where is data stored?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When is DB ready?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How do we migrate schema?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What fails if Secret is wrong?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What should restart automatically?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3" name="Rectangle 12"/>
          <p:cNvSpPr/>
          <p:nvPr/>
        </p:nvSpPr>
        <p:spPr>
          <a:xfrm>
            <a:off x="0" y="0"/>
            <a:ext cx="12191040" cy="6856560"/>
          </a:xfrm>
          <a:prstGeom prst="rect">
            <a:avLst/>
          </a:prstGeom>
          <a:solidFill>
            <a:srgbClr val="0712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94" name="Rectangle 13"/>
          <p:cNvSpPr/>
          <p:nvPr/>
        </p:nvSpPr>
        <p:spPr>
          <a:xfrm>
            <a:off x="0" y="0"/>
            <a:ext cx="12191040" cy="59760"/>
          </a:xfrm>
          <a:prstGeom prst="rect">
            <a:avLst/>
          </a:prstGeom>
          <a:solidFill>
            <a:srgbClr val="00AE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6200" rIns="90000" bIns="16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95" name="TextBox 30"/>
          <p:cNvSpPr/>
          <p:nvPr/>
        </p:nvSpPr>
        <p:spPr>
          <a:xfrm>
            <a:off x="571320" y="342720"/>
            <a:ext cx="32439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300" b="1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Recovery rules</a:t>
            </a:r>
            <a:endParaRPr lang="en-US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6" name="TextBox 31"/>
          <p:cNvSpPr/>
          <p:nvPr/>
        </p:nvSpPr>
        <p:spPr>
          <a:xfrm>
            <a:off x="594000" y="876240"/>
            <a:ext cx="374976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A4BAD0"/>
                </a:solidFill>
                <a:effectLst/>
                <a:uFillTx/>
                <a:latin typeface="Calibri"/>
              </a:rPr>
              <a:t>Keep the flow short and deterministic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7" name="TextBox 32"/>
          <p:cNvSpPr/>
          <p:nvPr/>
        </p:nvSpPr>
        <p:spPr>
          <a:xfrm>
            <a:off x="761760" y="1447560"/>
            <a:ext cx="7690320" cy="187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3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Never delete PostgreSQL during this module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3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Delete a Job before re-running the same Job name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3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Use k8s/base/ to restore the normal app configuration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3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Use repair Job to clean the controlled broken SQL state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8" name="Rounded Rectangle 10"/>
          <p:cNvSpPr/>
          <p:nvPr/>
        </p:nvSpPr>
        <p:spPr>
          <a:xfrm>
            <a:off x="6782040" y="3475080"/>
            <a:ext cx="4875480" cy="2010240"/>
          </a:xfrm>
          <a:prstGeom prst="roundRect">
            <a:avLst>
              <a:gd name="adj" fmla="val 16667"/>
            </a:avLst>
          </a:prstGeom>
          <a:solidFill>
            <a:srgbClr val="0C1F36"/>
          </a:solidFill>
          <a:ln w="15240">
            <a:solidFill>
              <a:srgbClr val="1F5B8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99" name="TextBox 33"/>
          <p:cNvSpPr/>
          <p:nvPr/>
        </p:nvSpPr>
        <p:spPr>
          <a:xfrm>
            <a:off x="7356600" y="3475080"/>
            <a:ext cx="3387600" cy="18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7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# Cleanup after the module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7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kubectl delete job \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7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db-migration \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7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db-migration-broken \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7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db-migration-repair \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7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-n k8s-workshop \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7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--ignore-not-found=true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0" name="Rounded Rectangle 13"/>
          <p:cNvSpPr/>
          <p:nvPr/>
        </p:nvSpPr>
        <p:spPr>
          <a:xfrm>
            <a:off x="2171160" y="5715000"/>
            <a:ext cx="7314120" cy="493920"/>
          </a:xfrm>
          <a:prstGeom prst="roundRect">
            <a:avLst>
              <a:gd name="adj" fmla="val 16667"/>
            </a:avLst>
          </a:prstGeom>
          <a:solidFill>
            <a:srgbClr val="4DD69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01" name="TextBox 34"/>
          <p:cNvSpPr/>
          <p:nvPr/>
        </p:nvSpPr>
        <p:spPr>
          <a:xfrm>
            <a:off x="2362320" y="5808600"/>
            <a:ext cx="678168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020C19"/>
                </a:solidFill>
                <a:effectLst/>
                <a:uFillTx/>
                <a:latin typeface="Calibri"/>
              </a:rPr>
              <a:t>Migrations should be atomic, idempotent, and observable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2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3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4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Deploy PostgreSQL and migration Job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5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The DB becomes part of the application lifecycle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6" name="Shape 4"/>
          <p:cNvSpPr/>
          <p:nvPr/>
        </p:nvSpPr>
        <p:spPr>
          <a:xfrm>
            <a:off x="685800" y="1417320"/>
            <a:ext cx="10877040" cy="45676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7" name="Text 5"/>
          <p:cNvSpPr/>
          <p:nvPr/>
        </p:nvSpPr>
        <p:spPr>
          <a:xfrm>
            <a:off x="850320" y="1563480"/>
            <a:ext cx="10557000" cy="42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THIS IS ALREADY DONE !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k8s/base/04-postgres-statefulset.yaml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status statefulset/postgres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pvc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k8s/base/05-migration-job.yaml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job/db-migration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jobs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9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0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Migration Job vs initContainer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1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Use the right mechanism for the risk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2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Migration Job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3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initContainer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4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Runs once per release step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Easy to inspect logs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fail before app rollout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Avoids N replicas running migration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Good teaching default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5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Runs before each Pod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Good for local setup/waiting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duplicate migration work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Tightly coupled with Pod startup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Useful but risky for schema changes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7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8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4: DB connection failure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9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Wrong Secret or wrong Service DNS name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0" name="Shape 4"/>
          <p:cNvSpPr/>
          <p:nvPr/>
        </p:nvSpPr>
        <p:spPr>
          <a:xfrm>
            <a:off x="685800" y="1417320"/>
            <a:ext cx="10877040" cy="45676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1" name="Text 5"/>
          <p:cNvSpPr/>
          <p:nvPr/>
        </p:nvSpPr>
        <p:spPr>
          <a:xfrm>
            <a:off x="850320" y="1563480"/>
            <a:ext cx="10557000" cy="42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delete job db-migration db-</a:t>
            </a: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migration-broken db-migration-repair -n </a:t>
            </a: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k8s-workshop \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--ignore-not-found=true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</a:t>
            </a: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modules/module-06-postgresql-and-database-</a:t>
            </a: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migrations/01-wrong-database-secret.yaml 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restart </a:t>
            </a: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deploy/flask-app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pods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deploy/flask-app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pod &lt;pod-name&gt;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Fix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k8s/base/03-</a:t>
            </a: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secret.yaml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k8s/base/06-app-</a:t>
            </a: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deployment,yaml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rollout status </a:t>
            </a: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deploy/flask-app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3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4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5: Broken migration Job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5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Completed vs Failed matters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6" name="Shape 4"/>
          <p:cNvSpPr/>
          <p:nvPr/>
        </p:nvSpPr>
        <p:spPr>
          <a:xfrm>
            <a:off x="685800" y="1417320"/>
            <a:ext cx="10877040" cy="45676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7" name="Text 5"/>
          <p:cNvSpPr/>
          <p:nvPr/>
        </p:nvSpPr>
        <p:spPr>
          <a:xfrm>
            <a:off x="850320" y="1563480"/>
            <a:ext cx="10557000" cy="42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delete job db-migration db-migration-broken db-migration-repair -n k8s-workshop \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--ignore-not-found=true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modules/module-06-postgresql-and-database-migrations/02-broken-migration-job.yaml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jobs,pods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job/db-migration-broken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job db-migration-broken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Fix with a valid migration or fixed Job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k8s/base/03-secret.yaml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k8s/base/06-app-deployment.yaml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status deploy/flask-app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8" name="TextBox 29"/>
          <p:cNvSpPr/>
          <p:nvPr/>
        </p:nvSpPr>
        <p:spPr>
          <a:xfrm>
            <a:off x="6657480" y="2820240"/>
            <a:ext cx="4772520" cy="175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1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Image: migration:broken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1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Isolated schema: workshop_training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1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Expected: Job Failed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1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Key idea: partial DB state can remain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9" name="Shape 231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0" name="Text 282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1" name="Text 283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5: Broken migration Job – cleanup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2" name="Text 284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Completed vs Failed matters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3" name="Shape 232"/>
          <p:cNvSpPr/>
          <p:nvPr/>
        </p:nvSpPr>
        <p:spPr>
          <a:xfrm>
            <a:off x="685800" y="1371600"/>
            <a:ext cx="10877040" cy="47962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4" name="Text 285"/>
          <p:cNvSpPr/>
          <p:nvPr/>
        </p:nvSpPr>
        <p:spPr>
          <a:xfrm>
            <a:off x="850320" y="1563480"/>
            <a:ext cx="10557000" cy="460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delete job db-migration-repair -n k8s-workshop --ignore-not-found=true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apply -n k8s-workshop -f modules/module-06-postgresql-and-database-migrations/03-repair-migration-job.yaml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-n k8s-workshop wait --for=condition=complete job/db-migration-repair --timeout=120s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-n k8s-workshop logs job/db-migration-repair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-n k8s-workshop exec statefulset/postgres -- \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  psql -U workshop -d workshop -c \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  "SELECT table_schema, table_name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   FROM information_schema.tables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   WHERE table_schema = 'workshop_training';"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5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6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7" name="Text 2"/>
          <p:cNvSpPr/>
          <p:nvPr/>
        </p:nvSpPr>
        <p:spPr>
          <a:xfrm>
            <a:off x="658440" y="2148840"/>
            <a:ext cx="10602720" cy="72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7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8" name="Text 3"/>
          <p:cNvSpPr/>
          <p:nvPr/>
        </p:nvSpPr>
        <p:spPr>
          <a:xfrm>
            <a:off x="676800" y="2953440"/>
            <a:ext cx="959688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Volumes and persistence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9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0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1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2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Volume types in this workshop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3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What we can and cannot demonstrate on single-node K3s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4" name="Shape 4"/>
          <p:cNvSpPr/>
          <p:nvPr/>
        </p:nvSpPr>
        <p:spPr>
          <a:xfrm>
            <a:off x="685800" y="1325880"/>
            <a:ext cx="10831320" cy="471240"/>
          </a:xfrm>
          <a:prstGeom prst="rect">
            <a:avLst/>
          </a:prstGeom>
          <a:solidFill>
            <a:srgbClr val="0EA5E9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5" name="Text 5"/>
          <p:cNvSpPr/>
          <p:nvPr/>
        </p:nvSpPr>
        <p:spPr>
          <a:xfrm>
            <a:off x="758880" y="147204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Type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6" name="Text 6"/>
          <p:cNvSpPr/>
          <p:nvPr/>
        </p:nvSpPr>
        <p:spPr>
          <a:xfrm>
            <a:off x="2862000" y="147204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Access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7" name="Text 7"/>
          <p:cNvSpPr/>
          <p:nvPr/>
        </p:nvSpPr>
        <p:spPr>
          <a:xfrm>
            <a:off x="5239440" y="147204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Survives Pod recreation?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8" name="Text 8"/>
          <p:cNvSpPr/>
          <p:nvPr/>
        </p:nvSpPr>
        <p:spPr>
          <a:xfrm>
            <a:off x="7616880" y="147204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Workshop use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9" name="Shape 9"/>
          <p:cNvSpPr/>
          <p:nvPr/>
        </p:nvSpPr>
        <p:spPr>
          <a:xfrm>
            <a:off x="685800" y="1856160"/>
            <a:ext cx="10831320" cy="47124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0" name="Text 10"/>
          <p:cNvSpPr/>
          <p:nvPr/>
        </p:nvSpPr>
        <p:spPr>
          <a:xfrm>
            <a:off x="758880" y="200268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emptyDir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1" name="Text 11"/>
          <p:cNvSpPr/>
          <p:nvPr/>
        </p:nvSpPr>
        <p:spPr>
          <a:xfrm>
            <a:off x="2862000" y="200268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Pod-local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2" name="Text 12"/>
          <p:cNvSpPr/>
          <p:nvPr/>
        </p:nvSpPr>
        <p:spPr>
          <a:xfrm>
            <a:off x="5239440" y="200268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3" name="Text 13"/>
          <p:cNvSpPr/>
          <p:nvPr/>
        </p:nvSpPr>
        <p:spPr>
          <a:xfrm>
            <a:off x="7616880" y="200268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Temporary file log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4" name="Shape 14"/>
          <p:cNvSpPr/>
          <p:nvPr/>
        </p:nvSpPr>
        <p:spPr>
          <a:xfrm>
            <a:off x="685800" y="2386440"/>
            <a:ext cx="10831320" cy="47124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5" name="Text 15"/>
          <p:cNvSpPr/>
          <p:nvPr/>
        </p:nvSpPr>
        <p:spPr>
          <a:xfrm>
            <a:off x="758880" y="253296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ConfigMap volume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6" name="Text 16"/>
          <p:cNvSpPr/>
          <p:nvPr/>
        </p:nvSpPr>
        <p:spPr>
          <a:xfrm>
            <a:off x="2862000" y="253296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Read-only files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7" name="Text 17"/>
          <p:cNvSpPr/>
          <p:nvPr/>
        </p:nvSpPr>
        <p:spPr>
          <a:xfrm>
            <a:off x="5239440" y="253296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N/A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8" name="Text 18"/>
          <p:cNvSpPr/>
          <p:nvPr/>
        </p:nvSpPr>
        <p:spPr>
          <a:xfrm>
            <a:off x="7616880" y="253296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Application configuration as files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9" name="Shape 19"/>
          <p:cNvSpPr/>
          <p:nvPr/>
        </p:nvSpPr>
        <p:spPr>
          <a:xfrm>
            <a:off x="685800" y="2917080"/>
            <a:ext cx="10831320" cy="47124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0" name="Text 20"/>
          <p:cNvSpPr/>
          <p:nvPr/>
        </p:nvSpPr>
        <p:spPr>
          <a:xfrm>
            <a:off x="758880" y="306324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Secret volume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1" name="Text 21"/>
          <p:cNvSpPr/>
          <p:nvPr/>
        </p:nvSpPr>
        <p:spPr>
          <a:xfrm>
            <a:off x="2862000" y="306324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Read-only files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2" name="Text 22"/>
          <p:cNvSpPr/>
          <p:nvPr/>
        </p:nvSpPr>
        <p:spPr>
          <a:xfrm>
            <a:off x="5239440" y="306324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N/A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3" name="Text 23"/>
          <p:cNvSpPr/>
          <p:nvPr/>
        </p:nvSpPr>
        <p:spPr>
          <a:xfrm>
            <a:off x="7616880" y="306324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Credential files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4" name="Shape 24"/>
          <p:cNvSpPr/>
          <p:nvPr/>
        </p:nvSpPr>
        <p:spPr>
          <a:xfrm>
            <a:off x="685800" y="3447360"/>
            <a:ext cx="10831320" cy="47124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5" name="Text 25"/>
          <p:cNvSpPr/>
          <p:nvPr/>
        </p:nvSpPr>
        <p:spPr>
          <a:xfrm>
            <a:off x="758880" y="359352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RWO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6" name="Text 26"/>
          <p:cNvSpPr/>
          <p:nvPr/>
        </p:nvSpPr>
        <p:spPr>
          <a:xfrm>
            <a:off x="2862000" y="359352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Single node write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7" name="Text 27"/>
          <p:cNvSpPr/>
          <p:nvPr/>
        </p:nvSpPr>
        <p:spPr>
          <a:xfrm>
            <a:off x="5239440" y="359352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Yes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8" name="Text 28"/>
          <p:cNvSpPr/>
          <p:nvPr/>
        </p:nvSpPr>
        <p:spPr>
          <a:xfrm>
            <a:off x="7616880" y="359352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Persistent app log and PostgreSQL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9" name="Shape 29"/>
          <p:cNvSpPr/>
          <p:nvPr/>
        </p:nvSpPr>
        <p:spPr>
          <a:xfrm>
            <a:off x="685800" y="3977640"/>
            <a:ext cx="10831320" cy="47124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0" name="Text 30"/>
          <p:cNvSpPr/>
          <p:nvPr/>
        </p:nvSpPr>
        <p:spPr>
          <a:xfrm>
            <a:off x="758880" y="412380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RWX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1" name="Text 31"/>
          <p:cNvSpPr/>
          <p:nvPr/>
        </p:nvSpPr>
        <p:spPr>
          <a:xfrm>
            <a:off x="2862000" y="412380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Many writers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2" name="Text 32"/>
          <p:cNvSpPr/>
          <p:nvPr/>
        </p:nvSpPr>
        <p:spPr>
          <a:xfrm>
            <a:off x="5239440" y="412380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Yes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3" name="Text 33"/>
          <p:cNvSpPr/>
          <p:nvPr/>
        </p:nvSpPr>
        <p:spPr>
          <a:xfrm>
            <a:off x="7616880" y="412380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Slides only: NFS/CephFS/EFS/Azure Files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4" name="Shape 34"/>
          <p:cNvSpPr/>
          <p:nvPr/>
        </p:nvSpPr>
        <p:spPr>
          <a:xfrm>
            <a:off x="685800" y="4507920"/>
            <a:ext cx="10831320" cy="47124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5" name="Text 35"/>
          <p:cNvSpPr/>
          <p:nvPr/>
        </p:nvSpPr>
        <p:spPr>
          <a:xfrm>
            <a:off x="758880" y="465444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RWOP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6" name="Text 36"/>
          <p:cNvSpPr/>
          <p:nvPr/>
        </p:nvSpPr>
        <p:spPr>
          <a:xfrm>
            <a:off x="2862000" y="465444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Single Pod write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7" name="Text 37"/>
          <p:cNvSpPr/>
          <p:nvPr/>
        </p:nvSpPr>
        <p:spPr>
          <a:xfrm>
            <a:off x="5239440" y="465444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Yes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8" name="Text 38"/>
          <p:cNvSpPr/>
          <p:nvPr/>
        </p:nvSpPr>
        <p:spPr>
          <a:xfrm>
            <a:off x="7616880" y="465444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Conceptual comparison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9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0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1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emptyDir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2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Good for temporary data, not persistence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3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Useful for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4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Not useful for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5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Scratch files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Temporary caches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Sidecar sharing inside a Pod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Training log disappearance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 storage provisioning needed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6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Databases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Data that must survive Pod recreation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Cross-Pod sharing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Node failure protection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Shared state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7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8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9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emptyDir volume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0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Where did my file go?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1" name="Shape 4"/>
          <p:cNvSpPr/>
          <p:nvPr/>
        </p:nvSpPr>
        <p:spPr>
          <a:xfrm>
            <a:off x="685800" y="1417320"/>
            <a:ext cx="10877040" cy="45676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2" name="Text 5"/>
          <p:cNvSpPr/>
          <p:nvPr/>
        </p:nvSpPr>
        <p:spPr>
          <a:xfrm>
            <a:off x="814320" y="1563480"/>
            <a:ext cx="10557000" cy="42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Create a Pod with emptyDir storage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k8s/storage/01-emptydir-app.yaml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Observe files being written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exec flask-app-emptydir -- tail /data/events.log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Delete the Pod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delete pod flask-app-emptydir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Recreate the Pod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k8s/storage/01-emptydir-app.yaml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Inspect the directory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exec flask-app-emptydir -- ls -la /data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4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5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with RWO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6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Persistent volume survives Pod recreation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7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What RWO means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8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Single-node caveat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9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ReadWriteOnce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Mounted read-write by a single node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In K3s local-path creates local PVs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Good for single-node persistence lab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Not the same as shared storage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0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Two Pods on the same node may appear to work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Multi-attach errors need multi-node clusters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 not overclaim what the lab proves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Teach semantics on slides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Use StatefulSet for DB pattern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2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3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RWO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4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File survives Pod recreation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5" name="Shape 4"/>
          <p:cNvSpPr/>
          <p:nvPr/>
        </p:nvSpPr>
        <p:spPr>
          <a:xfrm>
            <a:off x="685800" y="1417320"/>
            <a:ext cx="10877040" cy="45676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6" name="Text 5"/>
          <p:cNvSpPr/>
          <p:nvPr/>
        </p:nvSpPr>
        <p:spPr>
          <a:xfrm>
            <a:off x="850320" y="1563480"/>
            <a:ext cx="10557000" cy="42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k8s/storage/02-pvc-rwo.yaml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status deployment/flask-app-pvc --timeout=120s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port-forward deployment/flask-app-pvc 8082:8080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delete pod -l app=flask-app-pvc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status deployment/flask-app-pvc –timeout=120s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port-forward deployment/flask-app-pvc 8082:8080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pvc,pv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7" name="Rounded Rectangle 18"/>
          <p:cNvSpPr/>
          <p:nvPr/>
        </p:nvSpPr>
        <p:spPr>
          <a:xfrm>
            <a:off x="7749720" y="2563200"/>
            <a:ext cx="3657600" cy="547200"/>
          </a:xfrm>
          <a:prstGeom prst="roundRect">
            <a:avLst>
              <a:gd name="adj" fmla="val 16667"/>
            </a:avLst>
          </a:prstGeom>
          <a:solidFill>
            <a:srgbClr val="FFD5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08" name=""/>
          <p:cNvSpPr txBox="1"/>
          <p:nvPr/>
        </p:nvSpPr>
        <p:spPr>
          <a:xfrm>
            <a:off x="8001000" y="2681640"/>
            <a:ext cx="3200400" cy="290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curl http://localhost:8082/file-log</a:t>
            </a:r>
            <a:endParaRPr lang="en-US" sz="14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9" name="Rounded Rectangle 19"/>
          <p:cNvSpPr/>
          <p:nvPr/>
        </p:nvSpPr>
        <p:spPr>
          <a:xfrm>
            <a:off x="7749720" y="4800600"/>
            <a:ext cx="3657600" cy="547200"/>
          </a:xfrm>
          <a:prstGeom prst="roundRect">
            <a:avLst>
              <a:gd name="adj" fmla="val 16667"/>
            </a:avLst>
          </a:prstGeom>
          <a:solidFill>
            <a:srgbClr val="FFD5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10" name=""/>
          <p:cNvSpPr txBox="1"/>
          <p:nvPr/>
        </p:nvSpPr>
        <p:spPr>
          <a:xfrm>
            <a:off x="8001000" y="4890600"/>
            <a:ext cx="3200400" cy="4572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curl http://localhost:8082/file-log</a:t>
            </a:r>
            <a:endParaRPr lang="en-US" sz="14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1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2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3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Storage lifecycle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4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Follow the data, not only the Pod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5" name="Shape 4"/>
          <p:cNvSpPr/>
          <p:nvPr/>
        </p:nvSpPr>
        <p:spPr>
          <a:xfrm>
            <a:off x="50292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6" name="Text 5"/>
          <p:cNvSpPr/>
          <p:nvPr/>
        </p:nvSpPr>
        <p:spPr>
          <a:xfrm>
            <a:off x="54864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Container restart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7" name="Shape 6"/>
          <p:cNvSpPr/>
          <p:nvPr/>
        </p:nvSpPr>
        <p:spPr>
          <a:xfrm>
            <a:off x="177408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8" name="Shape 7"/>
          <p:cNvSpPr/>
          <p:nvPr/>
        </p:nvSpPr>
        <p:spPr>
          <a:xfrm>
            <a:off x="200268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9" name="Text 8"/>
          <p:cNvSpPr/>
          <p:nvPr/>
        </p:nvSpPr>
        <p:spPr>
          <a:xfrm>
            <a:off x="204840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Pod restart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0" name="Shape 9"/>
          <p:cNvSpPr/>
          <p:nvPr/>
        </p:nvSpPr>
        <p:spPr>
          <a:xfrm>
            <a:off x="327348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1" name="Shape 10"/>
          <p:cNvSpPr/>
          <p:nvPr/>
        </p:nvSpPr>
        <p:spPr>
          <a:xfrm>
            <a:off x="350208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2" name="Text 11"/>
          <p:cNvSpPr/>
          <p:nvPr/>
        </p:nvSpPr>
        <p:spPr>
          <a:xfrm>
            <a:off x="354780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Pod recreation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3" name="Shape 12"/>
          <p:cNvSpPr/>
          <p:nvPr/>
        </p:nvSpPr>
        <p:spPr>
          <a:xfrm>
            <a:off x="477324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4" name="Shape 13"/>
          <p:cNvSpPr/>
          <p:nvPr/>
        </p:nvSpPr>
        <p:spPr>
          <a:xfrm>
            <a:off x="500184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5" name="Text 14"/>
          <p:cNvSpPr/>
          <p:nvPr/>
        </p:nvSpPr>
        <p:spPr>
          <a:xfrm>
            <a:off x="504756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PVC remains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6" name="Shape 15"/>
          <p:cNvSpPr/>
          <p:nvPr/>
        </p:nvSpPr>
        <p:spPr>
          <a:xfrm>
            <a:off x="627264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7" name="Shape 16"/>
          <p:cNvSpPr/>
          <p:nvPr/>
        </p:nvSpPr>
        <p:spPr>
          <a:xfrm>
            <a:off x="650124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FBBF24"/>
          </a:solidFill>
          <a:ln w="12700">
            <a:solidFill>
              <a:srgbClr val="FBBF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8" name="Text 17"/>
          <p:cNvSpPr/>
          <p:nvPr/>
        </p:nvSpPr>
        <p:spPr>
          <a:xfrm>
            <a:off x="654696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PV backend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9" name="Shape 18"/>
          <p:cNvSpPr/>
          <p:nvPr/>
        </p:nvSpPr>
        <p:spPr>
          <a:xfrm>
            <a:off x="777240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0" name="Shape 19"/>
          <p:cNvSpPr/>
          <p:nvPr/>
        </p:nvSpPr>
        <p:spPr>
          <a:xfrm>
            <a:off x="800100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1" name="Text 20"/>
          <p:cNvSpPr/>
          <p:nvPr/>
        </p:nvSpPr>
        <p:spPr>
          <a:xfrm>
            <a:off x="804672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Reclaim policy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3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4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ConfigMap and Secret volumes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5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Configuration can also be mounted as files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6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ConfigMap volume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7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Secret volume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8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Plain configuration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Mounted as files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update files eventually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Not for sensitive data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Good for application properties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9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Sensitive values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Mounted read-only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Base64 in API object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Still needs RBAC discipline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Restart often needed for env vars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0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1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2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ConfigMap and Secret volume lab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3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Read configuration as files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4" name="Shape 4"/>
          <p:cNvSpPr/>
          <p:nvPr/>
        </p:nvSpPr>
        <p:spPr>
          <a:xfrm>
            <a:off x="685800" y="1417320"/>
            <a:ext cx="10877040" cy="45676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5" name="Text 5"/>
          <p:cNvSpPr/>
          <p:nvPr/>
        </p:nvSpPr>
        <p:spPr>
          <a:xfrm>
            <a:off x="850320" y="1563480"/>
            <a:ext cx="10557000" cy="42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k8s/storage/03-configmap-secret-volumes.yaml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pod volume-reader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exec volume-reader -- ls -la /config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exec volume-reader -- ls -la /secret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exec volume-reader -- cat /config/application.properties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exec volume-reader -- cat /secret/password.txt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6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7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8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RWX overview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9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Discuss it, do not force it in single-node K3s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0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RWX means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1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Examples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2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ReadWriteMany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Multiple writers/readers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Requires backend support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Common for shared content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Not every StorageClass supports it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3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NFS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CephFS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Amazon EFS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Azure Files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NetApp / enterprise NAS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5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6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StatefulSet storage pattern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7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Databases need stable identity and storage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8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StatefulSet gives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9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Teaching message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0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Stable Pod name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Ordered rollout by default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Stable network identity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volumeClaimTemplates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One PVC per replica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1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Not HA PostgreSQL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Good for storage lifecycle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remains after Pod recreation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Deleting StatefulSet does not automatically delete PVCs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Know what owns the data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2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3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4" name="Text 2"/>
          <p:cNvSpPr/>
          <p:nvPr/>
        </p:nvSpPr>
        <p:spPr>
          <a:xfrm>
            <a:off x="658440" y="2148840"/>
            <a:ext cx="10602720" cy="72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8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5" name="Text 3"/>
          <p:cNvSpPr/>
          <p:nvPr/>
        </p:nvSpPr>
        <p:spPr>
          <a:xfrm>
            <a:off x="676800" y="2953440"/>
            <a:ext cx="959688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Distroless and no-shell troubleshooting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6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7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8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9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Why no shell?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0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Minimal images improve security but change troubleshooting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1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Benefits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2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Trade-offs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3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Smaller runtime surface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Fewer vulnerable packages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Less accidental tooling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Closer to immutable runtime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Good production default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4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exec -- sh fails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 curl, ps, nslookup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Logs and probes become critical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Need debug containers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Need good application telemetry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6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7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Distroless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8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Do not assume shell exists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9" name="Shape 4"/>
          <p:cNvSpPr/>
          <p:nvPr/>
        </p:nvSpPr>
        <p:spPr>
          <a:xfrm>
            <a:off x="685800" y="1417320"/>
            <a:ext cx="10877040" cy="45676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0" name="Text 5"/>
          <p:cNvSpPr/>
          <p:nvPr/>
        </p:nvSpPr>
        <p:spPr>
          <a:xfrm>
            <a:off x="850320" y="1563480"/>
            <a:ext cx="10557000" cy="42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modules/module-08-distroless-and-no-shell-troubleshooting/01-distroless-deployment.yaml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status deployment/flask-app --timeout=120s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pods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exec -it deployment/flask-app – sh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Expected - exec: "sh": executable file not found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1" name="Shape 233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2" name="Text 286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3" name="Text 287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Distroless - debugging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4" name="Text 288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Do not assume shell exists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5" name="Shape 234"/>
          <p:cNvSpPr/>
          <p:nvPr/>
        </p:nvSpPr>
        <p:spPr>
          <a:xfrm>
            <a:off x="685800" y="1417320"/>
            <a:ext cx="10877040" cy="45676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6" name="Text 289"/>
          <p:cNvSpPr/>
          <p:nvPr/>
        </p:nvSpPr>
        <p:spPr>
          <a:xfrm>
            <a:off x="850320" y="1563480"/>
            <a:ext cx="10557000" cy="42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deployment/flask-app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deployment/flask-app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events --sort-by=.lastTimestamp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endpoints 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but we can do this as well: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POD=$(kubectl -n k8s-workshop get pod -l app=flask-app  -o jsonpath='{.items[0].metadata.name}')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debug -it pod/${POD} --image=busybox:1.36 --target=flask-app – sh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cleanup after the lab: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k8s/base/06-app-deployment.yaml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7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8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9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Debugging without shell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0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Use cluster signals before interactive access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1" name="Shape 4"/>
          <p:cNvSpPr/>
          <p:nvPr/>
        </p:nvSpPr>
        <p:spPr>
          <a:xfrm>
            <a:off x="50292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2" name="Text 5"/>
          <p:cNvSpPr/>
          <p:nvPr/>
        </p:nvSpPr>
        <p:spPr>
          <a:xfrm>
            <a:off x="54864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Events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3" name="Shape 6"/>
          <p:cNvSpPr/>
          <p:nvPr/>
        </p:nvSpPr>
        <p:spPr>
          <a:xfrm>
            <a:off x="177408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4" name="Shape 7"/>
          <p:cNvSpPr/>
          <p:nvPr/>
        </p:nvSpPr>
        <p:spPr>
          <a:xfrm>
            <a:off x="200268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5" name="Text 8"/>
          <p:cNvSpPr/>
          <p:nvPr/>
        </p:nvSpPr>
        <p:spPr>
          <a:xfrm>
            <a:off x="204840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Describe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6" name="Shape 9"/>
          <p:cNvSpPr/>
          <p:nvPr/>
        </p:nvSpPr>
        <p:spPr>
          <a:xfrm>
            <a:off x="327348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7" name="Shape 10"/>
          <p:cNvSpPr/>
          <p:nvPr/>
        </p:nvSpPr>
        <p:spPr>
          <a:xfrm>
            <a:off x="350208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8" name="Text 11"/>
          <p:cNvSpPr/>
          <p:nvPr/>
        </p:nvSpPr>
        <p:spPr>
          <a:xfrm>
            <a:off x="354780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Logs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9" name="Shape 12"/>
          <p:cNvSpPr/>
          <p:nvPr/>
        </p:nvSpPr>
        <p:spPr>
          <a:xfrm>
            <a:off x="477324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0" name="Shape 13"/>
          <p:cNvSpPr/>
          <p:nvPr/>
        </p:nvSpPr>
        <p:spPr>
          <a:xfrm>
            <a:off x="500184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1" name="Text 14"/>
          <p:cNvSpPr/>
          <p:nvPr/>
        </p:nvSpPr>
        <p:spPr>
          <a:xfrm>
            <a:off x="504756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Probes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2" name="Shape 15"/>
          <p:cNvSpPr/>
          <p:nvPr/>
        </p:nvSpPr>
        <p:spPr>
          <a:xfrm>
            <a:off x="627264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3" name="Shape 16"/>
          <p:cNvSpPr/>
          <p:nvPr/>
        </p:nvSpPr>
        <p:spPr>
          <a:xfrm>
            <a:off x="650124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FBBF24"/>
          </a:solidFill>
          <a:ln w="12700">
            <a:solidFill>
              <a:srgbClr val="FBBF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4" name="Text 17"/>
          <p:cNvSpPr/>
          <p:nvPr/>
        </p:nvSpPr>
        <p:spPr>
          <a:xfrm>
            <a:off x="654696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Metrics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5" name="Shape 18"/>
          <p:cNvSpPr/>
          <p:nvPr/>
        </p:nvSpPr>
        <p:spPr>
          <a:xfrm>
            <a:off x="777240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6" name="Shape 19"/>
          <p:cNvSpPr/>
          <p:nvPr/>
        </p:nvSpPr>
        <p:spPr>
          <a:xfrm>
            <a:off x="800100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7" name="Text 20"/>
          <p:cNvSpPr/>
          <p:nvPr/>
        </p:nvSpPr>
        <p:spPr>
          <a:xfrm>
            <a:off x="804672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Debug container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8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9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0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Ephemeral debug containers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1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A safer operational escape hatch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2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Use when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3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Remember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4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Target image has no shell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Need network tools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Need process namespace insight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Need quick triage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 not want to rebuild app image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5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Not a replacement for logs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May need RBAC permission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Does not change app container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Still uses same Pod network namespace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Use carefully in production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7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8" name="Text 2"/>
          <p:cNvSpPr/>
          <p:nvPr/>
        </p:nvSpPr>
        <p:spPr>
          <a:xfrm>
            <a:off x="658440" y="2148840"/>
            <a:ext cx="10602720" cy="72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9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9" name="Text 3"/>
          <p:cNvSpPr/>
          <p:nvPr/>
        </p:nvSpPr>
        <p:spPr>
          <a:xfrm>
            <a:off x="676800" y="2953440"/>
            <a:ext cx="959688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Requests, limits and runtime behavior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0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1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2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3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Requests vs actual usage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4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This is the source of many misunderstandings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5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Requests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6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Actual usage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7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Used by scheduler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Counted by quota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Reserve scheduling capacity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 not mean process is using it now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Help cluster planning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8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What the process consumes now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be lower than request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be higher than request if allowed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Observed by metrics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Drives performance and cost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9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0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1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Limits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2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Runtime guardrails are different from scheduling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3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CPU limit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4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Memory limit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5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CPU is throttled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Application becomes slower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Usually not killed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create latency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Be careful with tight CPU limits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6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Memory cannot be throttled the same way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Exceeding limit can kill container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Seen as OOMKilled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Restart can cause CrashLoopBackOff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Needs app-level understanding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7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8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9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QoS classes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0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How Kubernetes classifies Pods from resources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1" name="Shape 4"/>
          <p:cNvSpPr/>
          <p:nvPr/>
        </p:nvSpPr>
        <p:spPr>
          <a:xfrm>
            <a:off x="685800" y="1325880"/>
            <a:ext cx="10831320" cy="471240"/>
          </a:xfrm>
          <a:prstGeom prst="rect">
            <a:avLst/>
          </a:prstGeom>
          <a:solidFill>
            <a:srgbClr val="0EA5E9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2" name="Text 5"/>
          <p:cNvSpPr/>
          <p:nvPr/>
        </p:nvSpPr>
        <p:spPr>
          <a:xfrm>
            <a:off x="758880" y="147204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QoS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3" name="Text 6"/>
          <p:cNvSpPr/>
          <p:nvPr/>
        </p:nvSpPr>
        <p:spPr>
          <a:xfrm>
            <a:off x="2862000" y="147204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Condition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4" name="Text 7"/>
          <p:cNvSpPr/>
          <p:nvPr/>
        </p:nvSpPr>
        <p:spPr>
          <a:xfrm>
            <a:off x="5239440" y="147204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Operational meaning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5" name="Text 8"/>
          <p:cNvSpPr/>
          <p:nvPr/>
        </p:nvSpPr>
        <p:spPr>
          <a:xfrm>
            <a:off x="7616880" y="147204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Example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6" name="Shape 9"/>
          <p:cNvSpPr/>
          <p:nvPr/>
        </p:nvSpPr>
        <p:spPr>
          <a:xfrm>
            <a:off x="685800" y="1856160"/>
            <a:ext cx="10831320" cy="47124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7" name="Text 10"/>
          <p:cNvSpPr/>
          <p:nvPr/>
        </p:nvSpPr>
        <p:spPr>
          <a:xfrm>
            <a:off x="758880" y="200268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Guaranteed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8" name="Text 11"/>
          <p:cNvSpPr/>
          <p:nvPr/>
        </p:nvSpPr>
        <p:spPr>
          <a:xfrm>
            <a:off x="2862000" y="200268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requests == limits for all containers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9" name="Text 12"/>
          <p:cNvSpPr/>
          <p:nvPr/>
        </p:nvSpPr>
        <p:spPr>
          <a:xfrm>
            <a:off x="5239440" y="200268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Highest eviction priority protection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0" name="Text 13"/>
          <p:cNvSpPr/>
          <p:nvPr/>
        </p:nvSpPr>
        <p:spPr>
          <a:xfrm>
            <a:off x="7616880" y="200268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Critical stable workload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1" name="Shape 14"/>
          <p:cNvSpPr/>
          <p:nvPr/>
        </p:nvSpPr>
        <p:spPr>
          <a:xfrm>
            <a:off x="685800" y="2386440"/>
            <a:ext cx="10831320" cy="47124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2" name="Text 15"/>
          <p:cNvSpPr/>
          <p:nvPr/>
        </p:nvSpPr>
        <p:spPr>
          <a:xfrm>
            <a:off x="758880" y="253296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Burstable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3" name="Text 16"/>
          <p:cNvSpPr/>
          <p:nvPr/>
        </p:nvSpPr>
        <p:spPr>
          <a:xfrm>
            <a:off x="2862000" y="253296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some requests or limits set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4" name="Text 17"/>
          <p:cNvSpPr/>
          <p:nvPr/>
        </p:nvSpPr>
        <p:spPr>
          <a:xfrm>
            <a:off x="5239440" y="253296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Common default for apps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5" name="Text 18"/>
          <p:cNvSpPr/>
          <p:nvPr/>
        </p:nvSpPr>
        <p:spPr>
          <a:xfrm>
            <a:off x="7616880" y="253296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Most workshop app Pods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6" name="Shape 19"/>
          <p:cNvSpPr/>
          <p:nvPr/>
        </p:nvSpPr>
        <p:spPr>
          <a:xfrm>
            <a:off x="685800" y="2917080"/>
            <a:ext cx="10831320" cy="47124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7" name="Text 20"/>
          <p:cNvSpPr/>
          <p:nvPr/>
        </p:nvSpPr>
        <p:spPr>
          <a:xfrm>
            <a:off x="758880" y="306324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BestEffort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8" name="Text 21"/>
          <p:cNvSpPr/>
          <p:nvPr/>
        </p:nvSpPr>
        <p:spPr>
          <a:xfrm>
            <a:off x="2862000" y="306324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 requests or limits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9" name="Text 22"/>
          <p:cNvSpPr/>
          <p:nvPr/>
        </p:nvSpPr>
        <p:spPr>
          <a:xfrm>
            <a:off x="5239440" y="306324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First to be evicted under pressure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0" name="Text 23"/>
          <p:cNvSpPr/>
          <p:nvPr/>
        </p:nvSpPr>
        <p:spPr>
          <a:xfrm>
            <a:off x="7616880" y="306324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Avoid for important apps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1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2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3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OOMKilled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4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Memory limit becomes visible at runtime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5" name="Shape 4"/>
          <p:cNvSpPr/>
          <p:nvPr/>
        </p:nvSpPr>
        <p:spPr>
          <a:xfrm>
            <a:off x="685800" y="1143000"/>
            <a:ext cx="10877040" cy="484200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6" name="Text 5"/>
          <p:cNvSpPr/>
          <p:nvPr/>
        </p:nvSpPr>
        <p:spPr>
          <a:xfrm>
            <a:off x="850320" y="1371600"/>
            <a:ext cx="10557000" cy="446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modules/module-09-requests-limits-and-runtime-behavior/01-low-memory-oom.yaml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status deployment/flask-app-oom --timeout=120s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port-forward deployment/flask-app-oom 8081:8080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in another terminal: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"</a:t>
            </a: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  <a:hlinkClick r:id="rId1"/>
              </a:rPr>
              <a:t>http://localhost:8081/stress/memory?mib=256</a:t>
            </a: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"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pods -w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pod -l app=flask-app-oom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-l app=flask-app-oom –previous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Expected - Reason: OOMKilled - Exit Code: 137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cleanup: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delete -n k8s-workshop -f modules/module-09-requests-limits-and-runtime-behavior/01-low-memory-oom.yaml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7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8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9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How to explain VM comparison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0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Useful for infra teams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1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Kubernetes Pod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2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VM workload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3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Requests guide scheduling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Limits control runtime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Actual usage can be much lower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Quota may block creation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 can be restarted/rescheduled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4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Flavor/guest memory shapes scheduling/capacity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Memory pressure behaves differently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Platform may overcommit CPU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Quota/capacity can block creation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Treat as heavier scheduling unit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5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6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7" name="Text 2"/>
          <p:cNvSpPr/>
          <p:nvPr/>
        </p:nvSpPr>
        <p:spPr>
          <a:xfrm>
            <a:off x="658440" y="2148840"/>
            <a:ext cx="10602720" cy="72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10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8" name="Text 3"/>
          <p:cNvSpPr/>
          <p:nvPr/>
        </p:nvSpPr>
        <p:spPr>
          <a:xfrm>
            <a:off x="676800" y="2953440"/>
            <a:ext cx="959688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ResourceQuota and LimitRange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9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0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1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2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ResourceQuota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3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Namespace-level capacity control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4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What it controls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5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What it teaches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6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Aggregate requests and limits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 count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count and storage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Object counts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Admission decisions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7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Why new Pods may not appear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Why idle-looking clusters can reject work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Why requests are part of capacity planning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How teams share clusters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Dev/platform contract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8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9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0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LimitRange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1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Defaults and guardrails for a namespace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2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Can provide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3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Why it matters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4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Default requests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Default limits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Minimum allowed request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Maximum allowed limit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size constraints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5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Prevents BestEffort by accident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Gives predictable scheduling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Protects neighbors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surprise developers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Must be documented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6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7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8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Apply ResourceQuota and LimitRange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9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Use after the app basics are understood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0" name="Shape 4"/>
          <p:cNvSpPr/>
          <p:nvPr/>
        </p:nvSpPr>
        <p:spPr>
          <a:xfrm>
            <a:off x="685800" y="1417320"/>
            <a:ext cx="10877040" cy="45676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1" name="Text 5"/>
          <p:cNvSpPr/>
          <p:nvPr/>
        </p:nvSpPr>
        <p:spPr>
          <a:xfrm>
            <a:off x="850320" y="1563480"/>
            <a:ext cx="10557000" cy="42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k8s/resources/01-limitrange.yaml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k8s/resources/02-resourcequota.yaml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quota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limitrange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2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3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4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8: Quota exceeded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5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Pods can fail before the app has a chance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6" name="Shape 4"/>
          <p:cNvSpPr/>
          <p:nvPr/>
        </p:nvSpPr>
        <p:spPr>
          <a:xfrm>
            <a:off x="685800" y="1417320"/>
            <a:ext cx="10877040" cy="45676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7" name="Text 5"/>
          <p:cNvSpPr/>
          <p:nvPr/>
        </p:nvSpPr>
        <p:spPr>
          <a:xfrm>
            <a:off x="850320" y="1563480"/>
            <a:ext cx="10557000" cy="42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challenges/challenge-08-quota/broken.yaml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deploy,rs,pod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quota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pod &lt;pending-pod&gt;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events --sort-by=.lastTimestamp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9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0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Key message for participants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1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Do not confuse booked, allowed and used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2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Booked / requested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3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Used / runtime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4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Used for scheduling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Counted by quota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block new Pods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Represents expected need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Not necessarily used now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5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Measured by metrics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Changes over time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exceed request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Limited by limits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cause throttling or OOM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6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7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8" name="Text 2"/>
          <p:cNvSpPr/>
          <p:nvPr/>
        </p:nvSpPr>
        <p:spPr>
          <a:xfrm>
            <a:off x="658440" y="2148840"/>
            <a:ext cx="10602720" cy="72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11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9" name="Text 3"/>
          <p:cNvSpPr/>
          <p:nvPr/>
        </p:nvSpPr>
        <p:spPr>
          <a:xfrm>
            <a:off x="676800" y="2953440"/>
            <a:ext cx="959688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Service routing and application availability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0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1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2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3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Service is label-based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4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The Service does not know your Deployment name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5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Service selects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6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Common failures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7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Pods by labels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Only ready endpoints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targetPort on Pod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Stable DNS name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Virtual IP inside cluster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8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Selector mismatch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Wrong targetPort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 not Ready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Namespace mismatch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Network/proxy confusion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0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1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10: Wrong Service selector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2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Application runs, but no traffic reaches it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3" name="Shape 4"/>
          <p:cNvSpPr/>
          <p:nvPr/>
        </p:nvSpPr>
        <p:spPr>
          <a:xfrm>
            <a:off x="685800" y="1417320"/>
            <a:ext cx="10877040" cy="45676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4" name="Text 5"/>
          <p:cNvSpPr/>
          <p:nvPr/>
        </p:nvSpPr>
        <p:spPr>
          <a:xfrm>
            <a:off x="850320" y="1563480"/>
            <a:ext cx="10557000" cy="42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challenges/challenge-10-service-selector/broken.yaml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pods --show-labels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svc selector-app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endpoints selector-app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Fix selector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challenges/challenge-10-service-selector/solution.yaml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5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6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7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Request path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8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Where to look when traffic fails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9" name="Shape 4"/>
          <p:cNvSpPr/>
          <p:nvPr/>
        </p:nvSpPr>
        <p:spPr>
          <a:xfrm>
            <a:off x="50292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0" name="Text 5"/>
          <p:cNvSpPr/>
          <p:nvPr/>
        </p:nvSpPr>
        <p:spPr>
          <a:xfrm>
            <a:off x="54864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Client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1" name="Shape 6"/>
          <p:cNvSpPr/>
          <p:nvPr/>
        </p:nvSpPr>
        <p:spPr>
          <a:xfrm>
            <a:off x="177408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2" name="Shape 7"/>
          <p:cNvSpPr/>
          <p:nvPr/>
        </p:nvSpPr>
        <p:spPr>
          <a:xfrm>
            <a:off x="200268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3" name="Text 8"/>
          <p:cNvSpPr/>
          <p:nvPr/>
        </p:nvSpPr>
        <p:spPr>
          <a:xfrm>
            <a:off x="204840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Service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4" name="Shape 9"/>
          <p:cNvSpPr/>
          <p:nvPr/>
        </p:nvSpPr>
        <p:spPr>
          <a:xfrm>
            <a:off x="327348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5" name="Shape 10"/>
          <p:cNvSpPr/>
          <p:nvPr/>
        </p:nvSpPr>
        <p:spPr>
          <a:xfrm>
            <a:off x="350208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6" name="Text 11"/>
          <p:cNvSpPr/>
          <p:nvPr/>
        </p:nvSpPr>
        <p:spPr>
          <a:xfrm>
            <a:off x="354780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Selector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7" name="Shape 12"/>
          <p:cNvSpPr/>
          <p:nvPr/>
        </p:nvSpPr>
        <p:spPr>
          <a:xfrm>
            <a:off x="477324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8" name="Shape 13"/>
          <p:cNvSpPr/>
          <p:nvPr/>
        </p:nvSpPr>
        <p:spPr>
          <a:xfrm>
            <a:off x="500184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9" name="Text 14"/>
          <p:cNvSpPr/>
          <p:nvPr/>
        </p:nvSpPr>
        <p:spPr>
          <a:xfrm>
            <a:off x="504756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EndpointSlice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0" name="Shape 15"/>
          <p:cNvSpPr/>
          <p:nvPr/>
        </p:nvSpPr>
        <p:spPr>
          <a:xfrm>
            <a:off x="627264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1" name="Shape 16"/>
          <p:cNvSpPr/>
          <p:nvPr/>
        </p:nvSpPr>
        <p:spPr>
          <a:xfrm>
            <a:off x="650124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FBBF24"/>
          </a:solidFill>
          <a:ln w="12700">
            <a:solidFill>
              <a:srgbClr val="FBBF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2" name="Text 17"/>
          <p:cNvSpPr/>
          <p:nvPr/>
        </p:nvSpPr>
        <p:spPr>
          <a:xfrm>
            <a:off x="654696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Pod IP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3" name="Shape 18"/>
          <p:cNvSpPr/>
          <p:nvPr/>
        </p:nvSpPr>
        <p:spPr>
          <a:xfrm>
            <a:off x="777240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4" name="Shape 19"/>
          <p:cNvSpPr/>
          <p:nvPr/>
        </p:nvSpPr>
        <p:spPr>
          <a:xfrm>
            <a:off x="800100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5" name="Text 20"/>
          <p:cNvSpPr/>
          <p:nvPr/>
        </p:nvSpPr>
        <p:spPr>
          <a:xfrm>
            <a:off x="804672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Container port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6" name="Shape 21"/>
          <p:cNvSpPr/>
          <p:nvPr/>
        </p:nvSpPr>
        <p:spPr>
          <a:xfrm>
            <a:off x="927216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7" name="Shape 22"/>
          <p:cNvSpPr/>
          <p:nvPr/>
        </p:nvSpPr>
        <p:spPr>
          <a:xfrm>
            <a:off x="950076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8" name="Text 23"/>
          <p:cNvSpPr/>
          <p:nvPr/>
        </p:nvSpPr>
        <p:spPr>
          <a:xfrm>
            <a:off x="954648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App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9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0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1" name="Text 2"/>
          <p:cNvSpPr/>
          <p:nvPr/>
        </p:nvSpPr>
        <p:spPr>
          <a:xfrm>
            <a:off x="658440" y="2148840"/>
            <a:ext cx="10602720" cy="72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12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2" name="Text 3"/>
          <p:cNvSpPr/>
          <p:nvPr/>
        </p:nvSpPr>
        <p:spPr>
          <a:xfrm>
            <a:off x="676800" y="2953440"/>
            <a:ext cx="959688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Troubleshooting playbook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3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4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5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6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Decision tree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7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Use this as the final participant cheat sheet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8" name="Shape 4"/>
          <p:cNvSpPr/>
          <p:nvPr/>
        </p:nvSpPr>
        <p:spPr>
          <a:xfrm>
            <a:off x="685800" y="1325880"/>
            <a:ext cx="10831320" cy="471240"/>
          </a:xfrm>
          <a:prstGeom prst="rect">
            <a:avLst/>
          </a:prstGeom>
          <a:solidFill>
            <a:srgbClr val="0EA5E9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9" name="Text 5"/>
          <p:cNvSpPr/>
          <p:nvPr/>
        </p:nvSpPr>
        <p:spPr>
          <a:xfrm>
            <a:off x="758880" y="147204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Question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0" name="Text 6"/>
          <p:cNvSpPr/>
          <p:nvPr/>
        </p:nvSpPr>
        <p:spPr>
          <a:xfrm>
            <a:off x="2862000" y="147204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Yes means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1" name="Text 7"/>
          <p:cNvSpPr/>
          <p:nvPr/>
        </p:nvSpPr>
        <p:spPr>
          <a:xfrm>
            <a:off x="5239440" y="147204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First command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2" name="Text 8"/>
          <p:cNvSpPr/>
          <p:nvPr/>
        </p:nvSpPr>
        <p:spPr>
          <a:xfrm>
            <a:off x="7616880" y="147204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Next step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3" name="Shape 9"/>
          <p:cNvSpPr/>
          <p:nvPr/>
        </p:nvSpPr>
        <p:spPr>
          <a:xfrm>
            <a:off x="685800" y="1856160"/>
            <a:ext cx="10831320" cy="47124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4" name="Text 10"/>
          <p:cNvSpPr/>
          <p:nvPr/>
        </p:nvSpPr>
        <p:spPr>
          <a:xfrm>
            <a:off x="758880" y="200268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 not created?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5" name="Text 11"/>
          <p:cNvSpPr/>
          <p:nvPr/>
        </p:nvSpPr>
        <p:spPr>
          <a:xfrm>
            <a:off x="2862000" y="200268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Controller/admission issue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6" name="Text 12"/>
          <p:cNvSpPr/>
          <p:nvPr/>
        </p:nvSpPr>
        <p:spPr>
          <a:xfrm>
            <a:off x="5239440" y="200268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describe deploy/rs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7" name="Text 13"/>
          <p:cNvSpPr/>
          <p:nvPr/>
        </p:nvSpPr>
        <p:spPr>
          <a:xfrm>
            <a:off x="7616880" y="200268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events, quota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8" name="Shape 14"/>
          <p:cNvSpPr/>
          <p:nvPr/>
        </p:nvSpPr>
        <p:spPr>
          <a:xfrm>
            <a:off x="685800" y="2386440"/>
            <a:ext cx="10831320" cy="47124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9" name="Text 15"/>
          <p:cNvSpPr/>
          <p:nvPr/>
        </p:nvSpPr>
        <p:spPr>
          <a:xfrm>
            <a:off x="758880" y="253296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 Pending?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0" name="Text 16"/>
          <p:cNvSpPr/>
          <p:nvPr/>
        </p:nvSpPr>
        <p:spPr>
          <a:xfrm>
            <a:off x="2862000" y="253296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Cannot schedule/start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1" name="Text 17"/>
          <p:cNvSpPr/>
          <p:nvPr/>
        </p:nvSpPr>
        <p:spPr>
          <a:xfrm>
            <a:off x="5239440" y="253296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describe pod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2" name="Text 18"/>
          <p:cNvSpPr/>
          <p:nvPr/>
        </p:nvSpPr>
        <p:spPr>
          <a:xfrm>
            <a:off x="7616880" y="253296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capacity, PVC, quota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3" name="Shape 19"/>
          <p:cNvSpPr/>
          <p:nvPr/>
        </p:nvSpPr>
        <p:spPr>
          <a:xfrm>
            <a:off x="685800" y="2917080"/>
            <a:ext cx="10831320" cy="47124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4" name="Text 20"/>
          <p:cNvSpPr/>
          <p:nvPr/>
        </p:nvSpPr>
        <p:spPr>
          <a:xfrm>
            <a:off x="758880" y="306324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ImagePullBackOff?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5" name="Text 21"/>
          <p:cNvSpPr/>
          <p:nvPr/>
        </p:nvSpPr>
        <p:spPr>
          <a:xfrm>
            <a:off x="2862000" y="306324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 not pulled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6" name="Text 22"/>
          <p:cNvSpPr/>
          <p:nvPr/>
        </p:nvSpPr>
        <p:spPr>
          <a:xfrm>
            <a:off x="5239440" y="306324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describe pod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7" name="Text 23"/>
          <p:cNvSpPr/>
          <p:nvPr/>
        </p:nvSpPr>
        <p:spPr>
          <a:xfrm>
            <a:off x="7616880" y="306324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tag, registry, proxy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8" name="Shape 24"/>
          <p:cNvSpPr/>
          <p:nvPr/>
        </p:nvSpPr>
        <p:spPr>
          <a:xfrm>
            <a:off x="685800" y="3447360"/>
            <a:ext cx="10831320" cy="47124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9" name="Text 25"/>
          <p:cNvSpPr/>
          <p:nvPr/>
        </p:nvSpPr>
        <p:spPr>
          <a:xfrm>
            <a:off x="758880" y="359352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CrashLoopBackOff?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0" name="Text 26"/>
          <p:cNvSpPr/>
          <p:nvPr/>
        </p:nvSpPr>
        <p:spPr>
          <a:xfrm>
            <a:off x="2862000" y="359352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Process exits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1" name="Text 27"/>
          <p:cNvSpPr/>
          <p:nvPr/>
        </p:nvSpPr>
        <p:spPr>
          <a:xfrm>
            <a:off x="5239440" y="359352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logs --previous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2" name="Text 28"/>
          <p:cNvSpPr/>
          <p:nvPr/>
        </p:nvSpPr>
        <p:spPr>
          <a:xfrm>
            <a:off x="7616880" y="359352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command, env, app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3" name="Shape 29"/>
          <p:cNvSpPr/>
          <p:nvPr/>
        </p:nvSpPr>
        <p:spPr>
          <a:xfrm>
            <a:off x="685800" y="3977640"/>
            <a:ext cx="10831320" cy="47124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4" name="Text 30"/>
          <p:cNvSpPr/>
          <p:nvPr/>
        </p:nvSpPr>
        <p:spPr>
          <a:xfrm>
            <a:off x="758880" y="412380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Running not Ready?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5" name="Text 31"/>
          <p:cNvSpPr/>
          <p:nvPr/>
        </p:nvSpPr>
        <p:spPr>
          <a:xfrm>
            <a:off x="2862000" y="412380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Health gate failed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6" name="Text 32"/>
          <p:cNvSpPr/>
          <p:nvPr/>
        </p:nvSpPr>
        <p:spPr>
          <a:xfrm>
            <a:off x="5239440" y="412380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describe + logs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7" name="Text 33"/>
          <p:cNvSpPr/>
          <p:nvPr/>
        </p:nvSpPr>
        <p:spPr>
          <a:xfrm>
            <a:off x="7616880" y="412380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probe/dependency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8" name="Shape 34"/>
          <p:cNvSpPr/>
          <p:nvPr/>
        </p:nvSpPr>
        <p:spPr>
          <a:xfrm>
            <a:off x="685800" y="4507920"/>
            <a:ext cx="10831320" cy="47124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9" name="Text 35"/>
          <p:cNvSpPr/>
          <p:nvPr/>
        </p:nvSpPr>
        <p:spPr>
          <a:xfrm>
            <a:off x="758880" y="465444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OOMKilled?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0" name="Text 36"/>
          <p:cNvSpPr/>
          <p:nvPr/>
        </p:nvSpPr>
        <p:spPr>
          <a:xfrm>
            <a:off x="2862000" y="465444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Memory limit hit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1" name="Text 37"/>
          <p:cNvSpPr/>
          <p:nvPr/>
        </p:nvSpPr>
        <p:spPr>
          <a:xfrm>
            <a:off x="5239440" y="465444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describe pod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2" name="Text 38"/>
          <p:cNvSpPr/>
          <p:nvPr/>
        </p:nvSpPr>
        <p:spPr>
          <a:xfrm>
            <a:off x="7616880" y="465444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limits/usage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3" name="Shape 39"/>
          <p:cNvSpPr/>
          <p:nvPr/>
        </p:nvSpPr>
        <p:spPr>
          <a:xfrm>
            <a:off x="685800" y="5038200"/>
            <a:ext cx="10831320" cy="47124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4" name="Text 40"/>
          <p:cNvSpPr/>
          <p:nvPr/>
        </p:nvSpPr>
        <p:spPr>
          <a:xfrm>
            <a:off x="758880" y="518472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 endpoints?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5" name="Text 41"/>
          <p:cNvSpPr/>
          <p:nvPr/>
        </p:nvSpPr>
        <p:spPr>
          <a:xfrm>
            <a:off x="2862000" y="518472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Service cannot route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6" name="Text 42"/>
          <p:cNvSpPr/>
          <p:nvPr/>
        </p:nvSpPr>
        <p:spPr>
          <a:xfrm>
            <a:off x="5239440" y="518472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get endpoints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7" name="Text 43"/>
          <p:cNvSpPr/>
          <p:nvPr/>
        </p:nvSpPr>
        <p:spPr>
          <a:xfrm>
            <a:off x="7616880" y="518472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selector/readiness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8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9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0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Core command set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1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Commands participants should leave with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2" name="Shape 4"/>
          <p:cNvSpPr/>
          <p:nvPr/>
        </p:nvSpPr>
        <p:spPr>
          <a:xfrm>
            <a:off x="685800" y="1417320"/>
            <a:ext cx="10877040" cy="45676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3" name="Text 5"/>
          <p:cNvSpPr/>
          <p:nvPr/>
        </p:nvSpPr>
        <p:spPr>
          <a:xfrm>
            <a:off x="850320" y="1563480"/>
            <a:ext cx="10557000" cy="42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get pods -o wide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describe pod &lt;pod&gt;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logs &lt;pod&gt;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logs &lt;pod&gt; --previous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get events --sort-by=.lastTimestamp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get deploy,rs,pod,svc,endpoints,pvc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describe quota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rollout status deploy/&lt;name&gt;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debug -it pod/&lt;pod&gt; --image=busybox:1.36 --target=&lt;container&gt; -- sh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4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5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6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How to run combined cases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7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Final exercise format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8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Instructor setup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9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Participant output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0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Apply one broken manifest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 not reveal the failure mode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Ask team to classify state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Ask for first three commands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Ask for root cause and fix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1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Observed state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Evidence from events/logs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Root cause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Fix command or YAML change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Preventive practice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2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3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4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Final 2-hour agenda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5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Timing and workshop flow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6" name="Shape 4"/>
          <p:cNvSpPr/>
          <p:nvPr/>
        </p:nvSpPr>
        <p:spPr>
          <a:xfrm>
            <a:off x="731520" y="1325880"/>
            <a:ext cx="1047240" cy="434520"/>
          </a:xfrm>
          <a:prstGeom prst="roundRect">
            <a:avLst>
              <a:gd name="adj" fmla="val 10417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7" name="Text 5"/>
          <p:cNvSpPr/>
          <p:nvPr/>
        </p:nvSpPr>
        <p:spPr>
          <a:xfrm>
            <a:off x="804600" y="1472040"/>
            <a:ext cx="891720" cy="13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30 min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8" name="Text 6"/>
          <p:cNvSpPr/>
          <p:nvPr/>
        </p:nvSpPr>
        <p:spPr>
          <a:xfrm>
            <a:off x="2011680" y="1398960"/>
            <a:ext cx="365328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End-to-end recap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9" name="Text 7"/>
          <p:cNvSpPr/>
          <p:nvPr/>
        </p:nvSpPr>
        <p:spPr>
          <a:xfrm>
            <a:off x="5806440" y="1417320"/>
            <a:ext cx="529920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CBD5E1"/>
                </a:solidFill>
                <a:effectLst/>
                <a:uFillTx/>
                <a:latin typeface="Aptos"/>
              </a:rPr>
              <a:t>Build -&gt; Deploy -&gt; DB -&gt; Migrate -&gt; Persist -&gt; Limit.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0" name="Shape 8"/>
          <p:cNvSpPr/>
          <p:nvPr/>
        </p:nvSpPr>
        <p:spPr>
          <a:xfrm>
            <a:off x="731520" y="1938600"/>
            <a:ext cx="1047240" cy="434520"/>
          </a:xfrm>
          <a:prstGeom prst="roundRect">
            <a:avLst>
              <a:gd name="adj" fmla="val 10417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1" name="Text 9"/>
          <p:cNvSpPr/>
          <p:nvPr/>
        </p:nvSpPr>
        <p:spPr>
          <a:xfrm>
            <a:off x="804600" y="2084760"/>
            <a:ext cx="891720" cy="13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30 min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2" name="Text 10"/>
          <p:cNvSpPr/>
          <p:nvPr/>
        </p:nvSpPr>
        <p:spPr>
          <a:xfrm>
            <a:off x="2011680" y="2011680"/>
            <a:ext cx="365328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Troubleshooting decision tree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3" name="Text 11"/>
          <p:cNvSpPr/>
          <p:nvPr/>
        </p:nvSpPr>
        <p:spPr>
          <a:xfrm>
            <a:off x="5806440" y="2030040"/>
            <a:ext cx="529920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CBD5E1"/>
                </a:solidFill>
                <a:effectLst/>
                <a:uFillTx/>
                <a:latin typeface="Aptos"/>
              </a:rPr>
              <a:t>Classify states and map each to first commands.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4" name="Shape 12"/>
          <p:cNvSpPr/>
          <p:nvPr/>
        </p:nvSpPr>
        <p:spPr>
          <a:xfrm>
            <a:off x="731520" y="2551320"/>
            <a:ext cx="1047240" cy="434520"/>
          </a:xfrm>
          <a:prstGeom prst="roundRect">
            <a:avLst>
              <a:gd name="adj" fmla="val 10417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5" name="Text 13"/>
          <p:cNvSpPr/>
          <p:nvPr/>
        </p:nvSpPr>
        <p:spPr>
          <a:xfrm>
            <a:off x="804600" y="2697480"/>
            <a:ext cx="891720" cy="13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40 min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6" name="Text 14"/>
          <p:cNvSpPr/>
          <p:nvPr/>
        </p:nvSpPr>
        <p:spPr>
          <a:xfrm>
            <a:off x="2011680" y="2624400"/>
            <a:ext cx="365328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Combined scenarios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7" name="Text 15"/>
          <p:cNvSpPr/>
          <p:nvPr/>
        </p:nvSpPr>
        <p:spPr>
          <a:xfrm>
            <a:off x="5806440" y="2642760"/>
            <a:ext cx="529920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CBD5E1"/>
                </a:solidFill>
                <a:effectLst/>
                <a:uFillTx/>
                <a:latin typeface="Aptos"/>
              </a:rPr>
              <a:t>Teams diagnose three broken manifests.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8" name="Shape 16"/>
          <p:cNvSpPr/>
          <p:nvPr/>
        </p:nvSpPr>
        <p:spPr>
          <a:xfrm>
            <a:off x="731520" y="3163680"/>
            <a:ext cx="1047240" cy="434520"/>
          </a:xfrm>
          <a:prstGeom prst="roundRect">
            <a:avLst>
              <a:gd name="adj" fmla="val 10417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9" name="Text 17"/>
          <p:cNvSpPr/>
          <p:nvPr/>
        </p:nvSpPr>
        <p:spPr>
          <a:xfrm>
            <a:off x="804600" y="3310200"/>
            <a:ext cx="891720" cy="13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20 min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0" name="Text 18"/>
          <p:cNvSpPr/>
          <p:nvPr/>
        </p:nvSpPr>
        <p:spPr>
          <a:xfrm>
            <a:off x="2011680" y="3237120"/>
            <a:ext cx="365328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Dev vs Platform contract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1" name="Text 19"/>
          <p:cNvSpPr/>
          <p:nvPr/>
        </p:nvSpPr>
        <p:spPr>
          <a:xfrm>
            <a:off x="5806440" y="3255120"/>
            <a:ext cx="529920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CBD5E1"/>
                </a:solidFill>
                <a:effectLst/>
                <a:uFillTx/>
                <a:latin typeface="Aptos"/>
              </a:rPr>
              <a:t>Who defines what and what should be standardized.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2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3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4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Dev vs platform contract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5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Make responsibilities explicit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6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Developers should define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7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Platform should define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8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Health and readiness behavior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Resource expectations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Configuration keys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Migration strategy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Meaningful logs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9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Default requests/limits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Quota and namespace policy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StorageClass options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Registry and proxy access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Debug permissions and guardrails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0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1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2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Production checklist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3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What to take back to real work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4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Application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5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Platform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6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Logs to stdout/stderr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Readiness reflects dependencies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 secrets in images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Migration plan is explicit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Resource requests are tested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7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Namespace defaults documented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Quota visible to teams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Storage semantics clear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 registry access reliable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Troubleshooting access controlled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8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9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0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Closing message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1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Kubernetes is observable when you ask the right questions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2" name="Shape 4"/>
          <p:cNvSpPr/>
          <p:nvPr/>
        </p:nvSpPr>
        <p:spPr>
          <a:xfrm>
            <a:off x="50292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3" name="Text 5"/>
          <p:cNvSpPr/>
          <p:nvPr/>
        </p:nvSpPr>
        <p:spPr>
          <a:xfrm>
            <a:off x="54864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Classify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4" name="Shape 6"/>
          <p:cNvSpPr/>
          <p:nvPr/>
        </p:nvSpPr>
        <p:spPr>
          <a:xfrm>
            <a:off x="177408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5" name="Shape 7"/>
          <p:cNvSpPr/>
          <p:nvPr/>
        </p:nvSpPr>
        <p:spPr>
          <a:xfrm>
            <a:off x="200268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6" name="Text 8"/>
          <p:cNvSpPr/>
          <p:nvPr/>
        </p:nvSpPr>
        <p:spPr>
          <a:xfrm>
            <a:off x="204840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Inspect events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7" name="Shape 9"/>
          <p:cNvSpPr/>
          <p:nvPr/>
        </p:nvSpPr>
        <p:spPr>
          <a:xfrm>
            <a:off x="327348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8" name="Shape 10"/>
          <p:cNvSpPr/>
          <p:nvPr/>
        </p:nvSpPr>
        <p:spPr>
          <a:xfrm>
            <a:off x="350208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9" name="Text 11"/>
          <p:cNvSpPr/>
          <p:nvPr/>
        </p:nvSpPr>
        <p:spPr>
          <a:xfrm>
            <a:off x="354780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Read logs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0" name="Shape 12"/>
          <p:cNvSpPr/>
          <p:nvPr/>
        </p:nvSpPr>
        <p:spPr>
          <a:xfrm>
            <a:off x="477324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1" name="Shape 13"/>
          <p:cNvSpPr/>
          <p:nvPr/>
        </p:nvSpPr>
        <p:spPr>
          <a:xfrm>
            <a:off x="500184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2" name="Text 14"/>
          <p:cNvSpPr/>
          <p:nvPr/>
        </p:nvSpPr>
        <p:spPr>
          <a:xfrm>
            <a:off x="504756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Check dependencies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3" name="Shape 15"/>
          <p:cNvSpPr/>
          <p:nvPr/>
        </p:nvSpPr>
        <p:spPr>
          <a:xfrm>
            <a:off x="627264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4" name="Shape 16"/>
          <p:cNvSpPr/>
          <p:nvPr/>
        </p:nvSpPr>
        <p:spPr>
          <a:xfrm>
            <a:off x="650124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FBBF24"/>
          </a:solidFill>
          <a:ln w="12700">
            <a:solidFill>
              <a:srgbClr val="FBBF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5" name="Text 17"/>
          <p:cNvSpPr/>
          <p:nvPr/>
        </p:nvSpPr>
        <p:spPr>
          <a:xfrm>
            <a:off x="654696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Check resources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6" name="Shape 18"/>
          <p:cNvSpPr/>
          <p:nvPr/>
        </p:nvSpPr>
        <p:spPr>
          <a:xfrm>
            <a:off x="777240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7" name="Shape 19"/>
          <p:cNvSpPr/>
          <p:nvPr/>
        </p:nvSpPr>
        <p:spPr>
          <a:xfrm>
            <a:off x="800100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8" name="Text 20"/>
          <p:cNvSpPr/>
          <p:nvPr/>
        </p:nvSpPr>
        <p:spPr>
          <a:xfrm>
            <a:off x="804672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Fix safely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9" name="Shape 21"/>
          <p:cNvSpPr/>
          <p:nvPr/>
        </p:nvSpPr>
        <p:spPr>
          <a:xfrm>
            <a:off x="927216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0" name="Shape 22"/>
          <p:cNvSpPr/>
          <p:nvPr/>
        </p:nvSpPr>
        <p:spPr>
          <a:xfrm>
            <a:off x="950076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1" name="Text 23"/>
          <p:cNvSpPr/>
          <p:nvPr/>
        </p:nvSpPr>
        <p:spPr>
          <a:xfrm>
            <a:off x="954648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Document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 pitchFamily="0" charset="1"/>
        <a:ea typeface=""/>
        <a:cs typeface=""/>
      </a:majorFont>
      <a:minorFont>
        <a:latin typeface="Apto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514</TotalTime>
  <Application>LibreOffice/26.2.3.2$Linux_X86_64 LibreOffice_project/d4d5ed47b6084125f28d269a5650105d54dde034</Application>
  <AppVersion>15.0000</AppVersion>
  <Words>0</Words>
  <Paragraphs>0</Paragraphs>
  <Company>Workshop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2026-06-19T21:54:19Z</dcterms:created>
  <dc:creator>OpenAI</dc:creator>
  <dc:description/>
  <dc:language>en-US</dc:language>
  <cp:lastModifiedBy/>
  <cp:lastPrinted>2026-06-22T23:05:15Z</cp:lastPrinted>
  <dcterms:modified xsi:type="dcterms:W3CDTF">2026-06-22T23:25:30Z</dcterms:modified>
  <cp:revision>76</cp:revision>
  <dc:subject>Hands-on Kubernetes Troubleshooting Workshop</dc:subject>
  <dc:title>Hands-on Kubernetes Troubleshooting for Developers and Infrastructure Teams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81</vt:i4>
  </property>
  <property fmtid="{D5CDD505-2E9C-101B-9397-08002B2CF9AE}" pid="3" name="PresentationFormat">
    <vt:lpwstr>On-screen Show (16:9)</vt:lpwstr>
  </property>
  <property fmtid="{D5CDD505-2E9C-101B-9397-08002B2CF9AE}" pid="4" name="Slides">
    <vt:i4>81</vt:i4>
  </property>
</Properties>
</file>