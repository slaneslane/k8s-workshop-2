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02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3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2.xml" ContentType="application/vnd.openxmlformats-officedocument.presentationml.slide+xml"/>
  <Override PartName="/ppt/slides/slide40.xml" ContentType="application/vnd.openxmlformats-officedocument.presentationml.slide+xml"/>
  <Override PartName="/ppt/slides/slide38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59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25.xml" ContentType="application/vnd.openxmlformats-officedocument.presentationml.slide+xml"/>
  <Override PartName="/ppt/slides/slide104.xml" ContentType="application/vnd.openxmlformats-officedocument.presentationml.slide+xml"/>
  <Override PartName="/ppt/slides/slide12.xml" ContentType="application/vnd.openxmlformats-officedocument.presentationml.slide+xml"/>
  <Override PartName="/ppt/slides/slide57.xml" ContentType="application/vnd.openxmlformats-officedocument.presentationml.slide+xml"/>
  <Override PartName="/ppt/slides/slide56.xml" ContentType="application/vnd.openxmlformats-officedocument.presentationml.slide+xml"/>
  <Override PartName="/ppt/slides/slide50.xml" ContentType="application/vnd.openxmlformats-officedocument.presentationml.slide+xml"/>
  <Override PartName="/ppt/slides/slide24.xml" ContentType="application/vnd.openxmlformats-officedocument.presentationml.slide+xml"/>
  <Override PartName="/ppt/slides/slide103.xml" ContentType="application/vnd.openxmlformats-officedocument.presentationml.slide+xml"/>
  <Override PartName="/ppt/slides/slide83.xml" ContentType="application/vnd.openxmlformats-officedocument.presentationml.slide+xml"/>
  <Override PartName="/ppt/slides/slide20.xml" ContentType="application/vnd.openxmlformats-officedocument.presentationml.slide+xml"/>
  <Override PartName="/ppt/slides/slide48.xml" ContentType="application/vnd.openxmlformats-officedocument.presentationml.slide+xml"/>
  <Override PartName="/ppt/slides/slide9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98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110.xml" ContentType="application/vnd.openxmlformats-officedocument.presentationml.slide+xml"/>
  <Override PartName="/ppt/slides/slide19.xml" ContentType="application/vnd.openxmlformats-officedocument.presentationml.slide+xml"/>
  <Override PartName="/ppt/slides/slide26.xml" ContentType="application/vnd.openxmlformats-officedocument.presentationml.slide+xml"/>
  <Override PartName="/ppt/slides/slide111.xml" ContentType="application/vnd.openxmlformats-officedocument.presentationml.slide+xml"/>
  <Override PartName="/ppt/slides/slide89.xml" ContentType="application/vnd.openxmlformats-officedocument.presentationml.slide+xml"/>
  <Override PartName="/ppt/slides/slide60.xml" ContentType="application/vnd.openxmlformats-officedocument.presentationml.slide+xml"/>
  <Override PartName="/ppt/slides/slide113.xml" ContentType="application/vnd.openxmlformats-officedocument.presentationml.slide+xml"/>
  <Override PartName="/ppt/slides/slide37.xml" ContentType="application/vnd.openxmlformats-officedocument.presentationml.slide+xml"/>
  <Override PartName="/ppt/slides/slide69.xml" ContentType="application/vnd.openxmlformats-officedocument.presentationml.slide+xml"/>
  <Override PartName="/ppt/slides/slide49.xml" ContentType="application/vnd.openxmlformats-officedocument.presentationml.slide+xml"/>
  <Override PartName="/ppt/slides/slide75.xml" ContentType="application/vnd.openxmlformats-officedocument.presentationml.slide+xml"/>
  <Override PartName="/ppt/slides/slide28.xml" ContentType="application/vnd.openxmlformats-officedocument.presentationml.slide+xml"/>
  <Override PartName="/ppt/slides/slide70.xml" ContentType="application/vnd.openxmlformats-officedocument.presentationml.slide+xml"/>
  <Override PartName="/ppt/slides/slide67.xml" ContentType="application/vnd.openxmlformats-officedocument.presentationml.slide+xml"/>
  <Override PartName="/ppt/slides/slide63.xml" ContentType="application/vnd.openxmlformats-officedocument.presentationml.slide+xml"/>
  <Override PartName="/ppt/slides/slide92.xml" ContentType="application/vnd.openxmlformats-officedocument.presentationml.slide+xml"/>
  <Override PartName="/ppt/slides/slide65.xml" ContentType="application/vnd.openxmlformats-officedocument.presentationml.slide+xml"/>
  <Override PartName="/ppt/slides/slide58.xml" ContentType="application/vnd.openxmlformats-officedocument.presentationml.slide+xml"/>
  <Override PartName="/ppt/slides/slide15.xml" ContentType="application/vnd.openxmlformats-officedocument.presentationml.slide+xml"/>
  <Override PartName="/ppt/slides/slide22.xml" ContentType="application/vnd.openxmlformats-officedocument.presentationml.slide+xml"/>
  <Override PartName="/ppt/slides/slide74.xml" ContentType="application/vnd.openxmlformats-officedocument.presentationml.slide+xml"/>
  <Override PartName="/ppt/slides/slide66.xml" ContentType="application/vnd.openxmlformats-officedocument.presentationml.slide+xml"/>
  <Override PartName="/ppt/slides/slide2.xml" ContentType="application/vnd.openxmlformats-officedocument.presentationml.slide+xml"/>
  <Override PartName="/ppt/slides/slide71.xml" ContentType="application/vnd.openxmlformats-officedocument.presentationml.slide+xml"/>
  <Override PartName="/ppt/slides/slide107.xml" ContentType="application/vnd.openxmlformats-officedocument.presentationml.slide+xml"/>
  <Override PartName="/ppt/slides/slide86.xml" ContentType="application/vnd.openxmlformats-officedocument.presentationml.slide+xml"/>
  <Override PartName="/ppt/slides/slide76.xml" ContentType="application/vnd.openxmlformats-officedocument.presentationml.slide+xml"/>
  <Override PartName="/ppt/slides/slide88.xml" ContentType="application/vnd.openxmlformats-officedocument.presentationml.slide+xml"/>
  <Override PartName="/ppt/slides/slide101.xml" ContentType="application/vnd.openxmlformats-officedocument.presentationml.slide+xml"/>
  <Override PartName="/ppt/slides/slide108.xml" ContentType="application/vnd.openxmlformats-officedocument.presentationml.slide+xml"/>
  <Override PartName="/ppt/slides/slide1.xml" ContentType="application/vnd.openxmlformats-officedocument.presentationml.slide+xml"/>
  <Override PartName="/ppt/slides/slide106.xml" ContentType="application/vnd.openxmlformats-officedocument.presentationml.slide+xml"/>
  <Override PartName="/ppt/slides/slide77.xml" ContentType="application/vnd.openxmlformats-officedocument.presentationml.slide+xml"/>
  <Override PartName="/ppt/slides/slide85.xml" ContentType="application/vnd.openxmlformats-officedocument.presentationml.slide+xml"/>
  <Override PartName="/ppt/slides/slide72.xml" ContentType="application/vnd.openxmlformats-officedocument.presentationml.slide+xml"/>
  <Override PartName="/ppt/slides/slide95.xml" ContentType="application/vnd.openxmlformats-officedocument.presentationml.slide+xml"/>
  <Override PartName="/ppt/slides/slide84.xml" ContentType="application/vnd.openxmlformats-officedocument.presentationml.slide+xml"/>
  <Override PartName="/ppt/slides/slide8.xml" ContentType="application/vnd.openxmlformats-officedocument.presentationml.slide+xml"/>
  <Override PartName="/ppt/slides/slide21.xml" ContentType="application/vnd.openxmlformats-officedocument.presentationml.slide+xml"/>
  <Override PartName="/ppt/slides/slide68.xml" ContentType="application/vnd.openxmlformats-officedocument.presentationml.slide+xml"/>
  <Override PartName="/ppt/slides/slide97.xml" ContentType="application/vnd.openxmlformats-officedocument.presentationml.slide+xml"/>
  <Override PartName="/ppt/slides/slide87.xml" ContentType="application/vnd.openxmlformats-officedocument.presentationml.slide+xml"/>
  <Override PartName="/ppt/slides/slide78.xml" ContentType="application/vnd.openxmlformats-officedocument.presentationml.slide+xml"/>
  <Override PartName="/ppt/slides/slide35.xml" ContentType="application/vnd.openxmlformats-officedocument.presentationml.slide+xml"/>
  <Override PartName="/ppt/slides/slide80.xml" ContentType="application/vnd.openxmlformats-officedocument.presentationml.slide+xml"/>
  <Override PartName="/ppt/slides/slide64.xml" ContentType="application/vnd.openxmlformats-officedocument.presentationml.slide+xml"/>
  <Override PartName="/ppt/slides/slide62.xml" ContentType="application/vnd.openxmlformats-officedocument.presentationml.slide+xml"/>
  <Override PartName="/ppt/slides/slide51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6.xml" ContentType="application/vnd.openxmlformats-officedocument.presentationml.slide+xml"/>
  <Override PartName="/ppt/slides/slide43.xml" ContentType="application/vnd.openxmlformats-officedocument.presentationml.slide+xml"/>
  <Override PartName="/ppt/slides/slide105.xml" ContentType="application/vnd.openxmlformats-officedocument.presentationml.slide+xml"/>
  <Override PartName="/ppt/slides/slide94.xml" ContentType="application/vnd.openxmlformats-officedocument.presentationml.slide+xml"/>
  <Override PartName="/ppt/slides/slide29.xml" ContentType="application/vnd.openxmlformats-officedocument.presentationml.slide+xml"/>
  <Override PartName="/ppt/slides/slide99.xml" ContentType="application/vnd.openxmlformats-officedocument.presentationml.slide+xml"/>
  <Override PartName="/ppt/slides/slide93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73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79.xml" ContentType="application/vnd.openxmlformats-officedocument.presentationml.slide+xml"/>
  <Override PartName="/ppt/slides/slide61.xml" ContentType="application/vnd.openxmlformats-officedocument.presentationml.slide+xml"/>
  <Override PartName="/ppt/slides/slide96.xml" ContentType="application/vnd.openxmlformats-officedocument.presentationml.slide+xml"/>
  <Override PartName="/ppt/slides/slide112.xml" ContentType="application/vnd.openxmlformats-officedocument.presentationml.slide+xml"/>
  <Override PartName="/ppt/slides/slide91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47.xml" ContentType="application/vnd.openxmlformats-officedocument.presentationml.slide+xml"/>
  <Override PartName="/ppt/slides/slide16.xml" ContentType="application/vnd.openxmlformats-officedocument.presentationml.slide+xml"/>
  <Override PartName="/ppt/slides/slide10.xml" ContentType="application/vnd.openxmlformats-officedocument.presentationml.slide+xml"/>
  <Override PartName="/ppt/slides/slide109.xml" ContentType="application/vnd.openxmlformats-officedocument.presentationml.slide+xml"/>
  <Override PartName="/ppt/slides/slide17.xml" ContentType="application/vnd.openxmlformats-officedocument.presentationml.slide+xml"/>
  <Override PartName="/ppt/notesSlides/notesSlide4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6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26" r:id="rId75"/>
    <p:sldId id="327" r:id="rId76"/>
    <p:sldId id="328" r:id="rId77"/>
    <p:sldId id="329" r:id="rId78"/>
    <p:sldId id="330" r:id="rId79"/>
    <p:sldId id="331" r:id="rId80"/>
    <p:sldId id="332" r:id="rId81"/>
    <p:sldId id="333" r:id="rId82"/>
    <p:sldId id="334" r:id="rId83"/>
    <p:sldId id="335" r:id="rId84"/>
    <p:sldId id="336" r:id="rId85"/>
    <p:sldId id="337" r:id="rId86"/>
    <p:sldId id="338" r:id="rId87"/>
    <p:sldId id="339" r:id="rId88"/>
    <p:sldId id="340" r:id="rId89"/>
    <p:sldId id="341" r:id="rId90"/>
    <p:sldId id="342" r:id="rId91"/>
    <p:sldId id="343" r:id="rId92"/>
    <p:sldId id="344" r:id="rId93"/>
    <p:sldId id="345" r:id="rId94"/>
    <p:sldId id="346" r:id="rId95"/>
    <p:sldId id="347" r:id="rId96"/>
    <p:sldId id="348" r:id="rId97"/>
    <p:sldId id="349" r:id="rId98"/>
    <p:sldId id="350" r:id="rId99"/>
    <p:sldId id="351" r:id="rId100"/>
    <p:sldId id="352" r:id="rId101"/>
    <p:sldId id="353" r:id="rId102"/>
    <p:sldId id="354" r:id="rId103"/>
    <p:sldId id="355" r:id="rId104"/>
    <p:sldId id="356" r:id="rId105"/>
    <p:sldId id="357" r:id="rId106"/>
    <p:sldId id="358" r:id="rId107"/>
    <p:sldId id="359" r:id="rId108"/>
    <p:sldId id="360" r:id="rId109"/>
    <p:sldId id="361" r:id="rId110"/>
    <p:sldId id="362" r:id="rId111"/>
    <p:sldId id="363" r:id="rId112"/>
    <p:sldId id="364" r:id="rId113"/>
    <p:sldId id="365" r:id="rId114"/>
    <p:sldId id="366" r:id="rId115"/>
    <p:sldId id="367" r:id="rId116"/>
    <p:sldId id="368" r:id="rId117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slide" Target="slides/slide78.xml"/><Relationship Id="rId83" Type="http://schemas.openxmlformats.org/officeDocument/2006/relationships/slide" Target="slides/slide79.xml"/><Relationship Id="rId84" Type="http://schemas.openxmlformats.org/officeDocument/2006/relationships/slide" Target="slides/slide80.xml"/><Relationship Id="rId85" Type="http://schemas.openxmlformats.org/officeDocument/2006/relationships/slide" Target="slides/slide81.xml"/><Relationship Id="rId86" Type="http://schemas.openxmlformats.org/officeDocument/2006/relationships/slide" Target="slides/slide82.xml"/><Relationship Id="rId87" Type="http://schemas.openxmlformats.org/officeDocument/2006/relationships/slide" Target="slides/slide83.xml"/><Relationship Id="rId88" Type="http://schemas.openxmlformats.org/officeDocument/2006/relationships/slide" Target="slides/slide84.xml"/><Relationship Id="rId89" Type="http://schemas.openxmlformats.org/officeDocument/2006/relationships/slide" Target="slides/slide85.xml"/><Relationship Id="rId90" Type="http://schemas.openxmlformats.org/officeDocument/2006/relationships/slide" Target="slides/slide86.xml"/><Relationship Id="rId91" Type="http://schemas.openxmlformats.org/officeDocument/2006/relationships/slide" Target="slides/slide87.xml"/><Relationship Id="rId92" Type="http://schemas.openxmlformats.org/officeDocument/2006/relationships/slide" Target="slides/slide88.xml"/><Relationship Id="rId93" Type="http://schemas.openxmlformats.org/officeDocument/2006/relationships/slide" Target="slides/slide89.xml"/><Relationship Id="rId94" Type="http://schemas.openxmlformats.org/officeDocument/2006/relationships/slide" Target="slides/slide90.xml"/><Relationship Id="rId95" Type="http://schemas.openxmlformats.org/officeDocument/2006/relationships/slide" Target="slides/slide91.xml"/><Relationship Id="rId96" Type="http://schemas.openxmlformats.org/officeDocument/2006/relationships/slide" Target="slides/slide92.xml"/><Relationship Id="rId97" Type="http://schemas.openxmlformats.org/officeDocument/2006/relationships/slide" Target="slides/slide93.xml"/><Relationship Id="rId98" Type="http://schemas.openxmlformats.org/officeDocument/2006/relationships/slide" Target="slides/slide94.xml"/><Relationship Id="rId99" Type="http://schemas.openxmlformats.org/officeDocument/2006/relationships/slide" Target="slides/slide95.xml"/><Relationship Id="rId100" Type="http://schemas.openxmlformats.org/officeDocument/2006/relationships/slide" Target="slides/slide96.xml"/><Relationship Id="rId101" Type="http://schemas.openxmlformats.org/officeDocument/2006/relationships/slide" Target="slides/slide97.xml"/><Relationship Id="rId102" Type="http://schemas.openxmlformats.org/officeDocument/2006/relationships/slide" Target="slides/slide98.xml"/><Relationship Id="rId103" Type="http://schemas.openxmlformats.org/officeDocument/2006/relationships/slide" Target="slides/slide99.xml"/><Relationship Id="rId104" Type="http://schemas.openxmlformats.org/officeDocument/2006/relationships/slide" Target="slides/slide100.xml"/><Relationship Id="rId105" Type="http://schemas.openxmlformats.org/officeDocument/2006/relationships/slide" Target="slides/slide101.xml"/><Relationship Id="rId106" Type="http://schemas.openxmlformats.org/officeDocument/2006/relationships/slide" Target="slides/slide102.xml"/><Relationship Id="rId107" Type="http://schemas.openxmlformats.org/officeDocument/2006/relationships/slide" Target="slides/slide103.xml"/><Relationship Id="rId108" Type="http://schemas.openxmlformats.org/officeDocument/2006/relationships/slide" Target="slides/slide104.xml"/><Relationship Id="rId109" Type="http://schemas.openxmlformats.org/officeDocument/2006/relationships/slide" Target="slides/slide105.xml"/><Relationship Id="rId110" Type="http://schemas.openxmlformats.org/officeDocument/2006/relationships/slide" Target="slides/slide106.xml"/><Relationship Id="rId111" Type="http://schemas.openxmlformats.org/officeDocument/2006/relationships/slide" Target="slides/slide107.xml"/><Relationship Id="rId112" Type="http://schemas.openxmlformats.org/officeDocument/2006/relationships/slide" Target="slides/slide108.xml"/><Relationship Id="rId113" Type="http://schemas.openxmlformats.org/officeDocument/2006/relationships/slide" Target="slides/slide109.xml"/><Relationship Id="rId114" Type="http://schemas.openxmlformats.org/officeDocument/2006/relationships/slide" Target="slides/slide110.xml"/><Relationship Id="rId115" Type="http://schemas.openxmlformats.org/officeDocument/2006/relationships/slide" Target="slides/slide111.xml"/><Relationship Id="rId116" Type="http://schemas.openxmlformats.org/officeDocument/2006/relationships/slide" Target="slides/slide112.xml"/><Relationship Id="rId117" Type="http://schemas.openxmlformats.org/officeDocument/2006/relationships/slide" Target="slides/slide113.xml"/><Relationship Id="rId11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FC35A39-0509-4575-B539-9581FEB76FA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3.xml.rels><?xml version="1.0" encoding="UTF-8"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6.xml.rels><?xml version="1.0" encoding="UTF-8"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9.xml.rels><?xml version="1.0" encoding="UTF-8"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_rels/notesSlide72.xml.rels><?xml version="1.0" encoding="UTF-8"?>
<Relationships xmlns="http://schemas.openxmlformats.org/package/2006/relationships"><Relationship Id="rId1" Type="http://schemas.openxmlformats.org/officeDocument/2006/relationships/slide" Target="../slides/slide72.xml"/><Relationship Id="rId2" Type="http://schemas.openxmlformats.org/officeDocument/2006/relationships/notesMaster" Target="../notesMasters/notesMaster1.xml"/>
</Relationships>
</file>

<file path=ppt/notesSlides/_rels/notesSlide73.xml.rels><?xml version="1.0" encoding="UTF-8"?>
<Relationships xmlns="http://schemas.openxmlformats.org/package/2006/relationships"><Relationship Id="rId1" Type="http://schemas.openxmlformats.org/officeDocument/2006/relationships/slide" Target="../slides/slide73.xml"/><Relationship Id="rId2" Type="http://schemas.openxmlformats.org/officeDocument/2006/relationships/notesMaster" Target="../notesMasters/notesMaster1.xml"/>
</Relationships>
</file>

<file path=ppt/notesSlides/_rels/notesSlide74.xml.rels><?xml version="1.0" encoding="UTF-8"?>
<Relationships xmlns="http://schemas.openxmlformats.org/package/2006/relationships"><Relationship Id="rId1" Type="http://schemas.openxmlformats.org/officeDocument/2006/relationships/slide" Target="../slides/slide74.xml"/><Relationship Id="rId2" Type="http://schemas.openxmlformats.org/officeDocument/2006/relationships/notesMaster" Target="../notesMasters/notesMaster1.xml"/>
</Relationships>
</file>

<file path=ppt/notesSlides/_rels/notesSlide75.xml.rels><?xml version="1.0" encoding="UTF-8"?>
<Relationships xmlns="http://schemas.openxmlformats.org/package/2006/relationships"><Relationship Id="rId1" Type="http://schemas.openxmlformats.org/officeDocument/2006/relationships/slide" Target="../slides/slide75.xml"/><Relationship Id="rId2" Type="http://schemas.openxmlformats.org/officeDocument/2006/relationships/notesMaster" Target="../notesMasters/notesMaster1.xml"/>
</Relationships>
</file>

<file path=ppt/notesSlides/_rels/notesSlide76.xml.rels><?xml version="1.0" encoding="UTF-8"?>
<Relationships xmlns="http://schemas.openxmlformats.org/package/2006/relationships"><Relationship Id="rId1" Type="http://schemas.openxmlformats.org/officeDocument/2006/relationships/slide" Target="../slides/slide76.xml"/><Relationship Id="rId2" Type="http://schemas.openxmlformats.org/officeDocument/2006/relationships/notesMaster" Target="../notesMasters/notesMaster1.xml"/>
</Relationships>
</file>

<file path=ppt/notesSlides/_rels/notesSlide77.xml.rels><?xml version="1.0" encoding="UTF-8"?>
<Relationships xmlns="http://schemas.openxmlformats.org/package/2006/relationships"><Relationship Id="rId1" Type="http://schemas.openxmlformats.org/officeDocument/2006/relationships/slide" Target="../slides/slide77.xml"/><Relationship Id="rId2" Type="http://schemas.openxmlformats.org/officeDocument/2006/relationships/notesMaster" Target="../notesMasters/notesMaster1.xml"/>
</Relationships>
</file>

<file path=ppt/notesSlides/_rels/notesSlide78.xml.rels><?xml version="1.0" encoding="UTF-8"?>
<Relationships xmlns="http://schemas.openxmlformats.org/package/2006/relationships"><Relationship Id="rId1" Type="http://schemas.openxmlformats.org/officeDocument/2006/relationships/slide" Target="../slides/slide78.xml"/><Relationship Id="rId2" Type="http://schemas.openxmlformats.org/officeDocument/2006/relationships/notesMaster" Target="../notesMasters/notesMaster1.xml"/>
</Relationships>
</file>

<file path=ppt/notesSlides/_rels/notesSlide79.xml.rels><?xml version="1.0" encoding="UTF-8"?>
<Relationships xmlns="http://schemas.openxmlformats.org/package/2006/relationships"><Relationship Id="rId1" Type="http://schemas.openxmlformats.org/officeDocument/2006/relationships/slide" Target="../slides/slide79.xml"/><Relationship Id="rId2" Type="http://schemas.openxmlformats.org/officeDocument/2006/relationships/notesMaster" Target="../notesMasters/notesMaster1.xml"/>
</Relationships>
</file>

<file path=ppt/notesSlides/_rels/notesSlide80.xml.rels><?xml version="1.0" encoding="UTF-8"?>
<Relationships xmlns="http://schemas.openxmlformats.org/package/2006/relationships"><Relationship Id="rId1" Type="http://schemas.openxmlformats.org/officeDocument/2006/relationships/slide" Target="../slides/slide80.xml"/><Relationship Id="rId2" Type="http://schemas.openxmlformats.org/officeDocument/2006/relationships/notesMaster" Target="../notesMasters/notesMaster1.xml"/>
</Relationships>
</file>

<file path=ppt/notesSlides/_rels/notesSlide81.xml.rels><?xml version="1.0" encoding="UTF-8"?>
<Relationships xmlns="http://schemas.openxmlformats.org/package/2006/relationships"><Relationship Id="rId1" Type="http://schemas.openxmlformats.org/officeDocument/2006/relationships/slide" Target="../slides/slide81.xml"/><Relationship Id="rId2" Type="http://schemas.openxmlformats.org/officeDocument/2006/relationships/notesMaster" Target="../notesMasters/notesMaster1.xml"/>
</Relationships>
</file>

<file path=ppt/notesSlides/_rels/notesSlide82.xml.rels><?xml version="1.0" encoding="UTF-8"?>
<Relationships xmlns="http://schemas.openxmlformats.org/package/2006/relationships"><Relationship Id="rId1" Type="http://schemas.openxmlformats.org/officeDocument/2006/relationships/slide" Target="../slides/slide82.xml"/><Relationship Id="rId2" Type="http://schemas.openxmlformats.org/officeDocument/2006/relationships/notesMaster" Target="../notesMasters/notesMaster1.xml"/>
</Relationships>
</file>

<file path=ppt/notesSlides/_rels/notesSlide83.xml.rels><?xml version="1.0" encoding="UTF-8"?>
<Relationships xmlns="http://schemas.openxmlformats.org/package/2006/relationships"><Relationship Id="rId1" Type="http://schemas.openxmlformats.org/officeDocument/2006/relationships/slide" Target="../slides/slide83.xml"/><Relationship Id="rId2" Type="http://schemas.openxmlformats.org/officeDocument/2006/relationships/notesMaster" Target="../notesMasters/notesMaster1.xml"/>
</Relationships>
</file>

<file path=ppt/notesSlides/_rels/notesSlide84.xml.rels><?xml version="1.0" encoding="UTF-8"?>
<Relationships xmlns="http://schemas.openxmlformats.org/package/2006/relationships"><Relationship Id="rId1" Type="http://schemas.openxmlformats.org/officeDocument/2006/relationships/slide" Target="../slides/slide84.xml"/><Relationship Id="rId2" Type="http://schemas.openxmlformats.org/officeDocument/2006/relationships/notesMaster" Target="../notesMasters/notesMaster1.xml"/>
</Relationships>
</file>

<file path=ppt/notesSlides/_rels/notesSlide85.xml.rels><?xml version="1.0" encoding="UTF-8"?>
<Relationships xmlns="http://schemas.openxmlformats.org/package/2006/relationships"><Relationship Id="rId1" Type="http://schemas.openxmlformats.org/officeDocument/2006/relationships/slide" Target="../slides/slide85.xml"/><Relationship Id="rId2" Type="http://schemas.openxmlformats.org/officeDocument/2006/relationships/notesMaster" Target="../notesMasters/notesMaster1.xml"/>
</Relationships>
</file>

<file path=ppt/notesSlides/_rels/notesSlide86.xml.rels><?xml version="1.0" encoding="UTF-8"?>
<Relationships xmlns="http://schemas.openxmlformats.org/package/2006/relationships"><Relationship Id="rId1" Type="http://schemas.openxmlformats.org/officeDocument/2006/relationships/slide" Target="../slides/slide86.xml"/><Relationship Id="rId2" Type="http://schemas.openxmlformats.org/officeDocument/2006/relationships/notesMaster" Target="../notesMasters/notesMaster1.xml"/>
</Relationships>
</file>

<file path=ppt/notesSlides/_rels/notesSlide87.xml.rels><?xml version="1.0" encoding="UTF-8"?>
<Relationships xmlns="http://schemas.openxmlformats.org/package/2006/relationships"><Relationship Id="rId1" Type="http://schemas.openxmlformats.org/officeDocument/2006/relationships/slide" Target="../slides/slide87.xml"/><Relationship Id="rId2" Type="http://schemas.openxmlformats.org/officeDocument/2006/relationships/notesMaster" Target="../notesMasters/notesMaster1.xml"/>
</Relationships>
</file>

<file path=ppt/notesSlides/_rels/notesSlide88.xml.rels><?xml version="1.0" encoding="UTF-8"?>
<Relationships xmlns="http://schemas.openxmlformats.org/package/2006/relationships"><Relationship Id="rId1" Type="http://schemas.openxmlformats.org/officeDocument/2006/relationships/slide" Target="../slides/slide88.xml"/><Relationship Id="rId2" Type="http://schemas.openxmlformats.org/officeDocument/2006/relationships/notesMaster" Target="../notesMasters/notesMaster1.xml"/>
</Relationships>
</file>

<file path=ppt/notesSlides/_rels/notesSlide89.xml.rels><?xml version="1.0" encoding="UTF-8"?>
<Relationships xmlns="http://schemas.openxmlformats.org/package/2006/relationships"><Relationship Id="rId1" Type="http://schemas.openxmlformats.org/officeDocument/2006/relationships/slide" Target="../slides/slide89.xml"/><Relationship Id="rId2" Type="http://schemas.openxmlformats.org/officeDocument/2006/relationships/notesMaster" Target="../notesMasters/notesMaster1.xml"/>
</Relationships>
</file>

<file path=ppt/notesSlides/_rels/notesSlide90.xml.rels><?xml version="1.0" encoding="UTF-8"?>
<Relationships xmlns="http://schemas.openxmlformats.org/package/2006/relationships"><Relationship Id="rId1" Type="http://schemas.openxmlformats.org/officeDocument/2006/relationships/slide" Target="../slides/slide90.xml"/><Relationship Id="rId2" Type="http://schemas.openxmlformats.org/officeDocument/2006/relationships/notesMaster" Target="../notesMasters/notesMaster1.xml"/>
</Relationships>
</file>

<file path=ppt/notesSlides/_rels/notesSlide91.xml.rels><?xml version="1.0" encoding="UTF-8"?>
<Relationships xmlns="http://schemas.openxmlformats.org/package/2006/relationships"><Relationship Id="rId1" Type="http://schemas.openxmlformats.org/officeDocument/2006/relationships/slide" Target="../slides/slide91.xml"/><Relationship Id="rId2" Type="http://schemas.openxmlformats.org/officeDocument/2006/relationships/notesMaster" Target="../notesMasters/notesMaster1.xml"/>
</Relationships>
</file>

<file path=ppt/notesSlides/_rels/notesSlide92.xml.rels><?xml version="1.0" encoding="UTF-8"?>
<Relationships xmlns="http://schemas.openxmlformats.org/package/2006/relationships"><Relationship Id="rId1" Type="http://schemas.openxmlformats.org/officeDocument/2006/relationships/slide" Target="../slides/slide92.xml"/><Relationship Id="rId2" Type="http://schemas.openxmlformats.org/officeDocument/2006/relationships/notesMaster" Target="../notesMasters/notesMaster1.xml"/>
</Relationships>
</file>

<file path=ppt/notesSlides/_rels/notesSlide93.xml.rels><?xml version="1.0" encoding="UTF-8"?>
<Relationships xmlns="http://schemas.openxmlformats.org/package/2006/relationships"><Relationship Id="rId1" Type="http://schemas.openxmlformats.org/officeDocument/2006/relationships/slide" Target="../slides/slide93.xml"/><Relationship Id="rId2" Type="http://schemas.openxmlformats.org/officeDocument/2006/relationships/notesMaster" Target="../notesMasters/notesMaster1.xml"/>
</Relationships>
</file>

<file path=ppt/notesSlides/_rels/notesSlide94.xml.rels><?xml version="1.0" encoding="UTF-8"?>
<Relationships xmlns="http://schemas.openxmlformats.org/package/2006/relationships"><Relationship Id="rId1" Type="http://schemas.openxmlformats.org/officeDocument/2006/relationships/slide" Target="../slides/slide94.xml"/><Relationship Id="rId2" Type="http://schemas.openxmlformats.org/officeDocument/2006/relationships/notesMaster" Target="../notesMasters/notesMaster1.xml"/>
</Relationships>
</file>

<file path=ppt/notesSlides/_rels/notesSlide95.xml.rels><?xml version="1.0" encoding="UTF-8"?>
<Relationships xmlns="http://schemas.openxmlformats.org/package/2006/relationships"><Relationship Id="rId1" Type="http://schemas.openxmlformats.org/officeDocument/2006/relationships/slide" Target="../slides/slide95.xml"/><Relationship Id="rId2" Type="http://schemas.openxmlformats.org/officeDocument/2006/relationships/notesMaster" Target="../notesMasters/notesMaster1.xml"/>
</Relationships>
</file>

<file path=ppt/notesSlides/_rels/notesSlide96.xml.rels><?xml version="1.0" encoding="UTF-8"?>
<Relationships xmlns="http://schemas.openxmlformats.org/package/2006/relationships"><Relationship Id="rId1" Type="http://schemas.openxmlformats.org/officeDocument/2006/relationships/slide" Target="../slides/slide96.xml"/><Relationship Id="rId2" Type="http://schemas.openxmlformats.org/officeDocument/2006/relationships/notesMaster" Target="../notesMasters/notesMaster1.xml"/>
</Relationships>
</file>

<file path=ppt/notesSlides/_rels/notesSlide97.xml.rels><?xml version="1.0" encoding="UTF-8"?>
<Relationships xmlns="http://schemas.openxmlformats.org/package/2006/relationships"><Relationship Id="rId1" Type="http://schemas.openxmlformats.org/officeDocument/2006/relationships/slide" Target="../slides/slide97.xml"/><Relationship Id="rId2" Type="http://schemas.openxmlformats.org/officeDocument/2006/relationships/notesMaster" Target="../notesMasters/notesMaster1.xml"/>
</Relationships>
</file>

<file path=ppt/notesSlides/_rels/notesSlide98.xml.rels><?xml version="1.0" encoding="UTF-8"?>
<Relationships xmlns="http://schemas.openxmlformats.org/package/2006/relationships"><Relationship Id="rId1" Type="http://schemas.openxmlformats.org/officeDocument/2006/relationships/slide" Target="../slides/slide98.xml"/><Relationship Id="rId2" Type="http://schemas.openxmlformats.org/officeDocument/2006/relationships/notesMaster" Target="../notesMasters/notesMaster1.xml"/>
</Relationships>
</file>

<file path=ppt/notesSlides/_rels/notesSlide99.xml.rels><?xml version="1.0" encoding="UTF-8"?>
<Relationships xmlns="http://schemas.openxmlformats.org/package/2006/relationships"><Relationship Id="rId1" Type="http://schemas.openxmlformats.org/officeDocument/2006/relationships/slide" Target="../slides/slide99.xml"/><Relationship Id="rId2" Type="http://schemas.openxmlformats.org/officeDocument/2006/relationships/notesMaster" Target="../notesMasters/notesMaster1.xml"/>
</Relationships>
</file>

<file path=ppt/notesSlides/_rels/notesSlide100.xml.rels><?xml version="1.0" encoding="UTF-8"?>
<Relationships xmlns="http://schemas.openxmlformats.org/package/2006/relationships"><Relationship Id="rId1" Type="http://schemas.openxmlformats.org/officeDocument/2006/relationships/slide" Target="../slides/slide100.xml"/><Relationship Id="rId2" Type="http://schemas.openxmlformats.org/officeDocument/2006/relationships/notesMaster" Target="../notesMasters/notesMaster1.xml"/>
</Relationships>
</file>

<file path=ppt/notesSlides/_rels/notesSlide101.xml.rels><?xml version="1.0" encoding="UTF-8"?>
<Relationships xmlns="http://schemas.openxmlformats.org/package/2006/relationships"><Relationship Id="rId1" Type="http://schemas.openxmlformats.org/officeDocument/2006/relationships/slide" Target="../slides/slide101.xml"/><Relationship Id="rId2" Type="http://schemas.openxmlformats.org/officeDocument/2006/relationships/notesMaster" Target="../notesMasters/notesMaster1.xml"/>
</Relationships>
</file>

<file path=ppt/notesSlides/_rels/notesSlide102.xml.rels><?xml version="1.0" encoding="UTF-8"?>
<Relationships xmlns="http://schemas.openxmlformats.org/package/2006/relationships"><Relationship Id="rId1" Type="http://schemas.openxmlformats.org/officeDocument/2006/relationships/slide" Target="../slides/slide102.xml"/><Relationship Id="rId2" Type="http://schemas.openxmlformats.org/officeDocument/2006/relationships/notesMaster" Target="../notesMasters/notesMaster1.xml"/>
</Relationships>
</file>

<file path=ppt/notesSlides/_rels/notesSlide103.xml.rels><?xml version="1.0" encoding="UTF-8"?>
<Relationships xmlns="http://schemas.openxmlformats.org/package/2006/relationships"><Relationship Id="rId1" Type="http://schemas.openxmlformats.org/officeDocument/2006/relationships/slide" Target="../slides/slide103.xml"/><Relationship Id="rId2" Type="http://schemas.openxmlformats.org/officeDocument/2006/relationships/notesMaster" Target="../notesMasters/notesMaster1.xml"/>
</Relationships>
</file>

<file path=ppt/notesSlides/_rels/notesSlide104.xml.rels><?xml version="1.0" encoding="UTF-8"?>
<Relationships xmlns="http://schemas.openxmlformats.org/package/2006/relationships"><Relationship Id="rId1" Type="http://schemas.openxmlformats.org/officeDocument/2006/relationships/slide" Target="../slides/slide104.xml"/><Relationship Id="rId2" Type="http://schemas.openxmlformats.org/officeDocument/2006/relationships/notesMaster" Target="../notesMasters/notesMaster1.xml"/>
</Relationships>
</file>

<file path=ppt/notesSlides/_rels/notesSlide105.xml.rels><?xml version="1.0" encoding="UTF-8"?>
<Relationships xmlns="http://schemas.openxmlformats.org/package/2006/relationships"><Relationship Id="rId1" Type="http://schemas.openxmlformats.org/officeDocument/2006/relationships/slide" Target="../slides/slide105.xml"/><Relationship Id="rId2" Type="http://schemas.openxmlformats.org/officeDocument/2006/relationships/notesMaster" Target="../notesMasters/notesMaster1.xml"/>
</Relationships>
</file>

<file path=ppt/notesSlides/_rels/notesSlide106.xml.rels><?xml version="1.0" encoding="UTF-8"?>
<Relationships xmlns="http://schemas.openxmlformats.org/package/2006/relationships"><Relationship Id="rId1" Type="http://schemas.openxmlformats.org/officeDocument/2006/relationships/slide" Target="../slides/slide106.xml"/><Relationship Id="rId2" Type="http://schemas.openxmlformats.org/officeDocument/2006/relationships/notesMaster" Target="../notesMasters/notesMaster1.xml"/>
</Relationships>
</file>

<file path=ppt/notesSlides/_rels/notesSlide107.xml.rels><?xml version="1.0" encoding="UTF-8"?>
<Relationships xmlns="http://schemas.openxmlformats.org/package/2006/relationships"><Relationship Id="rId1" Type="http://schemas.openxmlformats.org/officeDocument/2006/relationships/slide" Target="../slides/slide107.xml"/><Relationship Id="rId2" Type="http://schemas.openxmlformats.org/officeDocument/2006/relationships/notesMaster" Target="../notesMasters/notesMaster1.xml"/>
</Relationships>
</file>

<file path=ppt/notesSlides/_rels/notesSlide108.xml.rels><?xml version="1.0" encoding="UTF-8"?>
<Relationships xmlns="http://schemas.openxmlformats.org/package/2006/relationships"><Relationship Id="rId1" Type="http://schemas.openxmlformats.org/officeDocument/2006/relationships/slide" Target="../slides/slide108.xml"/><Relationship Id="rId2" Type="http://schemas.openxmlformats.org/officeDocument/2006/relationships/notesMaster" Target="../notesMasters/notesMaster1.xml"/>
</Relationships>
</file>

<file path=ppt/notesSlides/_rels/notesSlide109.xml.rels><?xml version="1.0" encoding="UTF-8"?>
<Relationships xmlns="http://schemas.openxmlformats.org/package/2006/relationships"><Relationship Id="rId1" Type="http://schemas.openxmlformats.org/officeDocument/2006/relationships/slide" Target="../slides/slide109.xml"/><Relationship Id="rId2" Type="http://schemas.openxmlformats.org/officeDocument/2006/relationships/notesMaster" Target="../notesMasters/notesMaster1.xml"/>
</Relationships>
</file>

<file path=ppt/notesSlides/_rels/notesSlide110.xml.rels><?xml version="1.0" encoding="UTF-8"?>
<Relationships xmlns="http://schemas.openxmlformats.org/package/2006/relationships"><Relationship Id="rId1" Type="http://schemas.openxmlformats.org/officeDocument/2006/relationships/slide" Target="../slides/slide110.xml"/><Relationship Id="rId2" Type="http://schemas.openxmlformats.org/officeDocument/2006/relationships/notesMaster" Target="../notesMasters/notesMaster1.xml"/>
</Relationships>
</file>

<file path=ppt/notesSlides/_rels/notesSlide111.xml.rels><?xml version="1.0" encoding="UTF-8"?>
<Relationships xmlns="http://schemas.openxmlformats.org/package/2006/relationships"><Relationship Id="rId1" Type="http://schemas.openxmlformats.org/officeDocument/2006/relationships/slide" Target="../slides/slide111.xml"/><Relationship Id="rId2" Type="http://schemas.openxmlformats.org/officeDocument/2006/relationships/notesMaster" Target="../notesMasters/notesMaster1.xml"/>
</Relationships>
</file>

<file path=ppt/notesSlides/_rels/notesSlide112.xml.rels><?xml version="1.0" encoding="UTF-8"?>
<Relationships xmlns="http://schemas.openxmlformats.org/package/2006/relationships"><Relationship Id="rId1" Type="http://schemas.openxmlformats.org/officeDocument/2006/relationships/slide" Target="../slides/slide112.xml"/><Relationship Id="rId2" Type="http://schemas.openxmlformats.org/officeDocument/2006/relationships/notesMaster" Target="../notesMasters/notesMaster1.xml"/>
</Relationships>
</file>

<file path=ppt/notesSlides/_rels/notesSlide113.xml.rels><?xml version="1.0" encoding="UTF-8"?>
<Relationships xmlns="http://schemas.openxmlformats.org/package/2006/relationships"><Relationship Id="rId1" Type="http://schemas.openxmlformats.org/officeDocument/2006/relationships/slide" Target="../slides/slide1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3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Opening message: this is not a Kubernetes object catalog. It is a practical operations workshop.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99442B-4DC1-462D-8021-7B2A4D44F6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3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3A689B7-8B50-44F3-82DE-6B43315AB6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3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60AA12-73ED-4559-9395-3875075FDC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3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F8FF4C4-F103-4C46-BD20-BC612429DE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3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A146A49-FE38-411B-89CA-5C6A29C63A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3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B6FAB4C-B05A-4173-8200-5FA8CBDBF8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3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BA3164-C06F-4ACC-8CD6-7C1B70DBA06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3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0BCCC27-05E5-43CF-B1EA-4AF0B605878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3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7FCEE38-1635-4F21-B874-7A00D5186FE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3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9AD08B-2741-4208-AFAF-8E304DF4F9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3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92D98CD-2709-48C9-AFF4-97B8262A11A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F64DE7-FDC2-4CD1-B21A-F2C007F0EC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4D44E4D-BE66-4DEB-840B-1793EFAC078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FC6AB9-FF1D-4597-A1F3-4781E13BDD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AF869E-719E-4280-A0E2-CD380E51EFB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5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4DBE9A-3739-4067-AA28-B3A16F1E21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8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80E702-8E4C-4217-861E-F30F33F97A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1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3CD621-1F5F-4EC0-AEFF-38E6794B1B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4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4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7F16037-CB19-4E70-B89E-9EB7B372243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4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7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EC59F7-A94E-46B2-8386-9A6CA39560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4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0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D719133-21DD-43B1-A94A-8DAF5B657B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4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3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FC410F7-A6D9-4620-9422-9CB3E912C4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4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6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D733BB-0DDA-45ED-8441-222162116A8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4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9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7D47BD-9FE2-4C03-94B5-C6CEF844691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4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2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ADC430A-CABD-451B-B1AF-B87974880E3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4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5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594F339-DAA1-4D50-A792-E66B938342A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4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8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718BE26-7B6C-46EC-B183-6DCB07A077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4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1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2275C7-38F8-4823-BA2D-7CAA3D3829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4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4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A6A6841-27F4-4EA7-8B71-351FD5A4C5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4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7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126558-BBBA-4426-B75C-7E384E264F3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4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0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F2686C-FB74-49E9-ACB3-D48EA34DBD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4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3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CEABED-319E-4FCA-856A-CF8E6389C4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4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6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7E70047-8B63-4BDC-8529-0B5F8BC8CC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4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9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F46F57-6ECC-49ED-AE0C-3217BEB18CD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4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2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EE69791-BFE3-4C55-A4A6-646AEDE04B1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4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5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B224561-EB39-404F-90AD-4E6E3D4AA6E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8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B7FAE98-4076-4370-AD4E-6B00CDDC7E7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1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46FBAD8-4B1B-40C3-931F-7E8C1C1134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4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5F0687-E014-4627-BE93-8E69D5ED121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7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8618CB7-CA0E-48A5-8FF8-54F7101D477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0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A57151-D14B-4C4E-B9A8-277642FD00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3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598CA36-94ED-4C4E-92AF-1E96A5FC143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6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3AF0D17-6058-4E21-BDED-015D6067A2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9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B9B3E8-70D0-4AC2-882A-DF169C73EF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2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3B15E6-2D0C-4272-A9D1-73E99ED5459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5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6D4C0D-D942-4D03-A193-395251A865C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8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04FE3DA-73FD-4B42-BF6E-543350ECA50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1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D2FEF3C-FC2A-4DC8-ACD4-C45E18291D1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4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70951EB-9171-453D-963B-95B453C352B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7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C4BBE2-EF58-448A-96D0-36F7FD176C8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0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3D17394-E9BC-4C5A-9D06-47EDF833F96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3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9DE07AA-68FA-4786-8963-EEA4E99A2F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6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8AE3D90-1357-4ADC-9A98-F37E1D755AA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9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190FAAA-DCE6-4C8B-AB2E-51E4F1004D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2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A739A8-CE34-4AD6-9CB5-78F1F178BE8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5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966CFC5-EE13-42F3-B53D-B1BE2037F9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8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7024E5F-DC7C-48F2-99FF-570C0FFC2C9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1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376042B-1F89-4C44-B801-8EA4F2EB6AC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4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3EFDA4-F9B7-47C9-9F2D-1B53600159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7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63B5178-DD84-4968-AE2A-F334846312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0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8923175-67C8-4C46-9A3F-FA15DD387B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3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240793-11E5-44C2-97CE-6AD725C2134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6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5B2FF7A-B827-48E0-B10F-D1E4001630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9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CEF7EC3-A9F5-4BD7-889C-27609D405C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2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A2091A0-28D5-4E5D-84A4-B661CF17107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5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A4E2BF-DB81-4B4E-8D96-033129EDF86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8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F5BBC42-53FF-4B53-8C60-BFB8C285D9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1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3D34517-5342-4ADC-9B94-EEFA8E8EAF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4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313624D-1BE5-46ED-BA92-AB3242DABF4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7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5D76748-FD0B-4ADD-A5C7-7E10E65DB2F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0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1F9CC03-D8C0-46D0-B1EC-74E3F6AE20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3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7BE6FCA-51CB-4CBC-A3F7-46A105C40F9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6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2C4AFE0-3AAC-4603-AD1B-FED45C3508B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9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31C171B-D289-4ABC-A8FD-D6AC5142BE1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2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043C1FD-D773-41D2-A891-A344B7BC664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5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AA5EA57-C623-4B48-9908-C8C9DFD6F0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5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8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010F4A-6F0B-4107-8586-865C51B89E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1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C328D3C-D019-4F37-ACA3-C6EF4EF78A0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4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A07DFDE-9361-48AB-87DB-401842BB33E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7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B321F47-08D6-4895-93FE-283D9B5589B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0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D73367C-A076-40C1-B733-4A441D952C6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3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D911472-C354-4CDB-973A-3C782ED9894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6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A8021EA-0466-44ED-A594-5E60D7A2C31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9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0167F49-A623-467E-B76F-FDE894158F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2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5BAF62-BD52-458C-8ACB-0178F05EF39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5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70AFEE0-43A3-4A54-AFD7-6D7B197096F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8" name="PlaceHolder 3"/>
          <p:cNvSpPr>
            <a:spLocks noGrp="1"/>
          </p:cNvSpPr>
          <p:nvPr>
            <p:ph type="sldNum" idx="9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4EEB3A4-7A34-4B99-9831-B8350D5E264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1" name="PlaceHolder 3"/>
          <p:cNvSpPr>
            <a:spLocks noGrp="1"/>
          </p:cNvSpPr>
          <p:nvPr>
            <p:ph type="sldNum" idx="9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7DDFE57-860B-4857-9C32-A2ECB0DF7A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4" name="PlaceHolder 3"/>
          <p:cNvSpPr>
            <a:spLocks noGrp="1"/>
          </p:cNvSpPr>
          <p:nvPr>
            <p:ph type="sldNum" idx="9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8299EDB-B59E-4B19-B5A7-9FDFC3A8B1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7" name="PlaceHolder 3"/>
          <p:cNvSpPr>
            <a:spLocks noGrp="1"/>
          </p:cNvSpPr>
          <p:nvPr>
            <p:ph type="sldNum" idx="9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339FDF7-AB34-44DE-9ADE-2B44F974B7E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0" name="PlaceHolder 3"/>
          <p:cNvSpPr>
            <a:spLocks noGrp="1"/>
          </p:cNvSpPr>
          <p:nvPr>
            <p:ph type="sldNum" idx="9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C04C9B1-0B75-40BB-A189-AE6F01E2B62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3" name="PlaceHolder 3"/>
          <p:cNvSpPr>
            <a:spLocks noGrp="1"/>
          </p:cNvSpPr>
          <p:nvPr>
            <p:ph type="sldNum" idx="9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1CB5368-B70B-411E-BEF5-9E8FEFA96C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6" name="PlaceHolder 3"/>
          <p:cNvSpPr>
            <a:spLocks noGrp="1"/>
          </p:cNvSpPr>
          <p:nvPr>
            <p:ph type="sldNum" idx="9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A5E4D09-239A-4BE0-B02A-B2D97FD5A11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9" name="PlaceHolder 3"/>
          <p:cNvSpPr>
            <a:spLocks noGrp="1"/>
          </p:cNvSpPr>
          <p:nvPr>
            <p:ph type="sldNum" idx="10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9BA93A5-65C1-439E-A3EE-9F5FD4D96C5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2" name="PlaceHolder 3"/>
          <p:cNvSpPr>
            <a:spLocks noGrp="1"/>
          </p:cNvSpPr>
          <p:nvPr>
            <p:ph type="sldNum" idx="101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239B08E-AB34-44D4-A0C5-5AC5C967BEB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5" name="PlaceHolder 3"/>
          <p:cNvSpPr>
            <a:spLocks noGrp="1"/>
          </p:cNvSpPr>
          <p:nvPr>
            <p:ph type="sldNum" idx="102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2ACF60-B38B-49CE-9F5E-18D3CD1BEE4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8" name="PlaceHolder 3"/>
          <p:cNvSpPr>
            <a:spLocks noGrp="1"/>
          </p:cNvSpPr>
          <p:nvPr>
            <p:ph type="sldNum" idx="10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EFBF74-A514-41A9-ADA3-1A0E01DD921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1" name="PlaceHolder 3"/>
          <p:cNvSpPr>
            <a:spLocks noGrp="1"/>
          </p:cNvSpPr>
          <p:nvPr>
            <p:ph type="sldNum" idx="10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6E6CBAE-7088-488E-A362-2F28E274F7F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4" name="PlaceHolder 3"/>
          <p:cNvSpPr>
            <a:spLocks noGrp="1"/>
          </p:cNvSpPr>
          <p:nvPr>
            <p:ph type="sldNum" idx="10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4B8FE9-79D2-46FD-8C8A-410A21EEB11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7" name="PlaceHolder 3"/>
          <p:cNvSpPr>
            <a:spLocks noGrp="1"/>
          </p:cNvSpPr>
          <p:nvPr>
            <p:ph type="sldNum" idx="10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0F17779-67D3-4ED9-BE34-59671238C89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0" name="PlaceHolder 3"/>
          <p:cNvSpPr>
            <a:spLocks noGrp="1"/>
          </p:cNvSpPr>
          <p:nvPr>
            <p:ph type="sldNum" idx="10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2BF079F-CEDB-4336-937F-9D3E412D933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3" name="PlaceHolder 3"/>
          <p:cNvSpPr>
            <a:spLocks noGrp="1"/>
          </p:cNvSpPr>
          <p:nvPr>
            <p:ph type="sldNum" idx="10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916F09-21A4-412E-ABA3-8EB2A197258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6" name="PlaceHolder 3"/>
          <p:cNvSpPr>
            <a:spLocks noGrp="1"/>
          </p:cNvSpPr>
          <p:nvPr>
            <p:ph type="sldNum" idx="10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1455DFD-39FB-4A9F-A7E6-9B5BA966ADA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9" name="PlaceHolder 3"/>
          <p:cNvSpPr>
            <a:spLocks noGrp="1"/>
          </p:cNvSpPr>
          <p:nvPr>
            <p:ph type="sldNum" idx="11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B852DA-2B0D-4338-8221-BA1D148A6AD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6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2" name="PlaceHolder 3"/>
          <p:cNvSpPr>
            <a:spLocks noGrp="1"/>
          </p:cNvSpPr>
          <p:nvPr>
            <p:ph type="sldNum" idx="111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2C1AE90-3393-4B15-A6F0-5F426170E21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F6BFAEF-DA7D-42BD-8DCD-56127645816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ftr" idx="1"/>
          </p:nvPr>
        </p:nvSpPr>
        <p:spPr>
          <a:xfrm>
            <a:off x="2603160" y="5297040"/>
            <a:ext cx="2412360" cy="303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2"/>
          </p:nvPr>
        </p:nvSpPr>
        <p:spPr>
          <a:xfrm>
            <a:off x="5460840" y="5297040"/>
            <a:ext cx="1777320" cy="303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99D5F0D-3332-4769-B90F-CF89074A491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3"/>
          </p:nvPr>
        </p:nvSpPr>
        <p:spPr>
          <a:xfrm>
            <a:off x="380880" y="5297040"/>
            <a:ext cx="1777320" cy="303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tabLst>
                <a:tab pos="0" algn="l"/>
              </a:tabLst>
              <a:def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  <a:tabLst>
                <a:tab pos="0" algn="l"/>
              </a:tabLst>
            </a:pPr>
            <a:r>
              <a: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3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533"/>
              </a:spcBef>
              <a:buClr>
                <a:srgbClr val="000000"/>
              </a:buClr>
              <a:buFont typeface="Arial"/>
              <a:buChar char="•"/>
              <a:defRPr lang="en-US" sz="266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3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3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332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33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457200">
              <a:spcBef>
                <a:spcPts val="533"/>
              </a:spcBef>
              <a:buClr>
                <a:srgbClr val="000000"/>
              </a:buClr>
              <a:buFont typeface="Arial"/>
              <a:buChar char="•"/>
            </a:pPr>
            <a:r>
              <a:rPr lang="en-US" sz="266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66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3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3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33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3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hyperlink" Target="http://localhost:8080/healthz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"/>
          <p:cNvSpPr/>
          <p:nvPr/>
        </p:nvSpPr>
        <p:spPr>
          <a:xfrm>
            <a:off x="658440" y="1965960"/>
            <a:ext cx="1078632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Hands-on </a:t>
            </a: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</a:t>
            </a: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</a:t>
            </a: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oting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676800" y="2816280"/>
            <a:ext cx="959760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Build, Deploy, Break, </a:t>
            </a:r>
            <a:r>
              <a:rPr lang="en-US" sz="16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Observe, Debug, Fix and </a:t>
            </a:r>
            <a:r>
              <a:rPr lang="en-US" sz="16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Learn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4"/>
          <p:cNvSpPr/>
          <p:nvPr/>
        </p:nvSpPr>
        <p:spPr>
          <a:xfrm>
            <a:off x="685800" y="331920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For Developers and Infrastructure </a:t>
            </a: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Teams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5"/>
          <p:cNvSpPr/>
          <p:nvPr/>
        </p:nvSpPr>
        <p:spPr>
          <a:xfrm>
            <a:off x="685800" y="3977640"/>
            <a:ext cx="2922480" cy="86508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6"/>
          <p:cNvSpPr/>
          <p:nvPr/>
        </p:nvSpPr>
        <p:spPr>
          <a:xfrm>
            <a:off x="822960" y="4096440"/>
            <a:ext cx="264816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Single-node K3s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7"/>
          <p:cNvSpPr/>
          <p:nvPr/>
        </p:nvSpPr>
        <p:spPr>
          <a:xfrm>
            <a:off x="822960" y="4434840"/>
            <a:ext cx="26481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Each participant works on an isolated VM.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8"/>
          <p:cNvSpPr/>
          <p:nvPr/>
        </p:nvSpPr>
        <p:spPr>
          <a:xfrm>
            <a:off x="3886200" y="3977640"/>
            <a:ext cx="2922480" cy="86508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9"/>
          <p:cNvSpPr/>
          <p:nvPr/>
        </p:nvSpPr>
        <p:spPr>
          <a:xfrm>
            <a:off x="4023360" y="4096440"/>
            <a:ext cx="264816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Real app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4023360" y="4434840"/>
            <a:ext cx="26481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Flask API, PostgreSQL, migrations and volumes.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1"/>
          <p:cNvSpPr/>
          <p:nvPr/>
        </p:nvSpPr>
        <p:spPr>
          <a:xfrm>
            <a:off x="7086600" y="3977640"/>
            <a:ext cx="3151080" cy="86508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2"/>
          <p:cNvSpPr/>
          <p:nvPr/>
        </p:nvSpPr>
        <p:spPr>
          <a:xfrm>
            <a:off x="7223760" y="4096440"/>
            <a:ext cx="287676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Troubleshooting-first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3"/>
          <p:cNvSpPr/>
          <p:nvPr/>
        </p:nvSpPr>
        <p:spPr>
          <a:xfrm>
            <a:off x="7223760" y="4434840"/>
            <a:ext cx="2876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Every concept is attached to a failure mode.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2136240" y="5715000"/>
            <a:ext cx="74635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git clone https://github.com/slaneslane/k8s-workshop-2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1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09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10"/>
          <p:cNvSpPr/>
          <p:nvPr/>
        </p:nvSpPr>
        <p:spPr>
          <a:xfrm>
            <a:off x="658440" y="2148840"/>
            <a:ext cx="1060344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0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11"/>
          <p:cNvSpPr/>
          <p:nvPr/>
        </p:nvSpPr>
        <p:spPr>
          <a:xfrm>
            <a:off x="676800" y="2953440"/>
            <a:ext cx="9597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Basic facts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65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184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85"/>
          <p:cNvSpPr/>
          <p:nvPr/>
        </p:nvSpPr>
        <p:spPr>
          <a:xfrm>
            <a:off x="0" y="0"/>
            <a:ext cx="12191400" cy="16380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36"/>
          <p:cNvSpPr/>
          <p:nvPr/>
        </p:nvSpPr>
        <p:spPr>
          <a:xfrm>
            <a:off x="502920" y="393120"/>
            <a:ext cx="86407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Kubernetes architecture: control plane and workers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37"/>
          <p:cNvSpPr/>
          <p:nvPr/>
        </p:nvSpPr>
        <p:spPr>
          <a:xfrm>
            <a:off x="521280" y="822960"/>
            <a:ext cx="10515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The control plane stores desired state. Worker nodes run the actual application Pods.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86"/>
          <p:cNvSpPr/>
          <p:nvPr/>
        </p:nvSpPr>
        <p:spPr>
          <a:xfrm>
            <a:off x="502920" y="1234440"/>
            <a:ext cx="4799880" cy="4982760"/>
          </a:xfrm>
          <a:prstGeom prst="roundRect">
            <a:avLst>
              <a:gd name="adj" fmla="val 1524"/>
            </a:avLst>
          </a:prstGeom>
          <a:solidFill>
            <a:srgbClr val="0C243A"/>
          </a:solidFill>
          <a:ln w="12700">
            <a:solidFill>
              <a:srgbClr val="27D3F5">
                <a:alpha val="7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87"/>
          <p:cNvSpPr/>
          <p:nvPr/>
        </p:nvSpPr>
        <p:spPr>
          <a:xfrm>
            <a:off x="5715000" y="1234440"/>
            <a:ext cx="5988600" cy="4982760"/>
          </a:xfrm>
          <a:prstGeom prst="roundRect">
            <a:avLst>
              <a:gd name="adj" fmla="val 1468"/>
            </a:avLst>
          </a:prstGeom>
          <a:solidFill>
            <a:srgbClr val="0C243A"/>
          </a:solidFill>
          <a:ln w="12700">
            <a:solidFill>
              <a:srgbClr val="3DDC97">
                <a:alpha val="7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88"/>
          <p:cNvSpPr/>
          <p:nvPr/>
        </p:nvSpPr>
        <p:spPr>
          <a:xfrm>
            <a:off x="685800" y="1444680"/>
            <a:ext cx="1325160" cy="255240"/>
          </a:xfrm>
          <a:prstGeom prst="roundRect">
            <a:avLst>
              <a:gd name="adj" fmla="val 28571"/>
            </a:avLst>
          </a:prstGeom>
          <a:solidFill>
            <a:srgbClr val="27D3F5">
              <a:alpha val="93000"/>
            </a:srgbClr>
          </a:solidFill>
          <a:ln w="12700">
            <a:solidFill>
              <a:srgbClr val="27D3F5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38"/>
          <p:cNvSpPr/>
          <p:nvPr/>
        </p:nvSpPr>
        <p:spPr>
          <a:xfrm>
            <a:off x="758880" y="1508760"/>
            <a:ext cx="117900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CONTROL PLANE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89"/>
          <p:cNvSpPr/>
          <p:nvPr/>
        </p:nvSpPr>
        <p:spPr>
          <a:xfrm>
            <a:off x="5925240" y="1444680"/>
            <a:ext cx="1233720" cy="255240"/>
          </a:xfrm>
          <a:prstGeom prst="roundRect">
            <a:avLst>
              <a:gd name="adj" fmla="val 28571"/>
            </a:avLst>
          </a:prstGeom>
          <a:solidFill>
            <a:srgbClr val="3DDC97">
              <a:alpha val="93000"/>
            </a:srgbClr>
          </a:solidFill>
          <a:ln w="12700">
            <a:solidFill>
              <a:srgbClr val="3DDC97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39"/>
          <p:cNvSpPr/>
          <p:nvPr/>
        </p:nvSpPr>
        <p:spPr>
          <a:xfrm>
            <a:off x="5998320" y="1508760"/>
            <a:ext cx="108756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NODES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90"/>
          <p:cNvSpPr/>
          <p:nvPr/>
        </p:nvSpPr>
        <p:spPr>
          <a:xfrm>
            <a:off x="4846320" y="3246120"/>
            <a:ext cx="98748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91"/>
          <p:cNvSpPr/>
          <p:nvPr/>
        </p:nvSpPr>
        <p:spPr>
          <a:xfrm>
            <a:off x="777240" y="1965960"/>
            <a:ext cx="1919520" cy="84060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0"/>
          <p:cNvSpPr/>
          <p:nvPr/>
        </p:nvSpPr>
        <p:spPr>
          <a:xfrm>
            <a:off x="887040" y="2075760"/>
            <a:ext cx="169992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API Server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entry point for kubectl and controllers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92"/>
          <p:cNvSpPr/>
          <p:nvPr/>
        </p:nvSpPr>
        <p:spPr>
          <a:xfrm>
            <a:off x="2971800" y="1965960"/>
            <a:ext cx="1599480" cy="84060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41"/>
          <p:cNvSpPr/>
          <p:nvPr/>
        </p:nvSpPr>
        <p:spPr>
          <a:xfrm>
            <a:off x="3081600" y="2075760"/>
            <a:ext cx="137988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etcd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cluster state database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93"/>
          <p:cNvSpPr/>
          <p:nvPr/>
        </p:nvSpPr>
        <p:spPr>
          <a:xfrm>
            <a:off x="777240" y="3246120"/>
            <a:ext cx="1919520" cy="84060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42"/>
          <p:cNvSpPr/>
          <p:nvPr/>
        </p:nvSpPr>
        <p:spPr>
          <a:xfrm>
            <a:off x="887040" y="3355920"/>
            <a:ext cx="169992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selects a node for new Pods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94"/>
          <p:cNvSpPr/>
          <p:nvPr/>
        </p:nvSpPr>
        <p:spPr>
          <a:xfrm>
            <a:off x="2971800" y="3246120"/>
            <a:ext cx="1599480" cy="84060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43"/>
          <p:cNvSpPr/>
          <p:nvPr/>
        </p:nvSpPr>
        <p:spPr>
          <a:xfrm>
            <a:off x="3081600" y="3355920"/>
            <a:ext cx="137988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Controller Manager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keeps desired state reconciled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95"/>
          <p:cNvSpPr/>
          <p:nvPr/>
        </p:nvSpPr>
        <p:spPr>
          <a:xfrm>
            <a:off x="2706480" y="2386440"/>
            <a:ext cx="255960" cy="36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96"/>
          <p:cNvSpPr/>
          <p:nvPr/>
        </p:nvSpPr>
        <p:spPr>
          <a:xfrm>
            <a:off x="1737360" y="2816280"/>
            <a:ext cx="360" cy="42048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97"/>
          <p:cNvSpPr/>
          <p:nvPr/>
        </p:nvSpPr>
        <p:spPr>
          <a:xfrm>
            <a:off x="3584160" y="2816280"/>
            <a:ext cx="360" cy="42048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44"/>
          <p:cNvSpPr/>
          <p:nvPr/>
        </p:nvSpPr>
        <p:spPr>
          <a:xfrm>
            <a:off x="777240" y="4645080"/>
            <a:ext cx="397692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Examples: Deployments, ReplicaSets, Jobs, Services, ConfigMaps, Secrets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98"/>
          <p:cNvSpPr/>
          <p:nvPr/>
        </p:nvSpPr>
        <p:spPr>
          <a:xfrm>
            <a:off x="6053400" y="1938600"/>
            <a:ext cx="2331000" cy="419760"/>
          </a:xfrm>
          <a:prstGeom prst="roundRect">
            <a:avLst>
              <a:gd name="adj" fmla="val 17391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45"/>
          <p:cNvSpPr/>
          <p:nvPr/>
        </p:nvSpPr>
        <p:spPr>
          <a:xfrm>
            <a:off x="6163200" y="2048400"/>
            <a:ext cx="21114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 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99"/>
          <p:cNvSpPr/>
          <p:nvPr/>
        </p:nvSpPr>
        <p:spPr>
          <a:xfrm>
            <a:off x="6053400" y="2615040"/>
            <a:ext cx="1023480" cy="65772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46"/>
          <p:cNvSpPr/>
          <p:nvPr/>
        </p:nvSpPr>
        <p:spPr>
          <a:xfrm>
            <a:off x="6163200" y="2724840"/>
            <a:ext cx="8038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 agent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00"/>
          <p:cNvSpPr/>
          <p:nvPr/>
        </p:nvSpPr>
        <p:spPr>
          <a:xfrm>
            <a:off x="7287840" y="2615040"/>
            <a:ext cx="1096560" cy="65772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47"/>
          <p:cNvSpPr/>
          <p:nvPr/>
        </p:nvSpPr>
        <p:spPr>
          <a:xfrm>
            <a:off x="7397640" y="2724840"/>
            <a:ext cx="87696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201"/>
          <p:cNvSpPr/>
          <p:nvPr/>
        </p:nvSpPr>
        <p:spPr>
          <a:xfrm>
            <a:off x="6053400" y="3694320"/>
            <a:ext cx="1023480" cy="63936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48"/>
          <p:cNvSpPr/>
          <p:nvPr/>
        </p:nvSpPr>
        <p:spPr>
          <a:xfrm>
            <a:off x="6163200" y="3803760"/>
            <a:ext cx="80388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Flask app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02"/>
          <p:cNvSpPr/>
          <p:nvPr/>
        </p:nvSpPr>
        <p:spPr>
          <a:xfrm>
            <a:off x="7287840" y="3694320"/>
            <a:ext cx="1096560" cy="63936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49"/>
          <p:cNvSpPr/>
          <p:nvPr/>
        </p:nvSpPr>
        <p:spPr>
          <a:xfrm>
            <a:off x="7397640" y="3803760"/>
            <a:ext cx="8769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Postgres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03"/>
          <p:cNvSpPr/>
          <p:nvPr/>
        </p:nvSpPr>
        <p:spPr>
          <a:xfrm>
            <a:off x="655596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204"/>
          <p:cNvSpPr/>
          <p:nvPr/>
        </p:nvSpPr>
        <p:spPr>
          <a:xfrm>
            <a:off x="784548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205"/>
          <p:cNvSpPr/>
          <p:nvPr/>
        </p:nvSpPr>
        <p:spPr>
          <a:xfrm>
            <a:off x="8842320" y="1938600"/>
            <a:ext cx="2331000" cy="419760"/>
          </a:xfrm>
          <a:prstGeom prst="roundRect">
            <a:avLst>
              <a:gd name="adj" fmla="val 17391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50"/>
          <p:cNvSpPr/>
          <p:nvPr/>
        </p:nvSpPr>
        <p:spPr>
          <a:xfrm>
            <a:off x="8952120" y="2048400"/>
            <a:ext cx="21114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 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206"/>
          <p:cNvSpPr/>
          <p:nvPr/>
        </p:nvSpPr>
        <p:spPr>
          <a:xfrm>
            <a:off x="8842320" y="2615040"/>
            <a:ext cx="1023480" cy="65772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51"/>
          <p:cNvSpPr/>
          <p:nvPr/>
        </p:nvSpPr>
        <p:spPr>
          <a:xfrm>
            <a:off x="8952120" y="2724840"/>
            <a:ext cx="8038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 agent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207"/>
          <p:cNvSpPr/>
          <p:nvPr/>
        </p:nvSpPr>
        <p:spPr>
          <a:xfrm>
            <a:off x="10076760" y="2615040"/>
            <a:ext cx="1096560" cy="65772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52"/>
          <p:cNvSpPr/>
          <p:nvPr/>
        </p:nvSpPr>
        <p:spPr>
          <a:xfrm>
            <a:off x="10186560" y="2724840"/>
            <a:ext cx="87696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08"/>
          <p:cNvSpPr/>
          <p:nvPr/>
        </p:nvSpPr>
        <p:spPr>
          <a:xfrm>
            <a:off x="8842320" y="3694320"/>
            <a:ext cx="1023480" cy="63936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53"/>
          <p:cNvSpPr/>
          <p:nvPr/>
        </p:nvSpPr>
        <p:spPr>
          <a:xfrm>
            <a:off x="8952120" y="3803760"/>
            <a:ext cx="80388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Flask app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09"/>
          <p:cNvSpPr/>
          <p:nvPr/>
        </p:nvSpPr>
        <p:spPr>
          <a:xfrm>
            <a:off x="10076760" y="3694320"/>
            <a:ext cx="1096560" cy="63936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54"/>
          <p:cNvSpPr/>
          <p:nvPr/>
        </p:nvSpPr>
        <p:spPr>
          <a:xfrm>
            <a:off x="10186560" y="3803760"/>
            <a:ext cx="8769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Postgres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10"/>
          <p:cNvSpPr/>
          <p:nvPr/>
        </p:nvSpPr>
        <p:spPr>
          <a:xfrm>
            <a:off x="934488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1"/>
          <p:cNvSpPr/>
          <p:nvPr/>
        </p:nvSpPr>
        <p:spPr>
          <a:xfrm>
            <a:off x="1063440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55"/>
          <p:cNvSpPr/>
          <p:nvPr/>
        </p:nvSpPr>
        <p:spPr>
          <a:xfrm>
            <a:off x="5989320" y="4956120"/>
            <a:ext cx="51199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In our lab every VM is a single-node K3s cluster: control plane and worker are on the same machine.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212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13"/>
          <p:cNvSpPr/>
          <p:nvPr/>
        </p:nvSpPr>
        <p:spPr>
          <a:xfrm>
            <a:off x="0" y="0"/>
            <a:ext cx="12191400" cy="16380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6"/>
          <p:cNvSpPr/>
          <p:nvPr/>
        </p:nvSpPr>
        <p:spPr>
          <a:xfrm>
            <a:off x="502920" y="393120"/>
            <a:ext cx="79549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What happens when you create a Pod?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57"/>
          <p:cNvSpPr/>
          <p:nvPr/>
        </p:nvSpPr>
        <p:spPr>
          <a:xfrm>
            <a:off x="521280" y="822960"/>
            <a:ext cx="10515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A Deployment request becomes running containers through a series of control-plane and node actions.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214"/>
          <p:cNvSpPr/>
          <p:nvPr/>
        </p:nvSpPr>
        <p:spPr>
          <a:xfrm>
            <a:off x="1947600" y="2743200"/>
            <a:ext cx="45720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215"/>
          <p:cNvSpPr/>
          <p:nvPr/>
        </p:nvSpPr>
        <p:spPr>
          <a:xfrm>
            <a:off x="3749040" y="2743200"/>
            <a:ext cx="45720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16"/>
          <p:cNvSpPr/>
          <p:nvPr/>
        </p:nvSpPr>
        <p:spPr>
          <a:xfrm>
            <a:off x="5550120" y="2743200"/>
            <a:ext cx="57636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17"/>
          <p:cNvSpPr/>
          <p:nvPr/>
        </p:nvSpPr>
        <p:spPr>
          <a:xfrm>
            <a:off x="7470360" y="2743200"/>
            <a:ext cx="63108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18"/>
          <p:cNvSpPr/>
          <p:nvPr/>
        </p:nvSpPr>
        <p:spPr>
          <a:xfrm>
            <a:off x="9445680" y="2743200"/>
            <a:ext cx="59436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19"/>
          <p:cNvSpPr/>
          <p:nvPr/>
        </p:nvSpPr>
        <p:spPr>
          <a:xfrm>
            <a:off x="713160" y="2212920"/>
            <a:ext cx="1325160" cy="1059840"/>
          </a:xfrm>
          <a:prstGeom prst="roundRect">
            <a:avLst>
              <a:gd name="adj" fmla="val 6897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58"/>
          <p:cNvSpPr/>
          <p:nvPr/>
        </p:nvSpPr>
        <p:spPr>
          <a:xfrm>
            <a:off x="822960" y="2322720"/>
            <a:ext cx="110556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kubectl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send YAML / command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20"/>
          <p:cNvSpPr/>
          <p:nvPr/>
        </p:nvSpPr>
        <p:spPr>
          <a:xfrm>
            <a:off x="2514600" y="2212920"/>
            <a:ext cx="1325160" cy="1059840"/>
          </a:xfrm>
          <a:prstGeom prst="roundRect">
            <a:avLst>
              <a:gd name="adj" fmla="val 6897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59"/>
          <p:cNvSpPr/>
          <p:nvPr/>
        </p:nvSpPr>
        <p:spPr>
          <a:xfrm>
            <a:off x="2624400" y="2322720"/>
            <a:ext cx="110556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API Server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validate and store desired state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221"/>
          <p:cNvSpPr/>
          <p:nvPr/>
        </p:nvSpPr>
        <p:spPr>
          <a:xfrm>
            <a:off x="4316040" y="2212920"/>
            <a:ext cx="1325160" cy="105984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60"/>
          <p:cNvSpPr/>
          <p:nvPr/>
        </p:nvSpPr>
        <p:spPr>
          <a:xfrm>
            <a:off x="4425840" y="2322720"/>
            <a:ext cx="110556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choose a node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222"/>
          <p:cNvSpPr/>
          <p:nvPr/>
        </p:nvSpPr>
        <p:spPr>
          <a:xfrm>
            <a:off x="6236280" y="2212920"/>
            <a:ext cx="1325160" cy="105984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61"/>
          <p:cNvSpPr/>
          <p:nvPr/>
        </p:nvSpPr>
        <p:spPr>
          <a:xfrm>
            <a:off x="6346080" y="2322720"/>
            <a:ext cx="110556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pull image and create Pod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223"/>
          <p:cNvSpPr/>
          <p:nvPr/>
        </p:nvSpPr>
        <p:spPr>
          <a:xfrm>
            <a:off x="8211240" y="2212920"/>
            <a:ext cx="1325160" cy="105984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62"/>
          <p:cNvSpPr/>
          <p:nvPr/>
        </p:nvSpPr>
        <p:spPr>
          <a:xfrm>
            <a:off x="8321040" y="2322720"/>
            <a:ext cx="110556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run containers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24"/>
          <p:cNvSpPr/>
          <p:nvPr/>
        </p:nvSpPr>
        <p:spPr>
          <a:xfrm>
            <a:off x="10149840" y="2212920"/>
            <a:ext cx="1325160" cy="105984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63"/>
          <p:cNvSpPr/>
          <p:nvPr/>
        </p:nvSpPr>
        <p:spPr>
          <a:xfrm>
            <a:off x="10259640" y="2322720"/>
            <a:ext cx="110556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application is running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64"/>
          <p:cNvSpPr/>
          <p:nvPr/>
        </p:nvSpPr>
        <p:spPr>
          <a:xfrm>
            <a:off x="658440" y="388620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Where common failures show up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225"/>
          <p:cNvSpPr/>
          <p:nvPr/>
        </p:nvSpPr>
        <p:spPr>
          <a:xfrm>
            <a:off x="658440" y="4370760"/>
            <a:ext cx="10807920" cy="401760"/>
          </a:xfrm>
          <a:prstGeom prst="roundRect">
            <a:avLst>
              <a:gd name="adj" fmla="val 13636"/>
            </a:avLst>
          </a:prstGeom>
          <a:solidFill>
            <a:srgbClr val="0D263D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265"/>
          <p:cNvSpPr/>
          <p:nvPr/>
        </p:nvSpPr>
        <p:spPr>
          <a:xfrm>
            <a:off x="822960" y="4480560"/>
            <a:ext cx="182808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2C94C"/>
                </a:solidFill>
                <a:effectLst/>
                <a:uFillTx/>
                <a:latin typeface="Aptos"/>
              </a:rPr>
              <a:t>ImagePullBackOff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66"/>
          <p:cNvSpPr/>
          <p:nvPr/>
        </p:nvSpPr>
        <p:spPr>
          <a:xfrm>
            <a:off x="2788920" y="4480560"/>
            <a:ext cx="425124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kubelet/containerd cannot pull image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267"/>
          <p:cNvSpPr/>
          <p:nvPr/>
        </p:nvSpPr>
        <p:spPr>
          <a:xfrm>
            <a:off x="7315200" y="4480560"/>
            <a:ext cx="37483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events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226"/>
          <p:cNvSpPr/>
          <p:nvPr/>
        </p:nvSpPr>
        <p:spPr>
          <a:xfrm>
            <a:off x="658440" y="4864680"/>
            <a:ext cx="10807920" cy="401760"/>
          </a:xfrm>
          <a:prstGeom prst="roundRect">
            <a:avLst>
              <a:gd name="adj" fmla="val 13636"/>
            </a:avLst>
          </a:prstGeom>
          <a:solidFill>
            <a:srgbClr val="0A2035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68"/>
          <p:cNvSpPr/>
          <p:nvPr/>
        </p:nvSpPr>
        <p:spPr>
          <a:xfrm>
            <a:off x="822960" y="4974480"/>
            <a:ext cx="182808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EB5757"/>
                </a:solidFill>
                <a:effectLst/>
                <a:uFillTx/>
                <a:latin typeface="Aptos"/>
              </a:rPr>
              <a:t>CrashLoopBackOff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69"/>
          <p:cNvSpPr/>
          <p:nvPr/>
        </p:nvSpPr>
        <p:spPr>
          <a:xfrm>
            <a:off x="2788920" y="4974480"/>
            <a:ext cx="425124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image was pulled, process exits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70"/>
          <p:cNvSpPr/>
          <p:nvPr/>
        </p:nvSpPr>
        <p:spPr>
          <a:xfrm>
            <a:off x="7315200" y="4974480"/>
            <a:ext cx="37483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logs --previous + describe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227"/>
          <p:cNvSpPr/>
          <p:nvPr/>
        </p:nvSpPr>
        <p:spPr>
          <a:xfrm>
            <a:off x="658440" y="5358240"/>
            <a:ext cx="10807920" cy="401760"/>
          </a:xfrm>
          <a:prstGeom prst="roundRect">
            <a:avLst>
              <a:gd name="adj" fmla="val 13636"/>
            </a:avLst>
          </a:prstGeom>
          <a:solidFill>
            <a:srgbClr val="0D263D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71"/>
          <p:cNvSpPr/>
          <p:nvPr/>
        </p:nvSpPr>
        <p:spPr>
          <a:xfrm>
            <a:off x="822960" y="5468040"/>
            <a:ext cx="182808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7D3F5"/>
                </a:solidFill>
                <a:effectLst/>
                <a:uFillTx/>
                <a:latin typeface="Aptos"/>
              </a:rPr>
              <a:t>Running but not Ready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72"/>
          <p:cNvSpPr/>
          <p:nvPr/>
        </p:nvSpPr>
        <p:spPr>
          <a:xfrm>
            <a:off x="2788920" y="5468040"/>
            <a:ext cx="425124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process runs, readiness check fails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73"/>
          <p:cNvSpPr/>
          <p:nvPr/>
        </p:nvSpPr>
        <p:spPr>
          <a:xfrm>
            <a:off x="7315200" y="5468040"/>
            <a:ext cx="37483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endpoints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228"/>
          <p:cNvSpPr/>
          <p:nvPr/>
        </p:nvSpPr>
        <p:spPr>
          <a:xfrm>
            <a:off x="658440" y="5852160"/>
            <a:ext cx="10807920" cy="401760"/>
          </a:xfrm>
          <a:prstGeom prst="roundRect">
            <a:avLst>
              <a:gd name="adj" fmla="val 13636"/>
            </a:avLst>
          </a:prstGeom>
          <a:solidFill>
            <a:srgbClr val="0A2035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274"/>
          <p:cNvSpPr/>
          <p:nvPr/>
        </p:nvSpPr>
        <p:spPr>
          <a:xfrm>
            <a:off x="822960" y="5961960"/>
            <a:ext cx="182808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3DDC97"/>
                </a:solidFill>
                <a:effectLst/>
                <a:uFillTx/>
                <a:latin typeface="Aptos"/>
              </a:rPr>
              <a:t>Pending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75"/>
          <p:cNvSpPr/>
          <p:nvPr/>
        </p:nvSpPr>
        <p:spPr>
          <a:xfrm>
            <a:off x="2788920" y="5961960"/>
            <a:ext cx="425124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 or admission cannot place/create 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76"/>
          <p:cNvSpPr/>
          <p:nvPr/>
        </p:nvSpPr>
        <p:spPr>
          <a:xfrm>
            <a:off x="7315200" y="5961960"/>
            <a:ext cx="37483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quota/events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77"/>
          <p:cNvSpPr/>
          <p:nvPr/>
        </p:nvSpPr>
        <p:spPr>
          <a:xfrm>
            <a:off x="658440" y="6382440"/>
            <a:ext cx="96008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Mental model: first classify the failure stage, then choose the command. Do not debug blindly.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hape 166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67"/>
          <p:cNvSpPr/>
          <p:nvPr/>
        </p:nvSpPr>
        <p:spPr>
          <a:xfrm>
            <a:off x="0" y="0"/>
            <a:ext cx="12191400" cy="16380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12"/>
          <p:cNvSpPr/>
          <p:nvPr/>
        </p:nvSpPr>
        <p:spPr>
          <a:xfrm>
            <a:off x="502920" y="393120"/>
            <a:ext cx="79549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VM vs Docker vs Kubernetes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13"/>
          <p:cNvSpPr/>
          <p:nvPr/>
        </p:nvSpPr>
        <p:spPr>
          <a:xfrm>
            <a:off x="521280" y="822960"/>
            <a:ext cx="10515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Three different layers of abstraction, often used together.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68"/>
          <p:cNvSpPr/>
          <p:nvPr/>
        </p:nvSpPr>
        <p:spPr>
          <a:xfrm>
            <a:off x="658440" y="1207080"/>
            <a:ext cx="3153960" cy="4525560"/>
          </a:xfrm>
          <a:prstGeom prst="roundRect">
            <a:avLst>
              <a:gd name="adj" fmla="val 2899"/>
            </a:avLst>
          </a:prstGeom>
          <a:solidFill>
            <a:srgbClr val="0F2A43"/>
          </a:solidFill>
          <a:ln w="12700">
            <a:solidFill>
              <a:srgbClr val="2F80ED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14"/>
          <p:cNvSpPr/>
          <p:nvPr/>
        </p:nvSpPr>
        <p:spPr>
          <a:xfrm>
            <a:off x="859680" y="1444680"/>
            <a:ext cx="2605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Virtual Machine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15"/>
          <p:cNvSpPr/>
          <p:nvPr/>
        </p:nvSpPr>
        <p:spPr>
          <a:xfrm>
            <a:off x="859680" y="1755720"/>
            <a:ext cx="26510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Full OS boundary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69"/>
          <p:cNvSpPr/>
          <p:nvPr/>
        </p:nvSpPr>
        <p:spPr>
          <a:xfrm>
            <a:off x="4224600" y="1207080"/>
            <a:ext cx="3153960" cy="4525560"/>
          </a:xfrm>
          <a:prstGeom prst="roundRect">
            <a:avLst>
              <a:gd name="adj" fmla="val 2899"/>
            </a:avLst>
          </a:prstGeom>
          <a:solidFill>
            <a:srgbClr val="0D334A"/>
          </a:solidFill>
          <a:ln w="12700">
            <a:solidFill>
              <a:srgbClr val="27D3F5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16"/>
          <p:cNvSpPr/>
          <p:nvPr/>
        </p:nvSpPr>
        <p:spPr>
          <a:xfrm>
            <a:off x="4425840" y="1444680"/>
            <a:ext cx="2605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Docker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17"/>
          <p:cNvSpPr/>
          <p:nvPr/>
        </p:nvSpPr>
        <p:spPr>
          <a:xfrm>
            <a:off x="4425840" y="1755720"/>
            <a:ext cx="26510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Single-container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170"/>
          <p:cNvSpPr/>
          <p:nvPr/>
        </p:nvSpPr>
        <p:spPr>
          <a:xfrm>
            <a:off x="7790760" y="1207080"/>
            <a:ext cx="3153960" cy="4525560"/>
          </a:xfrm>
          <a:prstGeom prst="roundRect">
            <a:avLst>
              <a:gd name="adj" fmla="val 2899"/>
            </a:avLst>
          </a:prstGeom>
          <a:solidFill>
            <a:srgbClr val="102A44"/>
          </a:solidFill>
          <a:ln w="12700">
            <a:solidFill>
              <a:srgbClr val="3DDC97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18"/>
          <p:cNvSpPr/>
          <p:nvPr/>
        </p:nvSpPr>
        <p:spPr>
          <a:xfrm>
            <a:off x="7992000" y="1444680"/>
            <a:ext cx="2605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Kubernetes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19"/>
          <p:cNvSpPr/>
          <p:nvPr/>
        </p:nvSpPr>
        <p:spPr>
          <a:xfrm>
            <a:off x="7992000" y="1755720"/>
            <a:ext cx="26510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Application platform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171"/>
          <p:cNvSpPr/>
          <p:nvPr/>
        </p:nvSpPr>
        <p:spPr>
          <a:xfrm>
            <a:off x="1097280" y="2331720"/>
            <a:ext cx="2239560" cy="41076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20"/>
          <p:cNvSpPr/>
          <p:nvPr/>
        </p:nvSpPr>
        <p:spPr>
          <a:xfrm>
            <a:off x="1207080" y="2441520"/>
            <a:ext cx="201996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72"/>
          <p:cNvSpPr/>
          <p:nvPr/>
        </p:nvSpPr>
        <p:spPr>
          <a:xfrm>
            <a:off x="1097280" y="2880360"/>
            <a:ext cx="2239560" cy="41076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21"/>
          <p:cNvSpPr/>
          <p:nvPr/>
        </p:nvSpPr>
        <p:spPr>
          <a:xfrm>
            <a:off x="1207080" y="2990160"/>
            <a:ext cx="201996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Guest OS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73"/>
          <p:cNvSpPr/>
          <p:nvPr/>
        </p:nvSpPr>
        <p:spPr>
          <a:xfrm>
            <a:off x="1097280" y="3429000"/>
            <a:ext cx="2239560" cy="41076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22"/>
          <p:cNvSpPr/>
          <p:nvPr/>
        </p:nvSpPr>
        <p:spPr>
          <a:xfrm>
            <a:off x="1207080" y="3538800"/>
            <a:ext cx="201996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Virtual hardware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74"/>
          <p:cNvSpPr/>
          <p:nvPr/>
        </p:nvSpPr>
        <p:spPr>
          <a:xfrm>
            <a:off x="1097280" y="3977640"/>
            <a:ext cx="2239560" cy="41076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223"/>
          <p:cNvSpPr/>
          <p:nvPr/>
        </p:nvSpPr>
        <p:spPr>
          <a:xfrm>
            <a:off x="1207080" y="4087440"/>
            <a:ext cx="201996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Hypervisor / cloud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24"/>
          <p:cNvSpPr/>
          <p:nvPr/>
        </p:nvSpPr>
        <p:spPr>
          <a:xfrm>
            <a:off x="914400" y="4864680"/>
            <a:ext cx="26053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strong isolation, legacy workloads, and OS-level control.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75"/>
          <p:cNvSpPr/>
          <p:nvPr/>
        </p:nvSpPr>
        <p:spPr>
          <a:xfrm>
            <a:off x="4663440" y="2331720"/>
            <a:ext cx="2239560" cy="41076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25"/>
          <p:cNvSpPr/>
          <p:nvPr/>
        </p:nvSpPr>
        <p:spPr>
          <a:xfrm>
            <a:off x="4773240" y="2441520"/>
            <a:ext cx="201996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image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76"/>
          <p:cNvSpPr/>
          <p:nvPr/>
        </p:nvSpPr>
        <p:spPr>
          <a:xfrm>
            <a:off x="4663440" y="2880360"/>
            <a:ext cx="2239560" cy="41076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26"/>
          <p:cNvSpPr/>
          <p:nvPr/>
        </p:nvSpPr>
        <p:spPr>
          <a:xfrm>
            <a:off x="4773240" y="2990160"/>
            <a:ext cx="201996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process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77"/>
          <p:cNvSpPr/>
          <p:nvPr/>
        </p:nvSpPr>
        <p:spPr>
          <a:xfrm>
            <a:off x="4663440" y="3429000"/>
            <a:ext cx="2239560" cy="41076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27"/>
          <p:cNvSpPr/>
          <p:nvPr/>
        </p:nvSpPr>
        <p:spPr>
          <a:xfrm>
            <a:off x="4773240" y="3538800"/>
            <a:ext cx="201996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Docker daemon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78"/>
          <p:cNvSpPr/>
          <p:nvPr/>
        </p:nvSpPr>
        <p:spPr>
          <a:xfrm>
            <a:off x="4663440" y="3977640"/>
            <a:ext cx="2239560" cy="41076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28"/>
          <p:cNvSpPr/>
          <p:nvPr/>
        </p:nvSpPr>
        <p:spPr>
          <a:xfrm>
            <a:off x="4773240" y="4087440"/>
            <a:ext cx="201996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Host OS kernel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229"/>
          <p:cNvSpPr/>
          <p:nvPr/>
        </p:nvSpPr>
        <p:spPr>
          <a:xfrm>
            <a:off x="4480560" y="4864680"/>
            <a:ext cx="26053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packaging and running a single container locally.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79"/>
          <p:cNvSpPr/>
          <p:nvPr/>
        </p:nvSpPr>
        <p:spPr>
          <a:xfrm>
            <a:off x="8229600" y="2240280"/>
            <a:ext cx="2239560" cy="41076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30"/>
          <p:cNvSpPr/>
          <p:nvPr/>
        </p:nvSpPr>
        <p:spPr>
          <a:xfrm>
            <a:off x="8339400" y="2350080"/>
            <a:ext cx="201996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Deployment / Service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80"/>
          <p:cNvSpPr/>
          <p:nvPr/>
        </p:nvSpPr>
        <p:spPr>
          <a:xfrm>
            <a:off x="8229600" y="2788920"/>
            <a:ext cx="2239560" cy="41076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31"/>
          <p:cNvSpPr/>
          <p:nvPr/>
        </p:nvSpPr>
        <p:spPr>
          <a:xfrm>
            <a:off x="8339400" y="2898720"/>
            <a:ext cx="201996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81"/>
          <p:cNvSpPr/>
          <p:nvPr/>
        </p:nvSpPr>
        <p:spPr>
          <a:xfrm>
            <a:off x="8229600" y="3337560"/>
            <a:ext cx="2239560" cy="41076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32"/>
          <p:cNvSpPr/>
          <p:nvPr/>
        </p:nvSpPr>
        <p:spPr>
          <a:xfrm>
            <a:off x="8339400" y="3447360"/>
            <a:ext cx="201996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 + controllers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82"/>
          <p:cNvSpPr/>
          <p:nvPr/>
        </p:nvSpPr>
        <p:spPr>
          <a:xfrm>
            <a:off x="8229600" y="3886200"/>
            <a:ext cx="2239560" cy="41076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33"/>
          <p:cNvSpPr/>
          <p:nvPr/>
        </p:nvSpPr>
        <p:spPr>
          <a:xfrm>
            <a:off x="8339400" y="3996000"/>
            <a:ext cx="201996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Nodes + container runtime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34"/>
          <p:cNvSpPr/>
          <p:nvPr/>
        </p:nvSpPr>
        <p:spPr>
          <a:xfrm>
            <a:off x="8046720" y="4864680"/>
            <a:ext cx="26053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operating many containers with desired state and self-healing.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83"/>
          <p:cNvSpPr/>
          <p:nvPr/>
        </p:nvSpPr>
        <p:spPr>
          <a:xfrm>
            <a:off x="1325880" y="5989320"/>
            <a:ext cx="9555120" cy="438120"/>
          </a:xfrm>
          <a:prstGeom prst="roundRect">
            <a:avLst>
              <a:gd name="adj" fmla="val 16667"/>
            </a:avLst>
          </a:prstGeom>
          <a:solidFill>
            <a:srgbClr val="0D263D"/>
          </a:solidFill>
          <a:ln w="12700">
            <a:solidFill>
              <a:srgbClr val="27D3F5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35"/>
          <p:cNvSpPr/>
          <p:nvPr/>
        </p:nvSpPr>
        <p:spPr>
          <a:xfrm>
            <a:off x="1572840" y="6117480"/>
            <a:ext cx="905220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8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In this workshop: VM provides the lab machine → Docker builds images → Kubernetes runs and operates the application.</a:t>
            </a:r>
            <a:endParaRPr lang="en-US" sz="1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Rectangle 14"/>
          <p:cNvSpPr/>
          <p:nvPr/>
        </p:nvSpPr>
        <p:spPr>
          <a:xfrm>
            <a:off x="0" y="0"/>
            <a:ext cx="12192120" cy="685764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Rectangle 15"/>
          <p:cNvSpPr/>
          <p:nvPr/>
        </p:nvSpPr>
        <p:spPr>
          <a:xfrm>
            <a:off x="0" y="0"/>
            <a:ext cx="12192120" cy="6084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Box 35"/>
          <p:cNvSpPr/>
          <p:nvPr/>
        </p:nvSpPr>
        <p:spPr>
          <a:xfrm>
            <a:off x="571320" y="342720"/>
            <a:ext cx="1017828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YAML in Kubernetes — the minimum you need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36"/>
          <p:cNvSpPr/>
          <p:nvPr/>
        </p:nvSpPr>
        <p:spPr>
          <a:xfrm>
            <a:off x="594360" y="876240"/>
            <a:ext cx="74725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Kubernetes manifests are structured text files that describe the desired state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Rounded Rectangle 14"/>
          <p:cNvSpPr/>
          <p:nvPr/>
        </p:nvSpPr>
        <p:spPr>
          <a:xfrm>
            <a:off x="685800" y="1371600"/>
            <a:ext cx="5714640" cy="342864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397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Box 37"/>
          <p:cNvSpPr/>
          <p:nvPr/>
        </p:nvSpPr>
        <p:spPr>
          <a:xfrm>
            <a:off x="876240" y="1508760"/>
            <a:ext cx="5547600" cy="31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apiVersion: apps/v1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kind: Deployment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metadata: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name: 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spec: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replicas: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template: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spec: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containers: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  - name: 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    image: k8s-workshop-app:debug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38"/>
          <p:cNvSpPr/>
          <p:nvPr/>
        </p:nvSpPr>
        <p:spPr>
          <a:xfrm>
            <a:off x="6858000" y="1485720"/>
            <a:ext cx="4125960" cy="19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Indentation matters: use spaces, not tabs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key: value defines properties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Lists start with '-'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Nested blocks represent object structure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Kubernetes reads this as desired state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ounded Rectangle 15"/>
          <p:cNvSpPr/>
          <p:nvPr/>
        </p:nvSpPr>
        <p:spPr>
          <a:xfrm>
            <a:off x="3581280" y="5333760"/>
            <a:ext cx="4876560" cy="45684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Box 39"/>
          <p:cNvSpPr/>
          <p:nvPr/>
        </p:nvSpPr>
        <p:spPr>
          <a:xfrm>
            <a:off x="4492440" y="5392080"/>
            <a:ext cx="30542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YAML is data, not a script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Rectangle 16"/>
          <p:cNvSpPr/>
          <p:nvPr/>
        </p:nvSpPr>
        <p:spPr>
          <a:xfrm>
            <a:off x="0" y="0"/>
            <a:ext cx="12192120" cy="685764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Rectangle 17"/>
          <p:cNvSpPr/>
          <p:nvPr/>
        </p:nvSpPr>
        <p:spPr>
          <a:xfrm>
            <a:off x="0" y="0"/>
            <a:ext cx="12192120" cy="6084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Box 40"/>
          <p:cNvSpPr/>
          <p:nvPr/>
        </p:nvSpPr>
        <p:spPr>
          <a:xfrm>
            <a:off x="571320" y="342720"/>
            <a:ext cx="694836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Reading a Kubernetes manifest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41"/>
          <p:cNvSpPr/>
          <p:nvPr/>
        </p:nvSpPr>
        <p:spPr>
          <a:xfrm>
            <a:off x="594000" y="876240"/>
            <a:ext cx="57578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Most Kubernetes YAML files follow the same mental model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ounded Rectangle 16"/>
          <p:cNvSpPr/>
          <p:nvPr/>
        </p:nvSpPr>
        <p:spPr>
          <a:xfrm>
            <a:off x="228600" y="1333440"/>
            <a:ext cx="6476760" cy="361908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397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Box 42"/>
          <p:cNvSpPr/>
          <p:nvPr/>
        </p:nvSpPr>
        <p:spPr>
          <a:xfrm>
            <a:off x="457200" y="1470600"/>
            <a:ext cx="609804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apiVersion: v1         # Which API version?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kind: Service          # What object type?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metadata: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name: flask-app      # Object name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spec: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selector: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app: flask-app     # Which Pods?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ports: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- port: 80         # Service port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targetPort: 8080 # Container port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43"/>
          <p:cNvSpPr/>
          <p:nvPr/>
        </p:nvSpPr>
        <p:spPr>
          <a:xfrm>
            <a:off x="7010280" y="1409400"/>
            <a:ext cx="4818600" cy="17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apiVersion + kind: what Kubernetes object this is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metadata: name, labels, annotations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spec: the desired configuration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status: current state, generated by Kubernetes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Troubleshooting often means comparing spec vs status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Rounded Rectangle 17"/>
          <p:cNvSpPr/>
          <p:nvPr/>
        </p:nvSpPr>
        <p:spPr>
          <a:xfrm>
            <a:off x="2590560" y="5371920"/>
            <a:ext cx="7086600" cy="456840"/>
          </a:xfrm>
          <a:prstGeom prst="roundRect">
            <a:avLst>
              <a:gd name="adj" fmla="val 16667"/>
            </a:avLst>
          </a:prstGeom>
          <a:solidFill>
            <a:srgbClr val="4DD6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44"/>
          <p:cNvSpPr/>
          <p:nvPr/>
        </p:nvSpPr>
        <p:spPr>
          <a:xfrm>
            <a:off x="3027600" y="5429880"/>
            <a:ext cx="62132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kubectl apply sends spec; Kubernetes updates status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Shape 163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206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07"/>
          <p:cNvSpPr/>
          <p:nvPr/>
        </p:nvSpPr>
        <p:spPr>
          <a:xfrm>
            <a:off x="658440" y="2148840"/>
            <a:ext cx="1060344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08"/>
          <p:cNvSpPr/>
          <p:nvPr/>
        </p:nvSpPr>
        <p:spPr>
          <a:xfrm>
            <a:off x="676800" y="2953440"/>
            <a:ext cx="9597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Workshop architecture and operating model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16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 story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Every topic appears because the application needs 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4"/>
          <p:cNvSpPr/>
          <p:nvPr/>
        </p:nvSpPr>
        <p:spPr>
          <a:xfrm>
            <a:off x="50292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5"/>
          <p:cNvSpPr/>
          <p:nvPr/>
        </p:nvSpPr>
        <p:spPr>
          <a:xfrm>
            <a:off x="54864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Build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6"/>
          <p:cNvSpPr/>
          <p:nvPr/>
        </p:nvSpPr>
        <p:spPr>
          <a:xfrm>
            <a:off x="177408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7"/>
          <p:cNvSpPr/>
          <p:nvPr/>
        </p:nvSpPr>
        <p:spPr>
          <a:xfrm>
            <a:off x="200268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8"/>
          <p:cNvSpPr/>
          <p:nvPr/>
        </p:nvSpPr>
        <p:spPr>
          <a:xfrm>
            <a:off x="204840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Deploy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9"/>
          <p:cNvSpPr/>
          <p:nvPr/>
        </p:nvSpPr>
        <p:spPr>
          <a:xfrm>
            <a:off x="327348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0"/>
          <p:cNvSpPr/>
          <p:nvPr/>
        </p:nvSpPr>
        <p:spPr>
          <a:xfrm>
            <a:off x="350208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1"/>
          <p:cNvSpPr/>
          <p:nvPr/>
        </p:nvSpPr>
        <p:spPr>
          <a:xfrm>
            <a:off x="354780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2"/>
          <p:cNvSpPr/>
          <p:nvPr/>
        </p:nvSpPr>
        <p:spPr>
          <a:xfrm>
            <a:off x="477324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3"/>
          <p:cNvSpPr/>
          <p:nvPr/>
        </p:nvSpPr>
        <p:spPr>
          <a:xfrm>
            <a:off x="500184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4"/>
          <p:cNvSpPr/>
          <p:nvPr/>
        </p:nvSpPr>
        <p:spPr>
          <a:xfrm>
            <a:off x="504756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5"/>
          <p:cNvSpPr/>
          <p:nvPr/>
        </p:nvSpPr>
        <p:spPr>
          <a:xfrm>
            <a:off x="627264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16"/>
          <p:cNvSpPr/>
          <p:nvPr/>
        </p:nvSpPr>
        <p:spPr>
          <a:xfrm>
            <a:off x="650124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7"/>
          <p:cNvSpPr/>
          <p:nvPr/>
        </p:nvSpPr>
        <p:spPr>
          <a:xfrm>
            <a:off x="654696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Debug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8"/>
          <p:cNvSpPr/>
          <p:nvPr/>
        </p:nvSpPr>
        <p:spPr>
          <a:xfrm>
            <a:off x="777240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9"/>
          <p:cNvSpPr/>
          <p:nvPr/>
        </p:nvSpPr>
        <p:spPr>
          <a:xfrm>
            <a:off x="800100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20"/>
          <p:cNvSpPr/>
          <p:nvPr/>
        </p:nvSpPr>
        <p:spPr>
          <a:xfrm>
            <a:off x="804672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21"/>
          <p:cNvSpPr/>
          <p:nvPr/>
        </p:nvSpPr>
        <p:spPr>
          <a:xfrm>
            <a:off x="927216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22"/>
          <p:cNvSpPr/>
          <p:nvPr/>
        </p:nvSpPr>
        <p:spPr>
          <a:xfrm>
            <a:off x="950076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3"/>
          <p:cNvSpPr/>
          <p:nvPr/>
        </p:nvSpPr>
        <p:spPr>
          <a:xfrm>
            <a:off x="954648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Learn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Who is this for?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Same lab, different responsibilities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Developers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images safely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Understand runtime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 logs and health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Know when the app is the problem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Design for debuggability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Understand workload impact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Diagnose scheduling and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Enforce quotas and defaults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Support minimal images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Provide reliable cluster signals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we will build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One application, many failure modes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Kubernetes pieces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Flask API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PostgreSQL dependency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and readiness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Cyclic logs and file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Deployment and Service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and StatefulSet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ResourceQuota and LimitRange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Ephemeral debug containers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Lab rhythm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Repeat this pattern in every module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4"/>
          <p:cNvSpPr/>
          <p:nvPr/>
        </p:nvSpPr>
        <p:spPr>
          <a:xfrm>
            <a:off x="50292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5"/>
          <p:cNvSpPr/>
          <p:nvPr/>
        </p:nvSpPr>
        <p:spPr>
          <a:xfrm>
            <a:off x="54864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Desired state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6"/>
          <p:cNvSpPr/>
          <p:nvPr/>
        </p:nvSpPr>
        <p:spPr>
          <a:xfrm>
            <a:off x="177408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7"/>
          <p:cNvSpPr/>
          <p:nvPr/>
        </p:nvSpPr>
        <p:spPr>
          <a:xfrm>
            <a:off x="200268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8"/>
          <p:cNvSpPr/>
          <p:nvPr/>
        </p:nvSpPr>
        <p:spPr>
          <a:xfrm>
            <a:off x="204840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Apply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9"/>
          <p:cNvSpPr/>
          <p:nvPr/>
        </p:nvSpPr>
        <p:spPr>
          <a:xfrm>
            <a:off x="327348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10"/>
          <p:cNvSpPr/>
          <p:nvPr/>
        </p:nvSpPr>
        <p:spPr>
          <a:xfrm>
            <a:off x="350208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1"/>
          <p:cNvSpPr/>
          <p:nvPr/>
        </p:nvSpPr>
        <p:spPr>
          <a:xfrm>
            <a:off x="354780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12"/>
          <p:cNvSpPr/>
          <p:nvPr/>
        </p:nvSpPr>
        <p:spPr>
          <a:xfrm>
            <a:off x="477324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13"/>
          <p:cNvSpPr/>
          <p:nvPr/>
        </p:nvSpPr>
        <p:spPr>
          <a:xfrm>
            <a:off x="500184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4"/>
          <p:cNvSpPr/>
          <p:nvPr/>
        </p:nvSpPr>
        <p:spPr>
          <a:xfrm>
            <a:off x="504756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15"/>
          <p:cNvSpPr/>
          <p:nvPr/>
        </p:nvSpPr>
        <p:spPr>
          <a:xfrm>
            <a:off x="627264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6"/>
          <p:cNvSpPr/>
          <p:nvPr/>
        </p:nvSpPr>
        <p:spPr>
          <a:xfrm>
            <a:off x="650124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7"/>
          <p:cNvSpPr/>
          <p:nvPr/>
        </p:nvSpPr>
        <p:spPr>
          <a:xfrm>
            <a:off x="654696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Diagnose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8"/>
          <p:cNvSpPr/>
          <p:nvPr/>
        </p:nvSpPr>
        <p:spPr>
          <a:xfrm>
            <a:off x="777240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9"/>
          <p:cNvSpPr/>
          <p:nvPr/>
        </p:nvSpPr>
        <p:spPr>
          <a:xfrm>
            <a:off x="800100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20"/>
          <p:cNvSpPr/>
          <p:nvPr/>
        </p:nvSpPr>
        <p:spPr>
          <a:xfrm>
            <a:off x="804672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21"/>
          <p:cNvSpPr/>
          <p:nvPr/>
        </p:nvSpPr>
        <p:spPr>
          <a:xfrm>
            <a:off x="927216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22"/>
          <p:cNvSpPr/>
          <p:nvPr/>
        </p:nvSpPr>
        <p:spPr>
          <a:xfrm>
            <a:off x="950076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3"/>
          <p:cNvSpPr/>
          <p:nvPr/>
        </p:nvSpPr>
        <p:spPr>
          <a:xfrm>
            <a:off x="954648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Takeaway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Single-node K3s assumption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Designing exercises for the real lab environment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We can demonstrate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We discuss, not lab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lifecycle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failures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 and RWO PVC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and OOMKilled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Multi-node RWO attach conflicts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RWX storage implementation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Production-grade PostgreSQL HA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NetworkPolicy deep dive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Full CI/CD pipeline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schedule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Timing and workshop 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4"/>
          <p:cNvSpPr/>
          <p:nvPr/>
        </p:nvSpPr>
        <p:spPr>
          <a:xfrm>
            <a:off x="731520" y="1325880"/>
            <a:ext cx="1047960" cy="43524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5"/>
          <p:cNvSpPr/>
          <p:nvPr/>
        </p:nvSpPr>
        <p:spPr>
          <a:xfrm>
            <a:off x="804600" y="1472040"/>
            <a:ext cx="8924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6"/>
          <p:cNvSpPr/>
          <p:nvPr/>
        </p:nvSpPr>
        <p:spPr>
          <a:xfrm>
            <a:off x="2011680" y="1398960"/>
            <a:ext cx="36540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and first failures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7"/>
          <p:cNvSpPr/>
          <p:nvPr/>
        </p:nvSpPr>
        <p:spPr>
          <a:xfrm>
            <a:off x="5806440" y="1417320"/>
            <a:ext cx="52999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Images, Deployment, Service, ImagePullBackOff, CrashLoopBackOff, readiness.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8"/>
          <p:cNvSpPr/>
          <p:nvPr/>
        </p:nvSpPr>
        <p:spPr>
          <a:xfrm>
            <a:off x="731520" y="1938600"/>
            <a:ext cx="1047960" cy="43524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9"/>
          <p:cNvSpPr/>
          <p:nvPr/>
        </p:nvSpPr>
        <p:spPr>
          <a:xfrm>
            <a:off x="804600" y="2084760"/>
            <a:ext cx="8924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0"/>
          <p:cNvSpPr/>
          <p:nvPr/>
        </p:nvSpPr>
        <p:spPr>
          <a:xfrm>
            <a:off x="2011680" y="2011680"/>
            <a:ext cx="36540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Production-like application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1"/>
          <p:cNvSpPr/>
          <p:nvPr/>
        </p:nvSpPr>
        <p:spPr>
          <a:xfrm>
            <a:off x="5806440" y="2030040"/>
            <a:ext cx="52999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PostgreSQL, migration Job, volumes, distroless, resources, quotas, OOMKilled.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12"/>
          <p:cNvSpPr/>
          <p:nvPr/>
        </p:nvSpPr>
        <p:spPr>
          <a:xfrm>
            <a:off x="731520" y="2551320"/>
            <a:ext cx="1047960" cy="43524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3"/>
          <p:cNvSpPr/>
          <p:nvPr/>
        </p:nvSpPr>
        <p:spPr>
          <a:xfrm>
            <a:off x="804600" y="2697480"/>
            <a:ext cx="8924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4"/>
          <p:cNvSpPr/>
          <p:nvPr/>
        </p:nvSpPr>
        <p:spPr>
          <a:xfrm>
            <a:off x="2011680" y="2624400"/>
            <a:ext cx="36540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Playbook and combined cases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5"/>
          <p:cNvSpPr/>
          <p:nvPr/>
        </p:nvSpPr>
        <p:spPr>
          <a:xfrm>
            <a:off x="5806440" y="2642760"/>
            <a:ext cx="52999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Decision tree, team exercise, dev/platform responsibility split.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"/>
          <p:cNvSpPr/>
          <p:nvPr/>
        </p:nvSpPr>
        <p:spPr>
          <a:xfrm>
            <a:off x="658440" y="2148840"/>
            <a:ext cx="1060344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3"/>
          <p:cNvSpPr/>
          <p:nvPr/>
        </p:nvSpPr>
        <p:spPr>
          <a:xfrm>
            <a:off x="676800" y="2953440"/>
            <a:ext cx="9597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VM setup and K3s installation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lab VM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One VM per participant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VM shape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Why this shape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4 vCPU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8 GB RAM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40 GB disk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Ubuntu 24.04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Single-node K3s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Enough room for K3s + Docker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PostgreSQL and several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cache without immediate disk pressure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Room for OOMKilled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Predictable participant experience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Install K3s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Basic single-node installation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4"/>
          <p:cNvSpPr/>
          <p:nvPr/>
        </p:nvSpPr>
        <p:spPr>
          <a:xfrm>
            <a:off x="685800" y="1417320"/>
            <a:ext cx="10877760" cy="4568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5"/>
          <p:cNvSpPr/>
          <p:nvPr/>
        </p:nvSpPr>
        <p:spPr>
          <a:xfrm>
            <a:off x="850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-sfL https://get.k3s.io | sh -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status k3s --no-pager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kubectl get nodes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For the workshop user: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mkdir -p /home/k8s/.kube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cp /etc/rancher/k3s/k3s.yaml /home/k8s/.kube/config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chown -R k8s:k8s /home/k8s/.kube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Install K3s behind a proxy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Export proxy variables before running the installer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4"/>
          <p:cNvSpPr/>
          <p:nvPr/>
        </p:nvSpPr>
        <p:spPr>
          <a:xfrm>
            <a:off x="685800" y="1417320"/>
            <a:ext cx="10877760" cy="4568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5"/>
          <p:cNvSpPr/>
          <p:nvPr/>
        </p:nvSpPr>
        <p:spPr>
          <a:xfrm>
            <a:off x="850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HTTP_PROXY=http://proxy.example.com:3128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HTTPS_PROXY=http://proxy.example.com:3128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NO_PROXY=localhost,127.0.0.1,10.42.0.0/16,10.43.0.0/16,.svc,.cluster.local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-sfL https://get.k3s.io | sh -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cat /etc/systemd/system/k3s.service.env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restart k3s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proxy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Docker daemon and Docker build need proxy separately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4"/>
          <p:cNvSpPr/>
          <p:nvPr/>
        </p:nvSpPr>
        <p:spPr>
          <a:xfrm>
            <a:off x="685800" y="1417320"/>
            <a:ext cx="10877760" cy="4568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5"/>
          <p:cNvSpPr/>
          <p:nvPr/>
        </p:nvSpPr>
        <p:spPr>
          <a:xfrm>
            <a:off x="850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mkdir -p /etc/systemd/system/docker.service.d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tee /etc/systemd/system/docker.service.d/http-proxy.conf &lt;&lt;EOF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[Service]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Environment="HTTP_PROXY=http://proxy.example.com:3128"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Environment="HTTPS_PROXY=http://proxy.example.com:3128"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Environment="NO_PROXY=localhost,127.0.0.1,.svc,.cluster.local,10.42.0.0/16,10.43.0.0/16"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EOF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daemon-reload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restart docker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info | grep -i proxy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Environment validation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 before the workshop starts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Expected result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nodes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pods -A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ps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compose version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df -h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free -h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Node is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K3s system Pods are Running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command works without sudo or after newgrp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Enough disk space left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Proxy pulls images successfully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Shape 102"/>
          <p:cNvSpPr/>
          <p:nvPr/>
        </p:nvSpPr>
        <p:spPr>
          <a:xfrm>
            <a:off x="0" y="0"/>
            <a:ext cx="12189600" cy="685584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103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26"/>
          <p:cNvSpPr/>
          <p:nvPr/>
        </p:nvSpPr>
        <p:spPr>
          <a:xfrm>
            <a:off x="548640" y="6419160"/>
            <a:ext cx="41126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Module 3/4 bridge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27"/>
          <p:cNvSpPr/>
          <p:nvPr/>
        </p:nvSpPr>
        <p:spPr>
          <a:xfrm>
            <a:off x="567000" y="960120"/>
            <a:ext cx="74959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Nginx quick start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28"/>
          <p:cNvSpPr/>
          <p:nvPr/>
        </p:nvSpPr>
        <p:spPr>
          <a:xfrm>
            <a:off x="594360" y="1682640"/>
            <a:ext cx="8044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small hands-on warm-up before the Flask workshop application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104"/>
          <p:cNvSpPr/>
          <p:nvPr/>
        </p:nvSpPr>
        <p:spPr>
          <a:xfrm>
            <a:off x="658440" y="2331720"/>
            <a:ext cx="1415160" cy="38196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29"/>
          <p:cNvSpPr/>
          <p:nvPr/>
        </p:nvSpPr>
        <p:spPr>
          <a:xfrm>
            <a:off x="658440" y="2414160"/>
            <a:ext cx="141516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Docker run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105"/>
          <p:cNvSpPr/>
          <p:nvPr/>
        </p:nvSpPr>
        <p:spPr>
          <a:xfrm>
            <a:off x="2240280" y="2331720"/>
            <a:ext cx="1689480" cy="38196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0"/>
          <p:cNvSpPr/>
          <p:nvPr/>
        </p:nvSpPr>
        <p:spPr>
          <a:xfrm>
            <a:off x="2240280" y="2414160"/>
            <a:ext cx="1689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K3s namespace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06"/>
          <p:cNvSpPr/>
          <p:nvPr/>
        </p:nvSpPr>
        <p:spPr>
          <a:xfrm>
            <a:off x="4096440" y="2331720"/>
            <a:ext cx="820800" cy="38196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31"/>
          <p:cNvSpPr/>
          <p:nvPr/>
        </p:nvSpPr>
        <p:spPr>
          <a:xfrm>
            <a:off x="4096440" y="2414160"/>
            <a:ext cx="82080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107"/>
          <p:cNvSpPr/>
          <p:nvPr/>
        </p:nvSpPr>
        <p:spPr>
          <a:xfrm>
            <a:off x="5102280" y="2331720"/>
            <a:ext cx="957960" cy="38196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32"/>
          <p:cNvSpPr/>
          <p:nvPr/>
        </p:nvSpPr>
        <p:spPr>
          <a:xfrm>
            <a:off x="5102280" y="2414160"/>
            <a:ext cx="95796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Service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108"/>
          <p:cNvSpPr/>
          <p:nvPr/>
        </p:nvSpPr>
        <p:spPr>
          <a:xfrm>
            <a:off x="6272640" y="2331720"/>
            <a:ext cx="1506600" cy="38196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33"/>
          <p:cNvSpPr/>
          <p:nvPr/>
        </p:nvSpPr>
        <p:spPr>
          <a:xfrm>
            <a:off x="6272640" y="2414160"/>
            <a:ext cx="150660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Port-forward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109"/>
          <p:cNvSpPr/>
          <p:nvPr/>
        </p:nvSpPr>
        <p:spPr>
          <a:xfrm>
            <a:off x="731520" y="3063240"/>
            <a:ext cx="10742040" cy="1735200"/>
          </a:xfrm>
          <a:prstGeom prst="roundRect">
            <a:avLst>
              <a:gd name="adj" fmla="val 421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34"/>
          <p:cNvSpPr/>
          <p:nvPr/>
        </p:nvSpPr>
        <p:spPr>
          <a:xfrm>
            <a:off x="932760" y="3227760"/>
            <a:ext cx="10339560" cy="147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create namespace nginx-demo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run nginx --image=nginx --port=80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35"/>
          <p:cNvSpPr/>
          <p:nvPr/>
        </p:nvSpPr>
        <p:spPr>
          <a:xfrm>
            <a:off x="749880" y="5166360"/>
            <a:ext cx="969048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Goal: prove that participants can start a container locally and then run the same image in Kubernetes.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Shape 110"/>
          <p:cNvSpPr/>
          <p:nvPr/>
        </p:nvSpPr>
        <p:spPr>
          <a:xfrm>
            <a:off x="0" y="0"/>
            <a:ext cx="12189600" cy="685584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111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136"/>
          <p:cNvSpPr/>
          <p:nvPr/>
        </p:nvSpPr>
        <p:spPr>
          <a:xfrm>
            <a:off x="548640" y="6419160"/>
            <a:ext cx="41126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Docker warm-up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37"/>
          <p:cNvSpPr/>
          <p:nvPr/>
        </p:nvSpPr>
        <p:spPr>
          <a:xfrm>
            <a:off x="548640" y="411480"/>
            <a:ext cx="1106208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Run nginx with Docker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38"/>
          <p:cNvSpPr/>
          <p:nvPr/>
        </p:nvSpPr>
        <p:spPr>
          <a:xfrm>
            <a:off x="567000" y="987480"/>
            <a:ext cx="1060488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minimal local container run: image, container, port mapping.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112"/>
          <p:cNvSpPr/>
          <p:nvPr/>
        </p:nvSpPr>
        <p:spPr>
          <a:xfrm>
            <a:off x="658440" y="1600200"/>
            <a:ext cx="6883560" cy="1918080"/>
          </a:xfrm>
          <a:prstGeom prst="roundRect">
            <a:avLst>
              <a:gd name="adj" fmla="val 381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39"/>
          <p:cNvSpPr/>
          <p:nvPr/>
        </p:nvSpPr>
        <p:spPr>
          <a:xfrm>
            <a:off x="859680" y="1764720"/>
            <a:ext cx="6225120" cy="166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113"/>
          <p:cNvSpPr/>
          <p:nvPr/>
        </p:nvSpPr>
        <p:spPr>
          <a:xfrm>
            <a:off x="7772400" y="1600200"/>
            <a:ext cx="3746880" cy="1918080"/>
          </a:xfrm>
          <a:prstGeom prst="roundRect">
            <a:avLst>
              <a:gd name="adj" fmla="val 381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40"/>
          <p:cNvSpPr/>
          <p:nvPr/>
        </p:nvSpPr>
        <p:spPr>
          <a:xfrm>
            <a:off x="8229600" y="1764720"/>
            <a:ext cx="3088440" cy="166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curl http://localhost:8080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ps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logs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rm -f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41"/>
          <p:cNvSpPr/>
          <p:nvPr/>
        </p:nvSpPr>
        <p:spPr>
          <a:xfrm>
            <a:off x="685800" y="3977640"/>
            <a:ext cx="27410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What this demonstrates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142"/>
          <p:cNvSpPr/>
          <p:nvPr/>
        </p:nvSpPr>
        <p:spPr>
          <a:xfrm>
            <a:off x="822960" y="4462200"/>
            <a:ext cx="56671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1  Image is pulled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2  Container starts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3  Host port maps to container port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4  HTTP responds on localhost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114"/>
          <p:cNvSpPr/>
          <p:nvPr/>
        </p:nvSpPr>
        <p:spPr>
          <a:xfrm>
            <a:off x="6995160" y="4343400"/>
            <a:ext cx="4066920" cy="957960"/>
          </a:xfrm>
          <a:prstGeom prst="roundRect">
            <a:avLst>
              <a:gd name="adj" fmla="val 11429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43"/>
          <p:cNvSpPr/>
          <p:nvPr/>
        </p:nvSpPr>
        <p:spPr>
          <a:xfrm>
            <a:off x="7269480" y="4681800"/>
            <a:ext cx="347256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3DDC97"/>
                </a:solidFill>
                <a:effectLst/>
                <a:uFillTx/>
                <a:latin typeface="Aptos"/>
              </a:rPr>
              <a:t>Local success before Kubernetes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Shape 115"/>
          <p:cNvSpPr/>
          <p:nvPr/>
        </p:nvSpPr>
        <p:spPr>
          <a:xfrm>
            <a:off x="0" y="0"/>
            <a:ext cx="12189960" cy="685620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116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44"/>
          <p:cNvSpPr/>
          <p:nvPr/>
        </p:nvSpPr>
        <p:spPr>
          <a:xfrm>
            <a:off x="548640" y="6419160"/>
            <a:ext cx="4113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Docker warm-up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45"/>
          <p:cNvSpPr/>
          <p:nvPr/>
        </p:nvSpPr>
        <p:spPr>
          <a:xfrm>
            <a:off x="548640" y="411480"/>
            <a:ext cx="110624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Docker command anatomy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46"/>
          <p:cNvSpPr/>
          <p:nvPr/>
        </p:nvSpPr>
        <p:spPr>
          <a:xfrm>
            <a:off x="567000" y="987480"/>
            <a:ext cx="1060524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Keep the mental model simple before moving to Kubernetes.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117"/>
          <p:cNvSpPr/>
          <p:nvPr/>
        </p:nvSpPr>
        <p:spPr>
          <a:xfrm>
            <a:off x="685800" y="1463040"/>
            <a:ext cx="10788120" cy="711360"/>
          </a:xfrm>
          <a:prstGeom prst="roundRect">
            <a:avLst>
              <a:gd name="adj" fmla="val 10256"/>
            </a:avLst>
          </a:prstGeom>
          <a:solidFill>
            <a:srgbClr val="06111D"/>
          </a:solidFill>
          <a:ln w="1397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47"/>
          <p:cNvSpPr/>
          <p:nvPr/>
        </p:nvSpPr>
        <p:spPr>
          <a:xfrm>
            <a:off x="887040" y="1627560"/>
            <a:ext cx="103856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18"/>
          <p:cNvSpPr/>
          <p:nvPr/>
        </p:nvSpPr>
        <p:spPr>
          <a:xfrm>
            <a:off x="822960" y="2788920"/>
            <a:ext cx="2832840" cy="43704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48"/>
          <p:cNvSpPr/>
          <p:nvPr/>
        </p:nvSpPr>
        <p:spPr>
          <a:xfrm>
            <a:off x="969120" y="2898720"/>
            <a:ext cx="25585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49"/>
          <p:cNvSpPr/>
          <p:nvPr/>
        </p:nvSpPr>
        <p:spPr>
          <a:xfrm>
            <a:off x="3977640" y="2880360"/>
            <a:ext cx="621612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Run in the background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119"/>
          <p:cNvSpPr/>
          <p:nvPr/>
        </p:nvSpPr>
        <p:spPr>
          <a:xfrm>
            <a:off x="822960" y="3474720"/>
            <a:ext cx="2832840" cy="43704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150"/>
          <p:cNvSpPr/>
          <p:nvPr/>
        </p:nvSpPr>
        <p:spPr>
          <a:xfrm>
            <a:off x="969120" y="3584520"/>
            <a:ext cx="25585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--name nginx-demo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51"/>
          <p:cNvSpPr/>
          <p:nvPr/>
        </p:nvSpPr>
        <p:spPr>
          <a:xfrm>
            <a:off x="3977640" y="3566160"/>
            <a:ext cx="621612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Give the container a human-readable name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0"/>
          <p:cNvSpPr/>
          <p:nvPr/>
        </p:nvSpPr>
        <p:spPr>
          <a:xfrm>
            <a:off x="822960" y="4160520"/>
            <a:ext cx="2832840" cy="43704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52"/>
          <p:cNvSpPr/>
          <p:nvPr/>
        </p:nvSpPr>
        <p:spPr>
          <a:xfrm>
            <a:off x="969120" y="4270320"/>
            <a:ext cx="25585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-p 8080:80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53"/>
          <p:cNvSpPr/>
          <p:nvPr/>
        </p:nvSpPr>
        <p:spPr>
          <a:xfrm>
            <a:off x="3977640" y="4251960"/>
            <a:ext cx="621612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Host port 8080 → container port 80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21"/>
          <p:cNvSpPr/>
          <p:nvPr/>
        </p:nvSpPr>
        <p:spPr>
          <a:xfrm>
            <a:off x="822960" y="4846320"/>
            <a:ext cx="2832840" cy="43704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54"/>
          <p:cNvSpPr/>
          <p:nvPr/>
        </p:nvSpPr>
        <p:spPr>
          <a:xfrm>
            <a:off x="969120" y="4956120"/>
            <a:ext cx="25585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nginx:latest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55"/>
          <p:cNvSpPr/>
          <p:nvPr/>
        </p:nvSpPr>
        <p:spPr>
          <a:xfrm>
            <a:off x="3977640" y="4937760"/>
            <a:ext cx="621612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Image name and tag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56"/>
          <p:cNvSpPr/>
          <p:nvPr/>
        </p:nvSpPr>
        <p:spPr>
          <a:xfrm>
            <a:off x="749880" y="5806440"/>
            <a:ext cx="9782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Next: Kubernetes will run the same image, but the objects are different.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Shape 122"/>
          <p:cNvSpPr/>
          <p:nvPr/>
        </p:nvSpPr>
        <p:spPr>
          <a:xfrm>
            <a:off x="0" y="0"/>
            <a:ext cx="12189960" cy="685620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123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57"/>
          <p:cNvSpPr/>
          <p:nvPr/>
        </p:nvSpPr>
        <p:spPr>
          <a:xfrm>
            <a:off x="548640" y="6419160"/>
            <a:ext cx="4113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158"/>
          <p:cNvSpPr/>
          <p:nvPr/>
        </p:nvSpPr>
        <p:spPr>
          <a:xfrm>
            <a:off x="548640" y="411480"/>
            <a:ext cx="110624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1 — Create a namespace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59"/>
          <p:cNvSpPr/>
          <p:nvPr/>
        </p:nvSpPr>
        <p:spPr>
          <a:xfrm>
            <a:off x="567000" y="987480"/>
            <a:ext cx="1060524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Use a small isolated namespace for the nginx warm-up.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24"/>
          <p:cNvSpPr/>
          <p:nvPr/>
        </p:nvSpPr>
        <p:spPr>
          <a:xfrm>
            <a:off x="731520" y="1554480"/>
            <a:ext cx="10468440" cy="1827000"/>
          </a:xfrm>
          <a:prstGeom prst="roundRect">
            <a:avLst>
              <a:gd name="adj" fmla="val 400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160"/>
          <p:cNvSpPr/>
          <p:nvPr/>
        </p:nvSpPr>
        <p:spPr>
          <a:xfrm>
            <a:off x="932760" y="1719000"/>
            <a:ext cx="10038600" cy="157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create namespace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get namespaces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config set-context --current --namespace=nginx-demo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161"/>
          <p:cNvSpPr/>
          <p:nvPr/>
        </p:nvSpPr>
        <p:spPr>
          <a:xfrm>
            <a:off x="6629400" y="3657600"/>
            <a:ext cx="438732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Why namespace first?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62"/>
          <p:cNvSpPr/>
          <p:nvPr/>
        </p:nvSpPr>
        <p:spPr>
          <a:xfrm>
            <a:off x="6629400" y="4298040"/>
            <a:ext cx="4661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keeps lab objects separate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makes cleanup easy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avoids touching the main workshop namespace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125"/>
          <p:cNvSpPr/>
          <p:nvPr/>
        </p:nvSpPr>
        <p:spPr>
          <a:xfrm>
            <a:off x="914400" y="4251960"/>
            <a:ext cx="5210280" cy="1095480"/>
          </a:xfrm>
          <a:prstGeom prst="roundRect">
            <a:avLst>
              <a:gd name="adj" fmla="val 6667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163"/>
          <p:cNvSpPr/>
          <p:nvPr/>
        </p:nvSpPr>
        <p:spPr>
          <a:xfrm>
            <a:off x="1115640" y="4416480"/>
            <a:ext cx="4807800" cy="83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Cleanup later: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delete namespace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Shape 126"/>
          <p:cNvSpPr/>
          <p:nvPr/>
        </p:nvSpPr>
        <p:spPr>
          <a:xfrm>
            <a:off x="0" y="0"/>
            <a:ext cx="12189960" cy="685620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127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164"/>
          <p:cNvSpPr/>
          <p:nvPr/>
        </p:nvSpPr>
        <p:spPr>
          <a:xfrm>
            <a:off x="548640" y="6419160"/>
            <a:ext cx="4113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65"/>
          <p:cNvSpPr/>
          <p:nvPr/>
        </p:nvSpPr>
        <p:spPr>
          <a:xfrm>
            <a:off x="548640" y="411480"/>
            <a:ext cx="110624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- quick: Step 2 — Run nginx as a Pod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166"/>
          <p:cNvSpPr/>
          <p:nvPr/>
        </p:nvSpPr>
        <p:spPr>
          <a:xfrm>
            <a:off x="567000" y="987480"/>
            <a:ext cx="1060524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This is intentionally simple: one Pod, no Deployment yet.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128"/>
          <p:cNvSpPr/>
          <p:nvPr/>
        </p:nvSpPr>
        <p:spPr>
          <a:xfrm>
            <a:off x="685800" y="1536120"/>
            <a:ext cx="9828360" cy="748440"/>
          </a:xfrm>
          <a:prstGeom prst="roundRect">
            <a:avLst>
              <a:gd name="adj" fmla="val 516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167"/>
          <p:cNvSpPr/>
          <p:nvPr/>
        </p:nvSpPr>
        <p:spPr>
          <a:xfrm>
            <a:off x="887040" y="1600200"/>
            <a:ext cx="939852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run nginx --image=nginx:latest --port=80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129"/>
          <p:cNvSpPr/>
          <p:nvPr/>
        </p:nvSpPr>
        <p:spPr>
          <a:xfrm flipV="1">
            <a:off x="6602040" y="2511000"/>
            <a:ext cx="4935960" cy="1598760"/>
          </a:xfrm>
          <a:prstGeom prst="roundRect">
            <a:avLst>
              <a:gd name="adj" fmla="val 4324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68"/>
          <p:cNvSpPr/>
          <p:nvPr/>
        </p:nvSpPr>
        <p:spPr>
          <a:xfrm>
            <a:off x="6803280" y="2514600"/>
            <a:ext cx="4533480" cy="15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pods -w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describe pod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logs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9"/>
          <p:cNvSpPr/>
          <p:nvPr/>
        </p:nvSpPr>
        <p:spPr>
          <a:xfrm>
            <a:off x="749880" y="3794760"/>
            <a:ext cx="255852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What to observe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130"/>
          <p:cNvSpPr/>
          <p:nvPr/>
        </p:nvSpPr>
        <p:spPr>
          <a:xfrm>
            <a:off x="841320" y="4370760"/>
            <a:ext cx="382320" cy="38232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170"/>
          <p:cNvSpPr/>
          <p:nvPr/>
        </p:nvSpPr>
        <p:spPr>
          <a:xfrm>
            <a:off x="841320" y="4457880"/>
            <a:ext cx="38232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71"/>
          <p:cNvSpPr/>
          <p:nvPr/>
        </p:nvSpPr>
        <p:spPr>
          <a:xfrm>
            <a:off x="1344240" y="4407480"/>
            <a:ext cx="246708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ContainerCreating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131"/>
          <p:cNvSpPr/>
          <p:nvPr/>
        </p:nvSpPr>
        <p:spPr>
          <a:xfrm>
            <a:off x="2989800" y="4562640"/>
            <a:ext cx="66780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132"/>
          <p:cNvSpPr/>
          <p:nvPr/>
        </p:nvSpPr>
        <p:spPr>
          <a:xfrm>
            <a:off x="3822120" y="4370760"/>
            <a:ext cx="382320" cy="38232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172"/>
          <p:cNvSpPr/>
          <p:nvPr/>
        </p:nvSpPr>
        <p:spPr>
          <a:xfrm>
            <a:off x="3822120" y="4457880"/>
            <a:ext cx="38232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73"/>
          <p:cNvSpPr/>
          <p:nvPr/>
        </p:nvSpPr>
        <p:spPr>
          <a:xfrm>
            <a:off x="4325040" y="4407480"/>
            <a:ext cx="182700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Running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133"/>
          <p:cNvSpPr/>
          <p:nvPr/>
        </p:nvSpPr>
        <p:spPr>
          <a:xfrm>
            <a:off x="5394960" y="4562640"/>
            <a:ext cx="64008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134"/>
          <p:cNvSpPr/>
          <p:nvPr/>
        </p:nvSpPr>
        <p:spPr>
          <a:xfrm>
            <a:off x="6199560" y="4370760"/>
            <a:ext cx="382320" cy="38232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74"/>
          <p:cNvSpPr/>
          <p:nvPr/>
        </p:nvSpPr>
        <p:spPr>
          <a:xfrm>
            <a:off x="6199560" y="4457880"/>
            <a:ext cx="38232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175"/>
          <p:cNvSpPr/>
          <p:nvPr/>
        </p:nvSpPr>
        <p:spPr>
          <a:xfrm>
            <a:off x="6702480" y="4407480"/>
            <a:ext cx="159840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Ready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176"/>
          <p:cNvSpPr/>
          <p:nvPr/>
        </p:nvSpPr>
        <p:spPr>
          <a:xfrm>
            <a:off x="786240" y="5532120"/>
            <a:ext cx="104223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This is a smoke test of image pulling, scheduling, container start and basic logging.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Shape 135"/>
          <p:cNvSpPr/>
          <p:nvPr/>
        </p:nvSpPr>
        <p:spPr>
          <a:xfrm>
            <a:off x="0" y="0"/>
            <a:ext cx="12189960" cy="685620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136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77"/>
          <p:cNvSpPr/>
          <p:nvPr/>
        </p:nvSpPr>
        <p:spPr>
          <a:xfrm>
            <a:off x="548640" y="6419160"/>
            <a:ext cx="4113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78"/>
          <p:cNvSpPr/>
          <p:nvPr/>
        </p:nvSpPr>
        <p:spPr>
          <a:xfrm>
            <a:off x="548640" y="411480"/>
            <a:ext cx="110624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3 — Expose the Pod with a Service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79"/>
          <p:cNvSpPr/>
          <p:nvPr/>
        </p:nvSpPr>
        <p:spPr>
          <a:xfrm>
            <a:off x="567000" y="987480"/>
            <a:ext cx="1060524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Service gives the Pod a stable network entry point.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137"/>
          <p:cNvSpPr/>
          <p:nvPr/>
        </p:nvSpPr>
        <p:spPr>
          <a:xfrm>
            <a:off x="713160" y="1508760"/>
            <a:ext cx="8886600" cy="547200"/>
          </a:xfrm>
          <a:prstGeom prst="roundRect">
            <a:avLst>
              <a:gd name="adj" fmla="val 465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80"/>
          <p:cNvSpPr/>
          <p:nvPr/>
        </p:nvSpPr>
        <p:spPr>
          <a:xfrm>
            <a:off x="914400" y="1508760"/>
            <a:ext cx="93711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expose pod nginx --name=nginx --port=80 --target-port=80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138"/>
          <p:cNvSpPr/>
          <p:nvPr/>
        </p:nvSpPr>
        <p:spPr>
          <a:xfrm>
            <a:off x="6537960" y="2286000"/>
            <a:ext cx="5073120" cy="1370160"/>
          </a:xfrm>
          <a:prstGeom prst="roundRect">
            <a:avLst>
              <a:gd name="adj" fmla="val 465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81"/>
          <p:cNvSpPr/>
          <p:nvPr/>
        </p:nvSpPr>
        <p:spPr>
          <a:xfrm>
            <a:off x="6739200" y="2286000"/>
            <a:ext cx="467064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svc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endpoints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describe svc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139"/>
          <p:cNvSpPr/>
          <p:nvPr/>
        </p:nvSpPr>
        <p:spPr>
          <a:xfrm>
            <a:off x="960120" y="4005000"/>
            <a:ext cx="1461240" cy="82116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82"/>
          <p:cNvSpPr/>
          <p:nvPr/>
        </p:nvSpPr>
        <p:spPr>
          <a:xfrm>
            <a:off x="1234440" y="4325040"/>
            <a:ext cx="9126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140"/>
          <p:cNvSpPr/>
          <p:nvPr/>
        </p:nvSpPr>
        <p:spPr>
          <a:xfrm>
            <a:off x="2514600" y="4416480"/>
            <a:ext cx="164592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141"/>
          <p:cNvSpPr/>
          <p:nvPr/>
        </p:nvSpPr>
        <p:spPr>
          <a:xfrm>
            <a:off x="4251960" y="4005000"/>
            <a:ext cx="1644120" cy="82116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55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183"/>
          <p:cNvSpPr/>
          <p:nvPr/>
        </p:nvSpPr>
        <p:spPr>
          <a:xfrm>
            <a:off x="4462200" y="4325040"/>
            <a:ext cx="12326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Service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142"/>
          <p:cNvSpPr/>
          <p:nvPr/>
        </p:nvSpPr>
        <p:spPr>
          <a:xfrm>
            <a:off x="5989320" y="4416480"/>
            <a:ext cx="15087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143"/>
          <p:cNvSpPr/>
          <p:nvPr/>
        </p:nvSpPr>
        <p:spPr>
          <a:xfrm>
            <a:off x="7589520" y="4005000"/>
            <a:ext cx="1735560" cy="82116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184"/>
          <p:cNvSpPr/>
          <p:nvPr/>
        </p:nvSpPr>
        <p:spPr>
          <a:xfrm>
            <a:off x="7927920" y="4325040"/>
            <a:ext cx="10040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Client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185"/>
          <p:cNvSpPr/>
          <p:nvPr/>
        </p:nvSpPr>
        <p:spPr>
          <a:xfrm>
            <a:off x="868680" y="5596200"/>
            <a:ext cx="8227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Without endpoints, Service has nowhere to send traffic.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Shape 144"/>
          <p:cNvSpPr/>
          <p:nvPr/>
        </p:nvSpPr>
        <p:spPr>
          <a:xfrm>
            <a:off x="0" y="0"/>
            <a:ext cx="12189960" cy="685620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145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186"/>
          <p:cNvSpPr/>
          <p:nvPr/>
        </p:nvSpPr>
        <p:spPr>
          <a:xfrm>
            <a:off x="548640" y="6419160"/>
            <a:ext cx="4113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187"/>
          <p:cNvSpPr/>
          <p:nvPr/>
        </p:nvSpPr>
        <p:spPr>
          <a:xfrm>
            <a:off x="548640" y="411480"/>
            <a:ext cx="110624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4 — Port-forward and test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188"/>
          <p:cNvSpPr/>
          <p:nvPr/>
        </p:nvSpPr>
        <p:spPr>
          <a:xfrm>
            <a:off x="567000" y="987480"/>
            <a:ext cx="1060524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Forward traffic from your local machine to the Service.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146"/>
          <p:cNvSpPr/>
          <p:nvPr/>
        </p:nvSpPr>
        <p:spPr>
          <a:xfrm>
            <a:off x="749880" y="1536120"/>
            <a:ext cx="10422360" cy="711360"/>
          </a:xfrm>
          <a:prstGeom prst="roundRect">
            <a:avLst>
              <a:gd name="adj" fmla="val 10256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89"/>
          <p:cNvSpPr/>
          <p:nvPr/>
        </p:nvSpPr>
        <p:spPr>
          <a:xfrm>
            <a:off x="951120" y="1700640"/>
            <a:ext cx="10019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port-forward svc/nginx 8080:80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147"/>
          <p:cNvSpPr/>
          <p:nvPr/>
        </p:nvSpPr>
        <p:spPr>
          <a:xfrm>
            <a:off x="804600" y="2743200"/>
            <a:ext cx="5393160" cy="1415520"/>
          </a:xfrm>
          <a:prstGeom prst="roundRect">
            <a:avLst>
              <a:gd name="adj" fmla="val 516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90"/>
          <p:cNvSpPr/>
          <p:nvPr/>
        </p:nvSpPr>
        <p:spPr>
          <a:xfrm>
            <a:off x="1005840" y="2907720"/>
            <a:ext cx="4990680" cy="11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curl http://localhost:8080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# or open in a browser: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# http://localhost:8080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1"/>
          <p:cNvSpPr/>
          <p:nvPr/>
        </p:nvSpPr>
        <p:spPr>
          <a:xfrm>
            <a:off x="6720840" y="276156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Troubleshooting checks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192"/>
          <p:cNvSpPr/>
          <p:nvPr/>
        </p:nvSpPr>
        <p:spPr>
          <a:xfrm>
            <a:off x="6729840" y="3273480"/>
            <a:ext cx="4478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the Pod Running?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Does the Service have endpoints?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the targetPort correct?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another process using local port 8080?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148"/>
          <p:cNvSpPr/>
          <p:nvPr/>
        </p:nvSpPr>
        <p:spPr>
          <a:xfrm>
            <a:off x="822960" y="4937760"/>
            <a:ext cx="7313400" cy="592560"/>
          </a:xfrm>
          <a:prstGeom prst="roundRect">
            <a:avLst>
              <a:gd name="adj" fmla="val 12308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193"/>
          <p:cNvSpPr/>
          <p:nvPr/>
        </p:nvSpPr>
        <p:spPr>
          <a:xfrm>
            <a:off x="1024200" y="5102280"/>
            <a:ext cx="6910920" cy="33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pod,svc,endpoints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149"/>
          <p:cNvSpPr/>
          <p:nvPr/>
        </p:nvSpPr>
        <p:spPr>
          <a:xfrm>
            <a:off x="0" y="0"/>
            <a:ext cx="12189960" cy="685620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150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194"/>
          <p:cNvSpPr/>
          <p:nvPr/>
        </p:nvSpPr>
        <p:spPr>
          <a:xfrm>
            <a:off x="548640" y="6419160"/>
            <a:ext cx="4113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Transition to workshop app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195"/>
          <p:cNvSpPr/>
          <p:nvPr/>
        </p:nvSpPr>
        <p:spPr>
          <a:xfrm>
            <a:off x="548640" y="411480"/>
            <a:ext cx="110624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From nginx to the workshop application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196"/>
          <p:cNvSpPr/>
          <p:nvPr/>
        </p:nvSpPr>
        <p:spPr>
          <a:xfrm>
            <a:off x="567000" y="987480"/>
            <a:ext cx="1060524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The warm-up introduces the mechanics; the Flask app introduces real dependencies and failure modes.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151"/>
          <p:cNvSpPr/>
          <p:nvPr/>
        </p:nvSpPr>
        <p:spPr>
          <a:xfrm>
            <a:off x="777240" y="1874520"/>
            <a:ext cx="1296720" cy="59256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197"/>
          <p:cNvSpPr/>
          <p:nvPr/>
        </p:nvSpPr>
        <p:spPr>
          <a:xfrm>
            <a:off x="777240" y="2084760"/>
            <a:ext cx="12967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Image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152"/>
          <p:cNvSpPr/>
          <p:nvPr/>
        </p:nvSpPr>
        <p:spPr>
          <a:xfrm>
            <a:off x="210312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153"/>
          <p:cNvSpPr/>
          <p:nvPr/>
        </p:nvSpPr>
        <p:spPr>
          <a:xfrm>
            <a:off x="2468880" y="1874520"/>
            <a:ext cx="1296720" cy="59256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198"/>
          <p:cNvSpPr/>
          <p:nvPr/>
        </p:nvSpPr>
        <p:spPr>
          <a:xfrm>
            <a:off x="2468880" y="2084760"/>
            <a:ext cx="12967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Pod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154"/>
          <p:cNvSpPr/>
          <p:nvPr/>
        </p:nvSpPr>
        <p:spPr>
          <a:xfrm>
            <a:off x="379476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Shape 155"/>
          <p:cNvSpPr/>
          <p:nvPr/>
        </p:nvSpPr>
        <p:spPr>
          <a:xfrm>
            <a:off x="4160520" y="1874520"/>
            <a:ext cx="1296720" cy="59256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199"/>
          <p:cNvSpPr/>
          <p:nvPr/>
        </p:nvSpPr>
        <p:spPr>
          <a:xfrm>
            <a:off x="4160520" y="2084760"/>
            <a:ext cx="12967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Service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156"/>
          <p:cNvSpPr/>
          <p:nvPr/>
        </p:nvSpPr>
        <p:spPr>
          <a:xfrm>
            <a:off x="548640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157"/>
          <p:cNvSpPr/>
          <p:nvPr/>
        </p:nvSpPr>
        <p:spPr>
          <a:xfrm>
            <a:off x="5852160" y="1874520"/>
            <a:ext cx="1296720" cy="59256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200"/>
          <p:cNvSpPr/>
          <p:nvPr/>
        </p:nvSpPr>
        <p:spPr>
          <a:xfrm>
            <a:off x="5852160" y="2084760"/>
            <a:ext cx="12967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Port-forward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158"/>
          <p:cNvSpPr/>
          <p:nvPr/>
        </p:nvSpPr>
        <p:spPr>
          <a:xfrm>
            <a:off x="717804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159"/>
          <p:cNvSpPr/>
          <p:nvPr/>
        </p:nvSpPr>
        <p:spPr>
          <a:xfrm>
            <a:off x="7543800" y="1874520"/>
            <a:ext cx="1296720" cy="59256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201"/>
          <p:cNvSpPr/>
          <p:nvPr/>
        </p:nvSpPr>
        <p:spPr>
          <a:xfrm>
            <a:off x="7543800" y="2084760"/>
            <a:ext cx="12967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Logs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160"/>
          <p:cNvSpPr/>
          <p:nvPr/>
        </p:nvSpPr>
        <p:spPr>
          <a:xfrm>
            <a:off x="886968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161"/>
          <p:cNvSpPr/>
          <p:nvPr/>
        </p:nvSpPr>
        <p:spPr>
          <a:xfrm>
            <a:off x="9235440" y="1874520"/>
            <a:ext cx="1296720" cy="59256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202"/>
          <p:cNvSpPr/>
          <p:nvPr/>
        </p:nvSpPr>
        <p:spPr>
          <a:xfrm>
            <a:off x="9235440" y="2084760"/>
            <a:ext cx="12967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Events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203"/>
          <p:cNvSpPr/>
          <p:nvPr/>
        </p:nvSpPr>
        <p:spPr>
          <a:xfrm>
            <a:off x="822960" y="3246120"/>
            <a:ext cx="2741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Next application adds: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204"/>
          <p:cNvSpPr/>
          <p:nvPr/>
        </p:nvSpPr>
        <p:spPr>
          <a:xfrm>
            <a:off x="868680" y="3749040"/>
            <a:ext cx="8136360" cy="141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local registry and custom images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ConfigMap and Secret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PostgreSQL and migrations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readiness depending on DB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volumes, limits, quotas and real troubleshooting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162"/>
          <p:cNvSpPr/>
          <p:nvPr/>
        </p:nvSpPr>
        <p:spPr>
          <a:xfrm>
            <a:off x="6446520" y="5559480"/>
            <a:ext cx="4661640" cy="528480"/>
          </a:xfrm>
          <a:prstGeom prst="roundRect">
            <a:avLst>
              <a:gd name="adj" fmla="val 13793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205"/>
          <p:cNvSpPr/>
          <p:nvPr/>
        </p:nvSpPr>
        <p:spPr>
          <a:xfrm>
            <a:off x="6647760" y="5724000"/>
            <a:ext cx="42591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delete namespace nginx-demo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Shape 2"/>
          <p:cNvSpPr/>
          <p:nvPr/>
        </p:nvSpPr>
        <p:spPr>
          <a:xfrm>
            <a:off x="0" y="0"/>
            <a:ext cx="12188880" cy="685512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3"/>
          <p:cNvSpPr/>
          <p:nvPr/>
        </p:nvSpPr>
        <p:spPr>
          <a:xfrm>
            <a:off x="0" y="0"/>
            <a:ext cx="12188880" cy="10692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24"/>
          <p:cNvSpPr/>
          <p:nvPr/>
        </p:nvSpPr>
        <p:spPr>
          <a:xfrm>
            <a:off x="502920" y="6355080"/>
            <a:ext cx="22831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29"/>
          <p:cNvSpPr/>
          <p:nvPr/>
        </p:nvSpPr>
        <p:spPr>
          <a:xfrm>
            <a:off x="594360" y="1051560"/>
            <a:ext cx="4569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67E8F9"/>
                </a:solidFill>
                <a:effectLst/>
                <a:uFillTx/>
                <a:latin typeface="Aptos"/>
              </a:rPr>
              <a:t>Module 2 Add-on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34"/>
          <p:cNvSpPr/>
          <p:nvPr/>
        </p:nvSpPr>
        <p:spPr>
          <a:xfrm>
            <a:off x="567000" y="1508760"/>
            <a:ext cx="98726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Local Container Registry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39"/>
          <p:cNvSpPr/>
          <p:nvPr/>
        </p:nvSpPr>
        <p:spPr>
          <a:xfrm>
            <a:off x="603360" y="2331720"/>
            <a:ext cx="96897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Build images locally, push to localhost:5000, then let K3s pull from the same VM.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17"/>
          <p:cNvSpPr/>
          <p:nvPr/>
        </p:nvSpPr>
        <p:spPr>
          <a:xfrm>
            <a:off x="914400" y="3794760"/>
            <a:ext cx="1917360" cy="728640"/>
          </a:xfrm>
          <a:prstGeom prst="roundRect">
            <a:avLst>
              <a:gd name="adj" fmla="val 15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44"/>
          <p:cNvSpPr/>
          <p:nvPr/>
        </p:nvSpPr>
        <p:spPr>
          <a:xfrm>
            <a:off x="987480" y="3940920"/>
            <a:ext cx="177120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20"/>
          <p:cNvSpPr/>
          <p:nvPr/>
        </p:nvSpPr>
        <p:spPr>
          <a:xfrm>
            <a:off x="3063240" y="4160520"/>
            <a:ext cx="9144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Shape 23"/>
          <p:cNvSpPr/>
          <p:nvPr/>
        </p:nvSpPr>
        <p:spPr>
          <a:xfrm>
            <a:off x="4160520" y="3794760"/>
            <a:ext cx="2100240" cy="728640"/>
          </a:xfrm>
          <a:prstGeom prst="roundRect">
            <a:avLst>
              <a:gd name="adj" fmla="val 15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45"/>
          <p:cNvSpPr/>
          <p:nvPr/>
        </p:nvSpPr>
        <p:spPr>
          <a:xfrm>
            <a:off x="4233600" y="3940920"/>
            <a:ext cx="19540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localhost:5000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25"/>
          <p:cNvSpPr/>
          <p:nvPr/>
        </p:nvSpPr>
        <p:spPr>
          <a:xfrm>
            <a:off x="6492240" y="4160520"/>
            <a:ext cx="9144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26"/>
          <p:cNvSpPr/>
          <p:nvPr/>
        </p:nvSpPr>
        <p:spPr>
          <a:xfrm>
            <a:off x="7589520" y="3794760"/>
            <a:ext cx="2191680" cy="728640"/>
          </a:xfrm>
          <a:prstGeom prst="roundRect">
            <a:avLst>
              <a:gd name="adj" fmla="val 15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 46"/>
          <p:cNvSpPr/>
          <p:nvPr/>
        </p:nvSpPr>
        <p:spPr>
          <a:xfrm>
            <a:off x="7662600" y="3940920"/>
            <a:ext cx="20455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K3s containerd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27"/>
          <p:cNvSpPr/>
          <p:nvPr/>
        </p:nvSpPr>
        <p:spPr>
          <a:xfrm>
            <a:off x="9966960" y="4160520"/>
            <a:ext cx="5943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28"/>
          <p:cNvSpPr/>
          <p:nvPr/>
        </p:nvSpPr>
        <p:spPr>
          <a:xfrm>
            <a:off x="10744200" y="3794760"/>
            <a:ext cx="911520" cy="728640"/>
          </a:xfrm>
          <a:prstGeom prst="roundRect">
            <a:avLst>
              <a:gd name="adj" fmla="val 15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47"/>
          <p:cNvSpPr/>
          <p:nvPr/>
        </p:nvSpPr>
        <p:spPr>
          <a:xfrm>
            <a:off x="10817280" y="3940920"/>
            <a:ext cx="7653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Shape 30"/>
          <p:cNvSpPr/>
          <p:nvPr/>
        </p:nvSpPr>
        <p:spPr>
          <a:xfrm>
            <a:off x="0" y="0"/>
            <a:ext cx="12188880" cy="685512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31"/>
          <p:cNvSpPr/>
          <p:nvPr/>
        </p:nvSpPr>
        <p:spPr>
          <a:xfrm>
            <a:off x="0" y="0"/>
            <a:ext cx="12188880" cy="10692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 48"/>
          <p:cNvSpPr/>
          <p:nvPr/>
        </p:nvSpPr>
        <p:spPr>
          <a:xfrm>
            <a:off x="502920" y="6355080"/>
            <a:ext cx="22831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49"/>
          <p:cNvSpPr/>
          <p:nvPr/>
        </p:nvSpPr>
        <p:spPr>
          <a:xfrm>
            <a:off x="502920" y="411480"/>
            <a:ext cx="110613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Where does Kubernetes get images from?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50"/>
          <p:cNvSpPr/>
          <p:nvPr/>
        </p:nvSpPr>
        <p:spPr>
          <a:xfrm>
            <a:off x="530280" y="987480"/>
            <a:ext cx="10878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Kubernetes pulls images from a registry; it does not automatically use your local Docker image cache.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32"/>
          <p:cNvSpPr/>
          <p:nvPr/>
        </p:nvSpPr>
        <p:spPr>
          <a:xfrm>
            <a:off x="1719000" y="2944080"/>
            <a:ext cx="676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8" name="Shape 33"/>
          <p:cNvSpPr/>
          <p:nvPr/>
        </p:nvSpPr>
        <p:spPr>
          <a:xfrm>
            <a:off x="3703320" y="2944080"/>
            <a:ext cx="667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Shape 35"/>
          <p:cNvSpPr/>
          <p:nvPr/>
        </p:nvSpPr>
        <p:spPr>
          <a:xfrm>
            <a:off x="5687280" y="2944080"/>
            <a:ext cx="6678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36"/>
          <p:cNvSpPr/>
          <p:nvPr/>
        </p:nvSpPr>
        <p:spPr>
          <a:xfrm>
            <a:off x="7662600" y="2944080"/>
            <a:ext cx="676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37"/>
          <p:cNvSpPr/>
          <p:nvPr/>
        </p:nvSpPr>
        <p:spPr>
          <a:xfrm>
            <a:off x="9646920" y="2944080"/>
            <a:ext cx="667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38"/>
          <p:cNvSpPr/>
          <p:nvPr/>
        </p:nvSpPr>
        <p:spPr>
          <a:xfrm>
            <a:off x="502920" y="2487240"/>
            <a:ext cx="1231560" cy="91152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51"/>
          <p:cNvSpPr/>
          <p:nvPr/>
        </p:nvSpPr>
        <p:spPr>
          <a:xfrm>
            <a:off x="576000" y="2633400"/>
            <a:ext cx="108540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Shape 40"/>
          <p:cNvSpPr/>
          <p:nvPr/>
        </p:nvSpPr>
        <p:spPr>
          <a:xfrm>
            <a:off x="2514600" y="2487240"/>
            <a:ext cx="1231560" cy="91152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52"/>
          <p:cNvSpPr/>
          <p:nvPr/>
        </p:nvSpPr>
        <p:spPr>
          <a:xfrm>
            <a:off x="2587680" y="2633400"/>
            <a:ext cx="108540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41"/>
          <p:cNvSpPr/>
          <p:nvPr/>
        </p:nvSpPr>
        <p:spPr>
          <a:xfrm>
            <a:off x="4498920" y="2487240"/>
            <a:ext cx="1231560" cy="91152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53"/>
          <p:cNvSpPr/>
          <p:nvPr/>
        </p:nvSpPr>
        <p:spPr>
          <a:xfrm>
            <a:off x="4572000" y="2633400"/>
            <a:ext cx="108540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42"/>
          <p:cNvSpPr/>
          <p:nvPr/>
        </p:nvSpPr>
        <p:spPr>
          <a:xfrm>
            <a:off x="6473880" y="2487240"/>
            <a:ext cx="1231560" cy="91152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54"/>
          <p:cNvSpPr/>
          <p:nvPr/>
        </p:nvSpPr>
        <p:spPr>
          <a:xfrm>
            <a:off x="6546960" y="2633400"/>
            <a:ext cx="108540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Registry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43"/>
          <p:cNvSpPr/>
          <p:nvPr/>
        </p:nvSpPr>
        <p:spPr>
          <a:xfrm>
            <a:off x="8458200" y="2487240"/>
            <a:ext cx="1231560" cy="91152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55"/>
          <p:cNvSpPr/>
          <p:nvPr/>
        </p:nvSpPr>
        <p:spPr>
          <a:xfrm>
            <a:off x="8531280" y="2633400"/>
            <a:ext cx="108540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44"/>
          <p:cNvSpPr/>
          <p:nvPr/>
        </p:nvSpPr>
        <p:spPr>
          <a:xfrm>
            <a:off x="10451520" y="2487240"/>
            <a:ext cx="1231560" cy="91152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56"/>
          <p:cNvSpPr/>
          <p:nvPr/>
        </p:nvSpPr>
        <p:spPr>
          <a:xfrm>
            <a:off x="10524600" y="2633400"/>
            <a:ext cx="108540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57"/>
          <p:cNvSpPr/>
          <p:nvPr/>
        </p:nvSpPr>
        <p:spPr>
          <a:xfrm>
            <a:off x="822960" y="4617720"/>
            <a:ext cx="10604160" cy="11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registry means no pull path for Kubernetes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Using localhost:5000 keeps the workshop fast and reproducible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Later failures map directly to ImagePullBackOff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Shape 45"/>
          <p:cNvSpPr/>
          <p:nvPr/>
        </p:nvSpPr>
        <p:spPr>
          <a:xfrm>
            <a:off x="0" y="0"/>
            <a:ext cx="12188880" cy="685512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46"/>
          <p:cNvSpPr/>
          <p:nvPr/>
        </p:nvSpPr>
        <p:spPr>
          <a:xfrm>
            <a:off x="0" y="0"/>
            <a:ext cx="12188880" cy="10692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58"/>
          <p:cNvSpPr/>
          <p:nvPr/>
        </p:nvSpPr>
        <p:spPr>
          <a:xfrm>
            <a:off x="502920" y="6355080"/>
            <a:ext cx="22831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59"/>
          <p:cNvSpPr/>
          <p:nvPr/>
        </p:nvSpPr>
        <p:spPr>
          <a:xfrm>
            <a:off x="502920" y="411480"/>
            <a:ext cx="110613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Registry options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60"/>
          <p:cNvSpPr/>
          <p:nvPr/>
        </p:nvSpPr>
        <p:spPr>
          <a:xfrm>
            <a:off x="530280" y="987480"/>
            <a:ext cx="10878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For this workshop we use a local registry on every VM.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47"/>
          <p:cNvSpPr/>
          <p:nvPr/>
        </p:nvSpPr>
        <p:spPr>
          <a:xfrm>
            <a:off x="640080" y="1508760"/>
            <a:ext cx="3151800" cy="388332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61"/>
          <p:cNvSpPr/>
          <p:nvPr/>
        </p:nvSpPr>
        <p:spPr>
          <a:xfrm>
            <a:off x="914400" y="1783080"/>
            <a:ext cx="25574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Public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62"/>
          <p:cNvSpPr/>
          <p:nvPr/>
        </p:nvSpPr>
        <p:spPr>
          <a:xfrm>
            <a:off x="914400" y="2423160"/>
            <a:ext cx="2557440" cy="22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Docker Hub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GHCR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Quay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Fast to start, but depends on Internet and rate limits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Shape 48"/>
          <p:cNvSpPr/>
          <p:nvPr/>
        </p:nvSpPr>
        <p:spPr>
          <a:xfrm>
            <a:off x="4526280" y="1508760"/>
            <a:ext cx="3151800" cy="388332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63"/>
          <p:cNvSpPr/>
          <p:nvPr/>
        </p:nvSpPr>
        <p:spPr>
          <a:xfrm>
            <a:off x="4800600" y="1783080"/>
            <a:ext cx="25574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Private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64"/>
          <p:cNvSpPr/>
          <p:nvPr/>
        </p:nvSpPr>
        <p:spPr>
          <a:xfrm>
            <a:off x="4800600" y="2423160"/>
            <a:ext cx="2557440" cy="22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Harbor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Artifactory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ECR / ACR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Production-like, but needs credentials and setup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49"/>
          <p:cNvSpPr/>
          <p:nvPr/>
        </p:nvSpPr>
        <p:spPr>
          <a:xfrm>
            <a:off x="8412480" y="1508760"/>
            <a:ext cx="3151800" cy="388332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 65"/>
          <p:cNvSpPr/>
          <p:nvPr/>
        </p:nvSpPr>
        <p:spPr>
          <a:xfrm>
            <a:off x="8686800" y="1783080"/>
            <a:ext cx="25574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Local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66"/>
          <p:cNvSpPr/>
          <p:nvPr/>
        </p:nvSpPr>
        <p:spPr>
          <a:xfrm>
            <a:off x="8686800" y="2423160"/>
            <a:ext cx="2557440" cy="22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localhost:5000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external dependency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Great for labs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Easy to break and fix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Shape 50"/>
          <p:cNvSpPr/>
          <p:nvPr/>
        </p:nvSpPr>
        <p:spPr>
          <a:xfrm>
            <a:off x="0" y="0"/>
            <a:ext cx="12188880" cy="685512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51"/>
          <p:cNvSpPr/>
          <p:nvPr/>
        </p:nvSpPr>
        <p:spPr>
          <a:xfrm>
            <a:off x="0" y="0"/>
            <a:ext cx="12188880" cy="10692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67"/>
          <p:cNvSpPr/>
          <p:nvPr/>
        </p:nvSpPr>
        <p:spPr>
          <a:xfrm>
            <a:off x="502920" y="6355080"/>
            <a:ext cx="22831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68"/>
          <p:cNvSpPr/>
          <p:nvPr/>
        </p:nvSpPr>
        <p:spPr>
          <a:xfrm>
            <a:off x="502920" y="411480"/>
            <a:ext cx="110613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Start the local registry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69"/>
          <p:cNvSpPr/>
          <p:nvPr/>
        </p:nvSpPr>
        <p:spPr>
          <a:xfrm>
            <a:off x="530280" y="987480"/>
            <a:ext cx="10878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The setup script runs a registry container and verifies push/pull before the workshop begins.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52"/>
          <p:cNvSpPr/>
          <p:nvPr/>
        </p:nvSpPr>
        <p:spPr>
          <a:xfrm>
            <a:off x="685800" y="1600200"/>
            <a:ext cx="5574960" cy="2374560"/>
          </a:xfrm>
          <a:prstGeom prst="roundRect">
            <a:avLst>
              <a:gd name="adj" fmla="val 3077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70"/>
          <p:cNvSpPr/>
          <p:nvPr/>
        </p:nvSpPr>
        <p:spPr>
          <a:xfrm>
            <a:off x="822960" y="1719000"/>
            <a:ext cx="5300640" cy="219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run -d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--name local-registry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--restart always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-p 5000:5000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-v /opt/local-registry:/var/lib/registry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registry:2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6" name="Shape 53"/>
          <p:cNvSpPr/>
          <p:nvPr/>
        </p:nvSpPr>
        <p:spPr>
          <a:xfrm>
            <a:off x="6720840" y="1600200"/>
            <a:ext cx="4706280" cy="2374560"/>
          </a:xfrm>
          <a:prstGeom prst="roundRect">
            <a:avLst>
              <a:gd name="adj" fmla="val 4615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71"/>
          <p:cNvSpPr/>
          <p:nvPr/>
        </p:nvSpPr>
        <p:spPr>
          <a:xfrm>
            <a:off x="7040880" y="1828800"/>
            <a:ext cx="41119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local?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72"/>
          <p:cNvSpPr/>
          <p:nvPr/>
        </p:nvSpPr>
        <p:spPr>
          <a:xfrm>
            <a:off x="7040880" y="2423160"/>
            <a:ext cx="4020480" cy="12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Docker Hub rate limits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shared credentials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Predictable and fast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Each participant owns their environment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54"/>
          <p:cNvSpPr/>
          <p:nvPr/>
        </p:nvSpPr>
        <p:spPr>
          <a:xfrm>
            <a:off x="7040880" y="4069080"/>
            <a:ext cx="1460160" cy="326160"/>
          </a:xfrm>
          <a:prstGeom prst="roundRect">
            <a:avLst>
              <a:gd name="adj" fmla="val 33333"/>
            </a:avLst>
          </a:prstGeom>
          <a:solidFill>
            <a:srgbClr val="22C55E">
              <a:alpha val="85000"/>
            </a:srgbClr>
          </a:solidFill>
          <a:ln w="1016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73"/>
          <p:cNvSpPr/>
          <p:nvPr/>
        </p:nvSpPr>
        <p:spPr>
          <a:xfrm>
            <a:off x="7113960" y="4142160"/>
            <a:ext cx="13140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workshop-friendly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Shape 55"/>
          <p:cNvSpPr/>
          <p:nvPr/>
        </p:nvSpPr>
        <p:spPr>
          <a:xfrm>
            <a:off x="8641080" y="4069080"/>
            <a:ext cx="1414440" cy="326160"/>
          </a:xfrm>
          <a:prstGeom prst="roundRect">
            <a:avLst>
              <a:gd name="adj" fmla="val 33333"/>
            </a:avLst>
          </a:prstGeom>
          <a:solidFill>
            <a:srgbClr val="28A8FF">
              <a:alpha val="85000"/>
            </a:srgbClr>
          </a:solidFill>
          <a:ln w="1016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74"/>
          <p:cNvSpPr/>
          <p:nvPr/>
        </p:nvSpPr>
        <p:spPr>
          <a:xfrm>
            <a:off x="8714160" y="4142160"/>
            <a:ext cx="126828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offline-capable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Shape 56"/>
          <p:cNvSpPr/>
          <p:nvPr/>
        </p:nvSpPr>
        <p:spPr>
          <a:xfrm>
            <a:off x="10195560" y="4069080"/>
            <a:ext cx="1048680" cy="326160"/>
          </a:xfrm>
          <a:prstGeom prst="roundRect">
            <a:avLst>
              <a:gd name="adj" fmla="val 33333"/>
            </a:avLst>
          </a:prstGeom>
          <a:solidFill>
            <a:srgbClr val="A78BFA">
              <a:alpha val="85000"/>
            </a:srgbClr>
          </a:solidFill>
          <a:ln w="1016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75"/>
          <p:cNvSpPr/>
          <p:nvPr/>
        </p:nvSpPr>
        <p:spPr>
          <a:xfrm>
            <a:off x="10268640" y="4142160"/>
            <a:ext cx="90252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repeatable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57"/>
          <p:cNvSpPr/>
          <p:nvPr/>
        </p:nvSpPr>
        <p:spPr>
          <a:xfrm>
            <a:off x="685800" y="4892040"/>
            <a:ext cx="5574960" cy="591480"/>
          </a:xfrm>
          <a:prstGeom prst="roundRect">
            <a:avLst>
              <a:gd name="adj" fmla="val 1230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76"/>
          <p:cNvSpPr/>
          <p:nvPr/>
        </p:nvSpPr>
        <p:spPr>
          <a:xfrm>
            <a:off x="822960" y="5010840"/>
            <a:ext cx="53006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77"/>
          <p:cNvSpPr/>
          <p:nvPr/>
        </p:nvSpPr>
        <p:spPr>
          <a:xfrm>
            <a:off x="6720840" y="4974480"/>
            <a:ext cx="47520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Expected result: the registry API responds, even before any images are pushed.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Shape 58"/>
          <p:cNvSpPr/>
          <p:nvPr/>
        </p:nvSpPr>
        <p:spPr>
          <a:xfrm>
            <a:off x="0" y="0"/>
            <a:ext cx="12188880" cy="685512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59"/>
          <p:cNvSpPr/>
          <p:nvPr/>
        </p:nvSpPr>
        <p:spPr>
          <a:xfrm>
            <a:off x="0" y="0"/>
            <a:ext cx="12188880" cy="10692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78"/>
          <p:cNvSpPr/>
          <p:nvPr/>
        </p:nvSpPr>
        <p:spPr>
          <a:xfrm>
            <a:off x="502920" y="6355080"/>
            <a:ext cx="22831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79"/>
          <p:cNvSpPr/>
          <p:nvPr/>
        </p:nvSpPr>
        <p:spPr>
          <a:xfrm>
            <a:off x="502920" y="411480"/>
            <a:ext cx="110613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Configure K3s to use the local registry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80"/>
          <p:cNvSpPr/>
          <p:nvPr/>
        </p:nvSpPr>
        <p:spPr>
          <a:xfrm>
            <a:off x="530280" y="987480"/>
            <a:ext cx="10878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K3s uses containerd, so the Docker daemon configuration alone is not enough.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Shape 60"/>
          <p:cNvSpPr/>
          <p:nvPr/>
        </p:nvSpPr>
        <p:spPr>
          <a:xfrm>
            <a:off x="685800" y="1417320"/>
            <a:ext cx="6123600" cy="4157640"/>
          </a:xfrm>
          <a:prstGeom prst="roundRect">
            <a:avLst>
              <a:gd name="adj" fmla="val 175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81"/>
          <p:cNvSpPr/>
          <p:nvPr/>
        </p:nvSpPr>
        <p:spPr>
          <a:xfrm>
            <a:off x="822960" y="1536120"/>
            <a:ext cx="5849280" cy="397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/etc/rancher/k3s/registries.yaml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mirrors: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"localhost:5000":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endpoint: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- "http://localhost:5000"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"127.0.0.1:5000":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endpoint: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- "http://127.0.0.1:5000"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configs: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"localhost:5000":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tls: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insecure_skip_verify: 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Shape 61"/>
          <p:cNvSpPr/>
          <p:nvPr/>
        </p:nvSpPr>
        <p:spPr>
          <a:xfrm>
            <a:off x="7315200" y="1600200"/>
            <a:ext cx="4294800" cy="3563280"/>
          </a:xfrm>
          <a:prstGeom prst="roundRect">
            <a:avLst>
              <a:gd name="adj" fmla="val 3077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82"/>
          <p:cNvSpPr/>
          <p:nvPr/>
        </p:nvSpPr>
        <p:spPr>
          <a:xfrm>
            <a:off x="7589520" y="1874520"/>
            <a:ext cx="374616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After changing it: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Shape 62"/>
          <p:cNvSpPr/>
          <p:nvPr/>
        </p:nvSpPr>
        <p:spPr>
          <a:xfrm>
            <a:off x="7589520" y="2514600"/>
            <a:ext cx="3471840" cy="1002960"/>
          </a:xfrm>
          <a:prstGeom prst="roundRect">
            <a:avLst>
              <a:gd name="adj" fmla="val 7273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 83"/>
          <p:cNvSpPr/>
          <p:nvPr/>
        </p:nvSpPr>
        <p:spPr>
          <a:xfrm>
            <a:off x="7726680" y="2633400"/>
            <a:ext cx="319752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sudo systemctl restart k3s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get nodes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84"/>
          <p:cNvSpPr/>
          <p:nvPr/>
        </p:nvSpPr>
        <p:spPr>
          <a:xfrm>
            <a:off x="7589520" y="3931920"/>
            <a:ext cx="36547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This reloads containerd registry configuration used by K3s.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Shape 63"/>
          <p:cNvSpPr/>
          <p:nvPr/>
        </p:nvSpPr>
        <p:spPr>
          <a:xfrm>
            <a:off x="0" y="0"/>
            <a:ext cx="12188880" cy="685512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Shape 64"/>
          <p:cNvSpPr/>
          <p:nvPr/>
        </p:nvSpPr>
        <p:spPr>
          <a:xfrm>
            <a:off x="0" y="0"/>
            <a:ext cx="12188880" cy="10692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85"/>
          <p:cNvSpPr/>
          <p:nvPr/>
        </p:nvSpPr>
        <p:spPr>
          <a:xfrm>
            <a:off x="502920" y="6355080"/>
            <a:ext cx="22831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Text 86"/>
          <p:cNvSpPr/>
          <p:nvPr/>
        </p:nvSpPr>
        <p:spPr>
          <a:xfrm>
            <a:off x="502920" y="411480"/>
            <a:ext cx="110613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Build workshop images with registry tags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 87"/>
          <p:cNvSpPr/>
          <p:nvPr/>
        </p:nvSpPr>
        <p:spPr>
          <a:xfrm>
            <a:off x="530280" y="987480"/>
            <a:ext cx="10878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Tag images with localhost:5000 from the beginning.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65"/>
          <p:cNvSpPr/>
          <p:nvPr/>
        </p:nvSpPr>
        <p:spPr>
          <a:xfrm>
            <a:off x="685800" y="1600200"/>
            <a:ext cx="10832760" cy="2786040"/>
          </a:xfrm>
          <a:prstGeom prst="roundRect">
            <a:avLst>
              <a:gd name="adj" fmla="val 2623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88"/>
          <p:cNvSpPr/>
          <p:nvPr/>
        </p:nvSpPr>
        <p:spPr>
          <a:xfrm>
            <a:off x="822960" y="1719000"/>
            <a:ext cx="10558440" cy="260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docker/Dockerfile.debug -t localhost:5000/k8s-workshop-app:debug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docker/Dockerfile.distroless -t localhost:5000/k8s-workshop-app:distroless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docker/Dockerfile.migration -t localhost:5000/k8s-workshop-migration:debug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docker/Dockerfile.broken_migration -t localhost:5000/k8s-workshop-migration:broken .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docker/Dockerfile.repair_migration -t localhost:5000/k8s-workshop-migration:repair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66"/>
          <p:cNvSpPr/>
          <p:nvPr/>
        </p:nvSpPr>
        <p:spPr>
          <a:xfrm>
            <a:off x="685800" y="4892040"/>
            <a:ext cx="10832760" cy="774360"/>
          </a:xfrm>
          <a:prstGeom prst="roundRect">
            <a:avLst>
              <a:gd name="adj" fmla="val 14118"/>
            </a:avLst>
          </a:prstGeom>
          <a:solidFill>
            <a:srgbClr val="0B2740"/>
          </a:solidFill>
          <a:ln w="13970">
            <a:solidFill>
              <a:srgbClr val="FACC1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89"/>
          <p:cNvSpPr/>
          <p:nvPr/>
        </p:nvSpPr>
        <p:spPr>
          <a:xfrm>
            <a:off x="960120" y="5102280"/>
            <a:ext cx="1023840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Key point: k8s-workshop-app:debug is only a local Docker tag. localhost:5000/k8s-workshop-app:debug is a pullable registry reference.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Shape 67"/>
          <p:cNvSpPr/>
          <p:nvPr/>
        </p:nvSpPr>
        <p:spPr>
          <a:xfrm>
            <a:off x="-74160" y="1144800"/>
            <a:ext cx="12188880" cy="685512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0" name="Shape 68"/>
          <p:cNvSpPr/>
          <p:nvPr/>
        </p:nvSpPr>
        <p:spPr>
          <a:xfrm>
            <a:off x="0" y="0"/>
            <a:ext cx="12188880" cy="10692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90"/>
          <p:cNvSpPr/>
          <p:nvPr/>
        </p:nvSpPr>
        <p:spPr>
          <a:xfrm>
            <a:off x="502920" y="6355080"/>
            <a:ext cx="22831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91"/>
          <p:cNvSpPr/>
          <p:nvPr/>
        </p:nvSpPr>
        <p:spPr>
          <a:xfrm>
            <a:off x="502920" y="411480"/>
            <a:ext cx="110613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Push and verify images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 92"/>
          <p:cNvSpPr/>
          <p:nvPr/>
        </p:nvSpPr>
        <p:spPr>
          <a:xfrm>
            <a:off x="530280" y="987480"/>
            <a:ext cx="10878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Pushing images makes them available for K3s/containerd to pull.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Shape 69"/>
          <p:cNvSpPr/>
          <p:nvPr/>
        </p:nvSpPr>
        <p:spPr>
          <a:xfrm>
            <a:off x="685800" y="1508760"/>
            <a:ext cx="5483520" cy="260496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93"/>
          <p:cNvSpPr/>
          <p:nvPr/>
        </p:nvSpPr>
        <p:spPr>
          <a:xfrm>
            <a:off x="822960" y="1627560"/>
            <a:ext cx="5209200" cy="22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localhost:5000/k8s-workshop-app:distroless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localhost:5000/k8s-workshop-migration:repair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6" name="Shape 70"/>
          <p:cNvSpPr/>
          <p:nvPr/>
        </p:nvSpPr>
        <p:spPr>
          <a:xfrm>
            <a:off x="6583680" y="1508760"/>
            <a:ext cx="5072760" cy="182592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94"/>
          <p:cNvSpPr/>
          <p:nvPr/>
        </p:nvSpPr>
        <p:spPr>
          <a:xfrm>
            <a:off x="6720840" y="1627560"/>
            <a:ext cx="4935600" cy="164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localhost:5000/v2/k8s-workshop-app/tags/list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localhost:5000/v2/k8s-workshop-migration/tags/list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Shape 71"/>
          <p:cNvSpPr/>
          <p:nvPr/>
        </p:nvSpPr>
        <p:spPr>
          <a:xfrm>
            <a:off x="1097280" y="4434840"/>
            <a:ext cx="1185840" cy="68292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95"/>
          <p:cNvSpPr/>
          <p:nvPr/>
        </p:nvSpPr>
        <p:spPr>
          <a:xfrm>
            <a:off x="1170360" y="4581000"/>
            <a:ext cx="103968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72"/>
          <p:cNvSpPr/>
          <p:nvPr/>
        </p:nvSpPr>
        <p:spPr>
          <a:xfrm>
            <a:off x="248688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73"/>
          <p:cNvSpPr/>
          <p:nvPr/>
        </p:nvSpPr>
        <p:spPr>
          <a:xfrm>
            <a:off x="3520440" y="4434840"/>
            <a:ext cx="1185840" cy="682920"/>
          </a:xfrm>
          <a:prstGeom prst="roundRect">
            <a:avLst>
              <a:gd name="adj" fmla="val 16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2" name="Text 96"/>
          <p:cNvSpPr/>
          <p:nvPr/>
        </p:nvSpPr>
        <p:spPr>
          <a:xfrm>
            <a:off x="3593520" y="4581000"/>
            <a:ext cx="103968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push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74"/>
          <p:cNvSpPr/>
          <p:nvPr/>
        </p:nvSpPr>
        <p:spPr>
          <a:xfrm>
            <a:off x="48920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75"/>
          <p:cNvSpPr/>
          <p:nvPr/>
        </p:nvSpPr>
        <p:spPr>
          <a:xfrm>
            <a:off x="5925240" y="4434840"/>
            <a:ext cx="1185840" cy="68292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Text 97"/>
          <p:cNvSpPr/>
          <p:nvPr/>
        </p:nvSpPr>
        <p:spPr>
          <a:xfrm>
            <a:off x="5998320" y="4581000"/>
            <a:ext cx="103968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verify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Shape 76"/>
          <p:cNvSpPr/>
          <p:nvPr/>
        </p:nvSpPr>
        <p:spPr>
          <a:xfrm>
            <a:off x="72968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77"/>
          <p:cNvSpPr/>
          <p:nvPr/>
        </p:nvSpPr>
        <p:spPr>
          <a:xfrm>
            <a:off x="8321040" y="4434840"/>
            <a:ext cx="1185840" cy="682920"/>
          </a:xfrm>
          <a:prstGeom prst="roundRect">
            <a:avLst>
              <a:gd name="adj" fmla="val 16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 98"/>
          <p:cNvSpPr/>
          <p:nvPr/>
        </p:nvSpPr>
        <p:spPr>
          <a:xfrm>
            <a:off x="8394120" y="4581000"/>
            <a:ext cx="103968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78"/>
          <p:cNvSpPr/>
          <p:nvPr/>
        </p:nvSpPr>
        <p:spPr>
          <a:xfrm>
            <a:off x="97106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0" name="Shape 79"/>
          <p:cNvSpPr/>
          <p:nvPr/>
        </p:nvSpPr>
        <p:spPr>
          <a:xfrm>
            <a:off x="10744200" y="4434840"/>
            <a:ext cx="1140120" cy="68292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Text 99"/>
          <p:cNvSpPr/>
          <p:nvPr/>
        </p:nvSpPr>
        <p:spPr>
          <a:xfrm>
            <a:off x="10817280" y="4581000"/>
            <a:ext cx="993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Shape 80"/>
          <p:cNvSpPr/>
          <p:nvPr/>
        </p:nvSpPr>
        <p:spPr>
          <a:xfrm>
            <a:off x="0" y="0"/>
            <a:ext cx="12188880" cy="685512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81"/>
          <p:cNvSpPr/>
          <p:nvPr/>
        </p:nvSpPr>
        <p:spPr>
          <a:xfrm>
            <a:off x="0" y="0"/>
            <a:ext cx="12188880" cy="10692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100"/>
          <p:cNvSpPr/>
          <p:nvPr/>
        </p:nvSpPr>
        <p:spPr>
          <a:xfrm>
            <a:off x="502920" y="6355080"/>
            <a:ext cx="22831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101"/>
          <p:cNvSpPr/>
          <p:nvPr/>
        </p:nvSpPr>
        <p:spPr>
          <a:xfrm>
            <a:off x="502920" y="411480"/>
            <a:ext cx="110613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Use registry references in Kubernetes manifests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6" name="Text 102"/>
          <p:cNvSpPr/>
          <p:nvPr/>
        </p:nvSpPr>
        <p:spPr>
          <a:xfrm>
            <a:off x="530280" y="987480"/>
            <a:ext cx="10878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The Deployment should point to the local registry image.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Shape 82"/>
          <p:cNvSpPr/>
          <p:nvPr/>
        </p:nvSpPr>
        <p:spPr>
          <a:xfrm>
            <a:off x="685800" y="1417320"/>
            <a:ext cx="5803560" cy="4157640"/>
          </a:xfrm>
          <a:prstGeom prst="roundRect">
            <a:avLst>
              <a:gd name="adj" fmla="val 175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 103"/>
          <p:cNvSpPr/>
          <p:nvPr/>
        </p:nvSpPr>
        <p:spPr>
          <a:xfrm>
            <a:off x="822960" y="1536120"/>
            <a:ext cx="5529240" cy="397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apiVersion: apps/v1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kind: Deployment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metadata: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name: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spec: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template: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spec: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containers: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- name: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  image: 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  imagePullPolicy: IfNotPresent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83"/>
          <p:cNvSpPr/>
          <p:nvPr/>
        </p:nvSpPr>
        <p:spPr>
          <a:xfrm>
            <a:off x="6949440" y="1645920"/>
            <a:ext cx="4477680" cy="3288960"/>
          </a:xfrm>
          <a:prstGeom prst="roundRect">
            <a:avLst>
              <a:gd name="adj" fmla="val 3333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104"/>
          <p:cNvSpPr/>
          <p:nvPr/>
        </p:nvSpPr>
        <p:spPr>
          <a:xfrm>
            <a:off x="7223760" y="1920240"/>
            <a:ext cx="39290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for labs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1" name="Text 105"/>
          <p:cNvSpPr/>
          <p:nvPr/>
        </p:nvSpPr>
        <p:spPr>
          <a:xfrm>
            <a:off x="7223760" y="2560320"/>
            <a:ext cx="3791880" cy="164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imagePullPolicy: IfNotPresent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fast local pulls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change tag when you want a new image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use Always when teaching pull behavior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Shape 84"/>
          <p:cNvSpPr/>
          <p:nvPr/>
        </p:nvSpPr>
        <p:spPr>
          <a:xfrm>
            <a:off x="0" y="0"/>
            <a:ext cx="12188880" cy="685512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85"/>
          <p:cNvSpPr/>
          <p:nvPr/>
        </p:nvSpPr>
        <p:spPr>
          <a:xfrm>
            <a:off x="0" y="0"/>
            <a:ext cx="12188880" cy="10692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106"/>
          <p:cNvSpPr/>
          <p:nvPr/>
        </p:nvSpPr>
        <p:spPr>
          <a:xfrm>
            <a:off x="502920" y="6355080"/>
            <a:ext cx="22831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 107"/>
          <p:cNvSpPr/>
          <p:nvPr/>
        </p:nvSpPr>
        <p:spPr>
          <a:xfrm>
            <a:off x="502920" y="411480"/>
            <a:ext cx="110613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Troubleshooting preview: ImagePullBackOff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108"/>
          <p:cNvSpPr/>
          <p:nvPr/>
        </p:nvSpPr>
        <p:spPr>
          <a:xfrm>
            <a:off x="530280" y="987480"/>
            <a:ext cx="10878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A registry flow makes image problems visible and easy to diagnose.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86"/>
          <p:cNvSpPr/>
          <p:nvPr/>
        </p:nvSpPr>
        <p:spPr>
          <a:xfrm>
            <a:off x="685800" y="1508760"/>
            <a:ext cx="5300640" cy="182592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109"/>
          <p:cNvSpPr/>
          <p:nvPr/>
        </p:nvSpPr>
        <p:spPr>
          <a:xfrm>
            <a:off x="822960" y="1627560"/>
            <a:ext cx="5026320" cy="164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typo in tag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image: localhost:5000/k8s-workshop-app:debgu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expected status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ImagePullBackOff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9" name="Shape 87"/>
          <p:cNvSpPr/>
          <p:nvPr/>
        </p:nvSpPr>
        <p:spPr>
          <a:xfrm>
            <a:off x="6446520" y="1508760"/>
            <a:ext cx="5072040" cy="1825920"/>
          </a:xfrm>
          <a:prstGeom prst="roundRect">
            <a:avLst>
              <a:gd name="adj" fmla="val 6000"/>
            </a:avLst>
          </a:prstGeom>
          <a:solidFill>
            <a:srgbClr val="0B2740"/>
          </a:solidFill>
          <a:ln w="1397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110"/>
          <p:cNvSpPr/>
          <p:nvPr/>
        </p:nvSpPr>
        <p:spPr>
          <a:xfrm>
            <a:off x="6720840" y="1783080"/>
            <a:ext cx="43862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checks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88"/>
          <p:cNvSpPr/>
          <p:nvPr/>
        </p:nvSpPr>
        <p:spPr>
          <a:xfrm>
            <a:off x="6720840" y="2331720"/>
            <a:ext cx="4340520" cy="774360"/>
          </a:xfrm>
          <a:prstGeom prst="roundRect">
            <a:avLst>
              <a:gd name="adj" fmla="val 9412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1"/>
          <p:cNvSpPr/>
          <p:nvPr/>
        </p:nvSpPr>
        <p:spPr>
          <a:xfrm>
            <a:off x="6858000" y="2450520"/>
            <a:ext cx="406620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describe pod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12"/>
          <p:cNvSpPr/>
          <p:nvPr/>
        </p:nvSpPr>
        <p:spPr>
          <a:xfrm>
            <a:off x="685800" y="3794760"/>
            <a:ext cx="21002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Mental model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89"/>
          <p:cNvSpPr/>
          <p:nvPr/>
        </p:nvSpPr>
        <p:spPr>
          <a:xfrm>
            <a:off x="2971800" y="4069080"/>
            <a:ext cx="2008800" cy="710280"/>
          </a:xfrm>
          <a:prstGeom prst="roundRect">
            <a:avLst>
              <a:gd name="adj" fmla="val 15385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13"/>
          <p:cNvSpPr/>
          <p:nvPr/>
        </p:nvSpPr>
        <p:spPr>
          <a:xfrm>
            <a:off x="3044880" y="4215240"/>
            <a:ext cx="1862640" cy="48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not found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Shape 90"/>
          <p:cNvSpPr/>
          <p:nvPr/>
        </p:nvSpPr>
        <p:spPr>
          <a:xfrm>
            <a:off x="5166360" y="4425480"/>
            <a:ext cx="640080" cy="360"/>
          </a:xfrm>
          <a:prstGeom prst="line">
            <a:avLst/>
          </a:prstGeom>
          <a:ln w="27940">
            <a:solidFill>
              <a:srgbClr val="F8717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Shape 91"/>
          <p:cNvSpPr/>
          <p:nvPr/>
        </p:nvSpPr>
        <p:spPr>
          <a:xfrm>
            <a:off x="5989320" y="4069080"/>
            <a:ext cx="2008800" cy="710280"/>
          </a:xfrm>
          <a:prstGeom prst="roundRect">
            <a:avLst>
              <a:gd name="adj" fmla="val 15385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14"/>
          <p:cNvSpPr/>
          <p:nvPr/>
        </p:nvSpPr>
        <p:spPr>
          <a:xfrm>
            <a:off x="6062400" y="4215240"/>
            <a:ext cx="1862640" cy="48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never starts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Shape 92"/>
          <p:cNvSpPr/>
          <p:nvPr/>
        </p:nvSpPr>
        <p:spPr>
          <a:xfrm>
            <a:off x="8183880" y="4425480"/>
            <a:ext cx="868680" cy="360"/>
          </a:xfrm>
          <a:prstGeom prst="line">
            <a:avLst/>
          </a:prstGeom>
          <a:ln w="27940">
            <a:solidFill>
              <a:srgbClr val="F8717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93"/>
          <p:cNvSpPr/>
          <p:nvPr/>
        </p:nvSpPr>
        <p:spPr>
          <a:xfrm>
            <a:off x="9235440" y="4069080"/>
            <a:ext cx="2008800" cy="710280"/>
          </a:xfrm>
          <a:prstGeom prst="roundRect">
            <a:avLst>
              <a:gd name="adj" fmla="val 15385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1" name="Text 115"/>
          <p:cNvSpPr/>
          <p:nvPr/>
        </p:nvSpPr>
        <p:spPr>
          <a:xfrm>
            <a:off x="9308520" y="4215240"/>
            <a:ext cx="1862640" cy="48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app logs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Shape 94"/>
          <p:cNvSpPr/>
          <p:nvPr/>
        </p:nvSpPr>
        <p:spPr>
          <a:xfrm>
            <a:off x="0" y="0"/>
            <a:ext cx="12188880" cy="685512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95"/>
          <p:cNvSpPr/>
          <p:nvPr/>
        </p:nvSpPr>
        <p:spPr>
          <a:xfrm>
            <a:off x="0" y="0"/>
            <a:ext cx="12188880" cy="10692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116"/>
          <p:cNvSpPr/>
          <p:nvPr/>
        </p:nvSpPr>
        <p:spPr>
          <a:xfrm>
            <a:off x="502920" y="6355080"/>
            <a:ext cx="22831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117"/>
          <p:cNvSpPr/>
          <p:nvPr/>
        </p:nvSpPr>
        <p:spPr>
          <a:xfrm>
            <a:off x="502920" y="411480"/>
            <a:ext cx="110613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Lab: Build, push, deploy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18"/>
          <p:cNvSpPr/>
          <p:nvPr/>
        </p:nvSpPr>
        <p:spPr>
          <a:xfrm>
            <a:off x="530280" y="987480"/>
            <a:ext cx="108784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This lab becomes the foundation for the rest of the workshop.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96"/>
          <p:cNvSpPr/>
          <p:nvPr/>
        </p:nvSpPr>
        <p:spPr>
          <a:xfrm>
            <a:off x="685800" y="1463040"/>
            <a:ext cx="10969920" cy="4249080"/>
          </a:xfrm>
          <a:prstGeom prst="roundRect">
            <a:avLst>
              <a:gd name="adj" fmla="val 2581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119"/>
          <p:cNvSpPr/>
          <p:nvPr/>
        </p:nvSpPr>
        <p:spPr>
          <a:xfrm>
            <a:off x="1005840" y="1783080"/>
            <a:ext cx="27403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Checklist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120"/>
          <p:cNvSpPr/>
          <p:nvPr/>
        </p:nvSpPr>
        <p:spPr>
          <a:xfrm>
            <a:off x="1005840" y="2331720"/>
            <a:ext cx="10238400" cy="24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Run setup-local-registry.sh and confirm the test passes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Build app, distroless, and migration images with localhost:5000 tags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Push all images to the local registry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Verify registry catalog and image tags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Use localhost:5000/... image references in Kubernetes manifests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Deploy the app in Module 3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Shape 97"/>
          <p:cNvSpPr/>
          <p:nvPr/>
        </p:nvSpPr>
        <p:spPr>
          <a:xfrm>
            <a:off x="1005840" y="5074920"/>
            <a:ext cx="820080" cy="326160"/>
          </a:xfrm>
          <a:prstGeom prst="roundRect">
            <a:avLst>
              <a:gd name="adj" fmla="val 33333"/>
            </a:avLst>
          </a:prstGeom>
          <a:solidFill>
            <a:srgbClr val="28A8FF">
              <a:alpha val="85000"/>
            </a:srgbClr>
          </a:solidFill>
          <a:ln w="1016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Text 121"/>
          <p:cNvSpPr/>
          <p:nvPr/>
        </p:nvSpPr>
        <p:spPr>
          <a:xfrm>
            <a:off x="1078920" y="5148000"/>
            <a:ext cx="67392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2" name="Shape 98"/>
          <p:cNvSpPr/>
          <p:nvPr/>
        </p:nvSpPr>
        <p:spPr>
          <a:xfrm>
            <a:off x="1965960" y="5074920"/>
            <a:ext cx="774360" cy="326160"/>
          </a:xfrm>
          <a:prstGeom prst="roundRect">
            <a:avLst>
              <a:gd name="adj" fmla="val 33333"/>
            </a:avLst>
          </a:prstGeom>
          <a:solidFill>
            <a:srgbClr val="22C55E">
              <a:alpha val="85000"/>
            </a:srgbClr>
          </a:solidFill>
          <a:ln w="1016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122"/>
          <p:cNvSpPr/>
          <p:nvPr/>
        </p:nvSpPr>
        <p:spPr>
          <a:xfrm>
            <a:off x="2039040" y="5148000"/>
            <a:ext cx="6282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Push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99"/>
          <p:cNvSpPr/>
          <p:nvPr/>
        </p:nvSpPr>
        <p:spPr>
          <a:xfrm>
            <a:off x="2880360" y="5074920"/>
            <a:ext cx="728640" cy="326160"/>
          </a:xfrm>
          <a:prstGeom prst="roundRect">
            <a:avLst>
              <a:gd name="adj" fmla="val 33333"/>
            </a:avLst>
          </a:prstGeom>
          <a:solidFill>
            <a:srgbClr val="A78BFA">
              <a:alpha val="85000"/>
            </a:srgbClr>
          </a:solidFill>
          <a:ln w="1016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123"/>
          <p:cNvSpPr/>
          <p:nvPr/>
        </p:nvSpPr>
        <p:spPr>
          <a:xfrm>
            <a:off x="2953440" y="5148000"/>
            <a:ext cx="58248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Pull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Shape 100"/>
          <p:cNvSpPr/>
          <p:nvPr/>
        </p:nvSpPr>
        <p:spPr>
          <a:xfrm>
            <a:off x="3749040" y="5074920"/>
            <a:ext cx="911520" cy="326160"/>
          </a:xfrm>
          <a:prstGeom prst="roundRect">
            <a:avLst>
              <a:gd name="adj" fmla="val 33333"/>
            </a:avLst>
          </a:prstGeom>
          <a:solidFill>
            <a:srgbClr val="FB923C">
              <a:alpha val="85000"/>
            </a:srgbClr>
          </a:solidFill>
          <a:ln w="1016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4"/>
          <p:cNvSpPr/>
          <p:nvPr/>
        </p:nvSpPr>
        <p:spPr>
          <a:xfrm>
            <a:off x="3822120" y="5148000"/>
            <a:ext cx="76536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Shape 101"/>
          <p:cNvSpPr/>
          <p:nvPr/>
        </p:nvSpPr>
        <p:spPr>
          <a:xfrm>
            <a:off x="4800600" y="5074920"/>
            <a:ext cx="1414440" cy="326160"/>
          </a:xfrm>
          <a:prstGeom prst="roundRect">
            <a:avLst>
              <a:gd name="adj" fmla="val 33333"/>
            </a:avLst>
          </a:prstGeom>
          <a:solidFill>
            <a:srgbClr val="F87171">
              <a:alpha val="85000"/>
            </a:srgbClr>
          </a:solidFill>
          <a:ln w="1016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25"/>
          <p:cNvSpPr/>
          <p:nvPr/>
        </p:nvSpPr>
        <p:spPr>
          <a:xfrm>
            <a:off x="4873680" y="5148000"/>
            <a:ext cx="126828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2"/>
          <p:cNvSpPr/>
          <p:nvPr/>
        </p:nvSpPr>
        <p:spPr>
          <a:xfrm>
            <a:off x="658440" y="2148840"/>
            <a:ext cx="1060344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3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3"/>
          <p:cNvSpPr/>
          <p:nvPr/>
        </p:nvSpPr>
        <p:spPr>
          <a:xfrm>
            <a:off x="676800" y="2953440"/>
            <a:ext cx="9597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Containers, images and local application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 image mental model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Image is not a VM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Image contains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Image does not contain by default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code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dependencies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Entrypoint and command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environment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Filesystem layers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Persistent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Cluster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Service identity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Secrets from the cluster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 guarantee that shell exists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build flow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Multi-stage builds separate build-time and runtime concerns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Shape 4"/>
          <p:cNvSpPr/>
          <p:nvPr/>
        </p:nvSpPr>
        <p:spPr>
          <a:xfrm>
            <a:off x="50292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5"/>
          <p:cNvSpPr/>
          <p:nvPr/>
        </p:nvSpPr>
        <p:spPr>
          <a:xfrm>
            <a:off x="54864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Source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9" name="Shape 6"/>
          <p:cNvSpPr/>
          <p:nvPr/>
        </p:nvSpPr>
        <p:spPr>
          <a:xfrm>
            <a:off x="177408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0" name="Shape 7"/>
          <p:cNvSpPr/>
          <p:nvPr/>
        </p:nvSpPr>
        <p:spPr>
          <a:xfrm>
            <a:off x="200268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8"/>
          <p:cNvSpPr/>
          <p:nvPr/>
        </p:nvSpPr>
        <p:spPr>
          <a:xfrm>
            <a:off x="204840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Builder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Shape 9"/>
          <p:cNvSpPr/>
          <p:nvPr/>
        </p:nvSpPr>
        <p:spPr>
          <a:xfrm>
            <a:off x="327348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10"/>
          <p:cNvSpPr/>
          <p:nvPr/>
        </p:nvSpPr>
        <p:spPr>
          <a:xfrm>
            <a:off x="350208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11"/>
          <p:cNvSpPr/>
          <p:nvPr/>
        </p:nvSpPr>
        <p:spPr>
          <a:xfrm>
            <a:off x="354780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Dependencies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Shape 12"/>
          <p:cNvSpPr/>
          <p:nvPr/>
        </p:nvSpPr>
        <p:spPr>
          <a:xfrm>
            <a:off x="477324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Shape 13"/>
          <p:cNvSpPr/>
          <p:nvPr/>
        </p:nvSpPr>
        <p:spPr>
          <a:xfrm>
            <a:off x="500184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4"/>
          <p:cNvSpPr/>
          <p:nvPr/>
        </p:nvSpPr>
        <p:spPr>
          <a:xfrm>
            <a:off x="504756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Runtime image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Shape 15"/>
          <p:cNvSpPr/>
          <p:nvPr/>
        </p:nvSpPr>
        <p:spPr>
          <a:xfrm>
            <a:off x="627264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16"/>
          <p:cNvSpPr/>
          <p:nvPr/>
        </p:nvSpPr>
        <p:spPr>
          <a:xfrm>
            <a:off x="650124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Text 17"/>
          <p:cNvSpPr/>
          <p:nvPr/>
        </p:nvSpPr>
        <p:spPr>
          <a:xfrm>
            <a:off x="654696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Registry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Shape 18"/>
          <p:cNvSpPr/>
          <p:nvPr/>
        </p:nvSpPr>
        <p:spPr>
          <a:xfrm>
            <a:off x="777240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Shape 19"/>
          <p:cNvSpPr/>
          <p:nvPr/>
        </p:nvSpPr>
        <p:spPr>
          <a:xfrm>
            <a:off x="800100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20"/>
          <p:cNvSpPr/>
          <p:nvPr/>
        </p:nvSpPr>
        <p:spPr>
          <a:xfrm>
            <a:off x="804672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Kubernetes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image vs distroless image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Both are useful, for different reasons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8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Debug-friendly image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Distroless image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Based on python:slim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Contains shell and tools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Easier kubectl exec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Larger attack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Useful for labs and diagnosis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shell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Fewer packages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Smaller attack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Requires better logs/probes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kubectl debug when needed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images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 used in the repository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Shape 4"/>
          <p:cNvSpPr/>
          <p:nvPr/>
        </p:nvSpPr>
        <p:spPr>
          <a:xfrm>
            <a:off x="685800" y="1417320"/>
            <a:ext cx="10877760" cy="4568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Text 5"/>
          <p:cNvSpPr/>
          <p:nvPr/>
        </p:nvSpPr>
        <p:spPr>
          <a:xfrm>
            <a:off x="850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docker/Dockerfile.debug     -t localhost:5000/k8s-workshop-app:debug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docker/Dockerfile.distroless -t localhost:5000/k8s-workshop-app:distroless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docker/Dockerfile.migration -t localhost:5000/k8s-workshop-migration:debug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docker/Dockerfile.broken_migration -t localhost:5000/k8s-workshop-migration:broken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docker/Dockerfile.repair_migration -t localhost:5000/k8s-workshop-migration:repair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image ls | grep k8s-workshop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 locally with Docker Compose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Prove the app before Kubernetes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4"/>
          <p:cNvSpPr/>
          <p:nvPr/>
        </p:nvSpPr>
        <p:spPr>
          <a:xfrm>
            <a:off x="685800" y="1417320"/>
            <a:ext cx="10877760" cy="4568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5"/>
          <p:cNvSpPr/>
          <p:nvPr/>
        </p:nvSpPr>
        <p:spPr>
          <a:xfrm>
            <a:off x="850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cd docker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compose up --build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http://localhost:8080/items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http://localhost:8080/healthz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http://localhost:8080/readyz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http://localhost:8080/version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-X POST http://localhost:8080/items -H 'Content-Type: application/json' -d '{"name":"demo"}'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endpoints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app is designed to create useful signals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Operational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Training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/healthz - process is alive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/readyz - DB dependency is available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/version - image/config visible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/file-log - last file log lines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/items - DB-backed data path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/stress/cpu - CPU behavior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/stress/memory - OOMKilled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cyclic log writer - restart visibility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2"/>
          <p:cNvSpPr/>
          <p:nvPr/>
        </p:nvSpPr>
        <p:spPr>
          <a:xfrm>
            <a:off x="658440" y="2148840"/>
            <a:ext cx="1060344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4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3"/>
          <p:cNvSpPr/>
          <p:nvPr/>
        </p:nvSpPr>
        <p:spPr>
          <a:xfrm>
            <a:off x="676800" y="2953440"/>
            <a:ext cx="9597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First deployment to Kubernetes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Deployment, Pod and Service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Three objects, three jobs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Deployment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Service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Declarative desired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Creates ReplicaSets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Recreates failed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Supports rollout and rollback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Best default for stateless app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4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virtual IP and DNS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Selects Pods by labels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Routes to ready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Decouples clients from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with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deploy – dependencies and DB migration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Apply manifests in order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9" name="Shape 4"/>
          <p:cNvSpPr/>
          <p:nvPr/>
        </p:nvSpPr>
        <p:spPr>
          <a:xfrm>
            <a:off x="685800" y="1417320"/>
            <a:ext cx="10877760" cy="4568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5"/>
          <p:cNvSpPr/>
          <p:nvPr/>
        </p:nvSpPr>
        <p:spPr>
          <a:xfrm>
            <a:off x="850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-f k8s/base/01-namespace.yaml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k8s/base/02-configmap.yaml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k8s/base/04-postgres-statefulset.yaml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statefulset/postgres --timeout=180s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job db-migration -n k8s-workshop 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k8s/base/05-migration-job.yaml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wait --for=condition=complete job/db-migration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 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deploy,rs,pod,svc,endpoints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Shape 229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278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3" name="Text 279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deploy – application and service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280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Apply manifests in order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Shape 230"/>
          <p:cNvSpPr/>
          <p:nvPr/>
        </p:nvSpPr>
        <p:spPr>
          <a:xfrm>
            <a:off x="685800" y="1417320"/>
            <a:ext cx="10877760" cy="4568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281"/>
          <p:cNvSpPr/>
          <p:nvPr/>
        </p:nvSpPr>
        <p:spPr>
          <a:xfrm>
            <a:off x="850320" y="1527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k8s/base/07-app-service.yaml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deployment/flask-app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Verify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deploy,rs,pod,svc,endpoints,jobs,pvc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svc/flask-app 8080:80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And in the second terminal: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</a:t>
            </a:r>
            <a:r>
              <a:rPr lang="en-US" sz="1400" b="0" u="none" strike="noStrike">
                <a:solidFill>
                  <a:srgbClr val="0563C1"/>
                </a:solidFill>
                <a:effectLst/>
                <a:uFillTx/>
                <a:latin typeface="Aptos Mono"/>
                <a:ea typeface="Aptos Mono"/>
                <a:hlinkClick r:id="rId1"/>
              </a:rPr>
              <a:t>http://localhost:8080/healthz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http://localhost:8080/readyz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http://localhost:8080/version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 first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fix before observing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1" name="Shape 4"/>
          <p:cNvSpPr/>
          <p:nvPr/>
        </p:nvSpPr>
        <p:spPr>
          <a:xfrm>
            <a:off x="685800" y="1417320"/>
            <a:ext cx="10877760" cy="4568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5"/>
          <p:cNvSpPr/>
          <p:nvPr/>
        </p:nvSpPr>
        <p:spPr>
          <a:xfrm>
            <a:off x="850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-o wide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svc/flask-app 8080:80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Rollout model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6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Every rollout is a controlled state transition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Shape 4"/>
          <p:cNvSpPr/>
          <p:nvPr/>
        </p:nvSpPr>
        <p:spPr>
          <a:xfrm>
            <a:off x="50292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 5"/>
          <p:cNvSpPr/>
          <p:nvPr/>
        </p:nvSpPr>
        <p:spPr>
          <a:xfrm>
            <a:off x="54864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Deployment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9" name="Shape 6"/>
          <p:cNvSpPr/>
          <p:nvPr/>
        </p:nvSpPr>
        <p:spPr>
          <a:xfrm>
            <a:off x="177408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Shape 7"/>
          <p:cNvSpPr/>
          <p:nvPr/>
        </p:nvSpPr>
        <p:spPr>
          <a:xfrm>
            <a:off x="200268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Text 8"/>
          <p:cNvSpPr/>
          <p:nvPr/>
        </p:nvSpPr>
        <p:spPr>
          <a:xfrm>
            <a:off x="204840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ReplicaSet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2" name="Shape 9"/>
          <p:cNvSpPr/>
          <p:nvPr/>
        </p:nvSpPr>
        <p:spPr>
          <a:xfrm>
            <a:off x="327348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Shape 10"/>
          <p:cNvSpPr/>
          <p:nvPr/>
        </p:nvSpPr>
        <p:spPr>
          <a:xfrm>
            <a:off x="350208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Text 11"/>
          <p:cNvSpPr/>
          <p:nvPr/>
        </p:nvSpPr>
        <p:spPr>
          <a:xfrm>
            <a:off x="354780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template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5" name="Shape 12"/>
          <p:cNvSpPr/>
          <p:nvPr/>
        </p:nvSpPr>
        <p:spPr>
          <a:xfrm>
            <a:off x="477324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Shape 13"/>
          <p:cNvSpPr/>
          <p:nvPr/>
        </p:nvSpPr>
        <p:spPr>
          <a:xfrm>
            <a:off x="500184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Text 14"/>
          <p:cNvSpPr/>
          <p:nvPr/>
        </p:nvSpPr>
        <p:spPr>
          <a:xfrm>
            <a:off x="504756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New Pods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8" name="Shape 15"/>
          <p:cNvSpPr/>
          <p:nvPr/>
        </p:nvSpPr>
        <p:spPr>
          <a:xfrm>
            <a:off x="627264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Shape 16"/>
          <p:cNvSpPr/>
          <p:nvPr/>
        </p:nvSpPr>
        <p:spPr>
          <a:xfrm>
            <a:off x="650124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Text 17"/>
          <p:cNvSpPr/>
          <p:nvPr/>
        </p:nvSpPr>
        <p:spPr>
          <a:xfrm>
            <a:off x="654696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Readiness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1" name="Shape 18"/>
          <p:cNvSpPr/>
          <p:nvPr/>
        </p:nvSpPr>
        <p:spPr>
          <a:xfrm>
            <a:off x="777240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Shape 19"/>
          <p:cNvSpPr/>
          <p:nvPr/>
        </p:nvSpPr>
        <p:spPr>
          <a:xfrm>
            <a:off x="800100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0"/>
          <p:cNvSpPr/>
          <p:nvPr/>
        </p:nvSpPr>
        <p:spPr>
          <a:xfrm>
            <a:off x="804672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Traffic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Rollout commands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in almost every lab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Shape 4"/>
          <p:cNvSpPr/>
          <p:nvPr/>
        </p:nvSpPr>
        <p:spPr>
          <a:xfrm>
            <a:off x="685800" y="1417320"/>
            <a:ext cx="10877760" cy="4568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5"/>
          <p:cNvSpPr/>
          <p:nvPr/>
        </p:nvSpPr>
        <p:spPr>
          <a:xfrm>
            <a:off x="850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history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restart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undo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set image deploy/flask-app flask-app=localhost:5000/k8s-workshop-app:debug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2"/>
          <p:cNvSpPr/>
          <p:nvPr/>
        </p:nvSpPr>
        <p:spPr>
          <a:xfrm>
            <a:off x="658440" y="2148840"/>
            <a:ext cx="1060344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5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"/>
          <p:cNvSpPr/>
          <p:nvPr/>
        </p:nvSpPr>
        <p:spPr>
          <a:xfrm>
            <a:off x="676800" y="2953440"/>
            <a:ext cx="9597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Fast failure diagnosis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classification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8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Classify the state before reading random logs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4"/>
          <p:cNvSpPr/>
          <p:nvPr/>
        </p:nvSpPr>
        <p:spPr>
          <a:xfrm>
            <a:off x="685800" y="1325880"/>
            <a:ext cx="10832040" cy="47196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0" name="Text 5"/>
          <p:cNvSpPr/>
          <p:nvPr/>
        </p:nvSpPr>
        <p:spPr>
          <a:xfrm>
            <a:off x="758880" y="147204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Text 6"/>
          <p:cNvSpPr/>
          <p:nvPr/>
        </p:nvSpPr>
        <p:spPr>
          <a:xfrm>
            <a:off x="2862000" y="147204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Likely phase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2" name="Text 7"/>
          <p:cNvSpPr/>
          <p:nvPr/>
        </p:nvSpPr>
        <p:spPr>
          <a:xfrm>
            <a:off x="5239440" y="147204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command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Text 8"/>
          <p:cNvSpPr/>
          <p:nvPr/>
        </p:nvSpPr>
        <p:spPr>
          <a:xfrm>
            <a:off x="7616880" y="147204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Typical root cause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4" name="Shape 9"/>
          <p:cNvSpPr/>
          <p:nvPr/>
        </p:nvSpPr>
        <p:spPr>
          <a:xfrm>
            <a:off x="685800" y="1856160"/>
            <a:ext cx="10832040" cy="47196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Text 10"/>
          <p:cNvSpPr/>
          <p:nvPr/>
        </p:nvSpPr>
        <p:spPr>
          <a:xfrm>
            <a:off x="758880" y="200268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Pending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6" name="Text 11"/>
          <p:cNvSpPr/>
          <p:nvPr/>
        </p:nvSpPr>
        <p:spPr>
          <a:xfrm>
            <a:off x="2862000" y="200268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Scheduling/admission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Text 12"/>
          <p:cNvSpPr/>
          <p:nvPr/>
        </p:nvSpPr>
        <p:spPr>
          <a:xfrm>
            <a:off x="5239440" y="200268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8" name="Text 13"/>
          <p:cNvSpPr/>
          <p:nvPr/>
        </p:nvSpPr>
        <p:spPr>
          <a:xfrm>
            <a:off x="7616880" y="200268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quota, capacity, PVC, node selector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14"/>
          <p:cNvSpPr/>
          <p:nvPr/>
        </p:nvSpPr>
        <p:spPr>
          <a:xfrm>
            <a:off x="685800" y="2386440"/>
            <a:ext cx="10832040" cy="47196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0" name="Text 15"/>
          <p:cNvSpPr/>
          <p:nvPr/>
        </p:nvSpPr>
        <p:spPr>
          <a:xfrm>
            <a:off x="758880" y="253296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Text 16"/>
          <p:cNvSpPr/>
          <p:nvPr/>
        </p:nvSpPr>
        <p:spPr>
          <a:xfrm>
            <a:off x="2862000" y="253296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pull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 17"/>
          <p:cNvSpPr/>
          <p:nvPr/>
        </p:nvSpPr>
        <p:spPr>
          <a:xfrm>
            <a:off x="5239440" y="253296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Text 18"/>
          <p:cNvSpPr/>
          <p:nvPr/>
        </p:nvSpPr>
        <p:spPr>
          <a:xfrm>
            <a:off x="7616880" y="253296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bad tag, registry auth, proxy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4" name="Shape 19"/>
          <p:cNvSpPr/>
          <p:nvPr/>
        </p:nvSpPr>
        <p:spPr>
          <a:xfrm>
            <a:off x="685800" y="2917080"/>
            <a:ext cx="10832040" cy="47196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20"/>
          <p:cNvSpPr/>
          <p:nvPr/>
        </p:nvSpPr>
        <p:spPr>
          <a:xfrm>
            <a:off x="758880" y="306324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Text 21"/>
          <p:cNvSpPr/>
          <p:nvPr/>
        </p:nvSpPr>
        <p:spPr>
          <a:xfrm>
            <a:off x="2862000" y="306324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crash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7" name="Text 22"/>
          <p:cNvSpPr/>
          <p:nvPr/>
        </p:nvSpPr>
        <p:spPr>
          <a:xfrm>
            <a:off x="5239440" y="306324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--previous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23"/>
          <p:cNvSpPr/>
          <p:nvPr/>
        </p:nvSpPr>
        <p:spPr>
          <a:xfrm>
            <a:off x="7616880" y="306324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bad command, config, app error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Shape 24"/>
          <p:cNvSpPr/>
          <p:nvPr/>
        </p:nvSpPr>
        <p:spPr>
          <a:xfrm>
            <a:off x="685800" y="3447360"/>
            <a:ext cx="10832040" cy="47196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25"/>
          <p:cNvSpPr/>
          <p:nvPr/>
        </p:nvSpPr>
        <p:spPr>
          <a:xfrm>
            <a:off x="758880" y="359352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not Ready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26"/>
          <p:cNvSpPr/>
          <p:nvPr/>
        </p:nvSpPr>
        <p:spPr>
          <a:xfrm>
            <a:off x="2862000" y="359352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gate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27"/>
          <p:cNvSpPr/>
          <p:nvPr/>
        </p:nvSpPr>
        <p:spPr>
          <a:xfrm>
            <a:off x="5239440" y="359352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+ logs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3" name="Text 28"/>
          <p:cNvSpPr/>
          <p:nvPr/>
        </p:nvSpPr>
        <p:spPr>
          <a:xfrm>
            <a:off x="7616880" y="359352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path, dependency down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4" name="Shape 29"/>
          <p:cNvSpPr/>
          <p:nvPr/>
        </p:nvSpPr>
        <p:spPr>
          <a:xfrm>
            <a:off x="685800" y="3977640"/>
            <a:ext cx="10832040" cy="47196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30"/>
          <p:cNvSpPr/>
          <p:nvPr/>
        </p:nvSpPr>
        <p:spPr>
          <a:xfrm>
            <a:off x="758880" y="412380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6" name="Text 31"/>
          <p:cNvSpPr/>
          <p:nvPr/>
        </p:nvSpPr>
        <p:spPr>
          <a:xfrm>
            <a:off x="2862000" y="412380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limit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32"/>
          <p:cNvSpPr/>
          <p:nvPr/>
        </p:nvSpPr>
        <p:spPr>
          <a:xfrm>
            <a:off x="5239440" y="412380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Text 33"/>
          <p:cNvSpPr/>
          <p:nvPr/>
        </p:nvSpPr>
        <p:spPr>
          <a:xfrm>
            <a:off x="7616880" y="412380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limit exceeded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9" name="Shape 34"/>
          <p:cNvSpPr/>
          <p:nvPr/>
        </p:nvSpPr>
        <p:spPr>
          <a:xfrm>
            <a:off x="685800" y="4507920"/>
            <a:ext cx="10832040" cy="47196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0" name="Text 35"/>
          <p:cNvSpPr/>
          <p:nvPr/>
        </p:nvSpPr>
        <p:spPr>
          <a:xfrm>
            <a:off x="758880" y="465444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1" name="Text 36"/>
          <p:cNvSpPr/>
          <p:nvPr/>
        </p:nvSpPr>
        <p:spPr>
          <a:xfrm>
            <a:off x="2862000" y="465444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routing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Text 37"/>
          <p:cNvSpPr/>
          <p:nvPr/>
        </p:nvSpPr>
        <p:spPr>
          <a:xfrm>
            <a:off x="5239440" y="465444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3" name="Text 38"/>
          <p:cNvSpPr/>
          <p:nvPr/>
        </p:nvSpPr>
        <p:spPr>
          <a:xfrm>
            <a:off x="7616880" y="465444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 mismatch or not ready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Rectangle 1"/>
          <p:cNvSpPr/>
          <p:nvPr/>
        </p:nvSpPr>
        <p:spPr>
          <a:xfrm>
            <a:off x="0" y="0"/>
            <a:ext cx="12191760" cy="685728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5" name="Rectangle 3"/>
          <p:cNvSpPr/>
          <p:nvPr/>
        </p:nvSpPr>
        <p:spPr>
          <a:xfrm>
            <a:off x="0" y="0"/>
            <a:ext cx="12191760" cy="6048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6" name="TextBox 1"/>
          <p:cNvSpPr/>
          <p:nvPr/>
        </p:nvSpPr>
        <p:spPr>
          <a:xfrm>
            <a:off x="571320" y="342720"/>
            <a:ext cx="488412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Fast Failure Diagnosis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7" name="TextBox 2"/>
          <p:cNvSpPr/>
          <p:nvPr/>
        </p:nvSpPr>
        <p:spPr>
          <a:xfrm>
            <a:off x="594360" y="876240"/>
            <a:ext cx="6188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Use module-local manifests, not old challenges/solutions paths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TextBox 6"/>
          <p:cNvSpPr/>
          <p:nvPr/>
        </p:nvSpPr>
        <p:spPr>
          <a:xfrm>
            <a:off x="761760" y="1447560"/>
            <a:ext cx="10667880" cy="18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Start from a healthy Module 4 baseline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Apply one faulty manifest from modules/module-05-fast-failure-diagnosis/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Observe the symptom before fixing anything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 from the reference manifest in k8s/base/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Rounded Rectangle 1"/>
          <p:cNvSpPr/>
          <p:nvPr/>
        </p:nvSpPr>
        <p:spPr>
          <a:xfrm>
            <a:off x="5486400" y="3429000"/>
            <a:ext cx="6171840" cy="137124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0" name="TextBox 8"/>
          <p:cNvSpPr/>
          <p:nvPr/>
        </p:nvSpPr>
        <p:spPr>
          <a:xfrm>
            <a:off x="5715000" y="3429000"/>
            <a:ext cx="5918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cd ~/k8s-workshop-2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ls modules/module-05-fast-failure-diagnosis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Working reference: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Rounded Rectangle 2"/>
          <p:cNvSpPr/>
          <p:nvPr/>
        </p:nvSpPr>
        <p:spPr>
          <a:xfrm>
            <a:off x="3276360" y="5105160"/>
            <a:ext cx="5638320" cy="418320"/>
          </a:xfrm>
          <a:prstGeom prst="roundRect">
            <a:avLst>
              <a:gd name="adj" fmla="val 16667"/>
            </a:avLst>
          </a:prstGeom>
          <a:solidFill>
            <a:srgbClr val="4DD6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Box 10"/>
          <p:cNvSpPr/>
          <p:nvPr/>
        </p:nvSpPr>
        <p:spPr>
          <a:xfrm>
            <a:off x="3428280" y="5144400"/>
            <a:ext cx="53344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Observe → Describe → Logs/Events → Recover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5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6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container never started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happened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causes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9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Kubelet tried to pull the image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Pull failed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Retry delay increases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There are no app logs yet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Events contain the clue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0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Typo in image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tag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Private registry without secret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Proxy/certificate/DNS issue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ImagePullPolicy surprises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3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1: ImagePullBackOff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Break and diagnose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5" name="Shape 4"/>
          <p:cNvSpPr/>
          <p:nvPr/>
        </p:nvSpPr>
        <p:spPr>
          <a:xfrm>
            <a:off x="685800" y="1417320"/>
            <a:ext cx="10877760" cy="223992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5"/>
          <p:cNvSpPr/>
          <p:nvPr/>
        </p:nvSpPr>
        <p:spPr>
          <a:xfrm>
            <a:off x="850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modules/module-05-fast-failure-diagnosis/01-imagepullbackoff.yaml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TextBox 7"/>
          <p:cNvSpPr/>
          <p:nvPr/>
        </p:nvSpPr>
        <p:spPr>
          <a:xfrm>
            <a:off x="685800" y="3886200"/>
            <a:ext cx="1028664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ErrImagePull → ImagePullBackOff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There are no application logs yet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clue is in Pod events and image name/tag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8" name="Rounded Rectangle 8"/>
          <p:cNvSpPr/>
          <p:nvPr/>
        </p:nvSpPr>
        <p:spPr>
          <a:xfrm>
            <a:off x="5943600" y="5623920"/>
            <a:ext cx="4754160" cy="54792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9" name="TextBox 9"/>
          <p:cNvSpPr/>
          <p:nvPr/>
        </p:nvSpPr>
        <p:spPr>
          <a:xfrm>
            <a:off x="6172200" y="5715000"/>
            <a:ext cx="413316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Question: did the process ever start?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Rectangle 10"/>
          <p:cNvSpPr/>
          <p:nvPr/>
        </p:nvSpPr>
        <p:spPr>
          <a:xfrm>
            <a:off x="0" y="0"/>
            <a:ext cx="12191760" cy="685728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1" name="Rectangle 11"/>
          <p:cNvSpPr/>
          <p:nvPr/>
        </p:nvSpPr>
        <p:spPr>
          <a:xfrm>
            <a:off x="0" y="0"/>
            <a:ext cx="12191760" cy="6048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Box 23"/>
          <p:cNvSpPr/>
          <p:nvPr/>
        </p:nvSpPr>
        <p:spPr>
          <a:xfrm>
            <a:off x="571320" y="342720"/>
            <a:ext cx="53204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Quick fix — kubectl edit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Box 24"/>
          <p:cNvSpPr/>
          <p:nvPr/>
        </p:nvSpPr>
        <p:spPr>
          <a:xfrm>
            <a:off x="594000" y="876240"/>
            <a:ext cx="88466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Use only for quick investigation or emergency edits — keep Git/YAML as the source of truth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Rounded Rectangle 9"/>
          <p:cNvSpPr/>
          <p:nvPr/>
        </p:nvSpPr>
        <p:spPr>
          <a:xfrm>
            <a:off x="457200" y="1333080"/>
            <a:ext cx="6857640" cy="327600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5" name="TextBox 25"/>
          <p:cNvSpPr/>
          <p:nvPr/>
        </p:nvSpPr>
        <p:spPr>
          <a:xfrm>
            <a:off x="713160" y="1510560"/>
            <a:ext cx="637344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ImagePullBackOff example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edit deploy/flask-app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Find the container image: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image: localhost:5000/k8s-workshop-app:debgu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Fix the tag: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image: localhost:5000/k8s-workshop-app:debug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Save and exit editor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6" name="TextBox 26"/>
          <p:cNvSpPr/>
          <p:nvPr/>
        </p:nvSpPr>
        <p:spPr>
          <a:xfrm>
            <a:off x="7353360" y="1523880"/>
            <a:ext cx="6722640" cy="188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Good for showing live object editing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Creates a new Deployment revision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Then watch the rollout status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Do not use as the normal workshop recovery path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Rounded Rectangle 11"/>
          <p:cNvSpPr/>
          <p:nvPr/>
        </p:nvSpPr>
        <p:spPr>
          <a:xfrm>
            <a:off x="3200400" y="4572000"/>
            <a:ext cx="8000640" cy="91404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8" name="TextBox 27"/>
          <p:cNvSpPr/>
          <p:nvPr/>
        </p:nvSpPr>
        <p:spPr>
          <a:xfrm>
            <a:off x="3200400" y="4680720"/>
            <a:ext cx="689220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rollout status deploy/flask-app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get pods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Rounded Rectangle 12"/>
          <p:cNvSpPr/>
          <p:nvPr/>
        </p:nvSpPr>
        <p:spPr>
          <a:xfrm>
            <a:off x="685800" y="5677200"/>
            <a:ext cx="10972440" cy="49464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0" name="TextBox 28"/>
          <p:cNvSpPr/>
          <p:nvPr/>
        </p:nvSpPr>
        <p:spPr>
          <a:xfrm>
            <a:off x="932760" y="5715000"/>
            <a:ext cx="10268640" cy="3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After the demo, restore from k8s/base/06-app-deployment.yaml to keep the lab deterministic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Rectangle 4"/>
          <p:cNvSpPr/>
          <p:nvPr/>
        </p:nvSpPr>
        <p:spPr>
          <a:xfrm>
            <a:off x="0" y="0"/>
            <a:ext cx="12191760" cy="685728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2" name="Rectangle 5"/>
          <p:cNvSpPr/>
          <p:nvPr/>
        </p:nvSpPr>
        <p:spPr>
          <a:xfrm>
            <a:off x="0" y="0"/>
            <a:ext cx="12191760" cy="6048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3" name="TextBox 5"/>
          <p:cNvSpPr/>
          <p:nvPr/>
        </p:nvSpPr>
        <p:spPr>
          <a:xfrm>
            <a:off x="571320" y="342720"/>
            <a:ext cx="81482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ImagePullBackOff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TextBox 11"/>
          <p:cNvSpPr/>
          <p:nvPr/>
        </p:nvSpPr>
        <p:spPr>
          <a:xfrm>
            <a:off x="594360" y="876240"/>
            <a:ext cx="49460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Show after participants identify the bad image tag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Rounded Rectangle 3"/>
          <p:cNvSpPr/>
          <p:nvPr/>
        </p:nvSpPr>
        <p:spPr>
          <a:xfrm>
            <a:off x="730080" y="1828800"/>
            <a:ext cx="10699560" cy="274284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6" name="TextBox 12"/>
          <p:cNvSpPr/>
          <p:nvPr/>
        </p:nvSpPr>
        <p:spPr>
          <a:xfrm>
            <a:off x="914400" y="2057040"/>
            <a:ext cx="1018476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modules/module-05-fast-failure-diagnosis/01-imagepullbackoff.yaml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get pods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TextBox 13"/>
          <p:cNvSpPr/>
          <p:nvPr/>
        </p:nvSpPr>
        <p:spPr>
          <a:xfrm>
            <a:off x="1600200" y="4822200"/>
            <a:ext cx="800064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We do not keep a separate solution YAML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working source of truth is k8s/base/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This also avoids old challenges/solutions paths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1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image starts, then the process exits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2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happened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Use these signals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4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was pulled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 started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Main process exited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restarted 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Backoff delay increased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&lt;pod&gt;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&lt;pod&gt; --previous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exit code in describe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environment variables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command and args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8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2: CrashLoopBackOff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9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key command is logs --previous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4"/>
          <p:cNvSpPr/>
          <p:nvPr/>
        </p:nvSpPr>
        <p:spPr>
          <a:xfrm>
            <a:off x="685800" y="1417320"/>
            <a:ext cx="10877760" cy="269712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 5"/>
          <p:cNvSpPr/>
          <p:nvPr/>
        </p:nvSpPr>
        <p:spPr>
          <a:xfrm>
            <a:off x="850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modules/module-05-fast-failure-diagnosis/02-crashloopbackoff.yaml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Box 3"/>
          <p:cNvSpPr/>
          <p:nvPr/>
        </p:nvSpPr>
        <p:spPr>
          <a:xfrm>
            <a:off x="731880" y="4114800"/>
            <a:ext cx="932616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CrashLoopBackOff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--previous for the last failed container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Check command, args, env and exit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Rounded Rectangle 4"/>
          <p:cNvSpPr/>
          <p:nvPr/>
        </p:nvSpPr>
        <p:spPr>
          <a:xfrm>
            <a:off x="6629400" y="5623920"/>
            <a:ext cx="4388400" cy="547920"/>
          </a:xfrm>
          <a:prstGeom prst="roundRect">
            <a:avLst>
              <a:gd name="adj" fmla="val 16667"/>
            </a:avLst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4" name=""/>
          <p:cNvSpPr/>
          <p:nvPr/>
        </p:nvSpPr>
        <p:spPr>
          <a:xfrm>
            <a:off x="7086600" y="5715000"/>
            <a:ext cx="3392640" cy="38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Key command: logs --previous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Rectangle 6"/>
          <p:cNvSpPr/>
          <p:nvPr/>
        </p:nvSpPr>
        <p:spPr>
          <a:xfrm>
            <a:off x="0" y="0"/>
            <a:ext cx="12191760" cy="685728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6" name="Rectangle 7"/>
          <p:cNvSpPr/>
          <p:nvPr/>
        </p:nvSpPr>
        <p:spPr>
          <a:xfrm>
            <a:off x="0" y="0"/>
            <a:ext cx="12191760" cy="6048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7" name="TextBox 14"/>
          <p:cNvSpPr/>
          <p:nvPr/>
        </p:nvSpPr>
        <p:spPr>
          <a:xfrm>
            <a:off x="571320" y="342720"/>
            <a:ext cx="82220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CrashLoopBackOff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8" name="TextBox 15"/>
          <p:cNvSpPr/>
          <p:nvPr/>
        </p:nvSpPr>
        <p:spPr>
          <a:xfrm>
            <a:off x="594000" y="876240"/>
            <a:ext cx="41364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Restore the normal Deployment template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Rounded Rectangle 6"/>
          <p:cNvSpPr/>
          <p:nvPr/>
        </p:nvSpPr>
        <p:spPr>
          <a:xfrm>
            <a:off x="685800" y="1600200"/>
            <a:ext cx="10667520" cy="251424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Box 16"/>
          <p:cNvSpPr/>
          <p:nvPr/>
        </p:nvSpPr>
        <p:spPr>
          <a:xfrm>
            <a:off x="914400" y="1828440"/>
            <a:ext cx="1018476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modules/module-05-fast-failure-diagnosis/02-crashloopbackoff.yaml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logs deployment/flask-app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Box 17"/>
          <p:cNvSpPr/>
          <p:nvPr/>
        </p:nvSpPr>
        <p:spPr>
          <a:xfrm>
            <a:off x="838440" y="4343400"/>
            <a:ext cx="899100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faulty manifest overrides command/args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base Deployment restores the real app startup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Verify the rollout, then move 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4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but not Ready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Running is not the same as receiving traffic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Readiness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7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causes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8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 process is running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asked the app if it is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 app said no or did not respond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endpoints exclude the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Traffic should not be routed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readiness path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port or targetPort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Dependency unavailable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DB credentials wrong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 takes longer to start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3: Readiness failure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3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Pod runs, Service has no ready endpoint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Shape 4"/>
          <p:cNvSpPr/>
          <p:nvPr/>
        </p:nvSpPr>
        <p:spPr>
          <a:xfrm>
            <a:off x="685800" y="1417320"/>
            <a:ext cx="10877760" cy="269712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Text 5"/>
          <p:cNvSpPr/>
          <p:nvPr/>
        </p:nvSpPr>
        <p:spPr>
          <a:xfrm>
            <a:off x="850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modules/module-05-fast-failure-diagnosis/03-readiness-failure.yaml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6" name="TextBox 4"/>
          <p:cNvSpPr/>
          <p:nvPr/>
        </p:nvSpPr>
        <p:spPr>
          <a:xfrm>
            <a:off x="731880" y="4343400"/>
            <a:ext cx="955476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Running, but 0/1 Ready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Readiness probe uses the wrong path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Service endpoints exclude unready Pods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7" name="Rounded Rectangle 5"/>
          <p:cNvSpPr/>
          <p:nvPr/>
        </p:nvSpPr>
        <p:spPr>
          <a:xfrm>
            <a:off x="7909920" y="5715000"/>
            <a:ext cx="3291120" cy="54792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8" name="TextBox 18"/>
          <p:cNvSpPr/>
          <p:nvPr/>
        </p:nvSpPr>
        <p:spPr>
          <a:xfrm>
            <a:off x="8461080" y="5822280"/>
            <a:ext cx="211536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Running ≠= Ready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Rectangle 8"/>
          <p:cNvSpPr/>
          <p:nvPr/>
        </p:nvSpPr>
        <p:spPr>
          <a:xfrm>
            <a:off x="0" y="0"/>
            <a:ext cx="12191760" cy="685728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0" name="Rectangle 9"/>
          <p:cNvSpPr/>
          <p:nvPr/>
        </p:nvSpPr>
        <p:spPr>
          <a:xfrm>
            <a:off x="0" y="0"/>
            <a:ext cx="12191760" cy="6048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1" name="TextBox 19"/>
          <p:cNvSpPr/>
          <p:nvPr/>
        </p:nvSpPr>
        <p:spPr>
          <a:xfrm>
            <a:off x="571320" y="342720"/>
            <a:ext cx="79340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Readiness failure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Box 20"/>
          <p:cNvSpPr/>
          <p:nvPr/>
        </p:nvSpPr>
        <p:spPr>
          <a:xfrm>
            <a:off x="594360" y="876240"/>
            <a:ext cx="4766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Restore readiness probe from the base manifest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3" name="Rounded Rectangle 7"/>
          <p:cNvSpPr/>
          <p:nvPr/>
        </p:nvSpPr>
        <p:spPr>
          <a:xfrm>
            <a:off x="762120" y="1828800"/>
            <a:ext cx="10667520" cy="251424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4" name="TextBox 21"/>
          <p:cNvSpPr/>
          <p:nvPr/>
        </p:nvSpPr>
        <p:spPr>
          <a:xfrm>
            <a:off x="914400" y="2057040"/>
            <a:ext cx="1018476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modules/module-05-fast-failure-diagnosis/03-readiness-failure.yaml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get endpoints 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5" name="TextBox 22"/>
          <p:cNvSpPr/>
          <p:nvPr/>
        </p:nvSpPr>
        <p:spPr>
          <a:xfrm>
            <a:off x="914400" y="4593600"/>
            <a:ext cx="914364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app was running, but excluded from traffic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Fix readiness before testing Service routing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endpoints as a quick Service readiness check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7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8" name="Text 2"/>
          <p:cNvSpPr/>
          <p:nvPr/>
        </p:nvSpPr>
        <p:spPr>
          <a:xfrm>
            <a:off x="658440" y="2148840"/>
            <a:ext cx="1060344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6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9" name="Text 3"/>
          <p:cNvSpPr/>
          <p:nvPr/>
        </p:nvSpPr>
        <p:spPr>
          <a:xfrm>
            <a:off x="676800" y="2953440"/>
            <a:ext cx="9597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PostgreSQL and database migrations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2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3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Adding PostgreSQL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Make the app more realistic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objects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6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Operational questions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7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StatefulSet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Headless or normal Service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 for credentials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via volumeClaimTemplates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depends on DB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Where is data stored?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When is DB ready?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do we migrate schema?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fails if Secret is wrong?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should restart automatically?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Rectangle 12"/>
          <p:cNvSpPr/>
          <p:nvPr/>
        </p:nvSpPr>
        <p:spPr>
          <a:xfrm>
            <a:off x="0" y="0"/>
            <a:ext cx="12191760" cy="685728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0" name="Rectangle 13"/>
          <p:cNvSpPr/>
          <p:nvPr/>
        </p:nvSpPr>
        <p:spPr>
          <a:xfrm>
            <a:off x="0" y="0"/>
            <a:ext cx="12191760" cy="6048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1" name="TextBox 30"/>
          <p:cNvSpPr/>
          <p:nvPr/>
        </p:nvSpPr>
        <p:spPr>
          <a:xfrm>
            <a:off x="571320" y="342720"/>
            <a:ext cx="324432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3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rules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2" name="TextBox 31"/>
          <p:cNvSpPr/>
          <p:nvPr/>
        </p:nvSpPr>
        <p:spPr>
          <a:xfrm>
            <a:off x="594000" y="876240"/>
            <a:ext cx="3749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Keep the flow short and deterministic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Box 32"/>
          <p:cNvSpPr/>
          <p:nvPr/>
        </p:nvSpPr>
        <p:spPr>
          <a:xfrm>
            <a:off x="761760" y="1447560"/>
            <a:ext cx="7690320" cy="187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Never delete PostgreSQL during this module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Delete a Job before re-running the same Job name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k8s/base/ to restore the normal app configuration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repair Job to clean the controlled broken SQL state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4" name="Rounded Rectangle 10"/>
          <p:cNvSpPr/>
          <p:nvPr/>
        </p:nvSpPr>
        <p:spPr>
          <a:xfrm>
            <a:off x="6782040" y="3475080"/>
            <a:ext cx="4876200" cy="201096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5" name="TextBox 33"/>
          <p:cNvSpPr/>
          <p:nvPr/>
        </p:nvSpPr>
        <p:spPr>
          <a:xfrm>
            <a:off x="7356600" y="3475080"/>
            <a:ext cx="3387600" cy="18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Cleanup after the module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delete job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db-migration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db-migration-broken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db-migration-repair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-n k8s-workshop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--ignore-not-found=true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6" name="Rounded Rectangle 13"/>
          <p:cNvSpPr/>
          <p:nvPr/>
        </p:nvSpPr>
        <p:spPr>
          <a:xfrm>
            <a:off x="2171160" y="5715000"/>
            <a:ext cx="7314840" cy="494640"/>
          </a:xfrm>
          <a:prstGeom prst="roundRect">
            <a:avLst>
              <a:gd name="adj" fmla="val 16667"/>
            </a:avLst>
          </a:prstGeom>
          <a:solidFill>
            <a:srgbClr val="4DD6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7" name="TextBox 34"/>
          <p:cNvSpPr/>
          <p:nvPr/>
        </p:nvSpPr>
        <p:spPr>
          <a:xfrm>
            <a:off x="2362320" y="5808600"/>
            <a:ext cx="67816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Migrations should be atomic, idempotent, and observable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9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 PostgreSQL and migration Job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DB becomes part of the application lifecycle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4"/>
          <p:cNvSpPr/>
          <p:nvPr/>
        </p:nvSpPr>
        <p:spPr>
          <a:xfrm>
            <a:off x="685800" y="1417320"/>
            <a:ext cx="10877760" cy="4568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3" name="Text 5"/>
          <p:cNvSpPr/>
          <p:nvPr/>
        </p:nvSpPr>
        <p:spPr>
          <a:xfrm>
            <a:off x="850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THIS IS ALREADY DONE !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k8s/base/04-postgres-statefulset.yaml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statefulset/postgres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k8s/base/05-migration-job.yaml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jobs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 vs initContainer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7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the right mechanism for the risk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8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Migration Job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initContainer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Runs once per release step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Easy to inspect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fail before app rollout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Avoids N replicas running migration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teaching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Runs before each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local setup/waiting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duplicate migration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Tightly coupled with Pod startup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Useful but risky for schema changes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4: DB connection failure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5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Wrong Secret or wrong Service DNS name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6" name="Shape 4"/>
          <p:cNvSpPr/>
          <p:nvPr/>
        </p:nvSpPr>
        <p:spPr>
          <a:xfrm>
            <a:off x="685800" y="1417320"/>
            <a:ext cx="10877760" cy="4568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5"/>
          <p:cNvSpPr/>
          <p:nvPr/>
        </p:nvSpPr>
        <p:spPr>
          <a:xfrm>
            <a:off x="850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job db-migration db-migration-broken db-migration-repair -n k8s-workshop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modules/module-06-postgresql-and-database-migrations/01-wrong-database-secret.yaml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restart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k8s/base/06-app-deployment,yaml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9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5: Broken migration Job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1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Completed vs Failed matters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Shape 4"/>
          <p:cNvSpPr/>
          <p:nvPr/>
        </p:nvSpPr>
        <p:spPr>
          <a:xfrm>
            <a:off x="685800" y="1417320"/>
            <a:ext cx="10877760" cy="4568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Text 5"/>
          <p:cNvSpPr/>
          <p:nvPr/>
        </p:nvSpPr>
        <p:spPr>
          <a:xfrm>
            <a:off x="850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job db-migration db-migration-broken db-migration-repair -n k8s-workshop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modules/module-06-postgresql-and-database-migrations/02-broken-migration-job.yaml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jobs,pods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job/db-migration-broken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job db-migration-broken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 with a valid migration or fixed Job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4" name="TextBox 29"/>
          <p:cNvSpPr/>
          <p:nvPr/>
        </p:nvSpPr>
        <p:spPr>
          <a:xfrm>
            <a:off x="6657480" y="2820240"/>
            <a:ext cx="4772520" cy="175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Image: migration:broken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Isolated schema: workshop_training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Job Failed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Key idea: partial DB state can remain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Shape 231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6" name="Text 282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Text 283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5: Broken migration Job – cleanup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8" name="Text 284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Completed vs Failed matters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Shape 232"/>
          <p:cNvSpPr/>
          <p:nvPr/>
        </p:nvSpPr>
        <p:spPr>
          <a:xfrm>
            <a:off x="685800" y="1371600"/>
            <a:ext cx="10877760" cy="47970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285"/>
          <p:cNvSpPr/>
          <p:nvPr/>
        </p:nvSpPr>
        <p:spPr>
          <a:xfrm>
            <a:off x="850320" y="1563480"/>
            <a:ext cx="10557720" cy="460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job db-migration-repair -n k8s-workshop 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modules/module-06-postgresql-and-database-migrations/03-repair-migration-job.yaml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wait --for=condition=complete job/db-migration-repair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logs job/db-migration-repair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exec statefulset/postgres --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psql -U workshop -d workshop -c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"SELECT table_schema, table_name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 FROM information_schema.tables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 WHERE table_schema = 'workshop_training';"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2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3" name="Text 2"/>
          <p:cNvSpPr/>
          <p:nvPr/>
        </p:nvSpPr>
        <p:spPr>
          <a:xfrm>
            <a:off x="658440" y="2148840"/>
            <a:ext cx="1060344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7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3"/>
          <p:cNvSpPr/>
          <p:nvPr/>
        </p:nvSpPr>
        <p:spPr>
          <a:xfrm>
            <a:off x="676800" y="2953440"/>
            <a:ext cx="9597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Volumes and persistence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7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Volume types in this workshop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we can and cannot demonstrate on single-node K3s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0" name="Shape 4"/>
          <p:cNvSpPr/>
          <p:nvPr/>
        </p:nvSpPr>
        <p:spPr>
          <a:xfrm>
            <a:off x="685800" y="1325880"/>
            <a:ext cx="10832040" cy="47196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1" name="Text 5"/>
          <p:cNvSpPr/>
          <p:nvPr/>
        </p:nvSpPr>
        <p:spPr>
          <a:xfrm>
            <a:off x="758880" y="147204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6"/>
          <p:cNvSpPr/>
          <p:nvPr/>
        </p:nvSpPr>
        <p:spPr>
          <a:xfrm>
            <a:off x="2862000" y="147204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Access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Text 7"/>
          <p:cNvSpPr/>
          <p:nvPr/>
        </p:nvSpPr>
        <p:spPr>
          <a:xfrm>
            <a:off x="5239440" y="147204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Survives Pod recreation?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4" name="Text 8"/>
          <p:cNvSpPr/>
          <p:nvPr/>
        </p:nvSpPr>
        <p:spPr>
          <a:xfrm>
            <a:off x="7616880" y="147204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 use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5" name="Shape 9"/>
          <p:cNvSpPr/>
          <p:nvPr/>
        </p:nvSpPr>
        <p:spPr>
          <a:xfrm>
            <a:off x="685800" y="1856160"/>
            <a:ext cx="10832040" cy="47196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10"/>
          <p:cNvSpPr/>
          <p:nvPr/>
        </p:nvSpPr>
        <p:spPr>
          <a:xfrm>
            <a:off x="758880" y="200268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7" name="Text 11"/>
          <p:cNvSpPr/>
          <p:nvPr/>
        </p:nvSpPr>
        <p:spPr>
          <a:xfrm>
            <a:off x="2862000" y="200268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Pod-local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8" name="Text 12"/>
          <p:cNvSpPr/>
          <p:nvPr/>
        </p:nvSpPr>
        <p:spPr>
          <a:xfrm>
            <a:off x="5239440" y="200268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13"/>
          <p:cNvSpPr/>
          <p:nvPr/>
        </p:nvSpPr>
        <p:spPr>
          <a:xfrm>
            <a:off x="7616880" y="200268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Temporary file log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0" name="Shape 14"/>
          <p:cNvSpPr/>
          <p:nvPr/>
        </p:nvSpPr>
        <p:spPr>
          <a:xfrm>
            <a:off x="685800" y="2386440"/>
            <a:ext cx="10832040" cy="47196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5"/>
          <p:cNvSpPr/>
          <p:nvPr/>
        </p:nvSpPr>
        <p:spPr>
          <a:xfrm>
            <a:off x="758880" y="253296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volume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Text 16"/>
          <p:cNvSpPr/>
          <p:nvPr/>
        </p:nvSpPr>
        <p:spPr>
          <a:xfrm>
            <a:off x="2862000" y="253296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Read-only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3" name="Text 17"/>
          <p:cNvSpPr/>
          <p:nvPr/>
        </p:nvSpPr>
        <p:spPr>
          <a:xfrm>
            <a:off x="5239440" y="253296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N/A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4" name="Text 18"/>
          <p:cNvSpPr/>
          <p:nvPr/>
        </p:nvSpPr>
        <p:spPr>
          <a:xfrm>
            <a:off x="7616880" y="253296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configuration as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5" name="Shape 19"/>
          <p:cNvSpPr/>
          <p:nvPr/>
        </p:nvSpPr>
        <p:spPr>
          <a:xfrm>
            <a:off x="685800" y="2917080"/>
            <a:ext cx="10832040" cy="47196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20"/>
          <p:cNvSpPr/>
          <p:nvPr/>
        </p:nvSpPr>
        <p:spPr>
          <a:xfrm>
            <a:off x="758880" y="306324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 volume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7" name="Text 21"/>
          <p:cNvSpPr/>
          <p:nvPr/>
        </p:nvSpPr>
        <p:spPr>
          <a:xfrm>
            <a:off x="2862000" y="306324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Read-only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22"/>
          <p:cNvSpPr/>
          <p:nvPr/>
        </p:nvSpPr>
        <p:spPr>
          <a:xfrm>
            <a:off x="5239440" y="306324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N/A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9" name="Text 23"/>
          <p:cNvSpPr/>
          <p:nvPr/>
        </p:nvSpPr>
        <p:spPr>
          <a:xfrm>
            <a:off x="7616880" y="306324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Credential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0" name="Shape 24"/>
          <p:cNvSpPr/>
          <p:nvPr/>
        </p:nvSpPr>
        <p:spPr>
          <a:xfrm>
            <a:off x="685800" y="3447360"/>
            <a:ext cx="10832040" cy="47196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 25"/>
          <p:cNvSpPr/>
          <p:nvPr/>
        </p:nvSpPr>
        <p:spPr>
          <a:xfrm>
            <a:off x="758880" y="359352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 26"/>
          <p:cNvSpPr/>
          <p:nvPr/>
        </p:nvSpPr>
        <p:spPr>
          <a:xfrm>
            <a:off x="2862000" y="359352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 node write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Text 27"/>
          <p:cNvSpPr/>
          <p:nvPr/>
        </p:nvSpPr>
        <p:spPr>
          <a:xfrm>
            <a:off x="5239440" y="359352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Text 28"/>
          <p:cNvSpPr/>
          <p:nvPr/>
        </p:nvSpPr>
        <p:spPr>
          <a:xfrm>
            <a:off x="7616880" y="359352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Persistent app log and PostgreSQL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5" name="Shape 29"/>
          <p:cNvSpPr/>
          <p:nvPr/>
        </p:nvSpPr>
        <p:spPr>
          <a:xfrm>
            <a:off x="685800" y="3977640"/>
            <a:ext cx="10832040" cy="47196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30"/>
          <p:cNvSpPr/>
          <p:nvPr/>
        </p:nvSpPr>
        <p:spPr>
          <a:xfrm>
            <a:off x="758880" y="412380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RWX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31"/>
          <p:cNvSpPr/>
          <p:nvPr/>
        </p:nvSpPr>
        <p:spPr>
          <a:xfrm>
            <a:off x="2862000" y="412380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Many writers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Text 32"/>
          <p:cNvSpPr/>
          <p:nvPr/>
        </p:nvSpPr>
        <p:spPr>
          <a:xfrm>
            <a:off x="5239440" y="412380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9" name="Text 33"/>
          <p:cNvSpPr/>
          <p:nvPr/>
        </p:nvSpPr>
        <p:spPr>
          <a:xfrm>
            <a:off x="7616880" y="412380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Slides only: NFS/CephFS/EFS/Azure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0" name="Shape 34"/>
          <p:cNvSpPr/>
          <p:nvPr/>
        </p:nvSpPr>
        <p:spPr>
          <a:xfrm>
            <a:off x="685800" y="4507920"/>
            <a:ext cx="10832040" cy="47196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35"/>
          <p:cNvSpPr/>
          <p:nvPr/>
        </p:nvSpPr>
        <p:spPr>
          <a:xfrm>
            <a:off x="758880" y="465444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 36"/>
          <p:cNvSpPr/>
          <p:nvPr/>
        </p:nvSpPr>
        <p:spPr>
          <a:xfrm>
            <a:off x="2862000" y="465444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 Pod write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3" name="Text 37"/>
          <p:cNvSpPr/>
          <p:nvPr/>
        </p:nvSpPr>
        <p:spPr>
          <a:xfrm>
            <a:off x="5239440" y="465444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4" name="Text 38"/>
          <p:cNvSpPr/>
          <p:nvPr/>
        </p:nvSpPr>
        <p:spPr>
          <a:xfrm>
            <a:off x="7616880" y="465444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Conceptual comparison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7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Good for temporary data, not persistence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9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for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Not useful for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Scratch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Temporary caches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Sidecar sharing inside a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Training log disappearance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storage provisioning needed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2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Databases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Data that must survive Pod recreation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Cross-Pod sharing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Node failure protection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Shared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4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6A: emptyDir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6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Where did my file go?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Shape 4"/>
          <p:cNvSpPr/>
          <p:nvPr/>
        </p:nvSpPr>
        <p:spPr>
          <a:xfrm>
            <a:off x="685800" y="1417320"/>
            <a:ext cx="10877760" cy="4568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 5"/>
          <p:cNvSpPr/>
          <p:nvPr/>
        </p:nvSpPr>
        <p:spPr>
          <a:xfrm>
            <a:off x="814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k8s/storage/01-emtpydir-app.yaml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flask-app-emptydir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delete pod falsk-app-emptydir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k8s/storage/01-emtpydir-app.yaml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flask-app-emptydir -- ls -l /data:w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0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1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with RWO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Persistent volume survives Pod recreation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RWO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4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Single-node caveat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5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ReadWriteOnce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read-write by a single node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 K3s local-path creates local PVs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single-node persistence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the same as shared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Two Pods on the same node may appear to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Multi-attach errors need multi-node clusters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overclaim what the lab proves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Teach semantics on slides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StatefulSet for DB pattern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8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9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6B: PVC RWO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File survives Pod recreation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Shape 4"/>
          <p:cNvSpPr/>
          <p:nvPr/>
        </p:nvSpPr>
        <p:spPr>
          <a:xfrm>
            <a:off x="685800" y="1417320"/>
            <a:ext cx="10877760" cy="4568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2" name="Text 5"/>
          <p:cNvSpPr/>
          <p:nvPr/>
        </p:nvSpPr>
        <p:spPr>
          <a:xfrm>
            <a:off x="850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challenges/challenge-06-emptydir-vs-pvc/solution.yaml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pvc-writer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delete pod pvc-writer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challenges/challenge-06-emptydir-vs-pvc/solution.yaml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pvc-writer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pvc,pv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5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 lifecycle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Follow the data, not only the 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Shape 4"/>
          <p:cNvSpPr/>
          <p:nvPr/>
        </p:nvSpPr>
        <p:spPr>
          <a:xfrm>
            <a:off x="50292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8" name="Text 5"/>
          <p:cNvSpPr/>
          <p:nvPr/>
        </p:nvSpPr>
        <p:spPr>
          <a:xfrm>
            <a:off x="54864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Container restart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9" name="Shape 6"/>
          <p:cNvSpPr/>
          <p:nvPr/>
        </p:nvSpPr>
        <p:spPr>
          <a:xfrm>
            <a:off x="177408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0" name="Shape 7"/>
          <p:cNvSpPr/>
          <p:nvPr/>
        </p:nvSpPr>
        <p:spPr>
          <a:xfrm>
            <a:off x="200268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1" name="Text 8"/>
          <p:cNvSpPr/>
          <p:nvPr/>
        </p:nvSpPr>
        <p:spPr>
          <a:xfrm>
            <a:off x="204840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restart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2" name="Shape 9"/>
          <p:cNvSpPr/>
          <p:nvPr/>
        </p:nvSpPr>
        <p:spPr>
          <a:xfrm>
            <a:off x="327348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3" name="Shape 10"/>
          <p:cNvSpPr/>
          <p:nvPr/>
        </p:nvSpPr>
        <p:spPr>
          <a:xfrm>
            <a:off x="350208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4" name="Text 11"/>
          <p:cNvSpPr/>
          <p:nvPr/>
        </p:nvSpPr>
        <p:spPr>
          <a:xfrm>
            <a:off x="354780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recreation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5" name="Shape 12"/>
          <p:cNvSpPr/>
          <p:nvPr/>
        </p:nvSpPr>
        <p:spPr>
          <a:xfrm>
            <a:off x="477324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Shape 13"/>
          <p:cNvSpPr/>
          <p:nvPr/>
        </p:nvSpPr>
        <p:spPr>
          <a:xfrm>
            <a:off x="500184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14"/>
          <p:cNvSpPr/>
          <p:nvPr/>
        </p:nvSpPr>
        <p:spPr>
          <a:xfrm>
            <a:off x="504756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PVC remains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15"/>
          <p:cNvSpPr/>
          <p:nvPr/>
        </p:nvSpPr>
        <p:spPr>
          <a:xfrm>
            <a:off x="627264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9" name="Shape 16"/>
          <p:cNvSpPr/>
          <p:nvPr/>
        </p:nvSpPr>
        <p:spPr>
          <a:xfrm>
            <a:off x="650124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0" name="Text 17"/>
          <p:cNvSpPr/>
          <p:nvPr/>
        </p:nvSpPr>
        <p:spPr>
          <a:xfrm>
            <a:off x="654696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PV backend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Shape 18"/>
          <p:cNvSpPr/>
          <p:nvPr/>
        </p:nvSpPr>
        <p:spPr>
          <a:xfrm>
            <a:off x="777240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Shape 19"/>
          <p:cNvSpPr/>
          <p:nvPr/>
        </p:nvSpPr>
        <p:spPr>
          <a:xfrm>
            <a:off x="800100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3" name="Text 20"/>
          <p:cNvSpPr/>
          <p:nvPr/>
        </p:nvSpPr>
        <p:spPr>
          <a:xfrm>
            <a:off x="804672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Reclaim policy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 volumes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7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Configuration can also be mounted as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8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ConfigMap volume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Secret volume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Plain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as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update files eventually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for sensitive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application properties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Sensitive values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read-only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Base64 in API object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Still needs RBAC discipline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Restart often needed for env vars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4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 volume lab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5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Read configuration as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Shape 4"/>
          <p:cNvSpPr/>
          <p:nvPr/>
        </p:nvSpPr>
        <p:spPr>
          <a:xfrm>
            <a:off x="685800" y="1417320"/>
            <a:ext cx="10877760" cy="4568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7" name="Text 5"/>
          <p:cNvSpPr/>
          <p:nvPr/>
        </p:nvSpPr>
        <p:spPr>
          <a:xfrm>
            <a:off x="850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k8s/storage/03-configmap-secret-volumes.yaml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ls -l /config /secret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cat /config/application.properties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cat /secret/password.txt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9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0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RWX overview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1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Discuss it, do not force it in single-node K3s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2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RWX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Examples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4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ReadWriteMany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Multiple writers/readers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Requires backend support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Common for shared content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every StorageClass supports 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CephFS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Amazon EFS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Azure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NetApp / enterprise NAS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7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8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StatefulSet storage pattern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9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Databases need stable identity and storage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StatefulSet gives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Teaching 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2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Pod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Ordered rollout by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network identity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volumeClaimTemplates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One PVC per replica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3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HA PostgreSQL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storage lifecycle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remains after Pod recreation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Deleting StatefulSet does not automatically delete PVCs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Know what owns the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5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6" name="Text 2"/>
          <p:cNvSpPr/>
          <p:nvPr/>
        </p:nvSpPr>
        <p:spPr>
          <a:xfrm>
            <a:off x="658440" y="2148840"/>
            <a:ext cx="1060344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8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7" name="Text 3"/>
          <p:cNvSpPr/>
          <p:nvPr/>
        </p:nvSpPr>
        <p:spPr>
          <a:xfrm>
            <a:off x="676800" y="2953440"/>
            <a:ext cx="9597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Distroless and no-shell troubleshooting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0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1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no shell?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2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Minimal images improve security but change troubleshooting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3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Benefits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4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Trade-offs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Smaller runtime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Fewer vulnerable packages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Less accidental tooling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Closer to immutable runtime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production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6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exec -- sh fails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curl, ps, nslookup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and probes become critical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debug containers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good application telemetry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8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9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7: Distroless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0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assume shell exists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1" name="Shape 4"/>
          <p:cNvSpPr/>
          <p:nvPr/>
        </p:nvSpPr>
        <p:spPr>
          <a:xfrm>
            <a:off x="685800" y="1417320"/>
            <a:ext cx="10877760" cy="4568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2" name="Text 5"/>
          <p:cNvSpPr/>
          <p:nvPr/>
        </p:nvSpPr>
        <p:spPr>
          <a:xfrm>
            <a:off x="850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challenges/challenge-07-distroless/broken.yaml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-it distroless-demo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Better pattern: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debug -it pod/distroless-demo --image=busybox:1.36 --target=app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5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Debugging without shell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6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cluster signals before interactive access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7" name="Shape 4"/>
          <p:cNvSpPr/>
          <p:nvPr/>
        </p:nvSpPr>
        <p:spPr>
          <a:xfrm>
            <a:off x="50292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8" name="Text 5"/>
          <p:cNvSpPr/>
          <p:nvPr/>
        </p:nvSpPr>
        <p:spPr>
          <a:xfrm>
            <a:off x="54864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Events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9" name="Shape 6"/>
          <p:cNvSpPr/>
          <p:nvPr/>
        </p:nvSpPr>
        <p:spPr>
          <a:xfrm>
            <a:off x="177408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0" name="Shape 7"/>
          <p:cNvSpPr/>
          <p:nvPr/>
        </p:nvSpPr>
        <p:spPr>
          <a:xfrm>
            <a:off x="200268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1" name="Text 8"/>
          <p:cNvSpPr/>
          <p:nvPr/>
        </p:nvSpPr>
        <p:spPr>
          <a:xfrm>
            <a:off x="204840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Describe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2" name="Shape 9"/>
          <p:cNvSpPr/>
          <p:nvPr/>
        </p:nvSpPr>
        <p:spPr>
          <a:xfrm>
            <a:off x="327348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Shape 10"/>
          <p:cNvSpPr/>
          <p:nvPr/>
        </p:nvSpPr>
        <p:spPr>
          <a:xfrm>
            <a:off x="350208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Text 11"/>
          <p:cNvSpPr/>
          <p:nvPr/>
        </p:nvSpPr>
        <p:spPr>
          <a:xfrm>
            <a:off x="354780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5" name="Shape 12"/>
          <p:cNvSpPr/>
          <p:nvPr/>
        </p:nvSpPr>
        <p:spPr>
          <a:xfrm>
            <a:off x="477324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6" name="Shape 13"/>
          <p:cNvSpPr/>
          <p:nvPr/>
        </p:nvSpPr>
        <p:spPr>
          <a:xfrm>
            <a:off x="500184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7" name="Text 14"/>
          <p:cNvSpPr/>
          <p:nvPr/>
        </p:nvSpPr>
        <p:spPr>
          <a:xfrm>
            <a:off x="504756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Probes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8" name="Shape 15"/>
          <p:cNvSpPr/>
          <p:nvPr/>
        </p:nvSpPr>
        <p:spPr>
          <a:xfrm>
            <a:off x="627264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9" name="Shape 16"/>
          <p:cNvSpPr/>
          <p:nvPr/>
        </p:nvSpPr>
        <p:spPr>
          <a:xfrm>
            <a:off x="650124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0" name="Text 17"/>
          <p:cNvSpPr/>
          <p:nvPr/>
        </p:nvSpPr>
        <p:spPr>
          <a:xfrm>
            <a:off x="654696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Metrics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1" name="Shape 18"/>
          <p:cNvSpPr/>
          <p:nvPr/>
        </p:nvSpPr>
        <p:spPr>
          <a:xfrm>
            <a:off x="777240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2" name="Shape 19"/>
          <p:cNvSpPr/>
          <p:nvPr/>
        </p:nvSpPr>
        <p:spPr>
          <a:xfrm>
            <a:off x="800100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3" name="Text 20"/>
          <p:cNvSpPr/>
          <p:nvPr/>
        </p:nvSpPr>
        <p:spPr>
          <a:xfrm>
            <a:off x="804672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Debug container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5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Ephemeral debug containers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 safer operational escape hatch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8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when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9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Remember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0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Target image has no shell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network tools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process namespace insight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quick triage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want to rebuild app image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1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a replacement for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May need RBAC permission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Does not change app container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Still uses same Pod network namespace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carefully in production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3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2"/>
          <p:cNvSpPr/>
          <p:nvPr/>
        </p:nvSpPr>
        <p:spPr>
          <a:xfrm>
            <a:off x="658440" y="2148840"/>
            <a:ext cx="1060344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9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Text 3"/>
          <p:cNvSpPr/>
          <p:nvPr/>
        </p:nvSpPr>
        <p:spPr>
          <a:xfrm>
            <a:off x="676800" y="2953440"/>
            <a:ext cx="9597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Requests, limits and runtime behavior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6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vs actual usage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0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This is the source of many misunderstandings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1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Actual usage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3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Used by scheduler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Counted by quota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Reserve scheduling capacity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mean process is using it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Help cluster planning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4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the process consumes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be lower than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be higher than request if allowed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Observed by metrics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Drives performance and cost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7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8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Runtime guardrails are different from scheduling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9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CPU limit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Memory limit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1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CPU is throttled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becomes slower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Usually not 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create latency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 careful with tight CPU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2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cannot be throttled the same way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Exceeding limit can kill container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Seen as OOMKilled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Restart can cause CrashLoopBackOff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Needs app-level understanding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4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QoS classes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How Kubernetes classifies Pods from resources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7" name="Shape 4"/>
          <p:cNvSpPr/>
          <p:nvPr/>
        </p:nvSpPr>
        <p:spPr>
          <a:xfrm>
            <a:off x="685800" y="1325880"/>
            <a:ext cx="10832040" cy="47196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8" name="Text 5"/>
          <p:cNvSpPr/>
          <p:nvPr/>
        </p:nvSpPr>
        <p:spPr>
          <a:xfrm>
            <a:off x="758880" y="147204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QoS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9" name="Text 6"/>
          <p:cNvSpPr/>
          <p:nvPr/>
        </p:nvSpPr>
        <p:spPr>
          <a:xfrm>
            <a:off x="2862000" y="147204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Condition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 7"/>
          <p:cNvSpPr/>
          <p:nvPr/>
        </p:nvSpPr>
        <p:spPr>
          <a:xfrm>
            <a:off x="5239440" y="147204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Operational meaning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Text 8"/>
          <p:cNvSpPr/>
          <p:nvPr/>
        </p:nvSpPr>
        <p:spPr>
          <a:xfrm>
            <a:off x="7616880" y="147204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Example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2" name="Shape 9"/>
          <p:cNvSpPr/>
          <p:nvPr/>
        </p:nvSpPr>
        <p:spPr>
          <a:xfrm>
            <a:off x="685800" y="1856160"/>
            <a:ext cx="10832040" cy="47196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3" name="Text 10"/>
          <p:cNvSpPr/>
          <p:nvPr/>
        </p:nvSpPr>
        <p:spPr>
          <a:xfrm>
            <a:off x="758880" y="200268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Guaranteed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4" name="Text 11"/>
          <p:cNvSpPr/>
          <p:nvPr/>
        </p:nvSpPr>
        <p:spPr>
          <a:xfrm>
            <a:off x="2862000" y="200268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== limits for all containers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12"/>
          <p:cNvSpPr/>
          <p:nvPr/>
        </p:nvSpPr>
        <p:spPr>
          <a:xfrm>
            <a:off x="5239440" y="200268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Highest eviction priority protection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13"/>
          <p:cNvSpPr/>
          <p:nvPr/>
        </p:nvSpPr>
        <p:spPr>
          <a:xfrm>
            <a:off x="7616880" y="200268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Critical stable workload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7" name="Shape 14"/>
          <p:cNvSpPr/>
          <p:nvPr/>
        </p:nvSpPr>
        <p:spPr>
          <a:xfrm>
            <a:off x="685800" y="2386440"/>
            <a:ext cx="10832040" cy="47196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8" name="Text 15"/>
          <p:cNvSpPr/>
          <p:nvPr/>
        </p:nvSpPr>
        <p:spPr>
          <a:xfrm>
            <a:off x="758880" y="253296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Burstable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9" name="Text 16"/>
          <p:cNvSpPr/>
          <p:nvPr/>
        </p:nvSpPr>
        <p:spPr>
          <a:xfrm>
            <a:off x="2862000" y="253296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some requests or limits set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 17"/>
          <p:cNvSpPr/>
          <p:nvPr/>
        </p:nvSpPr>
        <p:spPr>
          <a:xfrm>
            <a:off x="5239440" y="253296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Common default for apps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1" name="Text 18"/>
          <p:cNvSpPr/>
          <p:nvPr/>
        </p:nvSpPr>
        <p:spPr>
          <a:xfrm>
            <a:off x="7616880" y="253296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Most workshop app Pods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2" name="Shape 19"/>
          <p:cNvSpPr/>
          <p:nvPr/>
        </p:nvSpPr>
        <p:spPr>
          <a:xfrm>
            <a:off x="685800" y="2917080"/>
            <a:ext cx="10832040" cy="47196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3" name="Text 20"/>
          <p:cNvSpPr/>
          <p:nvPr/>
        </p:nvSpPr>
        <p:spPr>
          <a:xfrm>
            <a:off x="758880" y="306324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BestEffort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4" name="Text 21"/>
          <p:cNvSpPr/>
          <p:nvPr/>
        </p:nvSpPr>
        <p:spPr>
          <a:xfrm>
            <a:off x="2862000" y="306324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requests or limits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22"/>
          <p:cNvSpPr/>
          <p:nvPr/>
        </p:nvSpPr>
        <p:spPr>
          <a:xfrm>
            <a:off x="5239440" y="306324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to be evicted under pressure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 23"/>
          <p:cNvSpPr/>
          <p:nvPr/>
        </p:nvSpPr>
        <p:spPr>
          <a:xfrm>
            <a:off x="7616880" y="306324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Avoid for important apps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8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9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9: OOMKilled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Memory limit becomes visible at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1" name="Shape 4"/>
          <p:cNvSpPr/>
          <p:nvPr/>
        </p:nvSpPr>
        <p:spPr>
          <a:xfrm>
            <a:off x="685800" y="1417320"/>
            <a:ext cx="10877760" cy="4568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2" name="Text 5"/>
          <p:cNvSpPr/>
          <p:nvPr/>
        </p:nvSpPr>
        <p:spPr>
          <a:xfrm>
            <a:off x="850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challenges/challenge-09-oomkilled/broken.yaml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oom-demo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oom-demo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Or use app endpoint with a low memory limit: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http://localhost:8080/stress/memory?mib=256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4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to explain VM comparison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6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for infra teams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7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VM workload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9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guide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 control runtime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Actual usage can be much lower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may block 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can be restarted/rescheduled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0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Flavor/guest memory shapes scheduling/capacity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pressure behaves differently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Platform may overcommit CPU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Quota/capacity can block 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Treat as heavier scheduling unit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2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3" name="Text 2"/>
          <p:cNvSpPr/>
          <p:nvPr/>
        </p:nvSpPr>
        <p:spPr>
          <a:xfrm>
            <a:off x="658440" y="2148840"/>
            <a:ext cx="1060344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10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4" name="Text 3"/>
          <p:cNvSpPr/>
          <p:nvPr/>
        </p:nvSpPr>
        <p:spPr>
          <a:xfrm>
            <a:off x="676800" y="2953440"/>
            <a:ext cx="9597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ResourceQuota and LimitRange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5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7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8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ResourceQuota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9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Namespace-level capacity control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it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What it teaches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2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Aggregate requests and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count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count and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Object counts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Admission decisions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3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new Pods may not appear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idle-looking clusters can reject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requests are part of capacity planning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teams share clusters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Dev/platform contract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LimitRange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7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Defaults and guardrails for a namespace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8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Can provide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9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Why it matters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0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requests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Minimum allowed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Maximum allowed limit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size constraints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Prevents BestEffort by accident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Gives predictable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Protects neighbors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surprise developers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Must be documented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2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3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4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Apply ResourceQuota and LimitRange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after the app basics are understood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6" name="Shape 4"/>
          <p:cNvSpPr/>
          <p:nvPr/>
        </p:nvSpPr>
        <p:spPr>
          <a:xfrm>
            <a:off x="685800" y="1417320"/>
            <a:ext cx="10877760" cy="4568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Text 5"/>
          <p:cNvSpPr/>
          <p:nvPr/>
        </p:nvSpPr>
        <p:spPr>
          <a:xfrm>
            <a:off x="850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k8s/resources/01-limitrange.yaml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k8s/resources/02-resourcequota.yaml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limitrange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9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0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8: Quota exceeded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Pods can fail before the app has a chance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Shape 4"/>
          <p:cNvSpPr/>
          <p:nvPr/>
        </p:nvSpPr>
        <p:spPr>
          <a:xfrm>
            <a:off x="685800" y="1417320"/>
            <a:ext cx="10877760" cy="4568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3" name="Text 5"/>
          <p:cNvSpPr/>
          <p:nvPr/>
        </p:nvSpPr>
        <p:spPr>
          <a:xfrm>
            <a:off x="850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challenges/challenge-08-quota/broken.yaml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&lt;pending-pod&gt;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6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Key message for participants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7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confuse booked, allowed and used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8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Booked / requested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9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Used / runtime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0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Used for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Counted by quota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block new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Represents expected need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necessarily used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1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Measured by metrics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Changes over 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exceed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Limited by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cause throttling or OOM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3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4" name="Text 2"/>
          <p:cNvSpPr/>
          <p:nvPr/>
        </p:nvSpPr>
        <p:spPr>
          <a:xfrm>
            <a:off x="658440" y="2148840"/>
            <a:ext cx="1060344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11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5" name="Text 3"/>
          <p:cNvSpPr/>
          <p:nvPr/>
        </p:nvSpPr>
        <p:spPr>
          <a:xfrm>
            <a:off x="676800" y="2953440"/>
            <a:ext cx="9597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Service routing and application availability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6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7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8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9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is label-based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0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Service does not know your Deployment name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1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Service selects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2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failures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3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Pods by labels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Only ready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targetPort on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DNS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Virtual IP inside cluster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4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 mismatch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targetPort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not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Namespace mismatch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Network/proxy confusion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6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7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10: Wrong Service selector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8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 runs, but no traffic reaches 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9" name="Shape 4"/>
          <p:cNvSpPr/>
          <p:nvPr/>
        </p:nvSpPr>
        <p:spPr>
          <a:xfrm>
            <a:off x="685800" y="1417320"/>
            <a:ext cx="10877760" cy="4568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0" name="Text 5"/>
          <p:cNvSpPr/>
          <p:nvPr/>
        </p:nvSpPr>
        <p:spPr>
          <a:xfrm>
            <a:off x="850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challenges/challenge-10-service-selector/broken.yaml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--show-labels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svc selector-app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 selector-app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 selector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challenges/challenge-10-service-selector/solution.yaml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2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3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 path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4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Where to look when traffic fails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5" name="Shape 4"/>
          <p:cNvSpPr/>
          <p:nvPr/>
        </p:nvSpPr>
        <p:spPr>
          <a:xfrm>
            <a:off x="50292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5"/>
          <p:cNvSpPr/>
          <p:nvPr/>
        </p:nvSpPr>
        <p:spPr>
          <a:xfrm>
            <a:off x="54864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Client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7" name="Shape 6"/>
          <p:cNvSpPr/>
          <p:nvPr/>
        </p:nvSpPr>
        <p:spPr>
          <a:xfrm>
            <a:off x="177408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8" name="Shape 7"/>
          <p:cNvSpPr/>
          <p:nvPr/>
        </p:nvSpPr>
        <p:spPr>
          <a:xfrm>
            <a:off x="200268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9" name="Text 8"/>
          <p:cNvSpPr/>
          <p:nvPr/>
        </p:nvSpPr>
        <p:spPr>
          <a:xfrm>
            <a:off x="204840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Service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0" name="Shape 9"/>
          <p:cNvSpPr/>
          <p:nvPr/>
        </p:nvSpPr>
        <p:spPr>
          <a:xfrm>
            <a:off x="327348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Shape 10"/>
          <p:cNvSpPr/>
          <p:nvPr/>
        </p:nvSpPr>
        <p:spPr>
          <a:xfrm>
            <a:off x="350208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Text 11"/>
          <p:cNvSpPr/>
          <p:nvPr/>
        </p:nvSpPr>
        <p:spPr>
          <a:xfrm>
            <a:off x="354780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Selector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3" name="Shape 12"/>
          <p:cNvSpPr/>
          <p:nvPr/>
        </p:nvSpPr>
        <p:spPr>
          <a:xfrm>
            <a:off x="477324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4" name="Shape 13"/>
          <p:cNvSpPr/>
          <p:nvPr/>
        </p:nvSpPr>
        <p:spPr>
          <a:xfrm>
            <a:off x="500184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5" name="Text 14"/>
          <p:cNvSpPr/>
          <p:nvPr/>
        </p:nvSpPr>
        <p:spPr>
          <a:xfrm>
            <a:off x="504756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EndpointSlice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6" name="Shape 15"/>
          <p:cNvSpPr/>
          <p:nvPr/>
        </p:nvSpPr>
        <p:spPr>
          <a:xfrm>
            <a:off x="627264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7" name="Shape 16"/>
          <p:cNvSpPr/>
          <p:nvPr/>
        </p:nvSpPr>
        <p:spPr>
          <a:xfrm>
            <a:off x="650124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8" name="Text 17"/>
          <p:cNvSpPr/>
          <p:nvPr/>
        </p:nvSpPr>
        <p:spPr>
          <a:xfrm>
            <a:off x="654696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IP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9" name="Shape 18"/>
          <p:cNvSpPr/>
          <p:nvPr/>
        </p:nvSpPr>
        <p:spPr>
          <a:xfrm>
            <a:off x="777240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0" name="Shape 19"/>
          <p:cNvSpPr/>
          <p:nvPr/>
        </p:nvSpPr>
        <p:spPr>
          <a:xfrm>
            <a:off x="800100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1" name="Text 20"/>
          <p:cNvSpPr/>
          <p:nvPr/>
        </p:nvSpPr>
        <p:spPr>
          <a:xfrm>
            <a:off x="804672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Container port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2" name="Shape 21"/>
          <p:cNvSpPr/>
          <p:nvPr/>
        </p:nvSpPr>
        <p:spPr>
          <a:xfrm>
            <a:off x="927216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3" name="Shape 22"/>
          <p:cNvSpPr/>
          <p:nvPr/>
        </p:nvSpPr>
        <p:spPr>
          <a:xfrm>
            <a:off x="950076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4" name="Text 23"/>
          <p:cNvSpPr/>
          <p:nvPr/>
        </p:nvSpPr>
        <p:spPr>
          <a:xfrm>
            <a:off x="954648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5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6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7" name="Text 2"/>
          <p:cNvSpPr/>
          <p:nvPr/>
        </p:nvSpPr>
        <p:spPr>
          <a:xfrm>
            <a:off x="658440" y="2148840"/>
            <a:ext cx="1060344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8" name="Text 3"/>
          <p:cNvSpPr/>
          <p:nvPr/>
        </p:nvSpPr>
        <p:spPr>
          <a:xfrm>
            <a:off x="676800" y="2953440"/>
            <a:ext cx="9597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 playbook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9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0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1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2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Decision tree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3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this as the final participant cheat sheet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4" name="Shape 4"/>
          <p:cNvSpPr/>
          <p:nvPr/>
        </p:nvSpPr>
        <p:spPr>
          <a:xfrm>
            <a:off x="685800" y="1325880"/>
            <a:ext cx="10832040" cy="47196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5" name="Text 5"/>
          <p:cNvSpPr/>
          <p:nvPr/>
        </p:nvSpPr>
        <p:spPr>
          <a:xfrm>
            <a:off x="758880" y="147204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Question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6" name="Text 6"/>
          <p:cNvSpPr/>
          <p:nvPr/>
        </p:nvSpPr>
        <p:spPr>
          <a:xfrm>
            <a:off x="2862000" y="147204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 means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7" name="Text 7"/>
          <p:cNvSpPr/>
          <p:nvPr/>
        </p:nvSpPr>
        <p:spPr>
          <a:xfrm>
            <a:off x="5239440" y="147204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command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8" name="Text 8"/>
          <p:cNvSpPr/>
          <p:nvPr/>
        </p:nvSpPr>
        <p:spPr>
          <a:xfrm>
            <a:off x="7616880" y="147204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Next step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9" name="Shape 9"/>
          <p:cNvSpPr/>
          <p:nvPr/>
        </p:nvSpPr>
        <p:spPr>
          <a:xfrm>
            <a:off x="685800" y="1856160"/>
            <a:ext cx="10832040" cy="47196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0" name="Text 10"/>
          <p:cNvSpPr/>
          <p:nvPr/>
        </p:nvSpPr>
        <p:spPr>
          <a:xfrm>
            <a:off x="758880" y="200268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not created?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1" name="Text 11"/>
          <p:cNvSpPr/>
          <p:nvPr/>
        </p:nvSpPr>
        <p:spPr>
          <a:xfrm>
            <a:off x="2862000" y="200268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Controller/admission issue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2" name="Text 12"/>
          <p:cNvSpPr/>
          <p:nvPr/>
        </p:nvSpPr>
        <p:spPr>
          <a:xfrm>
            <a:off x="5239440" y="200268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deploy/rs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3" name="Text 13"/>
          <p:cNvSpPr/>
          <p:nvPr/>
        </p:nvSpPr>
        <p:spPr>
          <a:xfrm>
            <a:off x="7616880" y="200268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events, quota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4" name="Shape 14"/>
          <p:cNvSpPr/>
          <p:nvPr/>
        </p:nvSpPr>
        <p:spPr>
          <a:xfrm>
            <a:off x="685800" y="2386440"/>
            <a:ext cx="10832040" cy="47196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5" name="Text 15"/>
          <p:cNvSpPr/>
          <p:nvPr/>
        </p:nvSpPr>
        <p:spPr>
          <a:xfrm>
            <a:off x="758880" y="253296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Pending?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6" name="Text 16"/>
          <p:cNvSpPr/>
          <p:nvPr/>
        </p:nvSpPr>
        <p:spPr>
          <a:xfrm>
            <a:off x="2862000" y="253296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Cannot schedule/start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7" name="Text 17"/>
          <p:cNvSpPr/>
          <p:nvPr/>
        </p:nvSpPr>
        <p:spPr>
          <a:xfrm>
            <a:off x="5239440" y="253296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8" name="Text 18"/>
          <p:cNvSpPr/>
          <p:nvPr/>
        </p:nvSpPr>
        <p:spPr>
          <a:xfrm>
            <a:off x="7616880" y="253296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capacity, PVC, quota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9" name="Shape 19"/>
          <p:cNvSpPr/>
          <p:nvPr/>
        </p:nvSpPr>
        <p:spPr>
          <a:xfrm>
            <a:off x="685800" y="2917080"/>
            <a:ext cx="10832040" cy="47196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0" name="Text 20"/>
          <p:cNvSpPr/>
          <p:nvPr/>
        </p:nvSpPr>
        <p:spPr>
          <a:xfrm>
            <a:off x="758880" y="306324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1" name="Text 21"/>
          <p:cNvSpPr/>
          <p:nvPr/>
        </p:nvSpPr>
        <p:spPr>
          <a:xfrm>
            <a:off x="2862000" y="306324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not pulled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2" name="Text 22"/>
          <p:cNvSpPr/>
          <p:nvPr/>
        </p:nvSpPr>
        <p:spPr>
          <a:xfrm>
            <a:off x="5239440" y="306324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3" name="Text 23"/>
          <p:cNvSpPr/>
          <p:nvPr/>
        </p:nvSpPr>
        <p:spPr>
          <a:xfrm>
            <a:off x="7616880" y="306324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tag, registry, proxy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4" name="Shape 24"/>
          <p:cNvSpPr/>
          <p:nvPr/>
        </p:nvSpPr>
        <p:spPr>
          <a:xfrm>
            <a:off x="685800" y="3447360"/>
            <a:ext cx="10832040" cy="47196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5" name="Text 25"/>
          <p:cNvSpPr/>
          <p:nvPr/>
        </p:nvSpPr>
        <p:spPr>
          <a:xfrm>
            <a:off x="758880" y="359352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 26"/>
          <p:cNvSpPr/>
          <p:nvPr/>
        </p:nvSpPr>
        <p:spPr>
          <a:xfrm>
            <a:off x="2862000" y="359352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Process exits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7" name="Text 27"/>
          <p:cNvSpPr/>
          <p:nvPr/>
        </p:nvSpPr>
        <p:spPr>
          <a:xfrm>
            <a:off x="5239440" y="359352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--previous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8" name="Text 28"/>
          <p:cNvSpPr/>
          <p:nvPr/>
        </p:nvSpPr>
        <p:spPr>
          <a:xfrm>
            <a:off x="7616880" y="359352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command, env, app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9" name="Shape 29"/>
          <p:cNvSpPr/>
          <p:nvPr/>
        </p:nvSpPr>
        <p:spPr>
          <a:xfrm>
            <a:off x="685800" y="3977640"/>
            <a:ext cx="10832040" cy="47196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0" name="Text 30"/>
          <p:cNvSpPr/>
          <p:nvPr/>
        </p:nvSpPr>
        <p:spPr>
          <a:xfrm>
            <a:off x="758880" y="412380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not Ready?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1" name="Text 31"/>
          <p:cNvSpPr/>
          <p:nvPr/>
        </p:nvSpPr>
        <p:spPr>
          <a:xfrm>
            <a:off x="2862000" y="412380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gate failed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Text 32"/>
          <p:cNvSpPr/>
          <p:nvPr/>
        </p:nvSpPr>
        <p:spPr>
          <a:xfrm>
            <a:off x="5239440" y="412380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+ logs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3" name="Text 33"/>
          <p:cNvSpPr/>
          <p:nvPr/>
        </p:nvSpPr>
        <p:spPr>
          <a:xfrm>
            <a:off x="7616880" y="412380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probe/dependency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4" name="Shape 34"/>
          <p:cNvSpPr/>
          <p:nvPr/>
        </p:nvSpPr>
        <p:spPr>
          <a:xfrm>
            <a:off x="685800" y="4507920"/>
            <a:ext cx="10832040" cy="47196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5" name="Text 35"/>
          <p:cNvSpPr/>
          <p:nvPr/>
        </p:nvSpPr>
        <p:spPr>
          <a:xfrm>
            <a:off x="758880" y="465444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6" name="Text 36"/>
          <p:cNvSpPr/>
          <p:nvPr/>
        </p:nvSpPr>
        <p:spPr>
          <a:xfrm>
            <a:off x="2862000" y="465444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limit hit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7" name="Text 37"/>
          <p:cNvSpPr/>
          <p:nvPr/>
        </p:nvSpPr>
        <p:spPr>
          <a:xfrm>
            <a:off x="5239440" y="465444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8" name="Text 38"/>
          <p:cNvSpPr/>
          <p:nvPr/>
        </p:nvSpPr>
        <p:spPr>
          <a:xfrm>
            <a:off x="7616880" y="465444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limits/usage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9" name="Shape 39"/>
          <p:cNvSpPr/>
          <p:nvPr/>
        </p:nvSpPr>
        <p:spPr>
          <a:xfrm>
            <a:off x="685800" y="5038200"/>
            <a:ext cx="10832040" cy="47196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0" name="Text 40"/>
          <p:cNvSpPr/>
          <p:nvPr/>
        </p:nvSpPr>
        <p:spPr>
          <a:xfrm>
            <a:off x="758880" y="5184720"/>
            <a:ext cx="1962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endpoints?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1" name="Text 41"/>
          <p:cNvSpPr/>
          <p:nvPr/>
        </p:nvSpPr>
        <p:spPr>
          <a:xfrm>
            <a:off x="2862000" y="518472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cannot route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2" name="Text 42"/>
          <p:cNvSpPr/>
          <p:nvPr/>
        </p:nvSpPr>
        <p:spPr>
          <a:xfrm>
            <a:off x="5239440" y="5184720"/>
            <a:ext cx="223668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get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3" name="Text 43"/>
          <p:cNvSpPr/>
          <p:nvPr/>
        </p:nvSpPr>
        <p:spPr>
          <a:xfrm>
            <a:off x="7616880" y="5184720"/>
            <a:ext cx="33339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selector/readiness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5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6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Core command set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7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 participants should leave with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8" name="Shape 4"/>
          <p:cNvSpPr/>
          <p:nvPr/>
        </p:nvSpPr>
        <p:spPr>
          <a:xfrm>
            <a:off x="685800" y="1417320"/>
            <a:ext cx="10877760" cy="4568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9" name="Text 5"/>
          <p:cNvSpPr/>
          <p:nvPr/>
        </p:nvSpPr>
        <p:spPr>
          <a:xfrm>
            <a:off x="850320" y="1563480"/>
            <a:ext cx="10557720" cy="42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pods -o wide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describe pod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logs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logs &lt;pod&gt;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deploy,rs,pod,svc,endpoints,pvc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rollout status deploy/&lt;name&gt;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debug -it pod/&lt;pod&gt; --image=busybox:1.36 --target=&lt;container&gt;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1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2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to run combined cases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3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Final exercise format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4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Instructor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5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Participant output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Apply one broken manifest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reveal the failure mode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team to classify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for first three commands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for root cause and fix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Evidence from events/logs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Root cause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Fix command or YAML change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Preventive practice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8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9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0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Final 2-hour agenda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1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Timing and workshop 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2" name="Shape 4"/>
          <p:cNvSpPr/>
          <p:nvPr/>
        </p:nvSpPr>
        <p:spPr>
          <a:xfrm>
            <a:off x="731520" y="1325880"/>
            <a:ext cx="1047960" cy="43524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3" name="Text 5"/>
          <p:cNvSpPr/>
          <p:nvPr/>
        </p:nvSpPr>
        <p:spPr>
          <a:xfrm>
            <a:off x="804600" y="1472040"/>
            <a:ext cx="8924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4" name="Text 6"/>
          <p:cNvSpPr/>
          <p:nvPr/>
        </p:nvSpPr>
        <p:spPr>
          <a:xfrm>
            <a:off x="2011680" y="1398960"/>
            <a:ext cx="36540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End-to-end 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5" name="Text 7"/>
          <p:cNvSpPr/>
          <p:nvPr/>
        </p:nvSpPr>
        <p:spPr>
          <a:xfrm>
            <a:off x="5806440" y="1417320"/>
            <a:ext cx="52999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Build -&gt; Deploy -&gt; DB -&gt; Migrate -&gt; Persist -&gt; Limit.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6" name="Shape 8"/>
          <p:cNvSpPr/>
          <p:nvPr/>
        </p:nvSpPr>
        <p:spPr>
          <a:xfrm>
            <a:off x="731520" y="1938600"/>
            <a:ext cx="1047960" cy="43524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7" name="Text 9"/>
          <p:cNvSpPr/>
          <p:nvPr/>
        </p:nvSpPr>
        <p:spPr>
          <a:xfrm>
            <a:off x="804600" y="2084760"/>
            <a:ext cx="8924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8" name="Text 10"/>
          <p:cNvSpPr/>
          <p:nvPr/>
        </p:nvSpPr>
        <p:spPr>
          <a:xfrm>
            <a:off x="2011680" y="2011680"/>
            <a:ext cx="36540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 decision tree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9" name="Text 11"/>
          <p:cNvSpPr/>
          <p:nvPr/>
        </p:nvSpPr>
        <p:spPr>
          <a:xfrm>
            <a:off x="5806440" y="2030040"/>
            <a:ext cx="52999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Classify states and map each to first commands.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0" name="Shape 12"/>
          <p:cNvSpPr/>
          <p:nvPr/>
        </p:nvSpPr>
        <p:spPr>
          <a:xfrm>
            <a:off x="731520" y="2551320"/>
            <a:ext cx="1047960" cy="43524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1" name="Text 13"/>
          <p:cNvSpPr/>
          <p:nvPr/>
        </p:nvSpPr>
        <p:spPr>
          <a:xfrm>
            <a:off x="804600" y="2697480"/>
            <a:ext cx="8924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40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2" name="Text 14"/>
          <p:cNvSpPr/>
          <p:nvPr/>
        </p:nvSpPr>
        <p:spPr>
          <a:xfrm>
            <a:off x="2011680" y="2624400"/>
            <a:ext cx="36540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Combined scenarios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3" name="Text 15"/>
          <p:cNvSpPr/>
          <p:nvPr/>
        </p:nvSpPr>
        <p:spPr>
          <a:xfrm>
            <a:off x="5806440" y="2642760"/>
            <a:ext cx="52999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Teams diagnose three broken manifests.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4" name="Shape 16"/>
          <p:cNvSpPr/>
          <p:nvPr/>
        </p:nvSpPr>
        <p:spPr>
          <a:xfrm>
            <a:off x="731520" y="3163680"/>
            <a:ext cx="1047960" cy="43524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5" name="Text 17"/>
          <p:cNvSpPr/>
          <p:nvPr/>
        </p:nvSpPr>
        <p:spPr>
          <a:xfrm>
            <a:off x="804600" y="3310200"/>
            <a:ext cx="8924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6" name="Text 18"/>
          <p:cNvSpPr/>
          <p:nvPr/>
        </p:nvSpPr>
        <p:spPr>
          <a:xfrm>
            <a:off x="2011680" y="3237120"/>
            <a:ext cx="36540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 vs Platform contract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7" name="Text 19"/>
          <p:cNvSpPr/>
          <p:nvPr/>
        </p:nvSpPr>
        <p:spPr>
          <a:xfrm>
            <a:off x="5806440" y="3255120"/>
            <a:ext cx="52999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Who defines what and what should be standardized.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9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0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 vs platform contract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Make responsibilities explicit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Developers should define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3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Platform should define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4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and readiness behavior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 expectations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Configuration keys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strategy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Meaningful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5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requests/limits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and namespace policy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StorageClass options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Registry and proxy access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permissions and guardrails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7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8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 checklist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9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to take back to real work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0" name="Text 4"/>
          <p:cNvSpPr/>
          <p:nvPr/>
        </p:nvSpPr>
        <p:spPr>
          <a:xfrm>
            <a:off x="68580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1" name="Text 5"/>
          <p:cNvSpPr/>
          <p:nvPr/>
        </p:nvSpPr>
        <p:spPr>
          <a:xfrm>
            <a:off x="6419160" y="1334880"/>
            <a:ext cx="51170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Platform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2" name="Text 6"/>
          <p:cNvSpPr/>
          <p:nvPr/>
        </p:nvSpPr>
        <p:spPr>
          <a:xfrm>
            <a:off x="68580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to stdout/stderr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reflects dependencies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secrets in images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plan is explicit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 requests are tested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3" name="Text 7"/>
          <p:cNvSpPr/>
          <p:nvPr/>
        </p:nvSpPr>
        <p:spPr>
          <a:xfrm>
            <a:off x="6419160" y="1737360"/>
            <a:ext cx="5208480" cy="447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Namespace defaults documented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visible to teams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 semantics clear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registry access reliable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 access controlled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Shape 0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5" name="Text 1"/>
          <p:cNvSpPr/>
          <p:nvPr/>
        </p:nvSpPr>
        <p:spPr>
          <a:xfrm>
            <a:off x="502920" y="6510600"/>
            <a:ext cx="438552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6" name="Text 2"/>
          <p:cNvSpPr/>
          <p:nvPr/>
        </p:nvSpPr>
        <p:spPr>
          <a:xfrm>
            <a:off x="567000" y="384120"/>
            <a:ext cx="10969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Closing message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7" name="Text 3"/>
          <p:cNvSpPr/>
          <p:nvPr/>
        </p:nvSpPr>
        <p:spPr>
          <a:xfrm>
            <a:off x="585360" y="868680"/>
            <a:ext cx="1069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is observable when you ask the right questions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8" name="Shape 4"/>
          <p:cNvSpPr/>
          <p:nvPr/>
        </p:nvSpPr>
        <p:spPr>
          <a:xfrm>
            <a:off x="50292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9" name="Text 5"/>
          <p:cNvSpPr/>
          <p:nvPr/>
        </p:nvSpPr>
        <p:spPr>
          <a:xfrm>
            <a:off x="54864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Classify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0" name="Shape 6"/>
          <p:cNvSpPr/>
          <p:nvPr/>
        </p:nvSpPr>
        <p:spPr>
          <a:xfrm>
            <a:off x="177408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1" name="Shape 7"/>
          <p:cNvSpPr/>
          <p:nvPr/>
        </p:nvSpPr>
        <p:spPr>
          <a:xfrm>
            <a:off x="200268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2" name="Text 8"/>
          <p:cNvSpPr/>
          <p:nvPr/>
        </p:nvSpPr>
        <p:spPr>
          <a:xfrm>
            <a:off x="204840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Inspect events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3" name="Shape 9"/>
          <p:cNvSpPr/>
          <p:nvPr/>
        </p:nvSpPr>
        <p:spPr>
          <a:xfrm>
            <a:off x="327348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4" name="Shape 10"/>
          <p:cNvSpPr/>
          <p:nvPr/>
        </p:nvSpPr>
        <p:spPr>
          <a:xfrm>
            <a:off x="350208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5" name="Text 11"/>
          <p:cNvSpPr/>
          <p:nvPr/>
        </p:nvSpPr>
        <p:spPr>
          <a:xfrm>
            <a:off x="354780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 logs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6" name="Shape 12"/>
          <p:cNvSpPr/>
          <p:nvPr/>
        </p:nvSpPr>
        <p:spPr>
          <a:xfrm>
            <a:off x="477324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Shape 13"/>
          <p:cNvSpPr/>
          <p:nvPr/>
        </p:nvSpPr>
        <p:spPr>
          <a:xfrm>
            <a:off x="500184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8" name="Text 14"/>
          <p:cNvSpPr/>
          <p:nvPr/>
        </p:nvSpPr>
        <p:spPr>
          <a:xfrm>
            <a:off x="504756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 dependencies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9" name="Shape 15"/>
          <p:cNvSpPr/>
          <p:nvPr/>
        </p:nvSpPr>
        <p:spPr>
          <a:xfrm>
            <a:off x="627264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Shape 16"/>
          <p:cNvSpPr/>
          <p:nvPr/>
        </p:nvSpPr>
        <p:spPr>
          <a:xfrm>
            <a:off x="650124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1" name="Text 17"/>
          <p:cNvSpPr/>
          <p:nvPr/>
        </p:nvSpPr>
        <p:spPr>
          <a:xfrm>
            <a:off x="654696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 resources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2" name="Shape 18"/>
          <p:cNvSpPr/>
          <p:nvPr/>
        </p:nvSpPr>
        <p:spPr>
          <a:xfrm>
            <a:off x="777240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3" name="Shape 19"/>
          <p:cNvSpPr/>
          <p:nvPr/>
        </p:nvSpPr>
        <p:spPr>
          <a:xfrm>
            <a:off x="800100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4" name="Text 20"/>
          <p:cNvSpPr/>
          <p:nvPr/>
        </p:nvSpPr>
        <p:spPr>
          <a:xfrm>
            <a:off x="804672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 safely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5" name="Shape 21"/>
          <p:cNvSpPr/>
          <p:nvPr/>
        </p:nvSpPr>
        <p:spPr>
          <a:xfrm>
            <a:off x="9272160" y="2962800"/>
            <a:ext cx="160920" cy="197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6" name="Shape 22"/>
          <p:cNvSpPr/>
          <p:nvPr/>
        </p:nvSpPr>
        <p:spPr>
          <a:xfrm>
            <a:off x="9500760" y="2743200"/>
            <a:ext cx="1203480" cy="65484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7" name="Text 23"/>
          <p:cNvSpPr/>
          <p:nvPr/>
        </p:nvSpPr>
        <p:spPr>
          <a:xfrm>
            <a:off x="9546480" y="2962800"/>
            <a:ext cx="11120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Document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449</TotalTime>
  <Application>LibreOffice/26.2.3.2$Linux_X86_64 LibreOffice_project/d4d5ed47b6084125f28d269a5650105d54dde034</Application>
  <AppVersion>15.0000</AppVersion>
  <Words>0</Words>
  <Paragraphs>0</Paragraphs>
  <Company>Workshop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2026-06-19T21:54:19Z</dcterms:created>
  <dc:creator>OpenAI</dc:creator>
  <dc:description/>
  <dc:language>en-US</dc:language>
  <cp:lastModifiedBy/>
  <cp:lastPrinted>2026-06-21T22:40:27Z</cp:lastPrinted>
  <dcterms:modified xsi:type="dcterms:W3CDTF">2026-06-22T06:03:41Z</dcterms:modified>
  <cp:revision>68</cp:revision>
  <dc:subject>Hands-on Kubernetes Troubleshooting Workshop</dc:subject>
  <dc:title>Hands-on Kubernetes Troubleshooting for Developers and Infrastructure Teams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81</vt:i4>
  </property>
  <property fmtid="{D5CDD505-2E9C-101B-9397-08002B2CF9AE}" pid="3" name="PresentationFormat">
    <vt:lpwstr>On-screen Show (16:9)</vt:lpwstr>
  </property>
  <property fmtid="{D5CDD505-2E9C-101B-9397-08002B2CF9AE}" pid="4" name="Slides">
    <vt:i4>81</vt:i4>
  </property>
</Properties>
</file>